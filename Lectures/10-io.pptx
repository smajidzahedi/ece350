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5"/>
  </p:notesMasterIdLst>
  <p:handoutMasterIdLst>
    <p:handoutMasterId r:id="rId66"/>
  </p:handoutMasterIdLst>
  <p:sldIdLst>
    <p:sldId id="1890" r:id="rId2"/>
    <p:sldId id="1875" r:id="rId3"/>
    <p:sldId id="1378" r:id="rId4"/>
    <p:sldId id="1174" r:id="rId5"/>
    <p:sldId id="1164" r:id="rId6"/>
    <p:sldId id="1175" r:id="rId7"/>
    <p:sldId id="1199" r:id="rId8"/>
    <p:sldId id="1176" r:id="rId9"/>
    <p:sldId id="1177" r:id="rId10"/>
    <p:sldId id="1169" r:id="rId11"/>
    <p:sldId id="1876" r:id="rId12"/>
    <p:sldId id="1080" r:id="rId13"/>
    <p:sldId id="1081" r:id="rId14"/>
    <p:sldId id="1184" r:id="rId15"/>
    <p:sldId id="1881" r:id="rId16"/>
    <p:sldId id="892" r:id="rId17"/>
    <p:sldId id="1877" r:id="rId18"/>
    <p:sldId id="1878" r:id="rId19"/>
    <p:sldId id="1880" r:id="rId20"/>
    <p:sldId id="1879" r:id="rId21"/>
    <p:sldId id="1288" r:id="rId22"/>
    <p:sldId id="1883" r:id="rId23"/>
    <p:sldId id="1350" r:id="rId24"/>
    <p:sldId id="1882" r:id="rId25"/>
    <p:sldId id="1228" r:id="rId26"/>
    <p:sldId id="1271" r:id="rId27"/>
    <p:sldId id="1230" r:id="rId28"/>
    <p:sldId id="1231" r:id="rId29"/>
    <p:sldId id="1236" r:id="rId30"/>
    <p:sldId id="1233" r:id="rId31"/>
    <p:sldId id="1885" r:id="rId32"/>
    <p:sldId id="1237" r:id="rId33"/>
    <p:sldId id="1884" r:id="rId34"/>
    <p:sldId id="1886" r:id="rId35"/>
    <p:sldId id="1238" r:id="rId36"/>
    <p:sldId id="1889" r:id="rId37"/>
    <p:sldId id="1335" r:id="rId38"/>
    <p:sldId id="1336" r:id="rId39"/>
    <p:sldId id="1363" r:id="rId40"/>
    <p:sldId id="1337" r:id="rId41"/>
    <p:sldId id="1339" r:id="rId42"/>
    <p:sldId id="442" r:id="rId43"/>
    <p:sldId id="1341" r:id="rId44"/>
    <p:sldId id="1380" r:id="rId45"/>
    <p:sldId id="450" r:id="rId46"/>
    <p:sldId id="454" r:id="rId47"/>
    <p:sldId id="349" r:id="rId48"/>
    <p:sldId id="353" r:id="rId49"/>
    <p:sldId id="355" r:id="rId50"/>
    <p:sldId id="1345" r:id="rId51"/>
    <p:sldId id="1218" r:id="rId52"/>
    <p:sldId id="1219" r:id="rId53"/>
    <p:sldId id="1887" r:id="rId54"/>
    <p:sldId id="485" r:id="rId55"/>
    <p:sldId id="1220" r:id="rId56"/>
    <p:sldId id="1888" r:id="rId57"/>
    <p:sldId id="1381" r:id="rId58"/>
    <p:sldId id="1264" r:id="rId59"/>
    <p:sldId id="1222" r:id="rId60"/>
    <p:sldId id="1382" r:id="rId61"/>
    <p:sldId id="1224" r:id="rId62"/>
    <p:sldId id="330" r:id="rId63"/>
    <p:sldId id="283" r:id="rId64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yed Majid Zahedi" initials="SMZ" lastIdx="10" clrIdx="0">
    <p:extLst>
      <p:ext uri="{19B8F6BF-5375-455C-9EA6-DF929625EA0E}">
        <p15:presenceInfo xmlns:p15="http://schemas.microsoft.com/office/powerpoint/2012/main" userId="S::smzahedi@uwaterloo.ca::d17101d1-ee0b-49fa-a766-06364933e71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FA500"/>
    <a:srgbClr val="ADD9E6"/>
    <a:srgbClr val="A01FF1"/>
    <a:srgbClr val="D1D4D5"/>
    <a:srgbClr val="233A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 autoAdjust="0"/>
    <p:restoredTop sz="84932" autoAdjust="0"/>
  </p:normalViewPr>
  <p:slideViewPr>
    <p:cSldViewPr snapToGrid="0" snapToObjects="1">
      <p:cViewPr varScale="1">
        <p:scale>
          <a:sx n="107" d="100"/>
          <a:sy n="107" d="100"/>
        </p:scale>
        <p:origin x="1560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8528"/>
    </p:cViewPr>
  </p:outlineViewPr>
  <p:notesTextViewPr>
    <p:cViewPr>
      <p:scale>
        <a:sx n="110" d="100"/>
        <a:sy n="11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64801D-7B6B-5F4A-8968-09970CCB169C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EC0CD-F1DA-FC46-B0C6-E241E5C04A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C2D66-7F57-E94D-93F5-2C545036412A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D3955F-9E14-2048-A3C7-B473A3FD983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27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0071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9587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97227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MS P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721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219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561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15938" y="4343798"/>
            <a:ext cx="5910036" cy="4115594"/>
          </a:xfrm>
          <a:noFill/>
          <a:ln w="9525"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5652" tIns="46986" rIns="95652" bIns="46986"/>
          <a:lstStyle/>
          <a:p>
            <a:endParaRPr lang="en-US" dirty="0"/>
          </a:p>
        </p:txBody>
      </p:sp>
      <p:sp>
        <p:nvSpPr>
          <p:cNvPr id="70658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2050" y="588963"/>
            <a:ext cx="4549775" cy="3413125"/>
          </a:xfrm>
          <a:ln>
            <a:noFill/>
          </a:ln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8559046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75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0D684D3E-DA45-2545-A390-854C95ADA1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F68BF12A-B938-1D4D-A0FC-EB5D28EDCA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Comic Sans MS" panose="030F09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7109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7878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202464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40026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455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Comic Sans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50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678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>
            <a:extLst>
              <a:ext uri="{FF2B5EF4-FFF2-40B4-BE49-F238E27FC236}">
                <a16:creationId xmlns:a16="http://schemas.microsoft.com/office/drawing/2014/main" id="{AFD40D8B-7558-5540-9B5F-7713EB34BD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8B0B73EA-EBE4-1F4F-8839-835D370096FD}" type="slidenum">
              <a:rPr lang="en-US" altLang="en-US">
                <a:latin typeface="Times New Roman" panose="02020603050405020304" pitchFamily="18" charset="0"/>
              </a:rPr>
              <a:pPr/>
              <a:t>47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37890" name="Rectangle 2">
            <a:extLst>
              <a:ext uri="{FF2B5EF4-FFF2-40B4-BE49-F238E27FC236}">
                <a16:creationId xmlns:a16="http://schemas.microsoft.com/office/drawing/2014/main" id="{029C118D-34FC-8F4B-8DB5-7446CC17C6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7973F6E5-61CF-A94B-8938-CB1FF9F86D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109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7">
            <a:extLst>
              <a:ext uri="{FF2B5EF4-FFF2-40B4-BE49-F238E27FC236}">
                <a16:creationId xmlns:a16="http://schemas.microsoft.com/office/drawing/2014/main" id="{7DA91775-17D1-B448-9532-55F2149A26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1C9F121D-4723-454B-8079-C217214559EF}" type="slidenum">
              <a:rPr lang="en-US" altLang="en-US">
                <a:latin typeface="Times New Roman" panose="02020603050405020304" pitchFamily="18" charset="0"/>
              </a:rPr>
              <a:pPr/>
              <a:t>48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1986" name="Rectangle 2">
            <a:extLst>
              <a:ext uri="{FF2B5EF4-FFF2-40B4-BE49-F238E27FC236}">
                <a16:creationId xmlns:a16="http://schemas.microsoft.com/office/drawing/2014/main" id="{37B8016F-B0FD-BA47-855E-C6CEF41DAB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BDAF3033-E048-9140-8892-6DAF58ADC8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5719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>
            <a:extLst>
              <a:ext uri="{FF2B5EF4-FFF2-40B4-BE49-F238E27FC236}">
                <a16:creationId xmlns:a16="http://schemas.microsoft.com/office/drawing/2014/main" id="{2397D3DE-3C68-284D-94E3-CCC7F1EE711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396E0314-B4B0-E540-971C-D2841D75CC8F}" type="slidenum">
              <a:rPr lang="en-US" altLang="en-US">
                <a:latin typeface="Times New Roman" panose="02020603050405020304" pitchFamily="18" charset="0"/>
              </a:rPr>
              <a:pPr/>
              <a:t>49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6082" name="Rectangle 2">
            <a:extLst>
              <a:ext uri="{FF2B5EF4-FFF2-40B4-BE49-F238E27FC236}">
                <a16:creationId xmlns:a16="http://schemas.microsoft.com/office/drawing/2014/main" id="{F2DA6529-95C9-D54D-8483-BD180190D7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F1A35007-076C-314C-8879-9FD04515B8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6123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68610" name="Notes Placeholder 2"/>
          <p:cNvSpPr>
            <a:spLocks noGrp="1"/>
          </p:cNvSpPr>
          <p:nvPr>
            <p:ph type="body" idx="1"/>
          </p:nvPr>
        </p:nvSpPr>
        <p:spPr>
          <a:noFill/>
          <a:ln w="9525"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Comic Sans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10350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74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A51B06-6896-894F-82D4-314CCEEB803E}"/>
              </a:ext>
            </a:extLst>
          </p:cNvPr>
          <p:cNvCxnSpPr>
            <a:cxnSpLocks/>
          </p:cNvCxnSpPr>
          <p:nvPr/>
        </p:nvCxnSpPr>
        <p:spPr>
          <a:xfrm>
            <a:off x="628650" y="3317875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133600"/>
          </a:xfrm>
        </p:spPr>
        <p:txBody>
          <a:bodyPr anchor="b">
            <a:normAutofit/>
          </a:bodyPr>
          <a:lstStyle>
            <a:lvl1pPr algn="ctr"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9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49444C6-8BA7-F348-B554-02FE28B7E8CD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accent1">
                  <a:lumMod val="50000"/>
                </a:schemeClr>
              </a:buClr>
              <a:defRPr/>
            </a:lvl1pPr>
            <a:lvl2pPr>
              <a:buClr>
                <a:schemeClr val="accent1">
                  <a:lumMod val="50000"/>
                </a:schemeClr>
              </a:buClr>
              <a:defRPr/>
            </a:lvl2pPr>
            <a:lvl3pPr>
              <a:buClr>
                <a:schemeClr val="accent1">
                  <a:lumMod val="50000"/>
                </a:schemeClr>
              </a:buClr>
              <a:defRPr/>
            </a:lvl3pPr>
            <a:lvl4pPr>
              <a:buClr>
                <a:schemeClr val="accent1">
                  <a:lumMod val="50000"/>
                </a:schemeClr>
              </a:buClr>
              <a:defRPr/>
            </a:lvl4pPr>
            <a:lvl5pPr>
              <a:buClr>
                <a:schemeClr val="accent1">
                  <a:lumMod val="50000"/>
                </a:schemeClr>
              </a:buCl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94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E3296B-3030-CE4B-AA58-2470CAA71537}"/>
              </a:ext>
            </a:extLst>
          </p:cNvPr>
          <p:cNvCxnSpPr>
            <a:cxnSpLocks/>
          </p:cNvCxnSpPr>
          <p:nvPr/>
        </p:nvCxnSpPr>
        <p:spPr>
          <a:xfrm>
            <a:off x="628650" y="3983038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059499"/>
            <a:ext cx="7886700" cy="2852737"/>
          </a:xfrm>
        </p:spPr>
        <p:txBody>
          <a:bodyPr anchor="b"/>
          <a:lstStyle>
            <a:lvl1pPr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9482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2091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ED0F70-B1F2-A04C-A71E-4D79596A566A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0811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52400"/>
            <a:ext cx="71628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495479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>
              <a:spcBef>
                <a:spcPts val="703"/>
              </a:spcBef>
            </a:lvl2pPr>
            <a:lvl3pPr>
              <a:spcBef>
                <a:spcPts val="1054"/>
              </a:spcBef>
            </a:lvl3pPr>
            <a:lvl4pPr>
              <a:spcBef>
                <a:spcPts val="703"/>
              </a:spcBef>
            </a:lvl4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66543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71482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5BB83F7-EA5F-5543-B20B-ABA6031087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212725"/>
            <a:ext cx="7886700" cy="985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ADABD95D-79E2-A442-9AE8-74F683DF6A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676400"/>
            <a:ext cx="7886700" cy="496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37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 kern="1200">
          <a:solidFill>
            <a:schemeClr val="bg2">
              <a:lumMod val="25000"/>
            </a:schemeClr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9pPr>
    </p:titleStyle>
    <p:bodyStyle>
      <a:lvl1pPr marL="228600" indent="-228600" algn="l" rtl="0" eaLnBrk="1" fontAlgn="base" hangingPunct="1">
        <a:spcBef>
          <a:spcPts val="10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e.uwaterloo.ca/~smzahed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9938DB-82CE-8D40-B34B-7A455F7BCC7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8650" y="1212665"/>
            <a:ext cx="7886700" cy="44326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8751170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Lecture 10: I/O Subsystem and Storage Devices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70F06-8457-6A4A-A75C-84938FC7D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Prof. Seyed Majid Zahedi</a:t>
            </a:r>
          </a:p>
          <a:p>
            <a:r>
              <a:rPr lang="en-US" sz="1600" dirty="0">
                <a:latin typeface="Ubuntu Mono" panose="020B0509030602030204" pitchFamily="49" charset="0"/>
                <a:hlinkClick r:id="rId3"/>
              </a:rPr>
              <a:t>https://ece.uwaterloo.ca/~smzahedi</a:t>
            </a:r>
            <a:endParaRPr lang="en-US" sz="1600" dirty="0">
              <a:latin typeface="Ubuntu Mono" panose="020B05090306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77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ym typeface="Symbol" panose="05050102010706020507" pitchFamily="18" charset="2"/>
              </a:rPr>
              <a:t>I/O subsystem</a:t>
            </a:r>
          </a:p>
          <a:p>
            <a:r>
              <a:rPr lang="en-US" altLang="ko-KR" sz="2400" dirty="0">
                <a:sym typeface="Symbol" panose="05050102010706020507" pitchFamily="18" charset="2"/>
              </a:rPr>
              <a:t>I/O performance</a:t>
            </a:r>
          </a:p>
          <a:p>
            <a:pPr lvl="1"/>
            <a:r>
              <a:rPr lang="en-US" altLang="ko-KR" sz="2000" dirty="0">
                <a:sym typeface="Symbol" panose="05050102010706020507" pitchFamily="18" charset="2"/>
              </a:rPr>
              <a:t>Some queueing theory</a:t>
            </a:r>
          </a:p>
          <a:p>
            <a:r>
              <a:rPr lang="en-US" altLang="ko-KR" sz="2400" dirty="0">
                <a:sym typeface="Symbol" panose="05050102010706020507" pitchFamily="18" charset="2"/>
              </a:rPr>
              <a:t>Storage devices</a:t>
            </a:r>
          </a:p>
          <a:p>
            <a:pPr lvl="1"/>
            <a:r>
              <a:rPr lang="en-US" altLang="ko-KR" sz="2000" dirty="0">
                <a:sym typeface="Symbol" panose="05050102010706020507" pitchFamily="18" charset="2"/>
              </a:rPr>
              <a:t>Magnetic storage</a:t>
            </a:r>
          </a:p>
          <a:p>
            <a:pPr lvl="1"/>
            <a:r>
              <a:rPr lang="en-US" altLang="ko-KR" sz="2000" dirty="0">
                <a:sym typeface="Symbol" panose="05050102010706020507" pitchFamily="18" charset="2"/>
              </a:rPr>
              <a:t>Flash memory</a:t>
            </a:r>
          </a:p>
        </p:txBody>
      </p:sp>
    </p:spTree>
    <p:extLst>
      <p:ext uri="{BB962C8B-B14F-4D97-AF65-F5344CB8AC3E}">
        <p14:creationId xmlns:p14="http://schemas.microsoft.com/office/powerpoint/2010/main" val="1627063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What’s Next?</a:t>
            </a:r>
          </a:p>
        </p:txBody>
      </p:sp>
      <p:sp>
        <p:nvSpPr>
          <p:cNvPr id="832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2000" dirty="0"/>
              <a:t>So far in this course</a:t>
            </a:r>
          </a:p>
          <a:p>
            <a:pPr lvl="1"/>
            <a:r>
              <a:rPr lang="en-US" altLang="ko-KR" sz="1800" dirty="0"/>
              <a:t>We have learned how to manage CPU and memory</a:t>
            </a:r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What about I/O?</a:t>
            </a:r>
          </a:p>
          <a:p>
            <a:pPr lvl="1"/>
            <a:r>
              <a:rPr lang="en-US" altLang="ko-KR" sz="1800" dirty="0"/>
              <a:t>Without I/O, computers are useless (disembodied brains?)</a:t>
            </a:r>
          </a:p>
          <a:p>
            <a:pPr lvl="1"/>
            <a:r>
              <a:rPr lang="en-US" altLang="ko-KR" sz="1800" dirty="0"/>
              <a:t>But … there is incredible variety of I/O devices</a:t>
            </a:r>
          </a:p>
          <a:p>
            <a:pPr lvl="2"/>
            <a:r>
              <a:rPr lang="en-US" altLang="ko-KR" sz="1600" dirty="0"/>
              <a:t>Accelerator (e.g., GPU, TPU), storage (e.g., SSD, HDD), transmission (e.g., NIC, wireless adaptor), human-interface (e.g., keyboard, mouse)</a:t>
            </a:r>
          </a:p>
          <a:p>
            <a:pPr lvl="2"/>
            <a:r>
              <a:rPr lang="en-US" altLang="ko-KR" sz="1600" dirty="0"/>
              <a:t>How can we </a:t>
            </a:r>
            <a:r>
              <a:rPr lang="en-US" altLang="ko-KR" sz="1600" dirty="0">
                <a:solidFill>
                  <a:srgbClr val="FF0000"/>
                </a:solidFill>
              </a:rPr>
              <a:t>standardize interfaces</a:t>
            </a:r>
            <a:r>
              <a:rPr lang="en-US" altLang="ko-KR" sz="1600" dirty="0"/>
              <a:t> to these devices?</a:t>
            </a:r>
          </a:p>
          <a:p>
            <a:pPr lvl="1"/>
            <a:r>
              <a:rPr lang="en-US" altLang="ko-KR" sz="1800" dirty="0"/>
              <a:t>Devices are unreliable: media failures and transmission errors</a:t>
            </a:r>
          </a:p>
          <a:p>
            <a:pPr lvl="2"/>
            <a:r>
              <a:rPr lang="en-US" altLang="ko-KR" sz="1600" dirty="0"/>
              <a:t>How can we make them </a:t>
            </a:r>
            <a:r>
              <a:rPr lang="en-US" altLang="ko-KR" sz="1600" dirty="0">
                <a:solidFill>
                  <a:srgbClr val="FF0000"/>
                </a:solidFill>
              </a:rPr>
              <a:t>reliable</a:t>
            </a:r>
            <a:r>
              <a:rPr lang="en-US" altLang="ko-KR" sz="1600" dirty="0"/>
              <a:t>?</a:t>
            </a:r>
          </a:p>
          <a:p>
            <a:pPr lvl="1"/>
            <a:r>
              <a:rPr lang="en-US" altLang="ko-KR" sz="1800" dirty="0"/>
              <a:t>Devices are </a:t>
            </a:r>
            <a:r>
              <a:rPr lang="en-US" altLang="ko-KR" sz="1800" dirty="0">
                <a:solidFill>
                  <a:srgbClr val="FF0000"/>
                </a:solidFill>
              </a:rPr>
              <a:t>unpredictable</a:t>
            </a:r>
            <a:r>
              <a:rPr lang="en-US" altLang="ko-KR" sz="1800" dirty="0"/>
              <a:t> and/or slow</a:t>
            </a:r>
          </a:p>
          <a:p>
            <a:pPr lvl="2"/>
            <a:r>
              <a:rPr lang="en-US" altLang="ko-KR" sz="1600" dirty="0"/>
              <a:t>How can we manage them if we don’t know </a:t>
            </a:r>
            <a:br>
              <a:rPr lang="en-US" altLang="ko-KR" sz="1600" dirty="0"/>
            </a:br>
            <a:r>
              <a:rPr lang="en-US" altLang="ko-KR" sz="1600" dirty="0"/>
              <a:t>what they will do or how they will perform?</a:t>
            </a:r>
          </a:p>
        </p:txBody>
      </p:sp>
    </p:spTree>
    <p:extLst>
      <p:ext uri="{BB962C8B-B14F-4D97-AF65-F5344CB8AC3E}">
        <p14:creationId xmlns:p14="http://schemas.microsoft.com/office/powerpoint/2010/main" val="3498590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5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2515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Wide Range of I/O Transfer Rates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99ACA21-B4D3-524E-A0C2-0E8053DA44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4881103"/>
            <a:ext cx="7924800" cy="1579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spcBef>
                <a:spcPts val="10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CMU Sans Serif" panose="02000603000000000000" pitchFamily="2" charset="0"/>
                <a:cs typeface="Gill Sans Light" panose="020B0302020104020203" pitchFamily="34" charset="-79"/>
              </a:defRPr>
            </a:lvl1pPr>
            <a:lvl2pPr marL="685800" indent="-228600" algn="l" rtl="0" eaLnBrk="1" fontAlgn="base" hangingPunct="1">
              <a:spcBef>
                <a:spcPts val="5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CMU Sans Serif" panose="02000603000000000000" pitchFamily="2" charset="0"/>
                <a:cs typeface="Gill Sans Light" panose="020B0302020104020203" pitchFamily="34" charset="-79"/>
              </a:defRPr>
            </a:lvl2pPr>
            <a:lvl3pPr marL="1143000" indent="-228600" algn="l" rtl="0" eaLnBrk="1" fontAlgn="base" hangingPunct="1">
              <a:spcBef>
                <a:spcPts val="5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CMU Sans Serif" panose="02000603000000000000" pitchFamily="2" charset="0"/>
                <a:cs typeface="Gill Sans Light" panose="020B0302020104020203" pitchFamily="34" charset="-79"/>
              </a:defRPr>
            </a:lvl3pPr>
            <a:lvl4pPr marL="1600200" indent="-228600" algn="l" rtl="0" eaLnBrk="1" fontAlgn="base" hangingPunct="1">
              <a:spcBef>
                <a:spcPts val="5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kern="120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CMU Sans Serif" panose="02000603000000000000" pitchFamily="2" charset="0"/>
                <a:cs typeface="Gill Sans Light" panose="020B0302020104020203" pitchFamily="34" charset="-79"/>
              </a:defRPr>
            </a:lvl4pPr>
            <a:lvl5pPr marL="2057400" indent="-228600" algn="l" rtl="0" eaLnBrk="1" fontAlgn="base" hangingPunct="1">
              <a:spcBef>
                <a:spcPts val="5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kern="120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CMU Sans Serif" panose="02000603000000000000" pitchFamily="2" charset="0"/>
                <a:cs typeface="Gill Sans Light" panose="020B03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 sz="2400" dirty="0"/>
              <a:t>Transfer rates vary over 7 orders of magnitude!</a:t>
            </a:r>
          </a:p>
          <a:p>
            <a:pPr lvl="1" defTabSz="914400"/>
            <a:r>
              <a:rPr lang="en-US" sz="1800" dirty="0"/>
              <a:t>System better be able to handle this wide range</a:t>
            </a:r>
          </a:p>
          <a:p>
            <a:pPr lvl="1" defTabSz="914400"/>
            <a:r>
              <a:rPr lang="en-US" sz="1800" dirty="0"/>
              <a:t>Better not have high overhead/byte for fast devices!</a:t>
            </a:r>
          </a:p>
          <a:p>
            <a:pPr lvl="1" defTabSz="914400"/>
            <a:r>
              <a:rPr lang="en-US" sz="1800" dirty="0"/>
              <a:t>Better not waste time waiting for slow devices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3ADF97DD-3821-4140-B829-59D0CF354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53049" y="1695398"/>
            <a:ext cx="4237900" cy="2689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1663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Goal of I/O Subsystem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E217BA5-4B2B-B941-B0A7-DEEB321926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tabLst>
                <a:tab pos="1252538" algn="l"/>
                <a:tab pos="1603375" algn="l"/>
              </a:tabLst>
            </a:pPr>
            <a:r>
              <a:rPr lang="en-US" altLang="ko-KR" sz="2000" dirty="0">
                <a:ea typeface="굴림" panose="020B0600000101010101" pitchFamily="34" charset="-127"/>
              </a:rPr>
              <a:t>Provide uniform interfaces, despite wide range of different devices</a:t>
            </a:r>
          </a:p>
          <a:p>
            <a:pPr lvl="1">
              <a:tabLst>
                <a:tab pos="1252538" algn="l"/>
                <a:tab pos="1603375" algn="l"/>
              </a:tabLst>
            </a:pPr>
            <a:r>
              <a:rPr lang="en-US" altLang="ko-KR" sz="1800" dirty="0">
                <a:ea typeface="굴림" panose="020B0600000101010101" pitchFamily="34" charset="-127"/>
              </a:rPr>
              <a:t>This code works on many different devices:</a:t>
            </a:r>
          </a:p>
          <a:p>
            <a:pPr lvl="2">
              <a:tabLst>
                <a:tab pos="1252538" algn="l"/>
                <a:tab pos="1603375" algn="l"/>
              </a:tabLst>
            </a:pPr>
            <a:endParaRPr lang="en-US" altLang="ko-KR" sz="1400" dirty="0">
              <a:ea typeface="굴림" panose="020B0600000101010101" pitchFamily="34" charset="-127"/>
            </a:endParaRPr>
          </a:p>
          <a:p>
            <a:pPr lvl="1">
              <a:buFontTx/>
              <a:buNone/>
              <a:tabLst>
                <a:tab pos="1252538" algn="l"/>
                <a:tab pos="1603375" algn="l"/>
              </a:tabLst>
            </a:pPr>
            <a:r>
              <a:rPr lang="en-US" altLang="ko-KR" sz="1800" dirty="0">
                <a:latin typeface="Consolas" charset="0"/>
                <a:ea typeface="Consolas" charset="0"/>
                <a:cs typeface="Consolas" charset="0"/>
              </a:rPr>
              <a:t>	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	FILE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fd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 =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fopen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latin typeface="Ubuntu Mono" panose="020B0509030602030204" pitchFamily="49" charset="0"/>
                <a:ea typeface="Consolas" charset="0"/>
                <a:cs typeface="Consolas" charset="0"/>
              </a:rPr>
              <a:t>"/dev/something"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, </a:t>
            </a:r>
            <a:r>
              <a:rPr lang="en-US" altLang="ko-KR" sz="1600" dirty="0">
                <a:solidFill>
                  <a:srgbClr val="0070C0"/>
                </a:solidFill>
                <a:latin typeface="Ubuntu Mono" panose="020B0509030602030204" pitchFamily="49" charset="0"/>
                <a:ea typeface="Consolas" charset="0"/>
                <a:cs typeface="Consolas" charset="0"/>
              </a:rPr>
              <a:t>"</a:t>
            </a:r>
            <a:r>
              <a:rPr lang="en-US" altLang="ko-KR" sz="1600" dirty="0" err="1">
                <a:solidFill>
                  <a:srgbClr val="0070C0"/>
                </a:solidFill>
                <a:latin typeface="Ubuntu Mono" panose="020B0509030602030204" pitchFamily="49" charset="0"/>
                <a:ea typeface="Consolas" charset="0"/>
                <a:cs typeface="Consolas" charset="0"/>
              </a:rPr>
              <a:t>rw</a:t>
            </a:r>
            <a:r>
              <a:rPr lang="en-US" altLang="ko-KR" sz="1600" dirty="0">
                <a:solidFill>
                  <a:srgbClr val="0070C0"/>
                </a:solidFill>
                <a:latin typeface="Ubuntu Mono" panose="020B0509030602030204" pitchFamily="49" charset="0"/>
                <a:ea typeface="Consolas" charset="0"/>
                <a:cs typeface="Consolas" charset="0"/>
              </a:rPr>
              <a:t>"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);</a:t>
            </a:r>
            <a:b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</a:b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	for (</a:t>
            </a:r>
            <a:r>
              <a:rPr lang="en-US" altLang="ko-KR" sz="1600" dirty="0">
                <a:solidFill>
                  <a:srgbClr val="7030A0"/>
                </a:solidFill>
                <a:latin typeface="Ubuntu Mono" panose="020B0509030602030204" pitchFamily="49" charset="0"/>
                <a:ea typeface="Consolas" charset="0"/>
                <a:cs typeface="Consolas" charset="0"/>
              </a:rPr>
              <a:t>int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i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 = 0;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i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 &lt; 10;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i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++) {</a:t>
            </a:r>
            <a:b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</a:b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		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fprintf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(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fd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, "Count %d\n", 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i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);</a:t>
            </a:r>
            <a:b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</a:b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	}</a:t>
            </a:r>
            <a:b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</a:b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	close(</a:t>
            </a:r>
            <a:r>
              <a:rPr lang="en-US" altLang="ko-KR" sz="1600" dirty="0" err="1">
                <a:latin typeface="Ubuntu Mono" panose="020B0509030602030204" pitchFamily="49" charset="0"/>
                <a:ea typeface="Consolas" charset="0"/>
                <a:cs typeface="Consolas" charset="0"/>
              </a:rPr>
              <a:t>fd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);</a:t>
            </a:r>
          </a:p>
          <a:p>
            <a:pPr lvl="1">
              <a:buFontTx/>
              <a:buNone/>
              <a:tabLst>
                <a:tab pos="1252538" algn="l"/>
                <a:tab pos="1603375" algn="l"/>
              </a:tabLst>
            </a:pPr>
            <a:r>
              <a:rPr lang="en-US" altLang="ko-KR" sz="1800" dirty="0">
                <a:latin typeface="Ubuntu Mono" panose="020B0509030602030204" pitchFamily="49" charset="0"/>
                <a:ea typeface="Consolas" charset="0"/>
                <a:cs typeface="Consolas" charset="0"/>
              </a:rPr>
              <a:t>	</a:t>
            </a:r>
          </a:p>
          <a:p>
            <a:pPr lvl="1">
              <a:tabLst>
                <a:tab pos="1252538" algn="l"/>
                <a:tab pos="1603375" algn="l"/>
              </a:tabLst>
            </a:pPr>
            <a:r>
              <a:rPr lang="en-US" altLang="ko-KR" sz="1800" dirty="0">
                <a:ea typeface="굴림" panose="020B0600000101010101" pitchFamily="34" charset="-127"/>
              </a:rPr>
              <a:t>Why? Because device drivers implement standard interface</a:t>
            </a:r>
          </a:p>
          <a:p>
            <a:pPr lvl="2">
              <a:tabLst>
                <a:tab pos="1252538" algn="l"/>
                <a:tab pos="1603375" algn="l"/>
              </a:tabLst>
            </a:pPr>
            <a:endParaRPr lang="en-US" altLang="ko-KR" sz="1400" dirty="0">
              <a:ea typeface="굴림" panose="020B0600000101010101" pitchFamily="34" charset="-127"/>
            </a:endParaRPr>
          </a:p>
          <a:p>
            <a:pPr>
              <a:tabLst>
                <a:tab pos="1252538" algn="l"/>
                <a:tab pos="1603375" algn="l"/>
              </a:tabLst>
            </a:pPr>
            <a:r>
              <a:rPr lang="en-US" altLang="ko-KR" sz="2000" dirty="0">
                <a:ea typeface="굴림" panose="020B0600000101010101" pitchFamily="34" charset="-127"/>
              </a:rPr>
              <a:t>We will get a flavor for what is involved in controlling devices in this lecture</a:t>
            </a:r>
          </a:p>
          <a:p>
            <a:pPr lvl="1">
              <a:tabLst>
                <a:tab pos="1252538" algn="l"/>
                <a:tab pos="1603375" algn="l"/>
              </a:tabLst>
            </a:pPr>
            <a:r>
              <a:rPr lang="en-US" altLang="ko-KR" sz="1800" dirty="0">
                <a:ea typeface="굴림" panose="020B0600000101010101" pitchFamily="34" charset="-127"/>
              </a:rPr>
              <a:t>We can only scratch the surface!	</a:t>
            </a:r>
          </a:p>
          <a:p>
            <a:pPr lvl="1">
              <a:buFontTx/>
              <a:buNone/>
              <a:tabLst>
                <a:tab pos="1252538" algn="l"/>
                <a:tab pos="1603375" algn="l"/>
              </a:tabLst>
            </a:pPr>
            <a:r>
              <a:rPr lang="en-US" altLang="ko-KR" sz="1800" dirty="0">
                <a:ea typeface="굴림" panose="020B0600000101010101" pitchFamily="34" charset="-127"/>
              </a:rPr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677063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Devices: Operational Parameters</a:t>
            </a:r>
          </a:p>
        </p:txBody>
      </p:sp>
      <p:sp>
        <p:nvSpPr>
          <p:cNvPr id="2765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Data granularity</a:t>
            </a:r>
            <a:r>
              <a:rPr lang="en-US" sz="1800" dirty="0"/>
              <a:t>: byte vs. block</a:t>
            </a:r>
          </a:p>
          <a:p>
            <a:pPr lvl="1"/>
            <a:r>
              <a:rPr lang="en-US" sz="1600" dirty="0"/>
              <a:t>Some devices provide single byte at a time (e.g., keyboard)</a:t>
            </a:r>
          </a:p>
          <a:p>
            <a:pPr lvl="1"/>
            <a:r>
              <a:rPr lang="en-US" sz="1600" dirty="0"/>
              <a:t>Others provide whole blocks (e.g., disks, networks, etc.)</a:t>
            </a:r>
          </a:p>
          <a:p>
            <a:pPr lvl="5"/>
            <a:endParaRPr lang="en-US" sz="1200" dirty="0"/>
          </a:p>
          <a:p>
            <a:r>
              <a:rPr lang="en-US" sz="1800" dirty="0">
                <a:solidFill>
                  <a:srgbClr val="FF0000"/>
                </a:solidFill>
              </a:rPr>
              <a:t>Access pattern</a:t>
            </a:r>
            <a:r>
              <a:rPr lang="en-US" sz="1800" dirty="0"/>
              <a:t>: sequential vs. random</a:t>
            </a:r>
          </a:p>
          <a:p>
            <a:pPr lvl="1"/>
            <a:r>
              <a:rPr lang="en-US" sz="1600" dirty="0"/>
              <a:t>Some devices must be accessed sequentially (e.g., tape)</a:t>
            </a:r>
          </a:p>
          <a:p>
            <a:pPr lvl="1"/>
            <a:r>
              <a:rPr lang="en-US" sz="1600" dirty="0"/>
              <a:t>Others can be accessed “randomly” (e.g., disk, cd, etc.)</a:t>
            </a:r>
          </a:p>
          <a:p>
            <a:pPr lvl="2"/>
            <a:r>
              <a:rPr lang="en-US" sz="1400" dirty="0"/>
              <a:t>Fixed overhead to start transfers</a:t>
            </a:r>
          </a:p>
          <a:p>
            <a:pPr lvl="1"/>
            <a:endParaRPr lang="en-US" sz="1600" dirty="0"/>
          </a:p>
          <a:p>
            <a:r>
              <a:rPr lang="en-US" sz="1800" dirty="0">
                <a:solidFill>
                  <a:srgbClr val="FF0000"/>
                </a:solidFill>
              </a:rPr>
              <a:t>Notification mechanisms</a:t>
            </a:r>
            <a:r>
              <a:rPr lang="en-US" sz="1800" dirty="0"/>
              <a:t>: polling vs. interrupt</a:t>
            </a:r>
          </a:p>
          <a:p>
            <a:pPr lvl="1"/>
            <a:r>
              <a:rPr lang="en-US" sz="1600" dirty="0"/>
              <a:t>Some devices require continual monitoring</a:t>
            </a:r>
          </a:p>
          <a:p>
            <a:pPr lvl="1"/>
            <a:r>
              <a:rPr lang="en-US" sz="1600" dirty="0"/>
              <a:t>Others generate interrupts when they need service</a:t>
            </a:r>
          </a:p>
          <a:p>
            <a:pPr marL="457200" lvl="1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21829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Devices: Data Access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7B0CC1-6B50-B049-8CE7-B3A6DFC4B8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20000"/>
              </a:spcBef>
            </a:pPr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Character/byte devices: </a:t>
            </a:r>
            <a:r>
              <a:rPr lang="en-US" altLang="ko-KR" sz="1800" i="1" dirty="0">
                <a:ea typeface="굴림" panose="020B0600000101010101" pitchFamily="34" charset="-127"/>
              </a:rPr>
              <a:t>e.g.,</a:t>
            </a:r>
            <a:r>
              <a:rPr lang="en-US" altLang="ko-KR" sz="1800" dirty="0">
                <a:solidFill>
                  <a:schemeClr val="hlink"/>
                </a:solidFill>
                <a:ea typeface="굴림" panose="020B0600000101010101" pitchFamily="34" charset="-127"/>
              </a:rPr>
              <a:t> </a:t>
            </a:r>
            <a:r>
              <a:rPr lang="en-US" altLang="ko-KR" sz="1800" dirty="0">
                <a:ea typeface="굴림" panose="020B0600000101010101" pitchFamily="34" charset="-127"/>
              </a:rPr>
              <a:t>keyboards, mice, serial ports, some USB devices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Access single characters at a time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Commands include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get()</a:t>
            </a:r>
            <a:r>
              <a:rPr lang="en-US" altLang="ko-KR" sz="1600" dirty="0">
                <a:latin typeface="Ubuntu Mono" panose="020B0509030602030204" pitchFamily="49" charset="0"/>
                <a:ea typeface="굴림" panose="020B0600000101010101" pitchFamily="34" charset="-127"/>
              </a:rPr>
              <a:t>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put()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Libraries layered to allow line editing</a:t>
            </a:r>
          </a:p>
          <a:p>
            <a:pPr lvl="1">
              <a:spcBef>
                <a:spcPct val="20000"/>
              </a:spcBef>
            </a:pPr>
            <a:endParaRPr lang="en-US" altLang="ko-KR" sz="1600" dirty="0">
              <a:solidFill>
                <a:srgbClr val="FF0000"/>
              </a:solidFill>
              <a:ea typeface="굴림" panose="020B0600000101010101" pitchFamily="34" charset="-127"/>
            </a:endParaRPr>
          </a:p>
          <a:p>
            <a:pPr>
              <a:spcBef>
                <a:spcPct val="20000"/>
              </a:spcBef>
            </a:pPr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Block devices:</a:t>
            </a:r>
            <a:r>
              <a:rPr lang="en-US" altLang="ko-KR" sz="1800" dirty="0">
                <a:ea typeface="굴림" panose="020B0600000101010101" pitchFamily="34" charset="-127"/>
              </a:rPr>
              <a:t> </a:t>
            </a:r>
            <a:r>
              <a:rPr lang="en-US" altLang="ko-KR" sz="1800" i="1" dirty="0">
                <a:ea typeface="굴림" panose="020B0600000101010101" pitchFamily="34" charset="-127"/>
              </a:rPr>
              <a:t>e.g.,</a:t>
            </a:r>
            <a:r>
              <a:rPr lang="en-US" altLang="ko-KR" sz="1800" dirty="0">
                <a:solidFill>
                  <a:schemeClr val="hlink"/>
                </a:solidFill>
                <a:ea typeface="굴림" panose="020B0600000101010101" pitchFamily="34" charset="-127"/>
              </a:rPr>
              <a:t> </a:t>
            </a:r>
            <a:r>
              <a:rPr lang="en-US" altLang="ko-KR" sz="1800" dirty="0">
                <a:ea typeface="굴림" panose="020B0600000101010101" pitchFamily="34" charset="-127"/>
              </a:rPr>
              <a:t>disk drives, tape drives, DVD-ROM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Access blocks of data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Commands include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open()</a:t>
            </a:r>
            <a:r>
              <a:rPr lang="en-US" altLang="ko-KR" sz="1600" dirty="0">
                <a:latin typeface="Ubuntu Mono" panose="020B0509030602030204" pitchFamily="49" charset="0"/>
                <a:ea typeface="굴림" panose="020B0600000101010101" pitchFamily="34" charset="-127"/>
              </a:rPr>
              <a:t>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read()</a:t>
            </a:r>
            <a:r>
              <a:rPr lang="en-US" altLang="ko-KR" sz="1600" dirty="0">
                <a:latin typeface="Ubuntu Mono" panose="020B0509030602030204" pitchFamily="49" charset="0"/>
                <a:ea typeface="굴림" panose="020B0600000101010101" pitchFamily="34" charset="-127"/>
              </a:rPr>
              <a:t>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write()</a:t>
            </a:r>
            <a:r>
              <a:rPr lang="en-US" altLang="ko-KR" sz="1600" dirty="0">
                <a:latin typeface="Ubuntu Mono" panose="020B0509030602030204" pitchFamily="49" charset="0"/>
                <a:ea typeface="굴림" panose="020B0600000101010101" pitchFamily="34" charset="-127"/>
              </a:rPr>
              <a:t>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seek()</a:t>
            </a:r>
          </a:p>
          <a:p>
            <a:pPr lvl="1">
              <a:spcBef>
                <a:spcPct val="20000"/>
              </a:spcBef>
            </a:pPr>
            <a:endParaRPr lang="en-US" altLang="ko-KR" sz="1600" dirty="0">
              <a:ea typeface="굴림" panose="020B0600000101010101" pitchFamily="34" charset="-127"/>
            </a:endParaRPr>
          </a:p>
          <a:p>
            <a:pPr>
              <a:spcBef>
                <a:spcPct val="20000"/>
              </a:spcBef>
            </a:pPr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Network devices: </a:t>
            </a:r>
            <a:r>
              <a:rPr lang="en-US" altLang="ko-KR" sz="1800" i="1" dirty="0">
                <a:ea typeface="굴림" panose="020B0600000101010101" pitchFamily="34" charset="-127"/>
              </a:rPr>
              <a:t>e.g.,</a:t>
            </a:r>
            <a:r>
              <a:rPr lang="en-US" altLang="ko-KR" sz="1800" dirty="0">
                <a:solidFill>
                  <a:schemeClr val="hlink"/>
                </a:solidFill>
                <a:ea typeface="굴림" panose="020B0600000101010101" pitchFamily="34" charset="-127"/>
              </a:rPr>
              <a:t> </a:t>
            </a:r>
            <a:r>
              <a:rPr lang="en-US" altLang="ko-KR" sz="1800" dirty="0">
                <a:ea typeface="굴림" panose="020B0600000101010101" pitchFamily="34" charset="-127"/>
              </a:rPr>
              <a:t>ethernet, wireless, Bluetooth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Different enough from block/character to have its own interface</a:t>
            </a:r>
          </a:p>
          <a:p>
            <a:pPr lvl="1">
              <a:spcBef>
                <a:spcPct val="20000"/>
              </a:spcBef>
            </a:pPr>
            <a:r>
              <a:rPr lang="en-US" altLang="ko-KR" sz="1600" dirty="0">
                <a:ea typeface="굴림" panose="020B0600000101010101" pitchFamily="34" charset="-127"/>
              </a:rPr>
              <a:t>Unix and Windows include </a:t>
            </a:r>
            <a:r>
              <a:rPr lang="en-US" altLang="ko-KR" sz="1600" dirty="0">
                <a:solidFill>
                  <a:srgbClr val="FF0000"/>
                </a:solidFill>
                <a:ea typeface="굴림" panose="020B0600000101010101" pitchFamily="34" charset="-127"/>
              </a:rPr>
              <a:t>socket</a:t>
            </a:r>
            <a:r>
              <a:rPr lang="en-US" altLang="ko-KR" sz="1600" dirty="0">
                <a:ea typeface="굴림" panose="020B0600000101010101" pitchFamily="34" charset="-127"/>
              </a:rPr>
              <a:t> interface</a:t>
            </a:r>
          </a:p>
        </p:txBody>
      </p:sp>
    </p:spTree>
    <p:extLst>
      <p:ext uri="{BB962C8B-B14F-4D97-AF65-F5344CB8AC3E}">
        <p14:creationId xmlns:p14="http://schemas.microsoft.com/office/powerpoint/2010/main" val="4142973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Devices: Timing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8048DD6-F80E-214A-BDFA-BB3EDDB93E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Blocking interface: </a:t>
            </a:r>
            <a:r>
              <a:rPr lang="en-US" altLang="ko-KR" sz="1800" dirty="0">
                <a:ea typeface="굴림" panose="020B0600000101010101" pitchFamily="34" charset="-127"/>
              </a:rPr>
              <a:t>“wait”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When request data (e.g.,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read()</a:t>
            </a:r>
            <a:r>
              <a:rPr lang="en-US" altLang="ko-KR" sz="1600" dirty="0">
                <a:ea typeface="굴림" panose="020B0600000101010101" pitchFamily="34" charset="-127"/>
              </a:rPr>
              <a:t> system call), put to sleep until data is ready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When write data (e.g., </a:t>
            </a:r>
            <a:r>
              <a:rPr lang="en-US" altLang="ko-KR" sz="1600" dirty="0">
                <a:latin typeface="Ubuntu Mono" panose="020B0509030602030204" pitchFamily="49" charset="0"/>
                <a:ea typeface="Consolas" charset="0"/>
                <a:cs typeface="Consolas" charset="0"/>
              </a:rPr>
              <a:t>write()</a:t>
            </a:r>
            <a:r>
              <a:rPr lang="en-US" altLang="ko-KR" sz="1600" dirty="0">
                <a:ea typeface="굴림" panose="020B0600000101010101" pitchFamily="34" charset="-127"/>
              </a:rPr>
              <a:t> system call), put to sleep until device is ready</a:t>
            </a:r>
          </a:p>
          <a:p>
            <a:pPr lvl="2"/>
            <a:endParaRPr lang="en-US" altLang="ko-KR" sz="1200" dirty="0">
              <a:ea typeface="굴림" panose="020B0600000101010101" pitchFamily="34" charset="-127"/>
            </a:endParaRPr>
          </a:p>
          <a:p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Non-blocking interface:</a:t>
            </a:r>
            <a:r>
              <a:rPr lang="en-US" altLang="ko-KR" sz="1800" dirty="0">
                <a:solidFill>
                  <a:schemeClr val="hlink"/>
                </a:solidFill>
                <a:ea typeface="굴림" panose="020B0600000101010101" pitchFamily="34" charset="-127"/>
              </a:rPr>
              <a:t> </a:t>
            </a:r>
            <a:r>
              <a:rPr lang="en-US" altLang="ko-KR" sz="1800" dirty="0">
                <a:ea typeface="굴림" panose="020B0600000101010101" pitchFamily="34" charset="-127"/>
              </a:rPr>
              <a:t>“don’t wait”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Return quickly from read or write with count of bytes successfully transferred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Read may return nothing, write may write nothing</a:t>
            </a:r>
          </a:p>
          <a:p>
            <a:pPr lvl="2"/>
            <a:endParaRPr lang="en-US" altLang="ko-KR" sz="1200" dirty="0">
              <a:ea typeface="굴림" panose="020B0600000101010101" pitchFamily="34" charset="-127"/>
            </a:endParaRPr>
          </a:p>
          <a:p>
            <a:r>
              <a:rPr lang="en-US" altLang="ko-KR" sz="1800" dirty="0">
                <a:solidFill>
                  <a:srgbClr val="FF0000"/>
                </a:solidFill>
                <a:ea typeface="굴림" panose="020B0600000101010101" pitchFamily="34" charset="-127"/>
              </a:rPr>
              <a:t>Asynchronous interface: </a:t>
            </a:r>
            <a:r>
              <a:rPr lang="en-US" altLang="ko-KR" sz="1800" dirty="0">
                <a:ea typeface="굴림" panose="020B0600000101010101" pitchFamily="34" charset="-127"/>
              </a:rPr>
              <a:t>“tell me later”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When request data, take pointer to user’s buffer, return immediately; later kernel fills buffer and notifies user</a:t>
            </a:r>
          </a:p>
          <a:p>
            <a:pPr lvl="1"/>
            <a:r>
              <a:rPr lang="en-US" altLang="ko-KR" sz="1600" dirty="0">
                <a:ea typeface="굴림" panose="020B0600000101010101" pitchFamily="34" charset="-127"/>
              </a:rPr>
              <a:t>When send data, take pointer to user’s buffer, return immediately; later kernel takes data and notifies user </a:t>
            </a:r>
          </a:p>
        </p:txBody>
      </p:sp>
    </p:spTree>
    <p:extLst>
      <p:ext uri="{BB962C8B-B14F-4D97-AF65-F5344CB8AC3E}">
        <p14:creationId xmlns:p14="http://schemas.microsoft.com/office/powerpoint/2010/main" val="2733581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Devices: Notification Mechanisms</a:t>
            </a:r>
          </a:p>
        </p:txBody>
      </p:sp>
      <p:sp>
        <p:nvSpPr>
          <p:cNvPr id="842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Polling: </a:t>
            </a:r>
            <a:r>
              <a:rPr lang="en-US" sz="1800" dirty="0"/>
              <a:t>CPU periodically checks device-specific status register</a:t>
            </a:r>
          </a:p>
          <a:p>
            <a:pPr lvl="1"/>
            <a:r>
              <a:rPr lang="en-US" sz="1600" dirty="0"/>
              <a:t>E.g., I/O device puts completion information in status register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CPU is not frequently interrupted by unpredictable events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– CPU time is wasted if it polls for infrequent or unpredictable I/O events</a:t>
            </a:r>
          </a:p>
          <a:p>
            <a:pPr lvl="2"/>
            <a:endParaRPr lang="en-US" sz="1200" dirty="0"/>
          </a:p>
          <a:p>
            <a:r>
              <a:rPr lang="en-US" sz="1800" dirty="0">
                <a:solidFill>
                  <a:srgbClr val="FF0000"/>
                </a:solidFill>
              </a:rPr>
              <a:t>Interrupt-driven: </a:t>
            </a:r>
            <a:r>
              <a:rPr lang="en-US" sz="1800" dirty="0"/>
              <a:t>device generates interrupt whenever it needs service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CPU time could be spent on other things rather than polling for I/O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– Interrupt handling could introduce unpredictability</a:t>
            </a:r>
          </a:p>
          <a:p>
            <a:pPr lvl="2"/>
            <a:endParaRPr lang="en-US" sz="1200" dirty="0"/>
          </a:p>
          <a:p>
            <a:r>
              <a:rPr lang="en-US" sz="1800" dirty="0">
                <a:solidFill>
                  <a:srgbClr val="FF0000"/>
                </a:solidFill>
              </a:rPr>
              <a:t>Hybrid:</a:t>
            </a:r>
            <a:r>
              <a:rPr lang="en-US" sz="1800" dirty="0"/>
              <a:t> combination of polling and interrupt-driven</a:t>
            </a:r>
          </a:p>
          <a:p>
            <a:pPr lvl="1"/>
            <a:r>
              <a:rPr lang="en-US" sz="1600" dirty="0"/>
              <a:t>E.g., high-bandwidth network adapter</a:t>
            </a:r>
          </a:p>
          <a:p>
            <a:pPr lvl="2"/>
            <a:r>
              <a:rPr lang="en-US" sz="1400" dirty="0"/>
              <a:t>Interrupt for first incoming packet</a:t>
            </a:r>
          </a:p>
          <a:p>
            <a:pPr lvl="2"/>
            <a:r>
              <a:rPr lang="en-US" sz="1400" dirty="0"/>
              <a:t>Poll for following packets until hardware queues are empty</a:t>
            </a:r>
          </a:p>
          <a:p>
            <a:pPr lvl="2"/>
            <a:endParaRPr lang="en-US" sz="1400" dirty="0"/>
          </a:p>
        </p:txBody>
      </p:sp>
      <p:pic>
        <p:nvPicPr>
          <p:cNvPr id="1026" name="Picture 2" descr="When you get a notification - Imgflip">
            <a:extLst>
              <a:ext uri="{FF2B5EF4-FFF2-40B4-BE49-F238E27FC236}">
                <a16:creationId xmlns:a16="http://schemas.microsoft.com/office/drawing/2014/main" id="{054272AF-B084-6D4E-B261-2CDB224E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56588" y="4398175"/>
            <a:ext cx="2052036" cy="156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218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275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379BC-BD2D-B64E-A19B-EF933770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North/Southbridge Layout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4061B21-C628-3C40-838E-E76B83024CD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59383" y="1636985"/>
            <a:ext cx="3225233" cy="496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258">
            <a:extLst>
              <a:ext uri="{FF2B5EF4-FFF2-40B4-BE49-F238E27FC236}">
                <a16:creationId xmlns:a16="http://schemas.microsoft.com/office/drawing/2014/main" id="{E7742CE4-3AA6-3044-A91B-3A13EB775E5D}"/>
              </a:ext>
            </a:extLst>
          </p:cNvPr>
          <p:cNvGrpSpPr>
            <a:grpSpLocks/>
          </p:cNvGrpSpPr>
          <p:nvPr/>
        </p:nvGrpSpPr>
        <p:grpSpPr bwMode="auto">
          <a:xfrm rot="376460">
            <a:off x="4767124" y="1522092"/>
            <a:ext cx="816439" cy="429705"/>
            <a:chOff x="2515" y="1988"/>
            <a:chExt cx="824" cy="394"/>
          </a:xfrm>
        </p:grpSpPr>
        <p:sp>
          <p:nvSpPr>
            <p:cNvPr id="7" name="Freeform 259">
              <a:extLst>
                <a:ext uri="{FF2B5EF4-FFF2-40B4-BE49-F238E27FC236}">
                  <a16:creationId xmlns:a16="http://schemas.microsoft.com/office/drawing/2014/main" id="{301B2AB6-8CA5-264C-A98B-FB85120329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15" y="1988"/>
              <a:ext cx="824" cy="394"/>
            </a:xfrm>
            <a:custGeom>
              <a:avLst/>
              <a:gdLst>
                <a:gd name="T0" fmla="*/ 0 w 3296"/>
                <a:gd name="T1" fmla="*/ 0 h 1577"/>
                <a:gd name="T2" fmla="*/ 0 w 3296"/>
                <a:gd name="T3" fmla="*/ 0 h 1577"/>
                <a:gd name="T4" fmla="*/ 0 w 3296"/>
                <a:gd name="T5" fmla="*/ 0 h 1577"/>
                <a:gd name="T6" fmla="*/ 0 w 3296"/>
                <a:gd name="T7" fmla="*/ 0 h 1577"/>
                <a:gd name="T8" fmla="*/ 0 w 3296"/>
                <a:gd name="T9" fmla="*/ 0 h 1577"/>
                <a:gd name="T10" fmla="*/ 0 w 3296"/>
                <a:gd name="T11" fmla="*/ 0 h 1577"/>
                <a:gd name="T12" fmla="*/ 0 w 3296"/>
                <a:gd name="T13" fmla="*/ 0 h 1577"/>
                <a:gd name="T14" fmla="*/ 0 w 3296"/>
                <a:gd name="T15" fmla="*/ 0 h 1577"/>
                <a:gd name="T16" fmla="*/ 0 w 3296"/>
                <a:gd name="T17" fmla="*/ 0 h 1577"/>
                <a:gd name="T18" fmla="*/ 0 w 3296"/>
                <a:gd name="T19" fmla="*/ 0 h 1577"/>
                <a:gd name="T20" fmla="*/ 0 w 3296"/>
                <a:gd name="T21" fmla="*/ 0 h 1577"/>
                <a:gd name="T22" fmla="*/ 0 w 3296"/>
                <a:gd name="T23" fmla="*/ 0 h 1577"/>
                <a:gd name="T24" fmla="*/ 0 w 3296"/>
                <a:gd name="T25" fmla="*/ 0 h 1577"/>
                <a:gd name="T26" fmla="*/ 0 w 3296"/>
                <a:gd name="T27" fmla="*/ 0 h 1577"/>
                <a:gd name="T28" fmla="*/ 0 w 3296"/>
                <a:gd name="T29" fmla="*/ 0 h 1577"/>
                <a:gd name="T30" fmla="*/ 0 w 3296"/>
                <a:gd name="T31" fmla="*/ 0 h 1577"/>
                <a:gd name="T32" fmla="*/ 0 w 3296"/>
                <a:gd name="T33" fmla="*/ 0 h 1577"/>
                <a:gd name="T34" fmla="*/ 0 w 3296"/>
                <a:gd name="T35" fmla="*/ 0 h 1577"/>
                <a:gd name="T36" fmla="*/ 0 w 3296"/>
                <a:gd name="T37" fmla="*/ 0 h 1577"/>
                <a:gd name="T38" fmla="*/ 0 w 3296"/>
                <a:gd name="T39" fmla="*/ 0 h 1577"/>
                <a:gd name="T40" fmla="*/ 0 w 3296"/>
                <a:gd name="T41" fmla="*/ 0 h 1577"/>
                <a:gd name="T42" fmla="*/ 0 w 3296"/>
                <a:gd name="T43" fmla="*/ 0 h 1577"/>
                <a:gd name="T44" fmla="*/ 0 w 3296"/>
                <a:gd name="T45" fmla="*/ 0 h 1577"/>
                <a:gd name="T46" fmla="*/ 0 w 3296"/>
                <a:gd name="T47" fmla="*/ 0 h 1577"/>
                <a:gd name="T48" fmla="*/ 0 w 3296"/>
                <a:gd name="T49" fmla="*/ 0 h 1577"/>
                <a:gd name="T50" fmla="*/ 0 w 3296"/>
                <a:gd name="T51" fmla="*/ 0 h 1577"/>
                <a:gd name="T52" fmla="*/ 0 w 3296"/>
                <a:gd name="T53" fmla="*/ 0 h 1577"/>
                <a:gd name="T54" fmla="*/ 0 w 3296"/>
                <a:gd name="T55" fmla="*/ 0 h 1577"/>
                <a:gd name="T56" fmla="*/ 0 w 3296"/>
                <a:gd name="T57" fmla="*/ 0 h 1577"/>
                <a:gd name="T58" fmla="*/ 0 w 3296"/>
                <a:gd name="T59" fmla="*/ 0 h 1577"/>
                <a:gd name="T60" fmla="*/ 0 w 3296"/>
                <a:gd name="T61" fmla="*/ 0 h 1577"/>
                <a:gd name="T62" fmla="*/ 0 w 3296"/>
                <a:gd name="T63" fmla="*/ 0 h 1577"/>
                <a:gd name="T64" fmla="*/ 0 w 3296"/>
                <a:gd name="T65" fmla="*/ 0 h 1577"/>
                <a:gd name="T66" fmla="*/ 0 w 3296"/>
                <a:gd name="T67" fmla="*/ 0 h 1577"/>
                <a:gd name="T68" fmla="*/ 0 w 3296"/>
                <a:gd name="T69" fmla="*/ 0 h 1577"/>
                <a:gd name="T70" fmla="*/ 0 w 3296"/>
                <a:gd name="T71" fmla="*/ 0 h 1577"/>
                <a:gd name="T72" fmla="*/ 0 w 3296"/>
                <a:gd name="T73" fmla="*/ 0 h 1577"/>
                <a:gd name="T74" fmla="*/ 0 w 3296"/>
                <a:gd name="T75" fmla="*/ 0 h 1577"/>
                <a:gd name="T76" fmla="*/ 0 w 3296"/>
                <a:gd name="T77" fmla="*/ 0 h 1577"/>
                <a:gd name="T78" fmla="*/ 0 w 3296"/>
                <a:gd name="T79" fmla="*/ 0 h 1577"/>
                <a:gd name="T80" fmla="*/ 0 w 3296"/>
                <a:gd name="T81" fmla="*/ 0 h 1577"/>
                <a:gd name="T82" fmla="*/ 0 w 3296"/>
                <a:gd name="T83" fmla="*/ 0 h 1577"/>
                <a:gd name="T84" fmla="*/ 0 w 3296"/>
                <a:gd name="T85" fmla="*/ 0 h 1577"/>
                <a:gd name="T86" fmla="*/ 0 w 3296"/>
                <a:gd name="T87" fmla="*/ 0 h 1577"/>
                <a:gd name="T88" fmla="*/ 0 w 3296"/>
                <a:gd name="T89" fmla="*/ 0 h 1577"/>
                <a:gd name="T90" fmla="*/ 0 w 3296"/>
                <a:gd name="T91" fmla="*/ 0 h 1577"/>
                <a:gd name="T92" fmla="*/ 0 w 3296"/>
                <a:gd name="T93" fmla="*/ 0 h 1577"/>
                <a:gd name="T94" fmla="*/ 0 w 3296"/>
                <a:gd name="T95" fmla="*/ 0 h 1577"/>
                <a:gd name="T96" fmla="*/ 0 w 3296"/>
                <a:gd name="T97" fmla="*/ 0 h 1577"/>
                <a:gd name="T98" fmla="*/ 0 w 3296"/>
                <a:gd name="T99" fmla="*/ 0 h 1577"/>
                <a:gd name="T100" fmla="*/ 0 w 3296"/>
                <a:gd name="T101" fmla="*/ 0 h 1577"/>
                <a:gd name="T102" fmla="*/ 0 w 3296"/>
                <a:gd name="T103" fmla="*/ 0 h 1577"/>
                <a:gd name="T104" fmla="*/ 0 w 3296"/>
                <a:gd name="T105" fmla="*/ 0 h 1577"/>
                <a:gd name="T106" fmla="*/ 0 w 3296"/>
                <a:gd name="T107" fmla="*/ 0 h 1577"/>
                <a:gd name="T108" fmla="*/ 0 w 3296"/>
                <a:gd name="T109" fmla="*/ 0 h 1577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3296"/>
                <a:gd name="T166" fmla="*/ 0 h 1577"/>
                <a:gd name="T167" fmla="*/ 3296 w 3296"/>
                <a:gd name="T168" fmla="*/ 1577 h 1577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3296" h="1577">
                  <a:moveTo>
                    <a:pt x="1959" y="237"/>
                  </a:moveTo>
                  <a:lnTo>
                    <a:pt x="1970" y="248"/>
                  </a:lnTo>
                  <a:lnTo>
                    <a:pt x="1987" y="253"/>
                  </a:lnTo>
                  <a:lnTo>
                    <a:pt x="2009" y="256"/>
                  </a:lnTo>
                  <a:lnTo>
                    <a:pt x="2030" y="253"/>
                  </a:lnTo>
                  <a:lnTo>
                    <a:pt x="2055" y="250"/>
                  </a:lnTo>
                  <a:lnTo>
                    <a:pt x="2078" y="248"/>
                  </a:lnTo>
                  <a:lnTo>
                    <a:pt x="2096" y="244"/>
                  </a:lnTo>
                  <a:lnTo>
                    <a:pt x="2110" y="244"/>
                  </a:lnTo>
                  <a:lnTo>
                    <a:pt x="2115" y="201"/>
                  </a:lnTo>
                  <a:lnTo>
                    <a:pt x="2124" y="150"/>
                  </a:lnTo>
                  <a:lnTo>
                    <a:pt x="2142" y="111"/>
                  </a:lnTo>
                  <a:lnTo>
                    <a:pt x="2181" y="117"/>
                  </a:lnTo>
                  <a:lnTo>
                    <a:pt x="2195" y="147"/>
                  </a:lnTo>
                  <a:lnTo>
                    <a:pt x="2214" y="177"/>
                  </a:lnTo>
                  <a:lnTo>
                    <a:pt x="2235" y="209"/>
                  </a:lnTo>
                  <a:lnTo>
                    <a:pt x="2260" y="237"/>
                  </a:lnTo>
                  <a:lnTo>
                    <a:pt x="2260" y="204"/>
                  </a:lnTo>
                  <a:lnTo>
                    <a:pt x="2257" y="177"/>
                  </a:lnTo>
                  <a:lnTo>
                    <a:pt x="2260" y="150"/>
                  </a:lnTo>
                  <a:lnTo>
                    <a:pt x="2271" y="125"/>
                  </a:lnTo>
                  <a:lnTo>
                    <a:pt x="2278" y="120"/>
                  </a:lnTo>
                  <a:lnTo>
                    <a:pt x="2290" y="117"/>
                  </a:lnTo>
                  <a:lnTo>
                    <a:pt x="2298" y="117"/>
                  </a:lnTo>
                  <a:lnTo>
                    <a:pt x="2306" y="125"/>
                  </a:lnTo>
                  <a:lnTo>
                    <a:pt x="2382" y="226"/>
                  </a:lnTo>
                  <a:lnTo>
                    <a:pt x="2388" y="201"/>
                  </a:lnTo>
                  <a:lnTo>
                    <a:pt x="2391" y="179"/>
                  </a:lnTo>
                  <a:lnTo>
                    <a:pt x="2388" y="155"/>
                  </a:lnTo>
                  <a:lnTo>
                    <a:pt x="2391" y="136"/>
                  </a:lnTo>
                  <a:lnTo>
                    <a:pt x="2398" y="111"/>
                  </a:lnTo>
                  <a:lnTo>
                    <a:pt x="2407" y="95"/>
                  </a:lnTo>
                  <a:lnTo>
                    <a:pt x="2415" y="92"/>
                  </a:lnTo>
                  <a:lnTo>
                    <a:pt x="2426" y="97"/>
                  </a:lnTo>
                  <a:lnTo>
                    <a:pt x="2439" y="111"/>
                  </a:lnTo>
                  <a:lnTo>
                    <a:pt x="2459" y="133"/>
                  </a:lnTo>
                  <a:lnTo>
                    <a:pt x="2483" y="163"/>
                  </a:lnTo>
                  <a:lnTo>
                    <a:pt x="2515" y="201"/>
                  </a:lnTo>
                  <a:lnTo>
                    <a:pt x="2549" y="196"/>
                  </a:lnTo>
                  <a:lnTo>
                    <a:pt x="2573" y="191"/>
                  </a:lnTo>
                  <a:lnTo>
                    <a:pt x="2593" y="188"/>
                  </a:lnTo>
                  <a:lnTo>
                    <a:pt x="2609" y="191"/>
                  </a:lnTo>
                  <a:lnTo>
                    <a:pt x="2625" y="196"/>
                  </a:lnTo>
                  <a:lnTo>
                    <a:pt x="2641" y="207"/>
                  </a:lnTo>
                  <a:lnTo>
                    <a:pt x="2664" y="223"/>
                  </a:lnTo>
                  <a:lnTo>
                    <a:pt x="2687" y="244"/>
                  </a:lnTo>
                  <a:lnTo>
                    <a:pt x="2712" y="256"/>
                  </a:lnTo>
                  <a:lnTo>
                    <a:pt x="2736" y="269"/>
                  </a:lnTo>
                  <a:lnTo>
                    <a:pt x="2761" y="285"/>
                  </a:lnTo>
                  <a:lnTo>
                    <a:pt x="2786" y="302"/>
                  </a:lnTo>
                  <a:lnTo>
                    <a:pt x="2811" y="322"/>
                  </a:lnTo>
                  <a:lnTo>
                    <a:pt x="2835" y="338"/>
                  </a:lnTo>
                  <a:lnTo>
                    <a:pt x="2859" y="354"/>
                  </a:lnTo>
                  <a:lnTo>
                    <a:pt x="2887" y="368"/>
                  </a:lnTo>
                  <a:lnTo>
                    <a:pt x="2871" y="389"/>
                  </a:lnTo>
                  <a:lnTo>
                    <a:pt x="2851" y="400"/>
                  </a:lnTo>
                  <a:lnTo>
                    <a:pt x="2835" y="400"/>
                  </a:lnTo>
                  <a:lnTo>
                    <a:pt x="2823" y="400"/>
                  </a:lnTo>
                  <a:lnTo>
                    <a:pt x="2823" y="405"/>
                  </a:lnTo>
                  <a:lnTo>
                    <a:pt x="2837" y="421"/>
                  </a:lnTo>
                  <a:lnTo>
                    <a:pt x="2871" y="455"/>
                  </a:lnTo>
                  <a:lnTo>
                    <a:pt x="2928" y="512"/>
                  </a:lnTo>
                  <a:lnTo>
                    <a:pt x="2944" y="509"/>
                  </a:lnTo>
                  <a:lnTo>
                    <a:pt x="2958" y="506"/>
                  </a:lnTo>
                  <a:lnTo>
                    <a:pt x="2972" y="506"/>
                  </a:lnTo>
                  <a:lnTo>
                    <a:pt x="2982" y="506"/>
                  </a:lnTo>
                  <a:lnTo>
                    <a:pt x="2995" y="509"/>
                  </a:lnTo>
                  <a:lnTo>
                    <a:pt x="3009" y="509"/>
                  </a:lnTo>
                  <a:lnTo>
                    <a:pt x="3023" y="515"/>
                  </a:lnTo>
                  <a:lnTo>
                    <a:pt x="3037" y="517"/>
                  </a:lnTo>
                  <a:lnTo>
                    <a:pt x="3055" y="550"/>
                  </a:lnTo>
                  <a:lnTo>
                    <a:pt x="3075" y="582"/>
                  </a:lnTo>
                  <a:lnTo>
                    <a:pt x="3094" y="616"/>
                  </a:lnTo>
                  <a:lnTo>
                    <a:pt x="3113" y="648"/>
                  </a:lnTo>
                  <a:lnTo>
                    <a:pt x="3135" y="681"/>
                  </a:lnTo>
                  <a:lnTo>
                    <a:pt x="3154" y="713"/>
                  </a:lnTo>
                  <a:lnTo>
                    <a:pt x="3173" y="749"/>
                  </a:lnTo>
                  <a:lnTo>
                    <a:pt x="3192" y="782"/>
                  </a:lnTo>
                  <a:lnTo>
                    <a:pt x="3192" y="795"/>
                  </a:lnTo>
                  <a:lnTo>
                    <a:pt x="3189" y="814"/>
                  </a:lnTo>
                  <a:lnTo>
                    <a:pt x="3186" y="830"/>
                  </a:lnTo>
                  <a:lnTo>
                    <a:pt x="3184" y="847"/>
                  </a:lnTo>
                  <a:lnTo>
                    <a:pt x="3170" y="855"/>
                  </a:lnTo>
                  <a:lnTo>
                    <a:pt x="3154" y="855"/>
                  </a:lnTo>
                  <a:lnTo>
                    <a:pt x="3138" y="855"/>
                  </a:lnTo>
                  <a:lnTo>
                    <a:pt x="3121" y="858"/>
                  </a:lnTo>
                  <a:lnTo>
                    <a:pt x="3131" y="877"/>
                  </a:lnTo>
                  <a:lnTo>
                    <a:pt x="3159" y="904"/>
                  </a:lnTo>
                  <a:lnTo>
                    <a:pt x="3195" y="936"/>
                  </a:lnTo>
                  <a:lnTo>
                    <a:pt x="3232" y="970"/>
                  </a:lnTo>
                  <a:lnTo>
                    <a:pt x="3268" y="1005"/>
                  </a:lnTo>
                  <a:lnTo>
                    <a:pt x="3290" y="1037"/>
                  </a:lnTo>
                  <a:lnTo>
                    <a:pt x="3296" y="1065"/>
                  </a:lnTo>
                  <a:lnTo>
                    <a:pt x="3274" y="1087"/>
                  </a:lnTo>
                  <a:lnTo>
                    <a:pt x="3214" y="1097"/>
                  </a:lnTo>
                  <a:lnTo>
                    <a:pt x="3156" y="1106"/>
                  </a:lnTo>
                  <a:lnTo>
                    <a:pt x="3096" y="1117"/>
                  </a:lnTo>
                  <a:lnTo>
                    <a:pt x="3037" y="1125"/>
                  </a:lnTo>
                  <a:lnTo>
                    <a:pt x="2977" y="1136"/>
                  </a:lnTo>
                  <a:lnTo>
                    <a:pt x="2919" y="1147"/>
                  </a:lnTo>
                  <a:lnTo>
                    <a:pt x="2859" y="1155"/>
                  </a:lnTo>
                  <a:lnTo>
                    <a:pt x="2800" y="1166"/>
                  </a:lnTo>
                  <a:lnTo>
                    <a:pt x="2740" y="1174"/>
                  </a:lnTo>
                  <a:lnTo>
                    <a:pt x="2682" y="1185"/>
                  </a:lnTo>
                  <a:lnTo>
                    <a:pt x="2623" y="1196"/>
                  </a:lnTo>
                  <a:lnTo>
                    <a:pt x="2563" y="1204"/>
                  </a:lnTo>
                  <a:lnTo>
                    <a:pt x="2503" y="1215"/>
                  </a:lnTo>
                  <a:lnTo>
                    <a:pt x="2445" y="1223"/>
                  </a:lnTo>
                  <a:lnTo>
                    <a:pt x="2386" y="1234"/>
                  </a:lnTo>
                  <a:lnTo>
                    <a:pt x="2325" y="1242"/>
                  </a:lnTo>
                  <a:lnTo>
                    <a:pt x="2303" y="1248"/>
                  </a:lnTo>
                  <a:lnTo>
                    <a:pt x="2281" y="1253"/>
                  </a:lnTo>
                  <a:lnTo>
                    <a:pt x="2260" y="1256"/>
                  </a:lnTo>
                  <a:lnTo>
                    <a:pt x="2237" y="1258"/>
                  </a:lnTo>
                  <a:lnTo>
                    <a:pt x="2214" y="1262"/>
                  </a:lnTo>
                  <a:lnTo>
                    <a:pt x="2191" y="1267"/>
                  </a:lnTo>
                  <a:lnTo>
                    <a:pt x="2167" y="1272"/>
                  </a:lnTo>
                  <a:lnTo>
                    <a:pt x="2145" y="1278"/>
                  </a:lnTo>
                  <a:lnTo>
                    <a:pt x="2137" y="1264"/>
                  </a:lnTo>
                  <a:lnTo>
                    <a:pt x="2120" y="1239"/>
                  </a:lnTo>
                  <a:lnTo>
                    <a:pt x="2101" y="1212"/>
                  </a:lnTo>
                  <a:lnTo>
                    <a:pt x="2083" y="1180"/>
                  </a:lnTo>
                  <a:lnTo>
                    <a:pt x="2060" y="1147"/>
                  </a:lnTo>
                  <a:lnTo>
                    <a:pt x="2042" y="1120"/>
                  </a:lnTo>
                  <a:lnTo>
                    <a:pt x="2028" y="1103"/>
                  </a:lnTo>
                  <a:lnTo>
                    <a:pt x="2020" y="1097"/>
                  </a:lnTo>
                  <a:lnTo>
                    <a:pt x="2006" y="1101"/>
                  </a:lnTo>
                  <a:lnTo>
                    <a:pt x="2009" y="1122"/>
                  </a:lnTo>
                  <a:lnTo>
                    <a:pt x="2025" y="1152"/>
                  </a:lnTo>
                  <a:lnTo>
                    <a:pt x="2047" y="1191"/>
                  </a:lnTo>
                  <a:lnTo>
                    <a:pt x="2066" y="1228"/>
                  </a:lnTo>
                  <a:lnTo>
                    <a:pt x="2078" y="1262"/>
                  </a:lnTo>
                  <a:lnTo>
                    <a:pt x="2078" y="1286"/>
                  </a:lnTo>
                  <a:lnTo>
                    <a:pt x="2055" y="1294"/>
                  </a:lnTo>
                  <a:lnTo>
                    <a:pt x="2020" y="1302"/>
                  </a:lnTo>
                  <a:lnTo>
                    <a:pt x="1982" y="1308"/>
                  </a:lnTo>
                  <a:lnTo>
                    <a:pt x="1947" y="1313"/>
                  </a:lnTo>
                  <a:lnTo>
                    <a:pt x="1908" y="1318"/>
                  </a:lnTo>
                  <a:lnTo>
                    <a:pt x="1869" y="1322"/>
                  </a:lnTo>
                  <a:lnTo>
                    <a:pt x="1832" y="1327"/>
                  </a:lnTo>
                  <a:lnTo>
                    <a:pt x="1793" y="1332"/>
                  </a:lnTo>
                  <a:lnTo>
                    <a:pt x="1756" y="1338"/>
                  </a:lnTo>
                  <a:lnTo>
                    <a:pt x="1669" y="1354"/>
                  </a:lnTo>
                  <a:lnTo>
                    <a:pt x="1584" y="1368"/>
                  </a:lnTo>
                  <a:lnTo>
                    <a:pt x="1497" y="1384"/>
                  </a:lnTo>
                  <a:lnTo>
                    <a:pt x="1409" y="1398"/>
                  </a:lnTo>
                  <a:lnTo>
                    <a:pt x="1322" y="1411"/>
                  </a:lnTo>
                  <a:lnTo>
                    <a:pt x="1235" y="1428"/>
                  </a:lnTo>
                  <a:lnTo>
                    <a:pt x="1147" y="1441"/>
                  </a:lnTo>
                  <a:lnTo>
                    <a:pt x="1060" y="1458"/>
                  </a:lnTo>
                  <a:lnTo>
                    <a:pt x="973" y="1471"/>
                  </a:lnTo>
                  <a:lnTo>
                    <a:pt x="886" y="1485"/>
                  </a:lnTo>
                  <a:lnTo>
                    <a:pt x="798" y="1501"/>
                  </a:lnTo>
                  <a:lnTo>
                    <a:pt x="711" y="1515"/>
                  </a:lnTo>
                  <a:lnTo>
                    <a:pt x="621" y="1531"/>
                  </a:lnTo>
                  <a:lnTo>
                    <a:pt x="534" y="1547"/>
                  </a:lnTo>
                  <a:lnTo>
                    <a:pt x="447" y="1561"/>
                  </a:lnTo>
                  <a:lnTo>
                    <a:pt x="359" y="1577"/>
                  </a:lnTo>
                  <a:lnTo>
                    <a:pt x="352" y="1575"/>
                  </a:lnTo>
                  <a:lnTo>
                    <a:pt x="343" y="1572"/>
                  </a:lnTo>
                  <a:lnTo>
                    <a:pt x="336" y="1572"/>
                  </a:lnTo>
                  <a:lnTo>
                    <a:pt x="324" y="1572"/>
                  </a:lnTo>
                  <a:lnTo>
                    <a:pt x="306" y="1515"/>
                  </a:lnTo>
                  <a:lnTo>
                    <a:pt x="286" y="1460"/>
                  </a:lnTo>
                  <a:lnTo>
                    <a:pt x="264" y="1405"/>
                  </a:lnTo>
                  <a:lnTo>
                    <a:pt x="242" y="1348"/>
                  </a:lnTo>
                  <a:lnTo>
                    <a:pt x="221" y="1294"/>
                  </a:lnTo>
                  <a:lnTo>
                    <a:pt x="202" y="1237"/>
                  </a:lnTo>
                  <a:lnTo>
                    <a:pt x="182" y="1180"/>
                  </a:lnTo>
                  <a:lnTo>
                    <a:pt x="163" y="1122"/>
                  </a:lnTo>
                  <a:lnTo>
                    <a:pt x="155" y="1101"/>
                  </a:lnTo>
                  <a:lnTo>
                    <a:pt x="142" y="1081"/>
                  </a:lnTo>
                  <a:lnTo>
                    <a:pt x="131" y="1062"/>
                  </a:lnTo>
                  <a:lnTo>
                    <a:pt x="117" y="1044"/>
                  </a:lnTo>
                  <a:lnTo>
                    <a:pt x="104" y="1024"/>
                  </a:lnTo>
                  <a:lnTo>
                    <a:pt x="92" y="1005"/>
                  </a:lnTo>
                  <a:lnTo>
                    <a:pt x="85" y="984"/>
                  </a:lnTo>
                  <a:lnTo>
                    <a:pt x="79" y="959"/>
                  </a:lnTo>
                  <a:lnTo>
                    <a:pt x="104" y="943"/>
                  </a:lnTo>
                  <a:lnTo>
                    <a:pt x="63" y="817"/>
                  </a:lnTo>
                  <a:lnTo>
                    <a:pt x="0" y="727"/>
                  </a:lnTo>
                  <a:lnTo>
                    <a:pt x="11" y="670"/>
                  </a:lnTo>
                  <a:lnTo>
                    <a:pt x="25" y="616"/>
                  </a:lnTo>
                  <a:lnTo>
                    <a:pt x="38" y="564"/>
                  </a:lnTo>
                  <a:lnTo>
                    <a:pt x="49" y="506"/>
                  </a:lnTo>
                  <a:lnTo>
                    <a:pt x="99" y="501"/>
                  </a:lnTo>
                  <a:lnTo>
                    <a:pt x="142" y="501"/>
                  </a:lnTo>
                  <a:lnTo>
                    <a:pt x="177" y="495"/>
                  </a:lnTo>
                  <a:lnTo>
                    <a:pt x="210" y="487"/>
                  </a:lnTo>
                  <a:lnTo>
                    <a:pt x="235" y="474"/>
                  </a:lnTo>
                  <a:lnTo>
                    <a:pt x="251" y="446"/>
                  </a:lnTo>
                  <a:lnTo>
                    <a:pt x="258" y="409"/>
                  </a:lnTo>
                  <a:lnTo>
                    <a:pt x="258" y="351"/>
                  </a:lnTo>
                  <a:lnTo>
                    <a:pt x="283" y="338"/>
                  </a:lnTo>
                  <a:lnTo>
                    <a:pt x="299" y="343"/>
                  </a:lnTo>
                  <a:lnTo>
                    <a:pt x="313" y="359"/>
                  </a:lnTo>
                  <a:lnTo>
                    <a:pt x="327" y="386"/>
                  </a:lnTo>
                  <a:lnTo>
                    <a:pt x="338" y="414"/>
                  </a:lnTo>
                  <a:lnTo>
                    <a:pt x="352" y="441"/>
                  </a:lnTo>
                  <a:lnTo>
                    <a:pt x="368" y="460"/>
                  </a:lnTo>
                  <a:lnTo>
                    <a:pt x="389" y="465"/>
                  </a:lnTo>
                  <a:lnTo>
                    <a:pt x="398" y="430"/>
                  </a:lnTo>
                  <a:lnTo>
                    <a:pt x="403" y="395"/>
                  </a:lnTo>
                  <a:lnTo>
                    <a:pt x="407" y="359"/>
                  </a:lnTo>
                  <a:lnTo>
                    <a:pt x="409" y="327"/>
                  </a:lnTo>
                  <a:lnTo>
                    <a:pt x="414" y="322"/>
                  </a:lnTo>
                  <a:lnTo>
                    <a:pt x="423" y="322"/>
                  </a:lnTo>
                  <a:lnTo>
                    <a:pt x="433" y="324"/>
                  </a:lnTo>
                  <a:lnTo>
                    <a:pt x="444" y="322"/>
                  </a:lnTo>
                  <a:lnTo>
                    <a:pt x="458" y="351"/>
                  </a:lnTo>
                  <a:lnTo>
                    <a:pt x="469" y="381"/>
                  </a:lnTo>
                  <a:lnTo>
                    <a:pt x="483" y="411"/>
                  </a:lnTo>
                  <a:lnTo>
                    <a:pt x="504" y="435"/>
                  </a:lnTo>
                  <a:lnTo>
                    <a:pt x="513" y="398"/>
                  </a:lnTo>
                  <a:lnTo>
                    <a:pt x="518" y="345"/>
                  </a:lnTo>
                  <a:lnTo>
                    <a:pt x="529" y="304"/>
                  </a:lnTo>
                  <a:lnTo>
                    <a:pt x="564" y="297"/>
                  </a:lnTo>
                  <a:lnTo>
                    <a:pt x="578" y="329"/>
                  </a:lnTo>
                  <a:lnTo>
                    <a:pt x="594" y="362"/>
                  </a:lnTo>
                  <a:lnTo>
                    <a:pt x="607" y="398"/>
                  </a:lnTo>
                  <a:lnTo>
                    <a:pt x="624" y="430"/>
                  </a:lnTo>
                  <a:lnTo>
                    <a:pt x="635" y="428"/>
                  </a:lnTo>
                  <a:lnTo>
                    <a:pt x="649" y="428"/>
                  </a:lnTo>
                  <a:lnTo>
                    <a:pt x="660" y="425"/>
                  </a:lnTo>
                  <a:lnTo>
                    <a:pt x="673" y="421"/>
                  </a:lnTo>
                  <a:lnTo>
                    <a:pt x="687" y="419"/>
                  </a:lnTo>
                  <a:lnTo>
                    <a:pt x="701" y="419"/>
                  </a:lnTo>
                  <a:lnTo>
                    <a:pt x="715" y="416"/>
                  </a:lnTo>
                  <a:lnTo>
                    <a:pt x="731" y="416"/>
                  </a:lnTo>
                  <a:lnTo>
                    <a:pt x="731" y="386"/>
                  </a:lnTo>
                  <a:lnTo>
                    <a:pt x="736" y="345"/>
                  </a:lnTo>
                  <a:lnTo>
                    <a:pt x="744" y="308"/>
                  </a:lnTo>
                  <a:lnTo>
                    <a:pt x="761" y="280"/>
                  </a:lnTo>
                  <a:lnTo>
                    <a:pt x="774" y="280"/>
                  </a:lnTo>
                  <a:lnTo>
                    <a:pt x="785" y="278"/>
                  </a:lnTo>
                  <a:lnTo>
                    <a:pt x="793" y="280"/>
                  </a:lnTo>
                  <a:lnTo>
                    <a:pt x="802" y="285"/>
                  </a:lnTo>
                  <a:lnTo>
                    <a:pt x="807" y="308"/>
                  </a:lnTo>
                  <a:lnTo>
                    <a:pt x="821" y="343"/>
                  </a:lnTo>
                  <a:lnTo>
                    <a:pt x="837" y="375"/>
                  </a:lnTo>
                  <a:lnTo>
                    <a:pt x="851" y="392"/>
                  </a:lnTo>
                  <a:lnTo>
                    <a:pt x="858" y="354"/>
                  </a:lnTo>
                  <a:lnTo>
                    <a:pt x="862" y="258"/>
                  </a:lnTo>
                  <a:lnTo>
                    <a:pt x="858" y="161"/>
                  </a:lnTo>
                  <a:lnTo>
                    <a:pt x="862" y="106"/>
                  </a:lnTo>
                  <a:lnTo>
                    <a:pt x="872" y="101"/>
                  </a:lnTo>
                  <a:lnTo>
                    <a:pt x="892" y="97"/>
                  </a:lnTo>
                  <a:lnTo>
                    <a:pt x="916" y="92"/>
                  </a:lnTo>
                  <a:lnTo>
                    <a:pt x="943" y="90"/>
                  </a:lnTo>
                  <a:lnTo>
                    <a:pt x="970" y="87"/>
                  </a:lnTo>
                  <a:lnTo>
                    <a:pt x="993" y="85"/>
                  </a:lnTo>
                  <a:lnTo>
                    <a:pt x="1011" y="81"/>
                  </a:lnTo>
                  <a:lnTo>
                    <a:pt x="1019" y="81"/>
                  </a:lnTo>
                  <a:lnTo>
                    <a:pt x="1069" y="76"/>
                  </a:lnTo>
                  <a:lnTo>
                    <a:pt x="1115" y="71"/>
                  </a:lnTo>
                  <a:lnTo>
                    <a:pt x="1164" y="65"/>
                  </a:lnTo>
                  <a:lnTo>
                    <a:pt x="1210" y="60"/>
                  </a:lnTo>
                  <a:lnTo>
                    <a:pt x="1257" y="57"/>
                  </a:lnTo>
                  <a:lnTo>
                    <a:pt x="1306" y="51"/>
                  </a:lnTo>
                  <a:lnTo>
                    <a:pt x="1352" y="46"/>
                  </a:lnTo>
                  <a:lnTo>
                    <a:pt x="1401" y="43"/>
                  </a:lnTo>
                  <a:lnTo>
                    <a:pt x="1448" y="37"/>
                  </a:lnTo>
                  <a:lnTo>
                    <a:pt x="1494" y="32"/>
                  </a:lnTo>
                  <a:lnTo>
                    <a:pt x="1543" y="30"/>
                  </a:lnTo>
                  <a:lnTo>
                    <a:pt x="1589" y="24"/>
                  </a:lnTo>
                  <a:lnTo>
                    <a:pt x="1635" y="19"/>
                  </a:lnTo>
                  <a:lnTo>
                    <a:pt x="1685" y="14"/>
                  </a:lnTo>
                  <a:lnTo>
                    <a:pt x="1731" y="5"/>
                  </a:lnTo>
                  <a:lnTo>
                    <a:pt x="1780" y="0"/>
                  </a:lnTo>
                  <a:lnTo>
                    <a:pt x="1807" y="24"/>
                  </a:lnTo>
                  <a:lnTo>
                    <a:pt x="1832" y="51"/>
                  </a:lnTo>
                  <a:lnTo>
                    <a:pt x="1856" y="78"/>
                  </a:lnTo>
                  <a:lnTo>
                    <a:pt x="1878" y="108"/>
                  </a:lnTo>
                  <a:lnTo>
                    <a:pt x="1897" y="141"/>
                  </a:lnTo>
                  <a:lnTo>
                    <a:pt x="1917" y="174"/>
                  </a:lnTo>
                  <a:lnTo>
                    <a:pt x="1938" y="207"/>
                  </a:lnTo>
                  <a:lnTo>
                    <a:pt x="1959" y="2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" name="Freeform 260">
              <a:extLst>
                <a:ext uri="{FF2B5EF4-FFF2-40B4-BE49-F238E27FC236}">
                  <a16:creationId xmlns:a16="http://schemas.microsoft.com/office/drawing/2014/main" id="{4B0D9493-C380-2E4E-AA71-A82E2CF67B41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1" y="1996"/>
              <a:ext cx="93" cy="41"/>
            </a:xfrm>
            <a:custGeom>
              <a:avLst/>
              <a:gdLst>
                <a:gd name="T0" fmla="*/ 0 w 376"/>
                <a:gd name="T1" fmla="*/ 0 h 166"/>
                <a:gd name="T2" fmla="*/ 0 w 376"/>
                <a:gd name="T3" fmla="*/ 0 h 166"/>
                <a:gd name="T4" fmla="*/ 0 w 376"/>
                <a:gd name="T5" fmla="*/ 0 h 166"/>
                <a:gd name="T6" fmla="*/ 0 w 376"/>
                <a:gd name="T7" fmla="*/ 0 h 166"/>
                <a:gd name="T8" fmla="*/ 0 w 376"/>
                <a:gd name="T9" fmla="*/ 0 h 166"/>
                <a:gd name="T10" fmla="*/ 0 w 376"/>
                <a:gd name="T11" fmla="*/ 0 h 166"/>
                <a:gd name="T12" fmla="*/ 0 w 376"/>
                <a:gd name="T13" fmla="*/ 0 h 166"/>
                <a:gd name="T14" fmla="*/ 0 w 376"/>
                <a:gd name="T15" fmla="*/ 0 h 166"/>
                <a:gd name="T16" fmla="*/ 0 w 376"/>
                <a:gd name="T17" fmla="*/ 0 h 166"/>
                <a:gd name="T18" fmla="*/ 0 w 376"/>
                <a:gd name="T19" fmla="*/ 0 h 166"/>
                <a:gd name="T20" fmla="*/ 0 w 376"/>
                <a:gd name="T21" fmla="*/ 0 h 166"/>
                <a:gd name="T22" fmla="*/ 0 w 376"/>
                <a:gd name="T23" fmla="*/ 0 h 166"/>
                <a:gd name="T24" fmla="*/ 0 w 376"/>
                <a:gd name="T25" fmla="*/ 0 h 166"/>
                <a:gd name="T26" fmla="*/ 0 w 376"/>
                <a:gd name="T27" fmla="*/ 0 h 166"/>
                <a:gd name="T28" fmla="*/ 0 w 376"/>
                <a:gd name="T29" fmla="*/ 0 h 166"/>
                <a:gd name="T30" fmla="*/ 0 w 376"/>
                <a:gd name="T31" fmla="*/ 0 h 166"/>
                <a:gd name="T32" fmla="*/ 0 w 376"/>
                <a:gd name="T33" fmla="*/ 0 h 166"/>
                <a:gd name="T34" fmla="*/ 0 w 376"/>
                <a:gd name="T35" fmla="*/ 0 h 166"/>
                <a:gd name="T36" fmla="*/ 0 w 376"/>
                <a:gd name="T37" fmla="*/ 0 h 166"/>
                <a:gd name="T38" fmla="*/ 0 w 376"/>
                <a:gd name="T39" fmla="*/ 0 h 166"/>
                <a:gd name="T40" fmla="*/ 0 w 376"/>
                <a:gd name="T41" fmla="*/ 0 h 166"/>
                <a:gd name="T42" fmla="*/ 0 w 376"/>
                <a:gd name="T43" fmla="*/ 0 h 166"/>
                <a:gd name="T44" fmla="*/ 0 w 376"/>
                <a:gd name="T45" fmla="*/ 0 h 166"/>
                <a:gd name="T46" fmla="*/ 0 w 376"/>
                <a:gd name="T47" fmla="*/ 0 h 166"/>
                <a:gd name="T48" fmla="*/ 0 w 376"/>
                <a:gd name="T49" fmla="*/ 0 h 166"/>
                <a:gd name="T50" fmla="*/ 0 w 376"/>
                <a:gd name="T51" fmla="*/ 0 h 166"/>
                <a:gd name="T52" fmla="*/ 0 w 376"/>
                <a:gd name="T53" fmla="*/ 0 h 166"/>
                <a:gd name="T54" fmla="*/ 0 w 376"/>
                <a:gd name="T55" fmla="*/ 0 h 166"/>
                <a:gd name="T56" fmla="*/ 0 w 376"/>
                <a:gd name="T57" fmla="*/ 0 h 166"/>
                <a:gd name="T58" fmla="*/ 0 w 376"/>
                <a:gd name="T59" fmla="*/ 0 h 166"/>
                <a:gd name="T60" fmla="*/ 0 w 376"/>
                <a:gd name="T61" fmla="*/ 0 h 166"/>
                <a:gd name="T62" fmla="*/ 0 w 376"/>
                <a:gd name="T63" fmla="*/ 0 h 166"/>
                <a:gd name="T64" fmla="*/ 0 w 376"/>
                <a:gd name="T65" fmla="*/ 0 h 166"/>
                <a:gd name="T66" fmla="*/ 0 w 376"/>
                <a:gd name="T67" fmla="*/ 0 h 166"/>
                <a:gd name="T68" fmla="*/ 0 w 376"/>
                <a:gd name="T69" fmla="*/ 0 h 166"/>
                <a:gd name="T70" fmla="*/ 0 w 376"/>
                <a:gd name="T71" fmla="*/ 0 h 166"/>
                <a:gd name="T72" fmla="*/ 0 w 376"/>
                <a:gd name="T73" fmla="*/ 0 h 166"/>
                <a:gd name="T74" fmla="*/ 0 w 376"/>
                <a:gd name="T75" fmla="*/ 0 h 166"/>
                <a:gd name="T76" fmla="*/ 0 w 376"/>
                <a:gd name="T77" fmla="*/ 0 h 166"/>
                <a:gd name="T78" fmla="*/ 0 w 376"/>
                <a:gd name="T79" fmla="*/ 0 h 166"/>
                <a:gd name="T80" fmla="*/ 0 w 376"/>
                <a:gd name="T81" fmla="*/ 0 h 166"/>
                <a:gd name="T82" fmla="*/ 0 w 376"/>
                <a:gd name="T83" fmla="*/ 0 h 166"/>
                <a:gd name="T84" fmla="*/ 0 w 376"/>
                <a:gd name="T85" fmla="*/ 0 h 166"/>
                <a:gd name="T86" fmla="*/ 0 w 376"/>
                <a:gd name="T87" fmla="*/ 0 h 166"/>
                <a:gd name="T88" fmla="*/ 0 w 376"/>
                <a:gd name="T89" fmla="*/ 0 h 166"/>
                <a:gd name="T90" fmla="*/ 0 w 376"/>
                <a:gd name="T91" fmla="*/ 0 h 166"/>
                <a:gd name="T92" fmla="*/ 0 w 376"/>
                <a:gd name="T93" fmla="*/ 0 h 166"/>
                <a:gd name="T94" fmla="*/ 0 w 376"/>
                <a:gd name="T95" fmla="*/ 0 h 166"/>
                <a:gd name="T96" fmla="*/ 0 w 376"/>
                <a:gd name="T97" fmla="*/ 0 h 166"/>
                <a:gd name="T98" fmla="*/ 0 w 376"/>
                <a:gd name="T99" fmla="*/ 0 h 166"/>
                <a:gd name="T100" fmla="*/ 0 w 376"/>
                <a:gd name="T101" fmla="*/ 0 h 166"/>
                <a:gd name="T102" fmla="*/ 0 w 376"/>
                <a:gd name="T103" fmla="*/ 0 h 166"/>
                <a:gd name="T104" fmla="*/ 0 w 376"/>
                <a:gd name="T105" fmla="*/ 0 h 16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w 376"/>
                <a:gd name="T160" fmla="*/ 0 h 166"/>
                <a:gd name="T161" fmla="*/ 376 w 376"/>
                <a:gd name="T162" fmla="*/ 166 h 166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T159" t="T160" r="T161" b="T162"/>
              <a:pathLst>
                <a:path w="376" h="166">
                  <a:moveTo>
                    <a:pt x="166" y="0"/>
                  </a:moveTo>
                  <a:lnTo>
                    <a:pt x="163" y="0"/>
                  </a:lnTo>
                  <a:lnTo>
                    <a:pt x="158" y="0"/>
                  </a:lnTo>
                  <a:lnTo>
                    <a:pt x="155" y="2"/>
                  </a:lnTo>
                  <a:lnTo>
                    <a:pt x="155" y="5"/>
                  </a:lnTo>
                  <a:lnTo>
                    <a:pt x="158" y="19"/>
                  </a:lnTo>
                  <a:lnTo>
                    <a:pt x="166" y="30"/>
                  </a:lnTo>
                  <a:lnTo>
                    <a:pt x="174" y="35"/>
                  </a:lnTo>
                  <a:lnTo>
                    <a:pt x="185" y="41"/>
                  </a:lnTo>
                  <a:lnTo>
                    <a:pt x="196" y="43"/>
                  </a:lnTo>
                  <a:lnTo>
                    <a:pt x="207" y="43"/>
                  </a:lnTo>
                  <a:lnTo>
                    <a:pt x="218" y="43"/>
                  </a:lnTo>
                  <a:lnTo>
                    <a:pt x="232" y="43"/>
                  </a:lnTo>
                  <a:lnTo>
                    <a:pt x="243" y="41"/>
                  </a:lnTo>
                  <a:lnTo>
                    <a:pt x="253" y="37"/>
                  </a:lnTo>
                  <a:lnTo>
                    <a:pt x="264" y="32"/>
                  </a:lnTo>
                  <a:lnTo>
                    <a:pt x="273" y="27"/>
                  </a:lnTo>
                  <a:lnTo>
                    <a:pt x="286" y="43"/>
                  </a:lnTo>
                  <a:lnTo>
                    <a:pt x="303" y="57"/>
                  </a:lnTo>
                  <a:lnTo>
                    <a:pt x="313" y="76"/>
                  </a:lnTo>
                  <a:lnTo>
                    <a:pt x="326" y="92"/>
                  </a:lnTo>
                  <a:lnTo>
                    <a:pt x="340" y="111"/>
                  </a:lnTo>
                  <a:lnTo>
                    <a:pt x="351" y="131"/>
                  </a:lnTo>
                  <a:lnTo>
                    <a:pt x="365" y="149"/>
                  </a:lnTo>
                  <a:lnTo>
                    <a:pt x="376" y="166"/>
                  </a:lnTo>
                  <a:lnTo>
                    <a:pt x="365" y="158"/>
                  </a:lnTo>
                  <a:lnTo>
                    <a:pt x="356" y="152"/>
                  </a:lnTo>
                  <a:lnTo>
                    <a:pt x="349" y="149"/>
                  </a:lnTo>
                  <a:lnTo>
                    <a:pt x="340" y="147"/>
                  </a:lnTo>
                  <a:lnTo>
                    <a:pt x="310" y="127"/>
                  </a:lnTo>
                  <a:lnTo>
                    <a:pt x="280" y="111"/>
                  </a:lnTo>
                  <a:lnTo>
                    <a:pt x="253" y="92"/>
                  </a:lnTo>
                  <a:lnTo>
                    <a:pt x="223" y="76"/>
                  </a:lnTo>
                  <a:lnTo>
                    <a:pt x="193" y="60"/>
                  </a:lnTo>
                  <a:lnTo>
                    <a:pt x="161" y="46"/>
                  </a:lnTo>
                  <a:lnTo>
                    <a:pt x="128" y="37"/>
                  </a:lnTo>
                  <a:lnTo>
                    <a:pt x="92" y="32"/>
                  </a:lnTo>
                  <a:lnTo>
                    <a:pt x="82" y="30"/>
                  </a:lnTo>
                  <a:lnTo>
                    <a:pt x="71" y="24"/>
                  </a:lnTo>
                  <a:lnTo>
                    <a:pt x="60" y="21"/>
                  </a:lnTo>
                  <a:lnTo>
                    <a:pt x="48" y="19"/>
                  </a:lnTo>
                  <a:lnTo>
                    <a:pt x="36" y="16"/>
                  </a:lnTo>
                  <a:lnTo>
                    <a:pt x="25" y="16"/>
                  </a:lnTo>
                  <a:lnTo>
                    <a:pt x="11" y="13"/>
                  </a:lnTo>
                  <a:lnTo>
                    <a:pt x="0" y="11"/>
                  </a:lnTo>
                  <a:lnTo>
                    <a:pt x="22" y="7"/>
                  </a:lnTo>
                  <a:lnTo>
                    <a:pt x="43" y="7"/>
                  </a:lnTo>
                  <a:lnTo>
                    <a:pt x="62" y="5"/>
                  </a:lnTo>
                  <a:lnTo>
                    <a:pt x="84" y="5"/>
                  </a:lnTo>
                  <a:lnTo>
                    <a:pt x="103" y="5"/>
                  </a:lnTo>
                  <a:lnTo>
                    <a:pt x="126" y="2"/>
                  </a:lnTo>
                  <a:lnTo>
                    <a:pt x="144" y="2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" name="Freeform 261">
              <a:extLst>
                <a:ext uri="{FF2B5EF4-FFF2-40B4-BE49-F238E27FC236}">
                  <a16:creationId xmlns:a16="http://schemas.microsoft.com/office/drawing/2014/main" id="{9B3CC64B-7A6E-6146-87CE-B13E20812837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" y="2002"/>
              <a:ext cx="237" cy="82"/>
            </a:xfrm>
            <a:custGeom>
              <a:avLst/>
              <a:gdLst>
                <a:gd name="T0" fmla="*/ 0 w 949"/>
                <a:gd name="T1" fmla="*/ 0 h 330"/>
                <a:gd name="T2" fmla="*/ 0 w 949"/>
                <a:gd name="T3" fmla="*/ 0 h 330"/>
                <a:gd name="T4" fmla="*/ 0 w 949"/>
                <a:gd name="T5" fmla="*/ 0 h 330"/>
                <a:gd name="T6" fmla="*/ 0 w 949"/>
                <a:gd name="T7" fmla="*/ 0 h 330"/>
                <a:gd name="T8" fmla="*/ 0 w 949"/>
                <a:gd name="T9" fmla="*/ 0 h 330"/>
                <a:gd name="T10" fmla="*/ 0 w 949"/>
                <a:gd name="T11" fmla="*/ 0 h 330"/>
                <a:gd name="T12" fmla="*/ 0 w 949"/>
                <a:gd name="T13" fmla="*/ 0 h 330"/>
                <a:gd name="T14" fmla="*/ 0 w 949"/>
                <a:gd name="T15" fmla="*/ 0 h 330"/>
                <a:gd name="T16" fmla="*/ 0 w 949"/>
                <a:gd name="T17" fmla="*/ 0 h 330"/>
                <a:gd name="T18" fmla="*/ 0 w 949"/>
                <a:gd name="T19" fmla="*/ 0 h 330"/>
                <a:gd name="T20" fmla="*/ 0 w 949"/>
                <a:gd name="T21" fmla="*/ 0 h 330"/>
                <a:gd name="T22" fmla="*/ 0 w 949"/>
                <a:gd name="T23" fmla="*/ 0 h 330"/>
                <a:gd name="T24" fmla="*/ 0 w 949"/>
                <a:gd name="T25" fmla="*/ 0 h 330"/>
                <a:gd name="T26" fmla="*/ 0 w 949"/>
                <a:gd name="T27" fmla="*/ 0 h 330"/>
                <a:gd name="T28" fmla="*/ 0 w 949"/>
                <a:gd name="T29" fmla="*/ 0 h 330"/>
                <a:gd name="T30" fmla="*/ 0 w 949"/>
                <a:gd name="T31" fmla="*/ 0 h 330"/>
                <a:gd name="T32" fmla="*/ 0 w 949"/>
                <a:gd name="T33" fmla="*/ 0 h 330"/>
                <a:gd name="T34" fmla="*/ 0 w 949"/>
                <a:gd name="T35" fmla="*/ 0 h 330"/>
                <a:gd name="T36" fmla="*/ 0 w 949"/>
                <a:gd name="T37" fmla="*/ 0 h 330"/>
                <a:gd name="T38" fmla="*/ 0 w 949"/>
                <a:gd name="T39" fmla="*/ 0 h 330"/>
                <a:gd name="T40" fmla="*/ 0 w 949"/>
                <a:gd name="T41" fmla="*/ 0 h 330"/>
                <a:gd name="T42" fmla="*/ 0 w 949"/>
                <a:gd name="T43" fmla="*/ 0 h 330"/>
                <a:gd name="T44" fmla="*/ 0 w 949"/>
                <a:gd name="T45" fmla="*/ 0 h 330"/>
                <a:gd name="T46" fmla="*/ 0 w 949"/>
                <a:gd name="T47" fmla="*/ 0 h 330"/>
                <a:gd name="T48" fmla="*/ 0 w 949"/>
                <a:gd name="T49" fmla="*/ 0 h 330"/>
                <a:gd name="T50" fmla="*/ 0 w 949"/>
                <a:gd name="T51" fmla="*/ 0 h 330"/>
                <a:gd name="T52" fmla="*/ 0 w 949"/>
                <a:gd name="T53" fmla="*/ 0 h 330"/>
                <a:gd name="T54" fmla="*/ 0 w 949"/>
                <a:gd name="T55" fmla="*/ 0 h 330"/>
                <a:gd name="T56" fmla="*/ 0 w 949"/>
                <a:gd name="T57" fmla="*/ 0 h 330"/>
                <a:gd name="T58" fmla="*/ 0 w 949"/>
                <a:gd name="T59" fmla="*/ 0 h 330"/>
                <a:gd name="T60" fmla="*/ 0 w 949"/>
                <a:gd name="T61" fmla="*/ 0 h 330"/>
                <a:gd name="T62" fmla="*/ 0 w 949"/>
                <a:gd name="T63" fmla="*/ 0 h 330"/>
                <a:gd name="T64" fmla="*/ 0 w 949"/>
                <a:gd name="T65" fmla="*/ 0 h 330"/>
                <a:gd name="T66" fmla="*/ 0 w 949"/>
                <a:gd name="T67" fmla="*/ 0 h 330"/>
                <a:gd name="T68" fmla="*/ 0 w 949"/>
                <a:gd name="T69" fmla="*/ 0 h 330"/>
                <a:gd name="T70" fmla="*/ 0 w 949"/>
                <a:gd name="T71" fmla="*/ 0 h 330"/>
                <a:gd name="T72" fmla="*/ 0 w 949"/>
                <a:gd name="T73" fmla="*/ 0 h 330"/>
                <a:gd name="T74" fmla="*/ 0 w 949"/>
                <a:gd name="T75" fmla="*/ 0 h 330"/>
                <a:gd name="T76" fmla="*/ 0 w 949"/>
                <a:gd name="T77" fmla="*/ 0 h 330"/>
                <a:gd name="T78" fmla="*/ 0 w 949"/>
                <a:gd name="T79" fmla="*/ 0 h 330"/>
                <a:gd name="T80" fmla="*/ 0 w 949"/>
                <a:gd name="T81" fmla="*/ 0 h 330"/>
                <a:gd name="T82" fmla="*/ 0 w 949"/>
                <a:gd name="T83" fmla="*/ 0 h 330"/>
                <a:gd name="T84" fmla="*/ 0 w 949"/>
                <a:gd name="T85" fmla="*/ 0 h 330"/>
                <a:gd name="T86" fmla="*/ 0 w 949"/>
                <a:gd name="T87" fmla="*/ 0 h 330"/>
                <a:gd name="T88" fmla="*/ 0 w 949"/>
                <a:gd name="T89" fmla="*/ 0 h 330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949"/>
                <a:gd name="T136" fmla="*/ 0 h 330"/>
                <a:gd name="T137" fmla="*/ 949 w 949"/>
                <a:gd name="T138" fmla="*/ 330 h 330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949" h="330">
                  <a:moveTo>
                    <a:pt x="505" y="6"/>
                  </a:moveTo>
                  <a:lnTo>
                    <a:pt x="526" y="13"/>
                  </a:lnTo>
                  <a:lnTo>
                    <a:pt x="545" y="19"/>
                  </a:lnTo>
                  <a:lnTo>
                    <a:pt x="567" y="24"/>
                  </a:lnTo>
                  <a:lnTo>
                    <a:pt x="586" y="27"/>
                  </a:lnTo>
                  <a:lnTo>
                    <a:pt x="609" y="33"/>
                  </a:lnTo>
                  <a:lnTo>
                    <a:pt x="627" y="38"/>
                  </a:lnTo>
                  <a:lnTo>
                    <a:pt x="649" y="43"/>
                  </a:lnTo>
                  <a:lnTo>
                    <a:pt x="668" y="52"/>
                  </a:lnTo>
                  <a:lnTo>
                    <a:pt x="685" y="63"/>
                  </a:lnTo>
                  <a:lnTo>
                    <a:pt x="701" y="71"/>
                  </a:lnTo>
                  <a:lnTo>
                    <a:pt x="717" y="79"/>
                  </a:lnTo>
                  <a:lnTo>
                    <a:pt x="733" y="87"/>
                  </a:lnTo>
                  <a:lnTo>
                    <a:pt x="747" y="96"/>
                  </a:lnTo>
                  <a:lnTo>
                    <a:pt x="763" y="103"/>
                  </a:lnTo>
                  <a:lnTo>
                    <a:pt x="780" y="114"/>
                  </a:lnTo>
                  <a:lnTo>
                    <a:pt x="796" y="125"/>
                  </a:lnTo>
                  <a:lnTo>
                    <a:pt x="804" y="128"/>
                  </a:lnTo>
                  <a:lnTo>
                    <a:pt x="813" y="134"/>
                  </a:lnTo>
                  <a:lnTo>
                    <a:pt x="821" y="139"/>
                  </a:lnTo>
                  <a:lnTo>
                    <a:pt x="827" y="147"/>
                  </a:lnTo>
                  <a:lnTo>
                    <a:pt x="834" y="147"/>
                  </a:lnTo>
                  <a:lnTo>
                    <a:pt x="853" y="158"/>
                  </a:lnTo>
                  <a:lnTo>
                    <a:pt x="867" y="169"/>
                  </a:lnTo>
                  <a:lnTo>
                    <a:pt x="881" y="183"/>
                  </a:lnTo>
                  <a:lnTo>
                    <a:pt x="892" y="196"/>
                  </a:lnTo>
                  <a:lnTo>
                    <a:pt x="899" y="213"/>
                  </a:lnTo>
                  <a:lnTo>
                    <a:pt x="910" y="229"/>
                  </a:lnTo>
                  <a:lnTo>
                    <a:pt x="919" y="245"/>
                  </a:lnTo>
                  <a:lnTo>
                    <a:pt x="930" y="261"/>
                  </a:lnTo>
                  <a:lnTo>
                    <a:pt x="935" y="278"/>
                  </a:lnTo>
                  <a:lnTo>
                    <a:pt x="943" y="294"/>
                  </a:lnTo>
                  <a:lnTo>
                    <a:pt x="949" y="311"/>
                  </a:lnTo>
                  <a:lnTo>
                    <a:pt x="949" y="327"/>
                  </a:lnTo>
                  <a:lnTo>
                    <a:pt x="943" y="330"/>
                  </a:lnTo>
                  <a:lnTo>
                    <a:pt x="935" y="327"/>
                  </a:lnTo>
                  <a:lnTo>
                    <a:pt x="927" y="324"/>
                  </a:lnTo>
                  <a:lnTo>
                    <a:pt x="917" y="321"/>
                  </a:lnTo>
                  <a:lnTo>
                    <a:pt x="917" y="297"/>
                  </a:lnTo>
                  <a:lnTo>
                    <a:pt x="913" y="275"/>
                  </a:lnTo>
                  <a:lnTo>
                    <a:pt x="908" y="254"/>
                  </a:lnTo>
                  <a:lnTo>
                    <a:pt x="894" y="238"/>
                  </a:lnTo>
                  <a:lnTo>
                    <a:pt x="881" y="224"/>
                  </a:lnTo>
                  <a:lnTo>
                    <a:pt x="869" y="204"/>
                  </a:lnTo>
                  <a:lnTo>
                    <a:pt x="857" y="188"/>
                  </a:lnTo>
                  <a:lnTo>
                    <a:pt x="843" y="169"/>
                  </a:lnTo>
                  <a:lnTo>
                    <a:pt x="829" y="155"/>
                  </a:lnTo>
                  <a:lnTo>
                    <a:pt x="813" y="142"/>
                  </a:lnTo>
                  <a:lnTo>
                    <a:pt x="796" y="137"/>
                  </a:lnTo>
                  <a:lnTo>
                    <a:pt x="774" y="137"/>
                  </a:lnTo>
                  <a:lnTo>
                    <a:pt x="756" y="139"/>
                  </a:lnTo>
                  <a:lnTo>
                    <a:pt x="733" y="147"/>
                  </a:lnTo>
                  <a:lnTo>
                    <a:pt x="712" y="144"/>
                  </a:lnTo>
                  <a:lnTo>
                    <a:pt x="696" y="128"/>
                  </a:lnTo>
                  <a:lnTo>
                    <a:pt x="673" y="107"/>
                  </a:lnTo>
                  <a:lnTo>
                    <a:pt x="652" y="84"/>
                  </a:lnTo>
                  <a:lnTo>
                    <a:pt x="625" y="68"/>
                  </a:lnTo>
                  <a:lnTo>
                    <a:pt x="600" y="52"/>
                  </a:lnTo>
                  <a:lnTo>
                    <a:pt x="573" y="41"/>
                  </a:lnTo>
                  <a:lnTo>
                    <a:pt x="543" y="31"/>
                  </a:lnTo>
                  <a:lnTo>
                    <a:pt x="515" y="22"/>
                  </a:lnTo>
                  <a:lnTo>
                    <a:pt x="485" y="17"/>
                  </a:lnTo>
                  <a:lnTo>
                    <a:pt x="485" y="31"/>
                  </a:lnTo>
                  <a:lnTo>
                    <a:pt x="485" y="43"/>
                  </a:lnTo>
                  <a:lnTo>
                    <a:pt x="485" y="57"/>
                  </a:lnTo>
                  <a:lnTo>
                    <a:pt x="483" y="71"/>
                  </a:lnTo>
                  <a:lnTo>
                    <a:pt x="469" y="128"/>
                  </a:lnTo>
                  <a:lnTo>
                    <a:pt x="455" y="128"/>
                  </a:lnTo>
                  <a:lnTo>
                    <a:pt x="458" y="120"/>
                  </a:lnTo>
                  <a:lnTo>
                    <a:pt x="455" y="112"/>
                  </a:lnTo>
                  <a:lnTo>
                    <a:pt x="450" y="103"/>
                  </a:lnTo>
                  <a:lnTo>
                    <a:pt x="444" y="93"/>
                  </a:lnTo>
                  <a:lnTo>
                    <a:pt x="428" y="82"/>
                  </a:lnTo>
                  <a:lnTo>
                    <a:pt x="409" y="73"/>
                  </a:lnTo>
                  <a:lnTo>
                    <a:pt x="393" y="66"/>
                  </a:lnTo>
                  <a:lnTo>
                    <a:pt x="374" y="57"/>
                  </a:lnTo>
                  <a:lnTo>
                    <a:pt x="354" y="49"/>
                  </a:lnTo>
                  <a:lnTo>
                    <a:pt x="336" y="43"/>
                  </a:lnTo>
                  <a:lnTo>
                    <a:pt x="317" y="38"/>
                  </a:lnTo>
                  <a:lnTo>
                    <a:pt x="297" y="33"/>
                  </a:lnTo>
                  <a:lnTo>
                    <a:pt x="281" y="31"/>
                  </a:lnTo>
                  <a:lnTo>
                    <a:pt x="262" y="31"/>
                  </a:lnTo>
                  <a:lnTo>
                    <a:pt x="246" y="27"/>
                  </a:lnTo>
                  <a:lnTo>
                    <a:pt x="227" y="27"/>
                  </a:lnTo>
                  <a:lnTo>
                    <a:pt x="211" y="27"/>
                  </a:lnTo>
                  <a:lnTo>
                    <a:pt x="193" y="31"/>
                  </a:lnTo>
                  <a:lnTo>
                    <a:pt x="177" y="33"/>
                  </a:lnTo>
                  <a:lnTo>
                    <a:pt x="161" y="41"/>
                  </a:lnTo>
                  <a:lnTo>
                    <a:pt x="180" y="54"/>
                  </a:lnTo>
                  <a:lnTo>
                    <a:pt x="200" y="68"/>
                  </a:lnTo>
                  <a:lnTo>
                    <a:pt x="218" y="82"/>
                  </a:lnTo>
                  <a:lnTo>
                    <a:pt x="237" y="98"/>
                  </a:lnTo>
                  <a:lnTo>
                    <a:pt x="257" y="112"/>
                  </a:lnTo>
                  <a:lnTo>
                    <a:pt x="276" y="125"/>
                  </a:lnTo>
                  <a:lnTo>
                    <a:pt x="297" y="142"/>
                  </a:lnTo>
                  <a:lnTo>
                    <a:pt x="317" y="155"/>
                  </a:lnTo>
                  <a:lnTo>
                    <a:pt x="301" y="160"/>
                  </a:lnTo>
                  <a:lnTo>
                    <a:pt x="283" y="169"/>
                  </a:lnTo>
                  <a:lnTo>
                    <a:pt x="271" y="174"/>
                  </a:lnTo>
                  <a:lnTo>
                    <a:pt x="257" y="178"/>
                  </a:lnTo>
                  <a:lnTo>
                    <a:pt x="235" y="167"/>
                  </a:lnTo>
                  <a:lnTo>
                    <a:pt x="213" y="155"/>
                  </a:lnTo>
                  <a:lnTo>
                    <a:pt x="191" y="150"/>
                  </a:lnTo>
                  <a:lnTo>
                    <a:pt x="170" y="144"/>
                  </a:lnTo>
                  <a:lnTo>
                    <a:pt x="145" y="139"/>
                  </a:lnTo>
                  <a:lnTo>
                    <a:pt x="123" y="137"/>
                  </a:lnTo>
                  <a:lnTo>
                    <a:pt x="99" y="131"/>
                  </a:lnTo>
                  <a:lnTo>
                    <a:pt x="76" y="125"/>
                  </a:lnTo>
                  <a:lnTo>
                    <a:pt x="52" y="128"/>
                  </a:lnTo>
                  <a:lnTo>
                    <a:pt x="36" y="134"/>
                  </a:lnTo>
                  <a:lnTo>
                    <a:pt x="16" y="144"/>
                  </a:lnTo>
                  <a:lnTo>
                    <a:pt x="0" y="153"/>
                  </a:lnTo>
                  <a:lnTo>
                    <a:pt x="3" y="139"/>
                  </a:lnTo>
                  <a:lnTo>
                    <a:pt x="9" y="123"/>
                  </a:lnTo>
                  <a:lnTo>
                    <a:pt x="16" y="112"/>
                  </a:lnTo>
                  <a:lnTo>
                    <a:pt x="28" y="98"/>
                  </a:lnTo>
                  <a:lnTo>
                    <a:pt x="39" y="87"/>
                  </a:lnTo>
                  <a:lnTo>
                    <a:pt x="52" y="73"/>
                  </a:lnTo>
                  <a:lnTo>
                    <a:pt x="66" y="63"/>
                  </a:lnTo>
                  <a:lnTo>
                    <a:pt x="82" y="52"/>
                  </a:lnTo>
                  <a:lnTo>
                    <a:pt x="87" y="52"/>
                  </a:lnTo>
                  <a:lnTo>
                    <a:pt x="92" y="49"/>
                  </a:lnTo>
                  <a:lnTo>
                    <a:pt x="96" y="43"/>
                  </a:lnTo>
                  <a:lnTo>
                    <a:pt x="101" y="41"/>
                  </a:lnTo>
                  <a:lnTo>
                    <a:pt x="145" y="31"/>
                  </a:lnTo>
                  <a:lnTo>
                    <a:pt x="188" y="19"/>
                  </a:lnTo>
                  <a:lnTo>
                    <a:pt x="232" y="11"/>
                  </a:lnTo>
                  <a:lnTo>
                    <a:pt x="276" y="6"/>
                  </a:lnTo>
                  <a:lnTo>
                    <a:pt x="319" y="3"/>
                  </a:lnTo>
                  <a:lnTo>
                    <a:pt x="365" y="3"/>
                  </a:lnTo>
                  <a:lnTo>
                    <a:pt x="409" y="0"/>
                  </a:lnTo>
                  <a:lnTo>
                    <a:pt x="453" y="3"/>
                  </a:lnTo>
                  <a:lnTo>
                    <a:pt x="466" y="3"/>
                  </a:lnTo>
                  <a:lnTo>
                    <a:pt x="478" y="3"/>
                  </a:lnTo>
                  <a:lnTo>
                    <a:pt x="491" y="6"/>
                  </a:lnTo>
                  <a:lnTo>
                    <a:pt x="505" y="6"/>
                  </a:lnTo>
                  <a:close/>
                </a:path>
              </a:pathLst>
            </a:custGeom>
            <a:solidFill>
              <a:srgbClr val="CECEC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0" name="Freeform 262">
              <a:extLst>
                <a:ext uri="{FF2B5EF4-FFF2-40B4-BE49-F238E27FC236}">
                  <a16:creationId xmlns:a16="http://schemas.microsoft.com/office/drawing/2014/main" id="{2113F3E0-1337-0C4D-B1B2-D8EEF9E6DF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41" y="2007"/>
              <a:ext cx="65" cy="81"/>
            </a:xfrm>
            <a:custGeom>
              <a:avLst/>
              <a:gdLst>
                <a:gd name="T0" fmla="*/ 0 w 261"/>
                <a:gd name="T1" fmla="*/ 0 h 324"/>
                <a:gd name="T2" fmla="*/ 0 w 261"/>
                <a:gd name="T3" fmla="*/ 0 h 324"/>
                <a:gd name="T4" fmla="*/ 0 w 261"/>
                <a:gd name="T5" fmla="*/ 0 h 324"/>
                <a:gd name="T6" fmla="*/ 0 w 261"/>
                <a:gd name="T7" fmla="*/ 0 h 324"/>
                <a:gd name="T8" fmla="*/ 0 w 261"/>
                <a:gd name="T9" fmla="*/ 0 h 324"/>
                <a:gd name="T10" fmla="*/ 0 w 261"/>
                <a:gd name="T11" fmla="*/ 0 h 324"/>
                <a:gd name="T12" fmla="*/ 0 w 261"/>
                <a:gd name="T13" fmla="*/ 0 h 324"/>
                <a:gd name="T14" fmla="*/ 0 w 261"/>
                <a:gd name="T15" fmla="*/ 0 h 324"/>
                <a:gd name="T16" fmla="*/ 0 w 261"/>
                <a:gd name="T17" fmla="*/ 0 h 324"/>
                <a:gd name="T18" fmla="*/ 0 w 261"/>
                <a:gd name="T19" fmla="*/ 0 h 324"/>
                <a:gd name="T20" fmla="*/ 0 w 261"/>
                <a:gd name="T21" fmla="*/ 0 h 324"/>
                <a:gd name="T22" fmla="*/ 0 w 261"/>
                <a:gd name="T23" fmla="*/ 0 h 324"/>
                <a:gd name="T24" fmla="*/ 0 w 261"/>
                <a:gd name="T25" fmla="*/ 0 h 324"/>
                <a:gd name="T26" fmla="*/ 0 w 261"/>
                <a:gd name="T27" fmla="*/ 0 h 324"/>
                <a:gd name="T28" fmla="*/ 0 w 261"/>
                <a:gd name="T29" fmla="*/ 0 h 324"/>
                <a:gd name="T30" fmla="*/ 0 w 261"/>
                <a:gd name="T31" fmla="*/ 0 h 324"/>
                <a:gd name="T32" fmla="*/ 0 w 261"/>
                <a:gd name="T33" fmla="*/ 0 h 324"/>
                <a:gd name="T34" fmla="*/ 0 w 261"/>
                <a:gd name="T35" fmla="*/ 0 h 324"/>
                <a:gd name="T36" fmla="*/ 0 w 261"/>
                <a:gd name="T37" fmla="*/ 0 h 324"/>
                <a:gd name="T38" fmla="*/ 0 w 261"/>
                <a:gd name="T39" fmla="*/ 0 h 324"/>
                <a:gd name="T40" fmla="*/ 0 w 261"/>
                <a:gd name="T41" fmla="*/ 0 h 324"/>
                <a:gd name="T42" fmla="*/ 0 w 261"/>
                <a:gd name="T43" fmla="*/ 0 h 324"/>
                <a:gd name="T44" fmla="*/ 0 w 261"/>
                <a:gd name="T45" fmla="*/ 0 h 324"/>
                <a:gd name="T46" fmla="*/ 0 w 261"/>
                <a:gd name="T47" fmla="*/ 0 h 324"/>
                <a:gd name="T48" fmla="*/ 0 w 261"/>
                <a:gd name="T49" fmla="*/ 0 h 324"/>
                <a:gd name="T50" fmla="*/ 0 w 261"/>
                <a:gd name="T51" fmla="*/ 0 h 324"/>
                <a:gd name="T52" fmla="*/ 0 w 261"/>
                <a:gd name="T53" fmla="*/ 0 h 324"/>
                <a:gd name="T54" fmla="*/ 0 w 261"/>
                <a:gd name="T55" fmla="*/ 0 h 324"/>
                <a:gd name="T56" fmla="*/ 0 w 261"/>
                <a:gd name="T57" fmla="*/ 0 h 324"/>
                <a:gd name="T58" fmla="*/ 0 w 261"/>
                <a:gd name="T59" fmla="*/ 0 h 324"/>
                <a:gd name="T60" fmla="*/ 0 w 261"/>
                <a:gd name="T61" fmla="*/ 0 h 324"/>
                <a:gd name="T62" fmla="*/ 0 w 261"/>
                <a:gd name="T63" fmla="*/ 0 h 324"/>
                <a:gd name="T64" fmla="*/ 0 w 261"/>
                <a:gd name="T65" fmla="*/ 0 h 324"/>
                <a:gd name="T66" fmla="*/ 0 w 261"/>
                <a:gd name="T67" fmla="*/ 0 h 324"/>
                <a:gd name="T68" fmla="*/ 0 w 261"/>
                <a:gd name="T69" fmla="*/ 0 h 324"/>
                <a:gd name="T70" fmla="*/ 0 w 261"/>
                <a:gd name="T71" fmla="*/ 0 h 324"/>
                <a:gd name="T72" fmla="*/ 0 w 261"/>
                <a:gd name="T73" fmla="*/ 0 h 324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w 261"/>
                <a:gd name="T112" fmla="*/ 0 h 324"/>
                <a:gd name="T113" fmla="*/ 261 w 261"/>
                <a:gd name="T114" fmla="*/ 324 h 324"/>
              </a:gdLst>
              <a:ahLst/>
              <a:cxnLst>
                <a:cxn ang="T74">
                  <a:pos x="T0" y="T1"/>
                </a:cxn>
                <a:cxn ang="T75">
                  <a:pos x="T2" y="T3"/>
                </a:cxn>
                <a:cxn ang="T76">
                  <a:pos x="T4" y="T5"/>
                </a:cxn>
                <a:cxn ang="T77">
                  <a:pos x="T6" y="T7"/>
                </a:cxn>
                <a:cxn ang="T78">
                  <a:pos x="T8" y="T9"/>
                </a:cxn>
                <a:cxn ang="T79">
                  <a:pos x="T10" y="T11"/>
                </a:cxn>
                <a:cxn ang="T80">
                  <a:pos x="T12" y="T13"/>
                </a:cxn>
                <a:cxn ang="T81">
                  <a:pos x="T14" y="T15"/>
                </a:cxn>
                <a:cxn ang="T82">
                  <a:pos x="T16" y="T17"/>
                </a:cxn>
                <a:cxn ang="T83">
                  <a:pos x="T18" y="T19"/>
                </a:cxn>
                <a:cxn ang="T84">
                  <a:pos x="T20" y="T21"/>
                </a:cxn>
                <a:cxn ang="T85">
                  <a:pos x="T22" y="T23"/>
                </a:cxn>
                <a:cxn ang="T86">
                  <a:pos x="T24" y="T25"/>
                </a:cxn>
                <a:cxn ang="T87">
                  <a:pos x="T26" y="T27"/>
                </a:cxn>
                <a:cxn ang="T88">
                  <a:pos x="T28" y="T29"/>
                </a:cxn>
                <a:cxn ang="T89">
                  <a:pos x="T30" y="T31"/>
                </a:cxn>
                <a:cxn ang="T90">
                  <a:pos x="T32" y="T33"/>
                </a:cxn>
                <a:cxn ang="T91">
                  <a:pos x="T34" y="T35"/>
                </a:cxn>
                <a:cxn ang="T92">
                  <a:pos x="T36" y="T37"/>
                </a:cxn>
                <a:cxn ang="T93">
                  <a:pos x="T38" y="T39"/>
                </a:cxn>
                <a:cxn ang="T94">
                  <a:pos x="T40" y="T41"/>
                </a:cxn>
                <a:cxn ang="T95">
                  <a:pos x="T42" y="T43"/>
                </a:cxn>
                <a:cxn ang="T96">
                  <a:pos x="T44" y="T45"/>
                </a:cxn>
                <a:cxn ang="T97">
                  <a:pos x="T46" y="T47"/>
                </a:cxn>
                <a:cxn ang="T98">
                  <a:pos x="T48" y="T49"/>
                </a:cxn>
                <a:cxn ang="T99">
                  <a:pos x="T50" y="T51"/>
                </a:cxn>
                <a:cxn ang="T100">
                  <a:pos x="T52" y="T53"/>
                </a:cxn>
                <a:cxn ang="T101">
                  <a:pos x="T54" y="T55"/>
                </a:cxn>
                <a:cxn ang="T102">
                  <a:pos x="T56" y="T57"/>
                </a:cxn>
                <a:cxn ang="T103">
                  <a:pos x="T58" y="T59"/>
                </a:cxn>
                <a:cxn ang="T104">
                  <a:pos x="T60" y="T61"/>
                </a:cxn>
                <a:cxn ang="T105">
                  <a:pos x="T62" y="T63"/>
                </a:cxn>
                <a:cxn ang="T106">
                  <a:pos x="T64" y="T65"/>
                </a:cxn>
                <a:cxn ang="T107">
                  <a:pos x="T66" y="T67"/>
                </a:cxn>
                <a:cxn ang="T108">
                  <a:pos x="T68" y="T69"/>
                </a:cxn>
                <a:cxn ang="T109">
                  <a:pos x="T70" y="T71"/>
                </a:cxn>
                <a:cxn ang="T110">
                  <a:pos x="T72" y="T73"/>
                </a:cxn>
              </a:cxnLst>
              <a:rect l="T111" t="T112" r="T113" b="T114"/>
              <a:pathLst>
                <a:path w="261" h="324">
                  <a:moveTo>
                    <a:pt x="261" y="0"/>
                  </a:moveTo>
                  <a:lnTo>
                    <a:pt x="218" y="21"/>
                  </a:lnTo>
                  <a:lnTo>
                    <a:pt x="183" y="51"/>
                  </a:lnTo>
                  <a:lnTo>
                    <a:pt x="153" y="90"/>
                  </a:lnTo>
                  <a:lnTo>
                    <a:pt x="130" y="133"/>
                  </a:lnTo>
                  <a:lnTo>
                    <a:pt x="114" y="180"/>
                  </a:lnTo>
                  <a:lnTo>
                    <a:pt x="109" y="228"/>
                  </a:lnTo>
                  <a:lnTo>
                    <a:pt x="111" y="278"/>
                  </a:lnTo>
                  <a:lnTo>
                    <a:pt x="125" y="324"/>
                  </a:lnTo>
                  <a:lnTo>
                    <a:pt x="111" y="299"/>
                  </a:lnTo>
                  <a:lnTo>
                    <a:pt x="98" y="278"/>
                  </a:lnTo>
                  <a:lnTo>
                    <a:pt x="84" y="253"/>
                  </a:lnTo>
                  <a:lnTo>
                    <a:pt x="74" y="228"/>
                  </a:lnTo>
                  <a:lnTo>
                    <a:pt x="60" y="204"/>
                  </a:lnTo>
                  <a:lnTo>
                    <a:pt x="49" y="180"/>
                  </a:lnTo>
                  <a:lnTo>
                    <a:pt x="38" y="156"/>
                  </a:lnTo>
                  <a:lnTo>
                    <a:pt x="27" y="131"/>
                  </a:lnTo>
                  <a:lnTo>
                    <a:pt x="22" y="120"/>
                  </a:lnTo>
                  <a:lnTo>
                    <a:pt x="14" y="109"/>
                  </a:lnTo>
                  <a:lnTo>
                    <a:pt x="5" y="98"/>
                  </a:lnTo>
                  <a:lnTo>
                    <a:pt x="0" y="85"/>
                  </a:lnTo>
                  <a:lnTo>
                    <a:pt x="22" y="90"/>
                  </a:lnTo>
                  <a:lnTo>
                    <a:pt x="40" y="90"/>
                  </a:lnTo>
                  <a:lnTo>
                    <a:pt x="63" y="87"/>
                  </a:lnTo>
                  <a:lnTo>
                    <a:pt x="79" y="79"/>
                  </a:lnTo>
                  <a:lnTo>
                    <a:pt x="93" y="71"/>
                  </a:lnTo>
                  <a:lnTo>
                    <a:pt x="98" y="57"/>
                  </a:lnTo>
                  <a:lnTo>
                    <a:pt x="93" y="41"/>
                  </a:lnTo>
                  <a:lnTo>
                    <a:pt x="76" y="25"/>
                  </a:lnTo>
                  <a:lnTo>
                    <a:pt x="98" y="19"/>
                  </a:lnTo>
                  <a:lnTo>
                    <a:pt x="123" y="16"/>
                  </a:lnTo>
                  <a:lnTo>
                    <a:pt x="144" y="14"/>
                  </a:lnTo>
                  <a:lnTo>
                    <a:pt x="169" y="11"/>
                  </a:lnTo>
                  <a:lnTo>
                    <a:pt x="194" y="9"/>
                  </a:lnTo>
                  <a:lnTo>
                    <a:pt x="215" y="5"/>
                  </a:lnTo>
                  <a:lnTo>
                    <a:pt x="240" y="2"/>
                  </a:lnTo>
                  <a:lnTo>
                    <a:pt x="261" y="0"/>
                  </a:ln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1" name="Freeform 263">
              <a:extLst>
                <a:ext uri="{FF2B5EF4-FFF2-40B4-BE49-F238E27FC236}">
                  <a16:creationId xmlns:a16="http://schemas.microsoft.com/office/drawing/2014/main" id="{576DA3CA-8579-3F4A-8726-4009DCAC985E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2" y="2012"/>
              <a:ext cx="54" cy="33"/>
            </a:xfrm>
            <a:custGeom>
              <a:avLst/>
              <a:gdLst>
                <a:gd name="T0" fmla="*/ 0 w 215"/>
                <a:gd name="T1" fmla="*/ 0 h 131"/>
                <a:gd name="T2" fmla="*/ 0 w 215"/>
                <a:gd name="T3" fmla="*/ 0 h 131"/>
                <a:gd name="T4" fmla="*/ 0 w 215"/>
                <a:gd name="T5" fmla="*/ 0 h 131"/>
                <a:gd name="T6" fmla="*/ 0 w 215"/>
                <a:gd name="T7" fmla="*/ 0 h 131"/>
                <a:gd name="T8" fmla="*/ 0 w 215"/>
                <a:gd name="T9" fmla="*/ 0 h 131"/>
                <a:gd name="T10" fmla="*/ 0 w 215"/>
                <a:gd name="T11" fmla="*/ 0 h 131"/>
                <a:gd name="T12" fmla="*/ 0 w 215"/>
                <a:gd name="T13" fmla="*/ 0 h 131"/>
                <a:gd name="T14" fmla="*/ 0 w 215"/>
                <a:gd name="T15" fmla="*/ 0 h 131"/>
                <a:gd name="T16" fmla="*/ 0 w 215"/>
                <a:gd name="T17" fmla="*/ 0 h 131"/>
                <a:gd name="T18" fmla="*/ 0 w 215"/>
                <a:gd name="T19" fmla="*/ 0 h 131"/>
                <a:gd name="T20" fmla="*/ 0 w 215"/>
                <a:gd name="T21" fmla="*/ 0 h 131"/>
                <a:gd name="T22" fmla="*/ 0 w 215"/>
                <a:gd name="T23" fmla="*/ 0 h 131"/>
                <a:gd name="T24" fmla="*/ 0 w 215"/>
                <a:gd name="T25" fmla="*/ 0 h 131"/>
                <a:gd name="T26" fmla="*/ 0 w 215"/>
                <a:gd name="T27" fmla="*/ 0 h 131"/>
                <a:gd name="T28" fmla="*/ 0 w 215"/>
                <a:gd name="T29" fmla="*/ 0 h 131"/>
                <a:gd name="T30" fmla="*/ 0 w 215"/>
                <a:gd name="T31" fmla="*/ 0 h 131"/>
                <a:gd name="T32" fmla="*/ 0 w 215"/>
                <a:gd name="T33" fmla="*/ 0 h 131"/>
                <a:gd name="T34" fmla="*/ 0 w 215"/>
                <a:gd name="T35" fmla="*/ 0 h 131"/>
                <a:gd name="T36" fmla="*/ 0 w 215"/>
                <a:gd name="T37" fmla="*/ 0 h 131"/>
                <a:gd name="T38" fmla="*/ 0 w 215"/>
                <a:gd name="T39" fmla="*/ 0 h 131"/>
                <a:gd name="T40" fmla="*/ 0 w 215"/>
                <a:gd name="T41" fmla="*/ 0 h 131"/>
                <a:gd name="T42" fmla="*/ 0 w 215"/>
                <a:gd name="T43" fmla="*/ 0 h 131"/>
                <a:gd name="T44" fmla="*/ 0 w 215"/>
                <a:gd name="T45" fmla="*/ 0 h 131"/>
                <a:gd name="T46" fmla="*/ 0 w 215"/>
                <a:gd name="T47" fmla="*/ 0 h 131"/>
                <a:gd name="T48" fmla="*/ 0 w 215"/>
                <a:gd name="T49" fmla="*/ 0 h 131"/>
                <a:gd name="T50" fmla="*/ 0 w 215"/>
                <a:gd name="T51" fmla="*/ 0 h 131"/>
                <a:gd name="T52" fmla="*/ 0 w 215"/>
                <a:gd name="T53" fmla="*/ 0 h 131"/>
                <a:gd name="T54" fmla="*/ 0 w 215"/>
                <a:gd name="T55" fmla="*/ 0 h 131"/>
                <a:gd name="T56" fmla="*/ 0 w 215"/>
                <a:gd name="T57" fmla="*/ 0 h 131"/>
                <a:gd name="T58" fmla="*/ 0 w 215"/>
                <a:gd name="T59" fmla="*/ 0 h 131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w 215"/>
                <a:gd name="T91" fmla="*/ 0 h 131"/>
                <a:gd name="T92" fmla="*/ 215 w 215"/>
                <a:gd name="T93" fmla="*/ 131 h 131"/>
              </a:gdLst>
              <a:ahLst/>
              <a:cxnLst>
                <a:cxn ang="T60">
                  <a:pos x="T0" y="T1"/>
                </a:cxn>
                <a:cxn ang="T61">
                  <a:pos x="T2" y="T3"/>
                </a:cxn>
                <a:cxn ang="T62">
                  <a:pos x="T4" y="T5"/>
                </a:cxn>
                <a:cxn ang="T63">
                  <a:pos x="T6" y="T7"/>
                </a:cxn>
                <a:cxn ang="T64">
                  <a:pos x="T8" y="T9"/>
                </a:cxn>
                <a:cxn ang="T65">
                  <a:pos x="T10" y="T11"/>
                </a:cxn>
                <a:cxn ang="T66">
                  <a:pos x="T12" y="T13"/>
                </a:cxn>
                <a:cxn ang="T67">
                  <a:pos x="T14" y="T15"/>
                </a:cxn>
                <a:cxn ang="T68">
                  <a:pos x="T16" y="T17"/>
                </a:cxn>
                <a:cxn ang="T69">
                  <a:pos x="T18" y="T19"/>
                </a:cxn>
                <a:cxn ang="T70">
                  <a:pos x="T20" y="T21"/>
                </a:cxn>
                <a:cxn ang="T71">
                  <a:pos x="T22" y="T23"/>
                </a:cxn>
                <a:cxn ang="T72">
                  <a:pos x="T24" y="T25"/>
                </a:cxn>
                <a:cxn ang="T73">
                  <a:pos x="T26" y="T27"/>
                </a:cxn>
                <a:cxn ang="T74">
                  <a:pos x="T28" y="T29"/>
                </a:cxn>
                <a:cxn ang="T75">
                  <a:pos x="T30" y="T31"/>
                </a:cxn>
                <a:cxn ang="T76">
                  <a:pos x="T32" y="T33"/>
                </a:cxn>
                <a:cxn ang="T77">
                  <a:pos x="T34" y="T35"/>
                </a:cxn>
                <a:cxn ang="T78">
                  <a:pos x="T36" y="T37"/>
                </a:cxn>
                <a:cxn ang="T79">
                  <a:pos x="T38" y="T39"/>
                </a:cxn>
                <a:cxn ang="T80">
                  <a:pos x="T40" y="T41"/>
                </a:cxn>
                <a:cxn ang="T81">
                  <a:pos x="T42" y="T43"/>
                </a:cxn>
                <a:cxn ang="T82">
                  <a:pos x="T44" y="T45"/>
                </a:cxn>
                <a:cxn ang="T83">
                  <a:pos x="T46" y="T47"/>
                </a:cxn>
                <a:cxn ang="T84">
                  <a:pos x="T48" y="T49"/>
                </a:cxn>
                <a:cxn ang="T85">
                  <a:pos x="T50" y="T51"/>
                </a:cxn>
                <a:cxn ang="T86">
                  <a:pos x="T52" y="T53"/>
                </a:cxn>
                <a:cxn ang="T87">
                  <a:pos x="T54" y="T55"/>
                </a:cxn>
                <a:cxn ang="T88">
                  <a:pos x="T56" y="T57"/>
                </a:cxn>
                <a:cxn ang="T89">
                  <a:pos x="T58" y="T59"/>
                </a:cxn>
              </a:cxnLst>
              <a:rect l="T90" t="T91" r="T92" b="T93"/>
              <a:pathLst>
                <a:path w="215" h="131">
                  <a:moveTo>
                    <a:pt x="197" y="101"/>
                  </a:moveTo>
                  <a:lnTo>
                    <a:pt x="215" y="112"/>
                  </a:lnTo>
                  <a:lnTo>
                    <a:pt x="202" y="114"/>
                  </a:lnTo>
                  <a:lnTo>
                    <a:pt x="185" y="117"/>
                  </a:lnTo>
                  <a:lnTo>
                    <a:pt x="172" y="123"/>
                  </a:lnTo>
                  <a:lnTo>
                    <a:pt x="158" y="128"/>
                  </a:lnTo>
                  <a:lnTo>
                    <a:pt x="142" y="131"/>
                  </a:lnTo>
                  <a:lnTo>
                    <a:pt x="128" y="131"/>
                  </a:lnTo>
                  <a:lnTo>
                    <a:pt x="114" y="126"/>
                  </a:lnTo>
                  <a:lnTo>
                    <a:pt x="101" y="112"/>
                  </a:lnTo>
                  <a:lnTo>
                    <a:pt x="87" y="109"/>
                  </a:lnTo>
                  <a:lnTo>
                    <a:pt x="77" y="106"/>
                  </a:lnTo>
                  <a:lnTo>
                    <a:pt x="63" y="106"/>
                  </a:lnTo>
                  <a:lnTo>
                    <a:pt x="52" y="101"/>
                  </a:lnTo>
                  <a:lnTo>
                    <a:pt x="38" y="98"/>
                  </a:lnTo>
                  <a:lnTo>
                    <a:pt x="25" y="96"/>
                  </a:lnTo>
                  <a:lnTo>
                    <a:pt x="13" y="90"/>
                  </a:lnTo>
                  <a:lnTo>
                    <a:pt x="0" y="84"/>
                  </a:lnTo>
                  <a:lnTo>
                    <a:pt x="6" y="62"/>
                  </a:lnTo>
                  <a:lnTo>
                    <a:pt x="8" y="41"/>
                  </a:lnTo>
                  <a:lnTo>
                    <a:pt x="13" y="18"/>
                  </a:lnTo>
                  <a:lnTo>
                    <a:pt x="22" y="0"/>
                  </a:lnTo>
                  <a:lnTo>
                    <a:pt x="47" y="6"/>
                  </a:lnTo>
                  <a:lnTo>
                    <a:pt x="71" y="13"/>
                  </a:lnTo>
                  <a:lnTo>
                    <a:pt x="96" y="25"/>
                  </a:lnTo>
                  <a:lnTo>
                    <a:pt x="117" y="38"/>
                  </a:lnTo>
                  <a:lnTo>
                    <a:pt x="139" y="52"/>
                  </a:lnTo>
                  <a:lnTo>
                    <a:pt x="158" y="68"/>
                  </a:lnTo>
                  <a:lnTo>
                    <a:pt x="178" y="84"/>
                  </a:lnTo>
                  <a:lnTo>
                    <a:pt x="197" y="101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2" name="Freeform 264">
              <a:extLst>
                <a:ext uri="{FF2B5EF4-FFF2-40B4-BE49-F238E27FC236}">
                  <a16:creationId xmlns:a16="http://schemas.microsoft.com/office/drawing/2014/main" id="{0FD7C7B8-0A2B-424A-BCFB-391E536D6EF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0" y="2013"/>
              <a:ext cx="60" cy="26"/>
            </a:xfrm>
            <a:custGeom>
              <a:avLst/>
              <a:gdLst>
                <a:gd name="T0" fmla="*/ 0 w 237"/>
                <a:gd name="T1" fmla="*/ 0 h 104"/>
                <a:gd name="T2" fmla="*/ 0 w 237"/>
                <a:gd name="T3" fmla="*/ 0 h 104"/>
                <a:gd name="T4" fmla="*/ 0 w 237"/>
                <a:gd name="T5" fmla="*/ 0 h 104"/>
                <a:gd name="T6" fmla="*/ 0 w 237"/>
                <a:gd name="T7" fmla="*/ 0 h 104"/>
                <a:gd name="T8" fmla="*/ 0 w 237"/>
                <a:gd name="T9" fmla="*/ 0 h 104"/>
                <a:gd name="T10" fmla="*/ 0 w 237"/>
                <a:gd name="T11" fmla="*/ 0 h 104"/>
                <a:gd name="T12" fmla="*/ 0 w 237"/>
                <a:gd name="T13" fmla="*/ 0 h 104"/>
                <a:gd name="T14" fmla="*/ 0 w 237"/>
                <a:gd name="T15" fmla="*/ 0 h 104"/>
                <a:gd name="T16" fmla="*/ 0 w 237"/>
                <a:gd name="T17" fmla="*/ 0 h 104"/>
                <a:gd name="T18" fmla="*/ 0 w 237"/>
                <a:gd name="T19" fmla="*/ 0 h 104"/>
                <a:gd name="T20" fmla="*/ 0 w 237"/>
                <a:gd name="T21" fmla="*/ 0 h 104"/>
                <a:gd name="T22" fmla="*/ 0 w 237"/>
                <a:gd name="T23" fmla="*/ 0 h 104"/>
                <a:gd name="T24" fmla="*/ 0 w 237"/>
                <a:gd name="T25" fmla="*/ 0 h 104"/>
                <a:gd name="T26" fmla="*/ 0 w 237"/>
                <a:gd name="T27" fmla="*/ 0 h 104"/>
                <a:gd name="T28" fmla="*/ 0 w 237"/>
                <a:gd name="T29" fmla="*/ 0 h 104"/>
                <a:gd name="T30" fmla="*/ 0 w 237"/>
                <a:gd name="T31" fmla="*/ 0 h 104"/>
                <a:gd name="T32" fmla="*/ 0 w 237"/>
                <a:gd name="T33" fmla="*/ 0 h 104"/>
                <a:gd name="T34" fmla="*/ 0 w 237"/>
                <a:gd name="T35" fmla="*/ 0 h 104"/>
                <a:gd name="T36" fmla="*/ 0 w 237"/>
                <a:gd name="T37" fmla="*/ 0 h 104"/>
                <a:gd name="T38" fmla="*/ 0 w 237"/>
                <a:gd name="T39" fmla="*/ 0 h 104"/>
                <a:gd name="T40" fmla="*/ 0 w 237"/>
                <a:gd name="T41" fmla="*/ 0 h 104"/>
                <a:gd name="T42" fmla="*/ 0 w 237"/>
                <a:gd name="T43" fmla="*/ 0 h 104"/>
                <a:gd name="T44" fmla="*/ 0 w 237"/>
                <a:gd name="T45" fmla="*/ 0 h 104"/>
                <a:gd name="T46" fmla="*/ 0 w 237"/>
                <a:gd name="T47" fmla="*/ 0 h 104"/>
                <a:gd name="T48" fmla="*/ 0 w 237"/>
                <a:gd name="T49" fmla="*/ 0 h 104"/>
                <a:gd name="T50" fmla="*/ 0 w 237"/>
                <a:gd name="T51" fmla="*/ 0 h 104"/>
                <a:gd name="T52" fmla="*/ 0 w 237"/>
                <a:gd name="T53" fmla="*/ 0 h 104"/>
                <a:gd name="T54" fmla="*/ 0 w 237"/>
                <a:gd name="T55" fmla="*/ 0 h 104"/>
                <a:gd name="T56" fmla="*/ 0 w 237"/>
                <a:gd name="T57" fmla="*/ 0 h 104"/>
                <a:gd name="T58" fmla="*/ 0 w 237"/>
                <a:gd name="T59" fmla="*/ 0 h 104"/>
                <a:gd name="T60" fmla="*/ 0 w 237"/>
                <a:gd name="T61" fmla="*/ 0 h 104"/>
                <a:gd name="T62" fmla="*/ 0 w 237"/>
                <a:gd name="T63" fmla="*/ 0 h 104"/>
                <a:gd name="T64" fmla="*/ 0 w 237"/>
                <a:gd name="T65" fmla="*/ 0 h 104"/>
                <a:gd name="T66" fmla="*/ 0 w 237"/>
                <a:gd name="T67" fmla="*/ 0 h 104"/>
                <a:gd name="T68" fmla="*/ 0 w 237"/>
                <a:gd name="T69" fmla="*/ 0 h 104"/>
                <a:gd name="T70" fmla="*/ 0 w 237"/>
                <a:gd name="T71" fmla="*/ 0 h 104"/>
                <a:gd name="T72" fmla="*/ 0 w 237"/>
                <a:gd name="T73" fmla="*/ 0 h 104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w 237"/>
                <a:gd name="T112" fmla="*/ 0 h 104"/>
                <a:gd name="T113" fmla="*/ 237 w 237"/>
                <a:gd name="T114" fmla="*/ 104 h 104"/>
              </a:gdLst>
              <a:ahLst/>
              <a:cxnLst>
                <a:cxn ang="T74">
                  <a:pos x="T0" y="T1"/>
                </a:cxn>
                <a:cxn ang="T75">
                  <a:pos x="T2" y="T3"/>
                </a:cxn>
                <a:cxn ang="T76">
                  <a:pos x="T4" y="T5"/>
                </a:cxn>
                <a:cxn ang="T77">
                  <a:pos x="T6" y="T7"/>
                </a:cxn>
                <a:cxn ang="T78">
                  <a:pos x="T8" y="T9"/>
                </a:cxn>
                <a:cxn ang="T79">
                  <a:pos x="T10" y="T11"/>
                </a:cxn>
                <a:cxn ang="T80">
                  <a:pos x="T12" y="T13"/>
                </a:cxn>
                <a:cxn ang="T81">
                  <a:pos x="T14" y="T15"/>
                </a:cxn>
                <a:cxn ang="T82">
                  <a:pos x="T16" y="T17"/>
                </a:cxn>
                <a:cxn ang="T83">
                  <a:pos x="T18" y="T19"/>
                </a:cxn>
                <a:cxn ang="T84">
                  <a:pos x="T20" y="T21"/>
                </a:cxn>
                <a:cxn ang="T85">
                  <a:pos x="T22" y="T23"/>
                </a:cxn>
                <a:cxn ang="T86">
                  <a:pos x="T24" y="T25"/>
                </a:cxn>
                <a:cxn ang="T87">
                  <a:pos x="T26" y="T27"/>
                </a:cxn>
                <a:cxn ang="T88">
                  <a:pos x="T28" y="T29"/>
                </a:cxn>
                <a:cxn ang="T89">
                  <a:pos x="T30" y="T31"/>
                </a:cxn>
                <a:cxn ang="T90">
                  <a:pos x="T32" y="T33"/>
                </a:cxn>
                <a:cxn ang="T91">
                  <a:pos x="T34" y="T35"/>
                </a:cxn>
                <a:cxn ang="T92">
                  <a:pos x="T36" y="T37"/>
                </a:cxn>
                <a:cxn ang="T93">
                  <a:pos x="T38" y="T39"/>
                </a:cxn>
                <a:cxn ang="T94">
                  <a:pos x="T40" y="T41"/>
                </a:cxn>
                <a:cxn ang="T95">
                  <a:pos x="T42" y="T43"/>
                </a:cxn>
                <a:cxn ang="T96">
                  <a:pos x="T44" y="T45"/>
                </a:cxn>
                <a:cxn ang="T97">
                  <a:pos x="T46" y="T47"/>
                </a:cxn>
                <a:cxn ang="T98">
                  <a:pos x="T48" y="T49"/>
                </a:cxn>
                <a:cxn ang="T99">
                  <a:pos x="T50" y="T51"/>
                </a:cxn>
                <a:cxn ang="T100">
                  <a:pos x="T52" y="T53"/>
                </a:cxn>
                <a:cxn ang="T101">
                  <a:pos x="T54" y="T55"/>
                </a:cxn>
                <a:cxn ang="T102">
                  <a:pos x="T56" y="T57"/>
                </a:cxn>
                <a:cxn ang="T103">
                  <a:pos x="T58" y="T59"/>
                </a:cxn>
                <a:cxn ang="T104">
                  <a:pos x="T60" y="T61"/>
                </a:cxn>
                <a:cxn ang="T105">
                  <a:pos x="T62" y="T63"/>
                </a:cxn>
                <a:cxn ang="T106">
                  <a:pos x="T64" y="T65"/>
                </a:cxn>
                <a:cxn ang="T107">
                  <a:pos x="T66" y="T67"/>
                </a:cxn>
                <a:cxn ang="T108">
                  <a:pos x="T68" y="T69"/>
                </a:cxn>
                <a:cxn ang="T109">
                  <a:pos x="T70" y="T71"/>
                </a:cxn>
                <a:cxn ang="T110">
                  <a:pos x="T72" y="T73"/>
                </a:cxn>
              </a:cxnLst>
              <a:rect l="T111" t="T112" r="T113" b="T114"/>
              <a:pathLst>
                <a:path w="237" h="104">
                  <a:moveTo>
                    <a:pt x="226" y="69"/>
                  </a:moveTo>
                  <a:lnTo>
                    <a:pt x="229" y="71"/>
                  </a:lnTo>
                  <a:lnTo>
                    <a:pt x="235" y="77"/>
                  </a:lnTo>
                  <a:lnTo>
                    <a:pt x="237" y="80"/>
                  </a:lnTo>
                  <a:lnTo>
                    <a:pt x="237" y="85"/>
                  </a:lnTo>
                  <a:lnTo>
                    <a:pt x="223" y="85"/>
                  </a:lnTo>
                  <a:lnTo>
                    <a:pt x="210" y="88"/>
                  </a:lnTo>
                  <a:lnTo>
                    <a:pt x="196" y="91"/>
                  </a:lnTo>
                  <a:lnTo>
                    <a:pt x="182" y="94"/>
                  </a:lnTo>
                  <a:lnTo>
                    <a:pt x="169" y="96"/>
                  </a:lnTo>
                  <a:lnTo>
                    <a:pt x="156" y="99"/>
                  </a:lnTo>
                  <a:lnTo>
                    <a:pt x="142" y="101"/>
                  </a:lnTo>
                  <a:lnTo>
                    <a:pt x="128" y="104"/>
                  </a:lnTo>
                  <a:lnTo>
                    <a:pt x="115" y="91"/>
                  </a:lnTo>
                  <a:lnTo>
                    <a:pt x="99" y="80"/>
                  </a:lnTo>
                  <a:lnTo>
                    <a:pt x="85" y="66"/>
                  </a:lnTo>
                  <a:lnTo>
                    <a:pt x="69" y="55"/>
                  </a:lnTo>
                  <a:lnTo>
                    <a:pt x="51" y="41"/>
                  </a:lnTo>
                  <a:lnTo>
                    <a:pt x="35" y="30"/>
                  </a:lnTo>
                  <a:lnTo>
                    <a:pt x="19" y="20"/>
                  </a:lnTo>
                  <a:lnTo>
                    <a:pt x="0" y="9"/>
                  </a:lnTo>
                  <a:lnTo>
                    <a:pt x="14" y="4"/>
                  </a:lnTo>
                  <a:lnTo>
                    <a:pt x="30" y="0"/>
                  </a:lnTo>
                  <a:lnTo>
                    <a:pt x="46" y="0"/>
                  </a:lnTo>
                  <a:lnTo>
                    <a:pt x="63" y="4"/>
                  </a:lnTo>
                  <a:lnTo>
                    <a:pt x="79" y="6"/>
                  </a:lnTo>
                  <a:lnTo>
                    <a:pt x="92" y="11"/>
                  </a:lnTo>
                  <a:lnTo>
                    <a:pt x="109" y="14"/>
                  </a:lnTo>
                  <a:lnTo>
                    <a:pt x="125" y="14"/>
                  </a:lnTo>
                  <a:lnTo>
                    <a:pt x="139" y="20"/>
                  </a:lnTo>
                  <a:lnTo>
                    <a:pt x="152" y="23"/>
                  </a:lnTo>
                  <a:lnTo>
                    <a:pt x="166" y="28"/>
                  </a:lnTo>
                  <a:lnTo>
                    <a:pt x="180" y="34"/>
                  </a:lnTo>
                  <a:lnTo>
                    <a:pt x="191" y="39"/>
                  </a:lnTo>
                  <a:lnTo>
                    <a:pt x="205" y="47"/>
                  </a:lnTo>
                  <a:lnTo>
                    <a:pt x="216" y="58"/>
                  </a:lnTo>
                  <a:lnTo>
                    <a:pt x="226" y="69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3" name="Freeform 265">
              <a:extLst>
                <a:ext uri="{FF2B5EF4-FFF2-40B4-BE49-F238E27FC236}">
                  <a16:creationId xmlns:a16="http://schemas.microsoft.com/office/drawing/2014/main" id="{00004172-4CA4-DD4B-9705-6D0F2D78871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4" y="2017"/>
              <a:ext cx="120" cy="177"/>
            </a:xfrm>
            <a:custGeom>
              <a:avLst/>
              <a:gdLst>
                <a:gd name="T0" fmla="*/ 0 w 482"/>
                <a:gd name="T1" fmla="*/ 0 h 706"/>
                <a:gd name="T2" fmla="*/ 0 w 482"/>
                <a:gd name="T3" fmla="*/ 0 h 706"/>
                <a:gd name="T4" fmla="*/ 0 w 482"/>
                <a:gd name="T5" fmla="*/ 0 h 706"/>
                <a:gd name="T6" fmla="*/ 0 w 482"/>
                <a:gd name="T7" fmla="*/ 0 h 706"/>
                <a:gd name="T8" fmla="*/ 0 w 482"/>
                <a:gd name="T9" fmla="*/ 0 h 706"/>
                <a:gd name="T10" fmla="*/ 0 w 482"/>
                <a:gd name="T11" fmla="*/ 0 h 706"/>
                <a:gd name="T12" fmla="*/ 0 w 482"/>
                <a:gd name="T13" fmla="*/ 0 h 706"/>
                <a:gd name="T14" fmla="*/ 0 w 482"/>
                <a:gd name="T15" fmla="*/ 0 h 706"/>
                <a:gd name="T16" fmla="*/ 0 w 482"/>
                <a:gd name="T17" fmla="*/ 0 h 706"/>
                <a:gd name="T18" fmla="*/ 0 w 482"/>
                <a:gd name="T19" fmla="*/ 0 h 706"/>
                <a:gd name="T20" fmla="*/ 0 w 482"/>
                <a:gd name="T21" fmla="*/ 0 h 706"/>
                <a:gd name="T22" fmla="*/ 0 w 482"/>
                <a:gd name="T23" fmla="*/ 0 h 706"/>
                <a:gd name="T24" fmla="*/ 0 w 482"/>
                <a:gd name="T25" fmla="*/ 0 h 706"/>
                <a:gd name="T26" fmla="*/ 0 w 482"/>
                <a:gd name="T27" fmla="*/ 0 h 706"/>
                <a:gd name="T28" fmla="*/ 0 w 482"/>
                <a:gd name="T29" fmla="*/ 0 h 706"/>
                <a:gd name="T30" fmla="*/ 0 w 482"/>
                <a:gd name="T31" fmla="*/ 0 h 706"/>
                <a:gd name="T32" fmla="*/ 0 w 482"/>
                <a:gd name="T33" fmla="*/ 0 h 706"/>
                <a:gd name="T34" fmla="*/ 0 w 482"/>
                <a:gd name="T35" fmla="*/ 0 h 706"/>
                <a:gd name="T36" fmla="*/ 0 w 482"/>
                <a:gd name="T37" fmla="*/ 0 h 706"/>
                <a:gd name="T38" fmla="*/ 0 w 482"/>
                <a:gd name="T39" fmla="*/ 0 h 706"/>
                <a:gd name="T40" fmla="*/ 0 w 482"/>
                <a:gd name="T41" fmla="*/ 0 h 706"/>
                <a:gd name="T42" fmla="*/ 0 w 482"/>
                <a:gd name="T43" fmla="*/ 0 h 706"/>
                <a:gd name="T44" fmla="*/ 0 w 482"/>
                <a:gd name="T45" fmla="*/ 0 h 706"/>
                <a:gd name="T46" fmla="*/ 0 w 482"/>
                <a:gd name="T47" fmla="*/ 0 h 706"/>
                <a:gd name="T48" fmla="*/ 0 w 482"/>
                <a:gd name="T49" fmla="*/ 0 h 706"/>
                <a:gd name="T50" fmla="*/ 0 w 482"/>
                <a:gd name="T51" fmla="*/ 0 h 706"/>
                <a:gd name="T52" fmla="*/ 0 w 482"/>
                <a:gd name="T53" fmla="*/ 0 h 706"/>
                <a:gd name="T54" fmla="*/ 0 w 482"/>
                <a:gd name="T55" fmla="*/ 0 h 706"/>
                <a:gd name="T56" fmla="*/ 0 w 482"/>
                <a:gd name="T57" fmla="*/ 0 h 706"/>
                <a:gd name="T58" fmla="*/ 0 w 482"/>
                <a:gd name="T59" fmla="*/ 0 h 706"/>
                <a:gd name="T60" fmla="*/ 0 w 482"/>
                <a:gd name="T61" fmla="*/ 0 h 706"/>
                <a:gd name="T62" fmla="*/ 0 w 482"/>
                <a:gd name="T63" fmla="*/ 0 h 706"/>
                <a:gd name="T64" fmla="*/ 0 w 482"/>
                <a:gd name="T65" fmla="*/ 0 h 706"/>
                <a:gd name="T66" fmla="*/ 0 w 482"/>
                <a:gd name="T67" fmla="*/ 0 h 706"/>
                <a:gd name="T68" fmla="*/ 0 w 482"/>
                <a:gd name="T69" fmla="*/ 0 h 706"/>
                <a:gd name="T70" fmla="*/ 0 w 482"/>
                <a:gd name="T71" fmla="*/ 0 h 706"/>
                <a:gd name="T72" fmla="*/ 0 w 482"/>
                <a:gd name="T73" fmla="*/ 0 h 706"/>
                <a:gd name="T74" fmla="*/ 0 w 482"/>
                <a:gd name="T75" fmla="*/ 0 h 706"/>
                <a:gd name="T76" fmla="*/ 0 w 482"/>
                <a:gd name="T77" fmla="*/ 0 h 706"/>
                <a:gd name="T78" fmla="*/ 0 w 482"/>
                <a:gd name="T79" fmla="*/ 0 h 706"/>
                <a:gd name="T80" fmla="*/ 0 w 482"/>
                <a:gd name="T81" fmla="*/ 0 h 706"/>
                <a:gd name="T82" fmla="*/ 0 w 482"/>
                <a:gd name="T83" fmla="*/ 0 h 706"/>
                <a:gd name="T84" fmla="*/ 0 w 482"/>
                <a:gd name="T85" fmla="*/ 0 h 706"/>
                <a:gd name="T86" fmla="*/ 0 w 482"/>
                <a:gd name="T87" fmla="*/ 0 h 706"/>
                <a:gd name="T88" fmla="*/ 0 w 482"/>
                <a:gd name="T89" fmla="*/ 0 h 70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482"/>
                <a:gd name="T136" fmla="*/ 0 h 706"/>
                <a:gd name="T137" fmla="*/ 482 w 482"/>
                <a:gd name="T138" fmla="*/ 706 h 706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482" h="706">
                  <a:moveTo>
                    <a:pt x="482" y="539"/>
                  </a:moveTo>
                  <a:lnTo>
                    <a:pt x="480" y="539"/>
                  </a:lnTo>
                  <a:lnTo>
                    <a:pt x="477" y="536"/>
                  </a:lnTo>
                  <a:lnTo>
                    <a:pt x="475" y="536"/>
                  </a:lnTo>
                  <a:lnTo>
                    <a:pt x="471" y="539"/>
                  </a:lnTo>
                  <a:lnTo>
                    <a:pt x="466" y="545"/>
                  </a:lnTo>
                  <a:lnTo>
                    <a:pt x="466" y="586"/>
                  </a:lnTo>
                  <a:lnTo>
                    <a:pt x="457" y="624"/>
                  </a:lnTo>
                  <a:lnTo>
                    <a:pt x="450" y="665"/>
                  </a:lnTo>
                  <a:lnTo>
                    <a:pt x="441" y="706"/>
                  </a:lnTo>
                  <a:lnTo>
                    <a:pt x="427" y="686"/>
                  </a:lnTo>
                  <a:lnTo>
                    <a:pt x="415" y="665"/>
                  </a:lnTo>
                  <a:lnTo>
                    <a:pt x="401" y="646"/>
                  </a:lnTo>
                  <a:lnTo>
                    <a:pt x="390" y="624"/>
                  </a:lnTo>
                  <a:lnTo>
                    <a:pt x="384" y="621"/>
                  </a:lnTo>
                  <a:lnTo>
                    <a:pt x="379" y="619"/>
                  </a:lnTo>
                  <a:lnTo>
                    <a:pt x="376" y="616"/>
                  </a:lnTo>
                  <a:lnTo>
                    <a:pt x="371" y="621"/>
                  </a:lnTo>
                  <a:lnTo>
                    <a:pt x="368" y="607"/>
                  </a:lnTo>
                  <a:lnTo>
                    <a:pt x="371" y="596"/>
                  </a:lnTo>
                  <a:lnTo>
                    <a:pt x="368" y="583"/>
                  </a:lnTo>
                  <a:lnTo>
                    <a:pt x="360" y="575"/>
                  </a:lnTo>
                  <a:lnTo>
                    <a:pt x="346" y="575"/>
                  </a:lnTo>
                  <a:lnTo>
                    <a:pt x="0" y="125"/>
                  </a:lnTo>
                  <a:lnTo>
                    <a:pt x="8" y="95"/>
                  </a:lnTo>
                  <a:lnTo>
                    <a:pt x="13" y="62"/>
                  </a:lnTo>
                  <a:lnTo>
                    <a:pt x="13" y="33"/>
                  </a:lnTo>
                  <a:lnTo>
                    <a:pt x="16" y="0"/>
                  </a:lnTo>
                  <a:lnTo>
                    <a:pt x="30" y="8"/>
                  </a:lnTo>
                  <a:lnTo>
                    <a:pt x="57" y="40"/>
                  </a:lnTo>
                  <a:lnTo>
                    <a:pt x="87" y="74"/>
                  </a:lnTo>
                  <a:lnTo>
                    <a:pt x="114" y="106"/>
                  </a:lnTo>
                  <a:lnTo>
                    <a:pt x="144" y="136"/>
                  </a:lnTo>
                  <a:lnTo>
                    <a:pt x="172" y="168"/>
                  </a:lnTo>
                  <a:lnTo>
                    <a:pt x="199" y="201"/>
                  </a:lnTo>
                  <a:lnTo>
                    <a:pt x="229" y="237"/>
                  </a:lnTo>
                  <a:lnTo>
                    <a:pt x="256" y="269"/>
                  </a:lnTo>
                  <a:lnTo>
                    <a:pt x="286" y="302"/>
                  </a:lnTo>
                  <a:lnTo>
                    <a:pt x="314" y="334"/>
                  </a:lnTo>
                  <a:lnTo>
                    <a:pt x="344" y="368"/>
                  </a:lnTo>
                  <a:lnTo>
                    <a:pt x="371" y="403"/>
                  </a:lnTo>
                  <a:lnTo>
                    <a:pt x="398" y="435"/>
                  </a:lnTo>
                  <a:lnTo>
                    <a:pt x="427" y="471"/>
                  </a:lnTo>
                  <a:lnTo>
                    <a:pt x="455" y="504"/>
                  </a:lnTo>
                  <a:lnTo>
                    <a:pt x="482" y="539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4" name="Freeform 266">
              <a:extLst>
                <a:ext uri="{FF2B5EF4-FFF2-40B4-BE49-F238E27FC236}">
                  <a16:creationId xmlns:a16="http://schemas.microsoft.com/office/drawing/2014/main" id="{AC59EDF5-6987-0843-AC13-841340F43E2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84" y="2022"/>
              <a:ext cx="114" cy="181"/>
            </a:xfrm>
            <a:custGeom>
              <a:avLst/>
              <a:gdLst>
                <a:gd name="T0" fmla="*/ 0 w 455"/>
                <a:gd name="T1" fmla="*/ 0 h 722"/>
                <a:gd name="T2" fmla="*/ 0 w 455"/>
                <a:gd name="T3" fmla="*/ 0 h 722"/>
                <a:gd name="T4" fmla="*/ 0 w 455"/>
                <a:gd name="T5" fmla="*/ 0 h 722"/>
                <a:gd name="T6" fmla="*/ 0 w 455"/>
                <a:gd name="T7" fmla="*/ 0 h 722"/>
                <a:gd name="T8" fmla="*/ 0 w 455"/>
                <a:gd name="T9" fmla="*/ 0 h 722"/>
                <a:gd name="T10" fmla="*/ 0 w 455"/>
                <a:gd name="T11" fmla="*/ 0 h 722"/>
                <a:gd name="T12" fmla="*/ 0 w 455"/>
                <a:gd name="T13" fmla="*/ 0 h 722"/>
                <a:gd name="T14" fmla="*/ 0 w 455"/>
                <a:gd name="T15" fmla="*/ 0 h 722"/>
                <a:gd name="T16" fmla="*/ 0 w 455"/>
                <a:gd name="T17" fmla="*/ 0 h 722"/>
                <a:gd name="T18" fmla="*/ 0 w 455"/>
                <a:gd name="T19" fmla="*/ 0 h 722"/>
                <a:gd name="T20" fmla="*/ 0 w 455"/>
                <a:gd name="T21" fmla="*/ 0 h 722"/>
                <a:gd name="T22" fmla="*/ 0 w 455"/>
                <a:gd name="T23" fmla="*/ 0 h 722"/>
                <a:gd name="T24" fmla="*/ 0 w 455"/>
                <a:gd name="T25" fmla="*/ 0 h 722"/>
                <a:gd name="T26" fmla="*/ 0 w 455"/>
                <a:gd name="T27" fmla="*/ 0 h 722"/>
                <a:gd name="T28" fmla="*/ 0 w 455"/>
                <a:gd name="T29" fmla="*/ 0 h 722"/>
                <a:gd name="T30" fmla="*/ 0 w 455"/>
                <a:gd name="T31" fmla="*/ 0 h 722"/>
                <a:gd name="T32" fmla="*/ 0 w 455"/>
                <a:gd name="T33" fmla="*/ 0 h 722"/>
                <a:gd name="T34" fmla="*/ 0 w 455"/>
                <a:gd name="T35" fmla="*/ 0 h 722"/>
                <a:gd name="T36" fmla="*/ 0 w 455"/>
                <a:gd name="T37" fmla="*/ 0 h 722"/>
                <a:gd name="T38" fmla="*/ 0 w 455"/>
                <a:gd name="T39" fmla="*/ 0 h 722"/>
                <a:gd name="T40" fmla="*/ 0 w 455"/>
                <a:gd name="T41" fmla="*/ 0 h 722"/>
                <a:gd name="T42" fmla="*/ 0 w 455"/>
                <a:gd name="T43" fmla="*/ 0 h 722"/>
                <a:gd name="T44" fmla="*/ 0 w 455"/>
                <a:gd name="T45" fmla="*/ 0 h 722"/>
                <a:gd name="T46" fmla="*/ 0 w 455"/>
                <a:gd name="T47" fmla="*/ 0 h 722"/>
                <a:gd name="T48" fmla="*/ 0 w 455"/>
                <a:gd name="T49" fmla="*/ 0 h 722"/>
                <a:gd name="T50" fmla="*/ 0 w 455"/>
                <a:gd name="T51" fmla="*/ 0 h 722"/>
                <a:gd name="T52" fmla="*/ 0 w 455"/>
                <a:gd name="T53" fmla="*/ 0 h 722"/>
                <a:gd name="T54" fmla="*/ 0 w 455"/>
                <a:gd name="T55" fmla="*/ 0 h 722"/>
                <a:gd name="T56" fmla="*/ 0 w 455"/>
                <a:gd name="T57" fmla="*/ 0 h 722"/>
                <a:gd name="T58" fmla="*/ 0 w 455"/>
                <a:gd name="T59" fmla="*/ 0 h 722"/>
                <a:gd name="T60" fmla="*/ 0 w 455"/>
                <a:gd name="T61" fmla="*/ 0 h 722"/>
                <a:gd name="T62" fmla="*/ 0 w 455"/>
                <a:gd name="T63" fmla="*/ 0 h 722"/>
                <a:gd name="T64" fmla="*/ 0 w 455"/>
                <a:gd name="T65" fmla="*/ 0 h 722"/>
                <a:gd name="T66" fmla="*/ 0 w 455"/>
                <a:gd name="T67" fmla="*/ 0 h 722"/>
                <a:gd name="T68" fmla="*/ 0 w 455"/>
                <a:gd name="T69" fmla="*/ 0 h 722"/>
                <a:gd name="T70" fmla="*/ 0 w 455"/>
                <a:gd name="T71" fmla="*/ 0 h 722"/>
                <a:gd name="T72" fmla="*/ 0 w 455"/>
                <a:gd name="T73" fmla="*/ 0 h 722"/>
                <a:gd name="T74" fmla="*/ 0 w 455"/>
                <a:gd name="T75" fmla="*/ 0 h 722"/>
                <a:gd name="T76" fmla="*/ 0 w 455"/>
                <a:gd name="T77" fmla="*/ 0 h 722"/>
                <a:gd name="T78" fmla="*/ 0 w 455"/>
                <a:gd name="T79" fmla="*/ 0 h 722"/>
                <a:gd name="T80" fmla="*/ 0 w 455"/>
                <a:gd name="T81" fmla="*/ 0 h 722"/>
                <a:gd name="T82" fmla="*/ 0 w 455"/>
                <a:gd name="T83" fmla="*/ 0 h 722"/>
                <a:gd name="T84" fmla="*/ 0 w 455"/>
                <a:gd name="T85" fmla="*/ 0 h 722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w 455"/>
                <a:gd name="T130" fmla="*/ 0 h 722"/>
                <a:gd name="T131" fmla="*/ 455 w 455"/>
                <a:gd name="T132" fmla="*/ 722 h 722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T129" t="T130" r="T131" b="T132"/>
              <a:pathLst>
                <a:path w="455" h="722">
                  <a:moveTo>
                    <a:pt x="126" y="136"/>
                  </a:moveTo>
                  <a:lnTo>
                    <a:pt x="455" y="561"/>
                  </a:lnTo>
                  <a:lnTo>
                    <a:pt x="444" y="586"/>
                  </a:lnTo>
                  <a:lnTo>
                    <a:pt x="441" y="621"/>
                  </a:lnTo>
                  <a:lnTo>
                    <a:pt x="436" y="653"/>
                  </a:lnTo>
                  <a:lnTo>
                    <a:pt x="434" y="687"/>
                  </a:lnTo>
                  <a:lnTo>
                    <a:pt x="430" y="722"/>
                  </a:lnTo>
                  <a:lnTo>
                    <a:pt x="409" y="694"/>
                  </a:lnTo>
                  <a:lnTo>
                    <a:pt x="390" y="667"/>
                  </a:lnTo>
                  <a:lnTo>
                    <a:pt x="374" y="643"/>
                  </a:lnTo>
                  <a:lnTo>
                    <a:pt x="354" y="616"/>
                  </a:lnTo>
                  <a:lnTo>
                    <a:pt x="352" y="613"/>
                  </a:lnTo>
                  <a:lnTo>
                    <a:pt x="349" y="613"/>
                  </a:lnTo>
                  <a:lnTo>
                    <a:pt x="344" y="616"/>
                  </a:lnTo>
                  <a:lnTo>
                    <a:pt x="340" y="616"/>
                  </a:lnTo>
                  <a:lnTo>
                    <a:pt x="340" y="605"/>
                  </a:lnTo>
                  <a:lnTo>
                    <a:pt x="344" y="593"/>
                  </a:lnTo>
                  <a:lnTo>
                    <a:pt x="340" y="583"/>
                  </a:lnTo>
                  <a:lnTo>
                    <a:pt x="335" y="575"/>
                  </a:lnTo>
                  <a:lnTo>
                    <a:pt x="330" y="577"/>
                  </a:lnTo>
                  <a:lnTo>
                    <a:pt x="324" y="575"/>
                  </a:lnTo>
                  <a:lnTo>
                    <a:pt x="322" y="572"/>
                  </a:lnTo>
                  <a:lnTo>
                    <a:pt x="317" y="567"/>
                  </a:lnTo>
                  <a:lnTo>
                    <a:pt x="275" y="512"/>
                  </a:lnTo>
                  <a:lnTo>
                    <a:pt x="237" y="455"/>
                  </a:lnTo>
                  <a:lnTo>
                    <a:pt x="196" y="400"/>
                  </a:lnTo>
                  <a:lnTo>
                    <a:pt x="158" y="346"/>
                  </a:lnTo>
                  <a:lnTo>
                    <a:pt x="117" y="289"/>
                  </a:lnTo>
                  <a:lnTo>
                    <a:pt x="80" y="234"/>
                  </a:lnTo>
                  <a:lnTo>
                    <a:pt x="39" y="179"/>
                  </a:lnTo>
                  <a:lnTo>
                    <a:pt x="0" y="126"/>
                  </a:lnTo>
                  <a:lnTo>
                    <a:pt x="2" y="96"/>
                  </a:lnTo>
                  <a:lnTo>
                    <a:pt x="2" y="62"/>
                  </a:lnTo>
                  <a:lnTo>
                    <a:pt x="5" y="30"/>
                  </a:lnTo>
                  <a:lnTo>
                    <a:pt x="14" y="0"/>
                  </a:lnTo>
                  <a:lnTo>
                    <a:pt x="27" y="16"/>
                  </a:lnTo>
                  <a:lnTo>
                    <a:pt x="44" y="32"/>
                  </a:lnTo>
                  <a:lnTo>
                    <a:pt x="57" y="49"/>
                  </a:lnTo>
                  <a:lnTo>
                    <a:pt x="71" y="65"/>
                  </a:lnTo>
                  <a:lnTo>
                    <a:pt x="82" y="85"/>
                  </a:lnTo>
                  <a:lnTo>
                    <a:pt x="96" y="101"/>
                  </a:lnTo>
                  <a:lnTo>
                    <a:pt x="112" y="120"/>
                  </a:lnTo>
                  <a:lnTo>
                    <a:pt x="126" y="136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5" name="Freeform 267">
              <a:extLst>
                <a:ext uri="{FF2B5EF4-FFF2-40B4-BE49-F238E27FC236}">
                  <a16:creationId xmlns:a16="http://schemas.microsoft.com/office/drawing/2014/main" id="{B532414E-6F62-B746-B41D-3AE1DD1AE9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9" y="2022"/>
              <a:ext cx="112" cy="186"/>
            </a:xfrm>
            <a:custGeom>
              <a:avLst/>
              <a:gdLst>
                <a:gd name="T0" fmla="*/ 0 w 449"/>
                <a:gd name="T1" fmla="*/ 0 h 741"/>
                <a:gd name="T2" fmla="*/ 0 w 449"/>
                <a:gd name="T3" fmla="*/ 0 h 741"/>
                <a:gd name="T4" fmla="*/ 0 w 449"/>
                <a:gd name="T5" fmla="*/ 0 h 741"/>
                <a:gd name="T6" fmla="*/ 0 w 449"/>
                <a:gd name="T7" fmla="*/ 0 h 741"/>
                <a:gd name="T8" fmla="*/ 0 w 449"/>
                <a:gd name="T9" fmla="*/ 0 h 741"/>
                <a:gd name="T10" fmla="*/ 0 w 449"/>
                <a:gd name="T11" fmla="*/ 0 h 741"/>
                <a:gd name="T12" fmla="*/ 0 w 449"/>
                <a:gd name="T13" fmla="*/ 0 h 741"/>
                <a:gd name="T14" fmla="*/ 0 w 449"/>
                <a:gd name="T15" fmla="*/ 0 h 741"/>
                <a:gd name="T16" fmla="*/ 0 w 449"/>
                <a:gd name="T17" fmla="*/ 0 h 741"/>
                <a:gd name="T18" fmla="*/ 0 w 449"/>
                <a:gd name="T19" fmla="*/ 0 h 741"/>
                <a:gd name="T20" fmla="*/ 0 w 449"/>
                <a:gd name="T21" fmla="*/ 0 h 741"/>
                <a:gd name="T22" fmla="*/ 0 w 449"/>
                <a:gd name="T23" fmla="*/ 0 h 741"/>
                <a:gd name="T24" fmla="*/ 0 w 449"/>
                <a:gd name="T25" fmla="*/ 0 h 741"/>
                <a:gd name="T26" fmla="*/ 0 w 449"/>
                <a:gd name="T27" fmla="*/ 0 h 741"/>
                <a:gd name="T28" fmla="*/ 0 w 449"/>
                <a:gd name="T29" fmla="*/ 0 h 741"/>
                <a:gd name="T30" fmla="*/ 0 w 449"/>
                <a:gd name="T31" fmla="*/ 0 h 741"/>
                <a:gd name="T32" fmla="*/ 0 w 449"/>
                <a:gd name="T33" fmla="*/ 0 h 741"/>
                <a:gd name="T34" fmla="*/ 0 w 449"/>
                <a:gd name="T35" fmla="*/ 0 h 741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449"/>
                <a:gd name="T55" fmla="*/ 0 h 741"/>
                <a:gd name="T56" fmla="*/ 449 w 449"/>
                <a:gd name="T57" fmla="*/ 741 h 741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449" h="741">
                  <a:moveTo>
                    <a:pt x="449" y="580"/>
                  </a:moveTo>
                  <a:lnTo>
                    <a:pt x="439" y="618"/>
                  </a:lnTo>
                  <a:lnTo>
                    <a:pt x="433" y="659"/>
                  </a:lnTo>
                  <a:lnTo>
                    <a:pt x="428" y="701"/>
                  </a:lnTo>
                  <a:lnTo>
                    <a:pt x="420" y="741"/>
                  </a:lnTo>
                  <a:lnTo>
                    <a:pt x="371" y="671"/>
                  </a:lnTo>
                  <a:lnTo>
                    <a:pt x="322" y="600"/>
                  </a:lnTo>
                  <a:lnTo>
                    <a:pt x="272" y="529"/>
                  </a:lnTo>
                  <a:lnTo>
                    <a:pt x="224" y="457"/>
                  </a:lnTo>
                  <a:lnTo>
                    <a:pt x="175" y="386"/>
                  </a:lnTo>
                  <a:lnTo>
                    <a:pt x="125" y="315"/>
                  </a:lnTo>
                  <a:lnTo>
                    <a:pt x="79" y="242"/>
                  </a:lnTo>
                  <a:lnTo>
                    <a:pt x="33" y="172"/>
                  </a:lnTo>
                  <a:lnTo>
                    <a:pt x="3" y="133"/>
                  </a:lnTo>
                  <a:lnTo>
                    <a:pt x="0" y="85"/>
                  </a:lnTo>
                  <a:lnTo>
                    <a:pt x="11" y="35"/>
                  </a:lnTo>
                  <a:lnTo>
                    <a:pt x="24" y="0"/>
                  </a:lnTo>
                  <a:lnTo>
                    <a:pt x="449" y="580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6" name="Freeform 268">
              <a:extLst>
                <a:ext uri="{FF2B5EF4-FFF2-40B4-BE49-F238E27FC236}">
                  <a16:creationId xmlns:a16="http://schemas.microsoft.com/office/drawing/2014/main" id="{FA66112A-898A-FD4A-8D87-FC3DDBBC2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3" y="2025"/>
              <a:ext cx="78" cy="178"/>
            </a:xfrm>
            <a:custGeom>
              <a:avLst/>
              <a:gdLst>
                <a:gd name="T0" fmla="*/ 0 w 314"/>
                <a:gd name="T1" fmla="*/ 0 h 713"/>
                <a:gd name="T2" fmla="*/ 0 w 314"/>
                <a:gd name="T3" fmla="*/ 0 h 713"/>
                <a:gd name="T4" fmla="*/ 0 w 314"/>
                <a:gd name="T5" fmla="*/ 0 h 713"/>
                <a:gd name="T6" fmla="*/ 0 w 314"/>
                <a:gd name="T7" fmla="*/ 0 h 713"/>
                <a:gd name="T8" fmla="*/ 0 w 314"/>
                <a:gd name="T9" fmla="*/ 0 h 713"/>
                <a:gd name="T10" fmla="*/ 0 w 314"/>
                <a:gd name="T11" fmla="*/ 0 h 713"/>
                <a:gd name="T12" fmla="*/ 0 w 314"/>
                <a:gd name="T13" fmla="*/ 0 h 713"/>
                <a:gd name="T14" fmla="*/ 0 w 314"/>
                <a:gd name="T15" fmla="*/ 0 h 713"/>
                <a:gd name="T16" fmla="*/ 0 w 314"/>
                <a:gd name="T17" fmla="*/ 0 h 713"/>
                <a:gd name="T18" fmla="*/ 0 w 314"/>
                <a:gd name="T19" fmla="*/ 0 h 713"/>
                <a:gd name="T20" fmla="*/ 0 w 314"/>
                <a:gd name="T21" fmla="*/ 0 h 713"/>
                <a:gd name="T22" fmla="*/ 0 w 314"/>
                <a:gd name="T23" fmla="*/ 0 h 713"/>
                <a:gd name="T24" fmla="*/ 0 w 314"/>
                <a:gd name="T25" fmla="*/ 0 h 713"/>
                <a:gd name="T26" fmla="*/ 0 w 314"/>
                <a:gd name="T27" fmla="*/ 0 h 713"/>
                <a:gd name="T28" fmla="*/ 0 w 314"/>
                <a:gd name="T29" fmla="*/ 0 h 713"/>
                <a:gd name="T30" fmla="*/ 0 w 314"/>
                <a:gd name="T31" fmla="*/ 0 h 713"/>
                <a:gd name="T32" fmla="*/ 0 w 314"/>
                <a:gd name="T33" fmla="*/ 0 h 713"/>
                <a:gd name="T34" fmla="*/ 0 w 314"/>
                <a:gd name="T35" fmla="*/ 0 h 713"/>
                <a:gd name="T36" fmla="*/ 0 w 314"/>
                <a:gd name="T37" fmla="*/ 0 h 713"/>
                <a:gd name="T38" fmla="*/ 0 w 314"/>
                <a:gd name="T39" fmla="*/ 0 h 713"/>
                <a:gd name="T40" fmla="*/ 0 w 314"/>
                <a:gd name="T41" fmla="*/ 0 h 713"/>
                <a:gd name="T42" fmla="*/ 0 w 314"/>
                <a:gd name="T43" fmla="*/ 0 h 713"/>
                <a:gd name="T44" fmla="*/ 0 w 314"/>
                <a:gd name="T45" fmla="*/ 0 h 713"/>
                <a:gd name="T46" fmla="*/ 0 w 314"/>
                <a:gd name="T47" fmla="*/ 0 h 713"/>
                <a:gd name="T48" fmla="*/ 0 w 314"/>
                <a:gd name="T49" fmla="*/ 0 h 713"/>
                <a:gd name="T50" fmla="*/ 0 w 314"/>
                <a:gd name="T51" fmla="*/ 0 h 713"/>
                <a:gd name="T52" fmla="*/ 0 w 314"/>
                <a:gd name="T53" fmla="*/ 0 h 713"/>
                <a:gd name="T54" fmla="*/ 0 w 314"/>
                <a:gd name="T55" fmla="*/ 0 h 713"/>
                <a:gd name="T56" fmla="*/ 0 w 314"/>
                <a:gd name="T57" fmla="*/ 0 h 713"/>
                <a:gd name="T58" fmla="*/ 0 w 314"/>
                <a:gd name="T59" fmla="*/ 0 h 713"/>
                <a:gd name="T60" fmla="*/ 0 w 314"/>
                <a:gd name="T61" fmla="*/ 0 h 713"/>
                <a:gd name="T62" fmla="*/ 0 w 314"/>
                <a:gd name="T63" fmla="*/ 0 h 713"/>
                <a:gd name="T64" fmla="*/ 0 w 314"/>
                <a:gd name="T65" fmla="*/ 0 h 713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w 314"/>
                <a:gd name="T100" fmla="*/ 0 h 713"/>
                <a:gd name="T101" fmla="*/ 314 w 314"/>
                <a:gd name="T102" fmla="*/ 713 h 713"/>
              </a:gdLst>
              <a:ahLst/>
              <a:cxnLst>
                <a:cxn ang="T66">
                  <a:pos x="T0" y="T1"/>
                </a:cxn>
                <a:cxn ang="T67">
                  <a:pos x="T2" y="T3"/>
                </a:cxn>
                <a:cxn ang="T68">
                  <a:pos x="T4" y="T5"/>
                </a:cxn>
                <a:cxn ang="T69">
                  <a:pos x="T6" y="T7"/>
                </a:cxn>
                <a:cxn ang="T70">
                  <a:pos x="T8" y="T9"/>
                </a:cxn>
                <a:cxn ang="T71">
                  <a:pos x="T10" y="T11"/>
                </a:cxn>
                <a:cxn ang="T72">
                  <a:pos x="T12" y="T13"/>
                </a:cxn>
                <a:cxn ang="T73">
                  <a:pos x="T14" y="T15"/>
                </a:cxn>
                <a:cxn ang="T74">
                  <a:pos x="T16" y="T17"/>
                </a:cxn>
                <a:cxn ang="T75">
                  <a:pos x="T18" y="T19"/>
                </a:cxn>
                <a:cxn ang="T76">
                  <a:pos x="T20" y="T21"/>
                </a:cxn>
                <a:cxn ang="T77">
                  <a:pos x="T22" y="T23"/>
                </a:cxn>
                <a:cxn ang="T78">
                  <a:pos x="T24" y="T25"/>
                </a:cxn>
                <a:cxn ang="T79">
                  <a:pos x="T26" y="T27"/>
                </a:cxn>
                <a:cxn ang="T80">
                  <a:pos x="T28" y="T29"/>
                </a:cxn>
                <a:cxn ang="T81">
                  <a:pos x="T30" y="T31"/>
                </a:cxn>
                <a:cxn ang="T82">
                  <a:pos x="T32" y="T33"/>
                </a:cxn>
                <a:cxn ang="T83">
                  <a:pos x="T34" y="T35"/>
                </a:cxn>
                <a:cxn ang="T84">
                  <a:pos x="T36" y="T37"/>
                </a:cxn>
                <a:cxn ang="T85">
                  <a:pos x="T38" y="T39"/>
                </a:cxn>
                <a:cxn ang="T86">
                  <a:pos x="T40" y="T41"/>
                </a:cxn>
                <a:cxn ang="T87">
                  <a:pos x="T42" y="T43"/>
                </a:cxn>
                <a:cxn ang="T88">
                  <a:pos x="T44" y="T45"/>
                </a:cxn>
                <a:cxn ang="T89">
                  <a:pos x="T46" y="T47"/>
                </a:cxn>
                <a:cxn ang="T90">
                  <a:pos x="T48" y="T49"/>
                </a:cxn>
                <a:cxn ang="T91">
                  <a:pos x="T50" y="T51"/>
                </a:cxn>
                <a:cxn ang="T92">
                  <a:pos x="T52" y="T53"/>
                </a:cxn>
                <a:cxn ang="T93">
                  <a:pos x="T54" y="T55"/>
                </a:cxn>
                <a:cxn ang="T94">
                  <a:pos x="T56" y="T57"/>
                </a:cxn>
                <a:cxn ang="T95">
                  <a:pos x="T58" y="T59"/>
                </a:cxn>
                <a:cxn ang="T96">
                  <a:pos x="T60" y="T61"/>
                </a:cxn>
                <a:cxn ang="T97">
                  <a:pos x="T62" y="T63"/>
                </a:cxn>
                <a:cxn ang="T98">
                  <a:pos x="T64" y="T65"/>
                </a:cxn>
              </a:cxnLst>
              <a:rect l="T99" t="T100" r="T101" b="T102"/>
              <a:pathLst>
                <a:path w="314" h="713">
                  <a:moveTo>
                    <a:pt x="248" y="474"/>
                  </a:moveTo>
                  <a:lnTo>
                    <a:pt x="259" y="501"/>
                  </a:lnTo>
                  <a:lnTo>
                    <a:pt x="275" y="539"/>
                  </a:lnTo>
                  <a:lnTo>
                    <a:pt x="294" y="572"/>
                  </a:lnTo>
                  <a:lnTo>
                    <a:pt x="314" y="580"/>
                  </a:lnTo>
                  <a:lnTo>
                    <a:pt x="308" y="616"/>
                  </a:lnTo>
                  <a:lnTo>
                    <a:pt x="305" y="646"/>
                  </a:lnTo>
                  <a:lnTo>
                    <a:pt x="305" y="678"/>
                  </a:lnTo>
                  <a:lnTo>
                    <a:pt x="305" y="713"/>
                  </a:lnTo>
                  <a:lnTo>
                    <a:pt x="270" y="646"/>
                  </a:lnTo>
                  <a:lnTo>
                    <a:pt x="234" y="575"/>
                  </a:lnTo>
                  <a:lnTo>
                    <a:pt x="199" y="506"/>
                  </a:lnTo>
                  <a:lnTo>
                    <a:pt x="163" y="435"/>
                  </a:lnTo>
                  <a:lnTo>
                    <a:pt x="128" y="368"/>
                  </a:lnTo>
                  <a:lnTo>
                    <a:pt x="96" y="299"/>
                  </a:lnTo>
                  <a:lnTo>
                    <a:pt x="60" y="228"/>
                  </a:lnTo>
                  <a:lnTo>
                    <a:pt x="27" y="161"/>
                  </a:lnTo>
                  <a:lnTo>
                    <a:pt x="25" y="150"/>
                  </a:lnTo>
                  <a:lnTo>
                    <a:pt x="22" y="145"/>
                  </a:lnTo>
                  <a:lnTo>
                    <a:pt x="16" y="138"/>
                  </a:lnTo>
                  <a:lnTo>
                    <a:pt x="8" y="138"/>
                  </a:lnTo>
                  <a:lnTo>
                    <a:pt x="6" y="106"/>
                  </a:lnTo>
                  <a:lnTo>
                    <a:pt x="3" y="71"/>
                  </a:lnTo>
                  <a:lnTo>
                    <a:pt x="0" y="35"/>
                  </a:lnTo>
                  <a:lnTo>
                    <a:pt x="3" y="0"/>
                  </a:lnTo>
                  <a:lnTo>
                    <a:pt x="36" y="60"/>
                  </a:lnTo>
                  <a:lnTo>
                    <a:pt x="66" y="117"/>
                  </a:lnTo>
                  <a:lnTo>
                    <a:pt x="96" y="177"/>
                  </a:lnTo>
                  <a:lnTo>
                    <a:pt x="126" y="237"/>
                  </a:lnTo>
                  <a:lnTo>
                    <a:pt x="156" y="297"/>
                  </a:lnTo>
                  <a:lnTo>
                    <a:pt x="186" y="357"/>
                  </a:lnTo>
                  <a:lnTo>
                    <a:pt x="216" y="414"/>
                  </a:lnTo>
                  <a:lnTo>
                    <a:pt x="248" y="474"/>
                  </a:ln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7" name="Freeform 269">
              <a:extLst>
                <a:ext uri="{FF2B5EF4-FFF2-40B4-BE49-F238E27FC236}">
                  <a16:creationId xmlns:a16="http://schemas.microsoft.com/office/drawing/2014/main" id="{D687C9C4-9DFA-B04B-BDF3-BEC81D37FE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8" y="2041"/>
              <a:ext cx="116" cy="61"/>
            </a:xfrm>
            <a:custGeom>
              <a:avLst/>
              <a:gdLst>
                <a:gd name="T0" fmla="*/ 0 w 464"/>
                <a:gd name="T1" fmla="*/ 0 h 245"/>
                <a:gd name="T2" fmla="*/ 0 w 464"/>
                <a:gd name="T3" fmla="*/ 0 h 245"/>
                <a:gd name="T4" fmla="*/ 0 w 464"/>
                <a:gd name="T5" fmla="*/ 0 h 245"/>
                <a:gd name="T6" fmla="*/ 0 w 464"/>
                <a:gd name="T7" fmla="*/ 0 h 245"/>
                <a:gd name="T8" fmla="*/ 0 w 464"/>
                <a:gd name="T9" fmla="*/ 0 h 245"/>
                <a:gd name="T10" fmla="*/ 0 w 464"/>
                <a:gd name="T11" fmla="*/ 0 h 245"/>
                <a:gd name="T12" fmla="*/ 0 w 464"/>
                <a:gd name="T13" fmla="*/ 0 h 245"/>
                <a:gd name="T14" fmla="*/ 0 w 464"/>
                <a:gd name="T15" fmla="*/ 0 h 245"/>
                <a:gd name="T16" fmla="*/ 0 w 464"/>
                <a:gd name="T17" fmla="*/ 0 h 245"/>
                <a:gd name="T18" fmla="*/ 0 w 464"/>
                <a:gd name="T19" fmla="*/ 0 h 245"/>
                <a:gd name="T20" fmla="*/ 0 w 464"/>
                <a:gd name="T21" fmla="*/ 0 h 245"/>
                <a:gd name="T22" fmla="*/ 0 w 464"/>
                <a:gd name="T23" fmla="*/ 0 h 245"/>
                <a:gd name="T24" fmla="*/ 0 w 464"/>
                <a:gd name="T25" fmla="*/ 0 h 245"/>
                <a:gd name="T26" fmla="*/ 0 w 464"/>
                <a:gd name="T27" fmla="*/ 0 h 245"/>
                <a:gd name="T28" fmla="*/ 0 w 464"/>
                <a:gd name="T29" fmla="*/ 0 h 245"/>
                <a:gd name="T30" fmla="*/ 0 w 464"/>
                <a:gd name="T31" fmla="*/ 0 h 245"/>
                <a:gd name="T32" fmla="*/ 0 w 464"/>
                <a:gd name="T33" fmla="*/ 0 h 245"/>
                <a:gd name="T34" fmla="*/ 0 w 464"/>
                <a:gd name="T35" fmla="*/ 0 h 245"/>
                <a:gd name="T36" fmla="*/ 0 w 464"/>
                <a:gd name="T37" fmla="*/ 0 h 245"/>
                <a:gd name="T38" fmla="*/ 0 w 464"/>
                <a:gd name="T39" fmla="*/ 0 h 245"/>
                <a:gd name="T40" fmla="*/ 0 w 464"/>
                <a:gd name="T41" fmla="*/ 0 h 245"/>
                <a:gd name="T42" fmla="*/ 0 w 464"/>
                <a:gd name="T43" fmla="*/ 0 h 245"/>
                <a:gd name="T44" fmla="*/ 0 w 464"/>
                <a:gd name="T45" fmla="*/ 0 h 245"/>
                <a:gd name="T46" fmla="*/ 0 w 464"/>
                <a:gd name="T47" fmla="*/ 0 h 245"/>
                <a:gd name="T48" fmla="*/ 0 w 464"/>
                <a:gd name="T49" fmla="*/ 0 h 245"/>
                <a:gd name="T50" fmla="*/ 0 w 464"/>
                <a:gd name="T51" fmla="*/ 0 h 245"/>
                <a:gd name="T52" fmla="*/ 0 w 464"/>
                <a:gd name="T53" fmla="*/ 0 h 245"/>
                <a:gd name="T54" fmla="*/ 0 w 464"/>
                <a:gd name="T55" fmla="*/ 0 h 245"/>
                <a:gd name="T56" fmla="*/ 0 w 464"/>
                <a:gd name="T57" fmla="*/ 0 h 245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464"/>
                <a:gd name="T88" fmla="*/ 0 h 245"/>
                <a:gd name="T89" fmla="*/ 464 w 464"/>
                <a:gd name="T90" fmla="*/ 245 h 245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464" h="245">
                  <a:moveTo>
                    <a:pt x="464" y="139"/>
                  </a:moveTo>
                  <a:lnTo>
                    <a:pt x="455" y="166"/>
                  </a:lnTo>
                  <a:lnTo>
                    <a:pt x="439" y="191"/>
                  </a:lnTo>
                  <a:lnTo>
                    <a:pt x="417" y="209"/>
                  </a:lnTo>
                  <a:lnTo>
                    <a:pt x="387" y="223"/>
                  </a:lnTo>
                  <a:lnTo>
                    <a:pt x="354" y="234"/>
                  </a:lnTo>
                  <a:lnTo>
                    <a:pt x="319" y="243"/>
                  </a:lnTo>
                  <a:lnTo>
                    <a:pt x="281" y="245"/>
                  </a:lnTo>
                  <a:lnTo>
                    <a:pt x="240" y="245"/>
                  </a:lnTo>
                  <a:lnTo>
                    <a:pt x="199" y="243"/>
                  </a:lnTo>
                  <a:lnTo>
                    <a:pt x="161" y="234"/>
                  </a:lnTo>
                  <a:lnTo>
                    <a:pt x="122" y="227"/>
                  </a:lnTo>
                  <a:lnTo>
                    <a:pt x="87" y="213"/>
                  </a:lnTo>
                  <a:lnTo>
                    <a:pt x="57" y="197"/>
                  </a:lnTo>
                  <a:lnTo>
                    <a:pt x="33" y="177"/>
                  </a:lnTo>
                  <a:lnTo>
                    <a:pt x="11" y="158"/>
                  </a:lnTo>
                  <a:lnTo>
                    <a:pt x="0" y="133"/>
                  </a:lnTo>
                  <a:lnTo>
                    <a:pt x="9" y="115"/>
                  </a:lnTo>
                  <a:lnTo>
                    <a:pt x="14" y="76"/>
                  </a:lnTo>
                  <a:lnTo>
                    <a:pt x="27" y="41"/>
                  </a:lnTo>
                  <a:lnTo>
                    <a:pt x="60" y="25"/>
                  </a:lnTo>
                  <a:lnTo>
                    <a:pt x="152" y="6"/>
                  </a:lnTo>
                  <a:lnTo>
                    <a:pt x="234" y="0"/>
                  </a:lnTo>
                  <a:lnTo>
                    <a:pt x="303" y="6"/>
                  </a:lnTo>
                  <a:lnTo>
                    <a:pt x="357" y="25"/>
                  </a:lnTo>
                  <a:lnTo>
                    <a:pt x="400" y="50"/>
                  </a:lnTo>
                  <a:lnTo>
                    <a:pt x="434" y="76"/>
                  </a:lnTo>
                  <a:lnTo>
                    <a:pt x="455" y="110"/>
                  </a:lnTo>
                  <a:lnTo>
                    <a:pt x="464" y="139"/>
                  </a:lnTo>
                  <a:close/>
                </a:path>
              </a:pathLst>
            </a:custGeom>
            <a:solidFill>
              <a:srgbClr val="DDDD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8" name="Freeform 270">
              <a:extLst>
                <a:ext uri="{FF2B5EF4-FFF2-40B4-BE49-F238E27FC236}">
                  <a16:creationId xmlns:a16="http://schemas.microsoft.com/office/drawing/2014/main" id="{B30241B2-4C5A-ED45-8E16-7699F3E36D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777" y="2039"/>
              <a:ext cx="66" cy="19"/>
            </a:xfrm>
            <a:custGeom>
              <a:avLst/>
              <a:gdLst>
                <a:gd name="T0" fmla="*/ 0 w 262"/>
                <a:gd name="T1" fmla="*/ 0 h 79"/>
                <a:gd name="T2" fmla="*/ 0 w 262"/>
                <a:gd name="T3" fmla="*/ 0 h 79"/>
                <a:gd name="T4" fmla="*/ 0 w 262"/>
                <a:gd name="T5" fmla="*/ 0 h 79"/>
                <a:gd name="T6" fmla="*/ 0 w 262"/>
                <a:gd name="T7" fmla="*/ 0 h 79"/>
                <a:gd name="T8" fmla="*/ 0 w 262"/>
                <a:gd name="T9" fmla="*/ 0 h 79"/>
                <a:gd name="T10" fmla="*/ 0 w 262"/>
                <a:gd name="T11" fmla="*/ 0 h 79"/>
                <a:gd name="T12" fmla="*/ 0 w 262"/>
                <a:gd name="T13" fmla="*/ 0 h 79"/>
                <a:gd name="T14" fmla="*/ 0 w 262"/>
                <a:gd name="T15" fmla="*/ 0 h 79"/>
                <a:gd name="T16" fmla="*/ 0 w 262"/>
                <a:gd name="T17" fmla="*/ 0 h 79"/>
                <a:gd name="T18" fmla="*/ 0 w 262"/>
                <a:gd name="T19" fmla="*/ 0 h 79"/>
                <a:gd name="T20" fmla="*/ 0 w 262"/>
                <a:gd name="T21" fmla="*/ 0 h 79"/>
                <a:gd name="T22" fmla="*/ 0 w 262"/>
                <a:gd name="T23" fmla="*/ 0 h 79"/>
                <a:gd name="T24" fmla="*/ 0 w 262"/>
                <a:gd name="T25" fmla="*/ 0 h 79"/>
                <a:gd name="T26" fmla="*/ 0 w 262"/>
                <a:gd name="T27" fmla="*/ 0 h 79"/>
                <a:gd name="T28" fmla="*/ 0 w 262"/>
                <a:gd name="T29" fmla="*/ 0 h 79"/>
                <a:gd name="T30" fmla="*/ 0 w 262"/>
                <a:gd name="T31" fmla="*/ 0 h 79"/>
                <a:gd name="T32" fmla="*/ 0 w 262"/>
                <a:gd name="T33" fmla="*/ 0 h 79"/>
                <a:gd name="T34" fmla="*/ 0 w 262"/>
                <a:gd name="T35" fmla="*/ 0 h 79"/>
                <a:gd name="T36" fmla="*/ 0 w 262"/>
                <a:gd name="T37" fmla="*/ 0 h 79"/>
                <a:gd name="T38" fmla="*/ 0 w 262"/>
                <a:gd name="T39" fmla="*/ 0 h 79"/>
                <a:gd name="T40" fmla="*/ 0 w 262"/>
                <a:gd name="T41" fmla="*/ 0 h 79"/>
                <a:gd name="T42" fmla="*/ 0 w 262"/>
                <a:gd name="T43" fmla="*/ 0 h 79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w 262"/>
                <a:gd name="T67" fmla="*/ 0 h 79"/>
                <a:gd name="T68" fmla="*/ 262 w 262"/>
                <a:gd name="T69" fmla="*/ 79 h 79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T66" t="T67" r="T68" b="T69"/>
              <a:pathLst>
                <a:path w="262" h="79">
                  <a:moveTo>
                    <a:pt x="262" y="43"/>
                  </a:moveTo>
                  <a:lnTo>
                    <a:pt x="232" y="79"/>
                  </a:lnTo>
                  <a:lnTo>
                    <a:pt x="204" y="73"/>
                  </a:lnTo>
                  <a:lnTo>
                    <a:pt x="175" y="68"/>
                  </a:lnTo>
                  <a:lnTo>
                    <a:pt x="147" y="63"/>
                  </a:lnTo>
                  <a:lnTo>
                    <a:pt x="117" y="61"/>
                  </a:lnTo>
                  <a:lnTo>
                    <a:pt x="87" y="55"/>
                  </a:lnTo>
                  <a:lnTo>
                    <a:pt x="57" y="52"/>
                  </a:lnTo>
                  <a:lnTo>
                    <a:pt x="30" y="49"/>
                  </a:lnTo>
                  <a:lnTo>
                    <a:pt x="0" y="49"/>
                  </a:lnTo>
                  <a:lnTo>
                    <a:pt x="11" y="31"/>
                  </a:lnTo>
                  <a:lnTo>
                    <a:pt x="27" y="17"/>
                  </a:lnTo>
                  <a:lnTo>
                    <a:pt x="50" y="8"/>
                  </a:lnTo>
                  <a:lnTo>
                    <a:pt x="71" y="0"/>
                  </a:lnTo>
                  <a:lnTo>
                    <a:pt x="96" y="3"/>
                  </a:lnTo>
                  <a:lnTo>
                    <a:pt x="121" y="6"/>
                  </a:lnTo>
                  <a:lnTo>
                    <a:pt x="145" y="8"/>
                  </a:lnTo>
                  <a:lnTo>
                    <a:pt x="169" y="13"/>
                  </a:lnTo>
                  <a:lnTo>
                    <a:pt x="194" y="20"/>
                  </a:lnTo>
                  <a:lnTo>
                    <a:pt x="216" y="25"/>
                  </a:lnTo>
                  <a:lnTo>
                    <a:pt x="240" y="33"/>
                  </a:lnTo>
                  <a:lnTo>
                    <a:pt x="262" y="43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9" name="Freeform 271">
              <a:extLst>
                <a:ext uri="{FF2B5EF4-FFF2-40B4-BE49-F238E27FC236}">
                  <a16:creationId xmlns:a16="http://schemas.microsoft.com/office/drawing/2014/main" id="{7B9FB2D9-53CF-B847-AE0D-40EC202258A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1" y="2040"/>
              <a:ext cx="64" cy="41"/>
            </a:xfrm>
            <a:custGeom>
              <a:avLst/>
              <a:gdLst>
                <a:gd name="T0" fmla="*/ 0 w 255"/>
                <a:gd name="T1" fmla="*/ 0 h 163"/>
                <a:gd name="T2" fmla="*/ 0 w 255"/>
                <a:gd name="T3" fmla="*/ 0 h 163"/>
                <a:gd name="T4" fmla="*/ 0 w 255"/>
                <a:gd name="T5" fmla="*/ 0 h 163"/>
                <a:gd name="T6" fmla="*/ 0 w 255"/>
                <a:gd name="T7" fmla="*/ 0 h 163"/>
                <a:gd name="T8" fmla="*/ 0 w 255"/>
                <a:gd name="T9" fmla="*/ 0 h 163"/>
                <a:gd name="T10" fmla="*/ 0 w 255"/>
                <a:gd name="T11" fmla="*/ 0 h 163"/>
                <a:gd name="T12" fmla="*/ 0 w 255"/>
                <a:gd name="T13" fmla="*/ 0 h 163"/>
                <a:gd name="T14" fmla="*/ 0 w 255"/>
                <a:gd name="T15" fmla="*/ 0 h 163"/>
                <a:gd name="T16" fmla="*/ 0 w 255"/>
                <a:gd name="T17" fmla="*/ 0 h 163"/>
                <a:gd name="T18" fmla="*/ 0 w 255"/>
                <a:gd name="T19" fmla="*/ 0 h 163"/>
                <a:gd name="T20" fmla="*/ 0 w 255"/>
                <a:gd name="T21" fmla="*/ 0 h 163"/>
                <a:gd name="T22" fmla="*/ 0 w 255"/>
                <a:gd name="T23" fmla="*/ 0 h 163"/>
                <a:gd name="T24" fmla="*/ 0 w 255"/>
                <a:gd name="T25" fmla="*/ 0 h 163"/>
                <a:gd name="T26" fmla="*/ 0 w 255"/>
                <a:gd name="T27" fmla="*/ 0 h 163"/>
                <a:gd name="T28" fmla="*/ 0 w 255"/>
                <a:gd name="T29" fmla="*/ 0 h 163"/>
                <a:gd name="T30" fmla="*/ 0 w 255"/>
                <a:gd name="T31" fmla="*/ 0 h 163"/>
                <a:gd name="T32" fmla="*/ 0 w 255"/>
                <a:gd name="T33" fmla="*/ 0 h 163"/>
                <a:gd name="T34" fmla="*/ 0 w 255"/>
                <a:gd name="T35" fmla="*/ 0 h 163"/>
                <a:gd name="T36" fmla="*/ 0 w 255"/>
                <a:gd name="T37" fmla="*/ 0 h 163"/>
                <a:gd name="T38" fmla="*/ 0 w 255"/>
                <a:gd name="T39" fmla="*/ 0 h 163"/>
                <a:gd name="T40" fmla="*/ 0 w 255"/>
                <a:gd name="T41" fmla="*/ 0 h 163"/>
                <a:gd name="T42" fmla="*/ 0 w 255"/>
                <a:gd name="T43" fmla="*/ 0 h 163"/>
                <a:gd name="T44" fmla="*/ 0 w 255"/>
                <a:gd name="T45" fmla="*/ 0 h 163"/>
                <a:gd name="T46" fmla="*/ 0 w 255"/>
                <a:gd name="T47" fmla="*/ 0 h 163"/>
                <a:gd name="T48" fmla="*/ 0 w 255"/>
                <a:gd name="T49" fmla="*/ 0 h 163"/>
                <a:gd name="T50" fmla="*/ 0 w 255"/>
                <a:gd name="T51" fmla="*/ 0 h 163"/>
                <a:gd name="T52" fmla="*/ 0 w 255"/>
                <a:gd name="T53" fmla="*/ 0 h 163"/>
                <a:gd name="T54" fmla="*/ 0 w 255"/>
                <a:gd name="T55" fmla="*/ 0 h 163"/>
                <a:gd name="T56" fmla="*/ 0 w 255"/>
                <a:gd name="T57" fmla="*/ 0 h 163"/>
                <a:gd name="T58" fmla="*/ 0 w 255"/>
                <a:gd name="T59" fmla="*/ 0 h 163"/>
                <a:gd name="T60" fmla="*/ 0 w 255"/>
                <a:gd name="T61" fmla="*/ 0 h 163"/>
                <a:gd name="T62" fmla="*/ 0 w 255"/>
                <a:gd name="T63" fmla="*/ 0 h 163"/>
                <a:gd name="T64" fmla="*/ 0 w 255"/>
                <a:gd name="T65" fmla="*/ 0 h 163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w 255"/>
                <a:gd name="T100" fmla="*/ 0 h 163"/>
                <a:gd name="T101" fmla="*/ 255 w 255"/>
                <a:gd name="T102" fmla="*/ 163 h 163"/>
              </a:gdLst>
              <a:ahLst/>
              <a:cxnLst>
                <a:cxn ang="T66">
                  <a:pos x="T0" y="T1"/>
                </a:cxn>
                <a:cxn ang="T67">
                  <a:pos x="T2" y="T3"/>
                </a:cxn>
                <a:cxn ang="T68">
                  <a:pos x="T4" y="T5"/>
                </a:cxn>
                <a:cxn ang="T69">
                  <a:pos x="T6" y="T7"/>
                </a:cxn>
                <a:cxn ang="T70">
                  <a:pos x="T8" y="T9"/>
                </a:cxn>
                <a:cxn ang="T71">
                  <a:pos x="T10" y="T11"/>
                </a:cxn>
                <a:cxn ang="T72">
                  <a:pos x="T12" y="T13"/>
                </a:cxn>
                <a:cxn ang="T73">
                  <a:pos x="T14" y="T15"/>
                </a:cxn>
                <a:cxn ang="T74">
                  <a:pos x="T16" y="T17"/>
                </a:cxn>
                <a:cxn ang="T75">
                  <a:pos x="T18" y="T19"/>
                </a:cxn>
                <a:cxn ang="T76">
                  <a:pos x="T20" y="T21"/>
                </a:cxn>
                <a:cxn ang="T77">
                  <a:pos x="T22" y="T23"/>
                </a:cxn>
                <a:cxn ang="T78">
                  <a:pos x="T24" y="T25"/>
                </a:cxn>
                <a:cxn ang="T79">
                  <a:pos x="T26" y="T27"/>
                </a:cxn>
                <a:cxn ang="T80">
                  <a:pos x="T28" y="T29"/>
                </a:cxn>
                <a:cxn ang="T81">
                  <a:pos x="T30" y="T31"/>
                </a:cxn>
                <a:cxn ang="T82">
                  <a:pos x="T32" y="T33"/>
                </a:cxn>
                <a:cxn ang="T83">
                  <a:pos x="T34" y="T35"/>
                </a:cxn>
                <a:cxn ang="T84">
                  <a:pos x="T36" y="T37"/>
                </a:cxn>
                <a:cxn ang="T85">
                  <a:pos x="T38" y="T39"/>
                </a:cxn>
                <a:cxn ang="T86">
                  <a:pos x="T40" y="T41"/>
                </a:cxn>
                <a:cxn ang="T87">
                  <a:pos x="T42" y="T43"/>
                </a:cxn>
                <a:cxn ang="T88">
                  <a:pos x="T44" y="T45"/>
                </a:cxn>
                <a:cxn ang="T89">
                  <a:pos x="T46" y="T47"/>
                </a:cxn>
                <a:cxn ang="T90">
                  <a:pos x="T48" y="T49"/>
                </a:cxn>
                <a:cxn ang="T91">
                  <a:pos x="T50" y="T51"/>
                </a:cxn>
                <a:cxn ang="T92">
                  <a:pos x="T52" y="T53"/>
                </a:cxn>
                <a:cxn ang="T93">
                  <a:pos x="T54" y="T55"/>
                </a:cxn>
                <a:cxn ang="T94">
                  <a:pos x="T56" y="T57"/>
                </a:cxn>
                <a:cxn ang="T95">
                  <a:pos x="T58" y="T59"/>
                </a:cxn>
                <a:cxn ang="T96">
                  <a:pos x="T60" y="T61"/>
                </a:cxn>
                <a:cxn ang="T97">
                  <a:pos x="T62" y="T63"/>
                </a:cxn>
                <a:cxn ang="T98">
                  <a:pos x="T64" y="T65"/>
                </a:cxn>
              </a:cxnLst>
              <a:rect l="T99" t="T100" r="T101" b="T102"/>
              <a:pathLst>
                <a:path w="255" h="163">
                  <a:moveTo>
                    <a:pt x="225" y="78"/>
                  </a:moveTo>
                  <a:lnTo>
                    <a:pt x="239" y="97"/>
                  </a:lnTo>
                  <a:lnTo>
                    <a:pt x="248" y="117"/>
                  </a:lnTo>
                  <a:lnTo>
                    <a:pt x="253" y="138"/>
                  </a:lnTo>
                  <a:lnTo>
                    <a:pt x="255" y="163"/>
                  </a:lnTo>
                  <a:lnTo>
                    <a:pt x="231" y="161"/>
                  </a:lnTo>
                  <a:lnTo>
                    <a:pt x="209" y="155"/>
                  </a:lnTo>
                  <a:lnTo>
                    <a:pt x="185" y="152"/>
                  </a:lnTo>
                  <a:lnTo>
                    <a:pt x="163" y="147"/>
                  </a:lnTo>
                  <a:lnTo>
                    <a:pt x="142" y="144"/>
                  </a:lnTo>
                  <a:lnTo>
                    <a:pt x="117" y="138"/>
                  </a:lnTo>
                  <a:lnTo>
                    <a:pt x="95" y="136"/>
                  </a:lnTo>
                  <a:lnTo>
                    <a:pt x="71" y="133"/>
                  </a:lnTo>
                  <a:lnTo>
                    <a:pt x="59" y="103"/>
                  </a:lnTo>
                  <a:lnTo>
                    <a:pt x="43" y="76"/>
                  </a:lnTo>
                  <a:lnTo>
                    <a:pt x="24" y="51"/>
                  </a:lnTo>
                  <a:lnTo>
                    <a:pt x="0" y="30"/>
                  </a:lnTo>
                  <a:lnTo>
                    <a:pt x="16" y="27"/>
                  </a:lnTo>
                  <a:lnTo>
                    <a:pt x="29" y="25"/>
                  </a:lnTo>
                  <a:lnTo>
                    <a:pt x="46" y="21"/>
                  </a:lnTo>
                  <a:lnTo>
                    <a:pt x="62" y="19"/>
                  </a:lnTo>
                  <a:lnTo>
                    <a:pt x="76" y="16"/>
                  </a:lnTo>
                  <a:lnTo>
                    <a:pt x="92" y="14"/>
                  </a:lnTo>
                  <a:lnTo>
                    <a:pt x="108" y="7"/>
                  </a:lnTo>
                  <a:lnTo>
                    <a:pt x="125" y="2"/>
                  </a:lnTo>
                  <a:lnTo>
                    <a:pt x="144" y="0"/>
                  </a:lnTo>
                  <a:lnTo>
                    <a:pt x="160" y="5"/>
                  </a:lnTo>
                  <a:lnTo>
                    <a:pt x="174" y="14"/>
                  </a:lnTo>
                  <a:lnTo>
                    <a:pt x="185" y="25"/>
                  </a:lnTo>
                  <a:lnTo>
                    <a:pt x="195" y="37"/>
                  </a:lnTo>
                  <a:lnTo>
                    <a:pt x="204" y="51"/>
                  </a:lnTo>
                  <a:lnTo>
                    <a:pt x="215" y="65"/>
                  </a:lnTo>
                  <a:lnTo>
                    <a:pt x="225" y="78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0" name="Freeform 272">
              <a:extLst>
                <a:ext uri="{FF2B5EF4-FFF2-40B4-BE49-F238E27FC236}">
                  <a16:creationId xmlns:a16="http://schemas.microsoft.com/office/drawing/2014/main" id="{50FD4C87-0E9E-FE42-84DE-5DA981596B4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9" y="2043"/>
              <a:ext cx="156" cy="152"/>
            </a:xfrm>
            <a:custGeom>
              <a:avLst/>
              <a:gdLst>
                <a:gd name="T0" fmla="*/ 0 w 623"/>
                <a:gd name="T1" fmla="*/ 0 h 607"/>
                <a:gd name="T2" fmla="*/ 0 w 623"/>
                <a:gd name="T3" fmla="*/ 0 h 607"/>
                <a:gd name="T4" fmla="*/ 0 w 623"/>
                <a:gd name="T5" fmla="*/ 0 h 607"/>
                <a:gd name="T6" fmla="*/ 0 w 623"/>
                <a:gd name="T7" fmla="*/ 0 h 607"/>
                <a:gd name="T8" fmla="*/ 0 w 623"/>
                <a:gd name="T9" fmla="*/ 0 h 607"/>
                <a:gd name="T10" fmla="*/ 0 w 623"/>
                <a:gd name="T11" fmla="*/ 0 h 607"/>
                <a:gd name="T12" fmla="*/ 0 w 623"/>
                <a:gd name="T13" fmla="*/ 0 h 607"/>
                <a:gd name="T14" fmla="*/ 0 w 623"/>
                <a:gd name="T15" fmla="*/ 0 h 607"/>
                <a:gd name="T16" fmla="*/ 0 w 623"/>
                <a:gd name="T17" fmla="*/ 0 h 607"/>
                <a:gd name="T18" fmla="*/ 0 w 623"/>
                <a:gd name="T19" fmla="*/ 0 h 607"/>
                <a:gd name="T20" fmla="*/ 0 w 623"/>
                <a:gd name="T21" fmla="*/ 0 h 607"/>
                <a:gd name="T22" fmla="*/ 0 w 623"/>
                <a:gd name="T23" fmla="*/ 0 h 607"/>
                <a:gd name="T24" fmla="*/ 0 w 623"/>
                <a:gd name="T25" fmla="*/ 0 h 607"/>
                <a:gd name="T26" fmla="*/ 0 w 623"/>
                <a:gd name="T27" fmla="*/ 0 h 607"/>
                <a:gd name="T28" fmla="*/ 0 w 623"/>
                <a:gd name="T29" fmla="*/ 0 h 607"/>
                <a:gd name="T30" fmla="*/ 0 w 623"/>
                <a:gd name="T31" fmla="*/ 0 h 607"/>
                <a:gd name="T32" fmla="*/ 0 w 623"/>
                <a:gd name="T33" fmla="*/ 0 h 607"/>
                <a:gd name="T34" fmla="*/ 0 w 623"/>
                <a:gd name="T35" fmla="*/ 0 h 607"/>
                <a:gd name="T36" fmla="*/ 0 w 623"/>
                <a:gd name="T37" fmla="*/ 0 h 607"/>
                <a:gd name="T38" fmla="*/ 0 w 623"/>
                <a:gd name="T39" fmla="*/ 0 h 607"/>
                <a:gd name="T40" fmla="*/ 0 w 623"/>
                <a:gd name="T41" fmla="*/ 0 h 607"/>
                <a:gd name="T42" fmla="*/ 0 w 623"/>
                <a:gd name="T43" fmla="*/ 0 h 607"/>
                <a:gd name="T44" fmla="*/ 0 w 623"/>
                <a:gd name="T45" fmla="*/ 0 h 607"/>
                <a:gd name="T46" fmla="*/ 0 w 623"/>
                <a:gd name="T47" fmla="*/ 0 h 607"/>
                <a:gd name="T48" fmla="*/ 0 w 623"/>
                <a:gd name="T49" fmla="*/ 0 h 607"/>
                <a:gd name="T50" fmla="*/ 0 w 623"/>
                <a:gd name="T51" fmla="*/ 0 h 607"/>
                <a:gd name="T52" fmla="*/ 0 w 623"/>
                <a:gd name="T53" fmla="*/ 0 h 607"/>
                <a:gd name="T54" fmla="*/ 0 w 623"/>
                <a:gd name="T55" fmla="*/ 0 h 607"/>
                <a:gd name="T56" fmla="*/ 0 w 623"/>
                <a:gd name="T57" fmla="*/ 0 h 607"/>
                <a:gd name="T58" fmla="*/ 0 w 623"/>
                <a:gd name="T59" fmla="*/ 0 h 607"/>
                <a:gd name="T60" fmla="*/ 0 w 623"/>
                <a:gd name="T61" fmla="*/ 0 h 607"/>
                <a:gd name="T62" fmla="*/ 0 w 623"/>
                <a:gd name="T63" fmla="*/ 0 h 607"/>
                <a:gd name="T64" fmla="*/ 0 w 623"/>
                <a:gd name="T65" fmla="*/ 0 h 607"/>
                <a:gd name="T66" fmla="*/ 0 w 623"/>
                <a:gd name="T67" fmla="*/ 0 h 607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w 623"/>
                <a:gd name="T103" fmla="*/ 0 h 607"/>
                <a:gd name="T104" fmla="*/ 623 w 623"/>
                <a:gd name="T105" fmla="*/ 607 h 607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T102" t="T103" r="T104" b="T105"/>
              <a:pathLst>
                <a:path w="623" h="607">
                  <a:moveTo>
                    <a:pt x="117" y="51"/>
                  </a:moveTo>
                  <a:lnTo>
                    <a:pt x="136" y="59"/>
                  </a:lnTo>
                  <a:lnTo>
                    <a:pt x="156" y="71"/>
                  </a:lnTo>
                  <a:lnTo>
                    <a:pt x="174" y="81"/>
                  </a:lnTo>
                  <a:lnTo>
                    <a:pt x="193" y="92"/>
                  </a:lnTo>
                  <a:lnTo>
                    <a:pt x="212" y="103"/>
                  </a:lnTo>
                  <a:lnTo>
                    <a:pt x="232" y="117"/>
                  </a:lnTo>
                  <a:lnTo>
                    <a:pt x="250" y="127"/>
                  </a:lnTo>
                  <a:lnTo>
                    <a:pt x="269" y="141"/>
                  </a:lnTo>
                  <a:lnTo>
                    <a:pt x="250" y="144"/>
                  </a:lnTo>
                  <a:lnTo>
                    <a:pt x="239" y="154"/>
                  </a:lnTo>
                  <a:lnTo>
                    <a:pt x="229" y="168"/>
                  </a:lnTo>
                  <a:lnTo>
                    <a:pt x="223" y="182"/>
                  </a:lnTo>
                  <a:lnTo>
                    <a:pt x="223" y="184"/>
                  </a:lnTo>
                  <a:lnTo>
                    <a:pt x="223" y="188"/>
                  </a:lnTo>
                  <a:lnTo>
                    <a:pt x="223" y="190"/>
                  </a:lnTo>
                  <a:lnTo>
                    <a:pt x="248" y="200"/>
                  </a:lnTo>
                  <a:lnTo>
                    <a:pt x="269" y="218"/>
                  </a:lnTo>
                  <a:lnTo>
                    <a:pt x="289" y="234"/>
                  </a:lnTo>
                  <a:lnTo>
                    <a:pt x="308" y="253"/>
                  </a:lnTo>
                  <a:lnTo>
                    <a:pt x="324" y="274"/>
                  </a:lnTo>
                  <a:lnTo>
                    <a:pt x="340" y="294"/>
                  </a:lnTo>
                  <a:lnTo>
                    <a:pt x="359" y="310"/>
                  </a:lnTo>
                  <a:lnTo>
                    <a:pt x="379" y="326"/>
                  </a:lnTo>
                  <a:lnTo>
                    <a:pt x="390" y="324"/>
                  </a:lnTo>
                  <a:lnTo>
                    <a:pt x="400" y="324"/>
                  </a:lnTo>
                  <a:lnTo>
                    <a:pt x="411" y="321"/>
                  </a:lnTo>
                  <a:lnTo>
                    <a:pt x="425" y="318"/>
                  </a:lnTo>
                  <a:lnTo>
                    <a:pt x="436" y="318"/>
                  </a:lnTo>
                  <a:lnTo>
                    <a:pt x="446" y="315"/>
                  </a:lnTo>
                  <a:lnTo>
                    <a:pt x="457" y="315"/>
                  </a:lnTo>
                  <a:lnTo>
                    <a:pt x="469" y="315"/>
                  </a:lnTo>
                  <a:lnTo>
                    <a:pt x="490" y="345"/>
                  </a:lnTo>
                  <a:lnTo>
                    <a:pt x="510" y="375"/>
                  </a:lnTo>
                  <a:lnTo>
                    <a:pt x="529" y="405"/>
                  </a:lnTo>
                  <a:lnTo>
                    <a:pt x="547" y="438"/>
                  </a:lnTo>
                  <a:lnTo>
                    <a:pt x="567" y="468"/>
                  </a:lnTo>
                  <a:lnTo>
                    <a:pt x="586" y="501"/>
                  </a:lnTo>
                  <a:lnTo>
                    <a:pt x="605" y="531"/>
                  </a:lnTo>
                  <a:lnTo>
                    <a:pt x="623" y="561"/>
                  </a:lnTo>
                  <a:lnTo>
                    <a:pt x="591" y="566"/>
                  </a:lnTo>
                  <a:lnTo>
                    <a:pt x="558" y="574"/>
                  </a:lnTo>
                  <a:lnTo>
                    <a:pt x="526" y="580"/>
                  </a:lnTo>
                  <a:lnTo>
                    <a:pt x="496" y="586"/>
                  </a:lnTo>
                  <a:lnTo>
                    <a:pt x="464" y="591"/>
                  </a:lnTo>
                  <a:lnTo>
                    <a:pt x="430" y="596"/>
                  </a:lnTo>
                  <a:lnTo>
                    <a:pt x="398" y="602"/>
                  </a:lnTo>
                  <a:lnTo>
                    <a:pt x="365" y="607"/>
                  </a:lnTo>
                  <a:lnTo>
                    <a:pt x="363" y="568"/>
                  </a:lnTo>
                  <a:lnTo>
                    <a:pt x="363" y="528"/>
                  </a:lnTo>
                  <a:lnTo>
                    <a:pt x="359" y="487"/>
                  </a:lnTo>
                  <a:lnTo>
                    <a:pt x="349" y="446"/>
                  </a:lnTo>
                  <a:lnTo>
                    <a:pt x="359" y="435"/>
                  </a:lnTo>
                  <a:lnTo>
                    <a:pt x="315" y="381"/>
                  </a:lnTo>
                  <a:lnTo>
                    <a:pt x="269" y="326"/>
                  </a:lnTo>
                  <a:lnTo>
                    <a:pt x="226" y="274"/>
                  </a:lnTo>
                  <a:lnTo>
                    <a:pt x="179" y="220"/>
                  </a:lnTo>
                  <a:lnTo>
                    <a:pt x="136" y="168"/>
                  </a:lnTo>
                  <a:lnTo>
                    <a:pt x="90" y="114"/>
                  </a:lnTo>
                  <a:lnTo>
                    <a:pt x="46" y="62"/>
                  </a:lnTo>
                  <a:lnTo>
                    <a:pt x="0" y="11"/>
                  </a:lnTo>
                  <a:lnTo>
                    <a:pt x="7" y="5"/>
                  </a:lnTo>
                  <a:lnTo>
                    <a:pt x="21" y="2"/>
                  </a:lnTo>
                  <a:lnTo>
                    <a:pt x="35" y="2"/>
                  </a:lnTo>
                  <a:lnTo>
                    <a:pt x="48" y="0"/>
                  </a:lnTo>
                  <a:lnTo>
                    <a:pt x="68" y="7"/>
                  </a:lnTo>
                  <a:lnTo>
                    <a:pt x="85" y="21"/>
                  </a:lnTo>
                  <a:lnTo>
                    <a:pt x="101" y="37"/>
                  </a:lnTo>
                  <a:lnTo>
                    <a:pt x="117" y="51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1" name="Freeform 273">
              <a:extLst>
                <a:ext uri="{FF2B5EF4-FFF2-40B4-BE49-F238E27FC236}">
                  <a16:creationId xmlns:a16="http://schemas.microsoft.com/office/drawing/2014/main" id="{2A22185C-2247-3446-8C9B-68CEDBCA7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15" y="2054"/>
              <a:ext cx="136" cy="164"/>
            </a:xfrm>
            <a:custGeom>
              <a:avLst/>
              <a:gdLst>
                <a:gd name="T0" fmla="*/ 0 w 545"/>
                <a:gd name="T1" fmla="*/ 0 h 654"/>
                <a:gd name="T2" fmla="*/ 0 w 545"/>
                <a:gd name="T3" fmla="*/ 0 h 654"/>
                <a:gd name="T4" fmla="*/ 0 w 545"/>
                <a:gd name="T5" fmla="*/ 0 h 654"/>
                <a:gd name="T6" fmla="*/ 0 w 545"/>
                <a:gd name="T7" fmla="*/ 0 h 654"/>
                <a:gd name="T8" fmla="*/ 0 w 545"/>
                <a:gd name="T9" fmla="*/ 0 h 654"/>
                <a:gd name="T10" fmla="*/ 0 w 545"/>
                <a:gd name="T11" fmla="*/ 0 h 654"/>
                <a:gd name="T12" fmla="*/ 0 w 545"/>
                <a:gd name="T13" fmla="*/ 0 h 654"/>
                <a:gd name="T14" fmla="*/ 0 w 545"/>
                <a:gd name="T15" fmla="*/ 0 h 654"/>
                <a:gd name="T16" fmla="*/ 0 w 545"/>
                <a:gd name="T17" fmla="*/ 0 h 654"/>
                <a:gd name="T18" fmla="*/ 0 w 545"/>
                <a:gd name="T19" fmla="*/ 0 h 654"/>
                <a:gd name="T20" fmla="*/ 0 w 545"/>
                <a:gd name="T21" fmla="*/ 0 h 654"/>
                <a:gd name="T22" fmla="*/ 0 w 545"/>
                <a:gd name="T23" fmla="*/ 0 h 654"/>
                <a:gd name="T24" fmla="*/ 0 w 545"/>
                <a:gd name="T25" fmla="*/ 0 h 654"/>
                <a:gd name="T26" fmla="*/ 0 w 545"/>
                <a:gd name="T27" fmla="*/ 0 h 654"/>
                <a:gd name="T28" fmla="*/ 0 w 545"/>
                <a:gd name="T29" fmla="*/ 0 h 654"/>
                <a:gd name="T30" fmla="*/ 0 w 545"/>
                <a:gd name="T31" fmla="*/ 0 h 654"/>
                <a:gd name="T32" fmla="*/ 0 w 545"/>
                <a:gd name="T33" fmla="*/ 0 h 654"/>
                <a:gd name="T34" fmla="*/ 0 w 545"/>
                <a:gd name="T35" fmla="*/ 0 h 654"/>
                <a:gd name="T36" fmla="*/ 0 w 545"/>
                <a:gd name="T37" fmla="*/ 0 h 654"/>
                <a:gd name="T38" fmla="*/ 0 w 545"/>
                <a:gd name="T39" fmla="*/ 0 h 654"/>
                <a:gd name="T40" fmla="*/ 0 w 545"/>
                <a:gd name="T41" fmla="*/ 0 h 654"/>
                <a:gd name="T42" fmla="*/ 0 w 545"/>
                <a:gd name="T43" fmla="*/ 0 h 654"/>
                <a:gd name="T44" fmla="*/ 0 w 545"/>
                <a:gd name="T45" fmla="*/ 0 h 654"/>
                <a:gd name="T46" fmla="*/ 0 w 545"/>
                <a:gd name="T47" fmla="*/ 0 h 654"/>
                <a:gd name="T48" fmla="*/ 0 w 545"/>
                <a:gd name="T49" fmla="*/ 0 h 654"/>
                <a:gd name="T50" fmla="*/ 0 w 545"/>
                <a:gd name="T51" fmla="*/ 0 h 654"/>
                <a:gd name="T52" fmla="*/ 0 w 545"/>
                <a:gd name="T53" fmla="*/ 0 h 654"/>
                <a:gd name="T54" fmla="*/ 0 w 545"/>
                <a:gd name="T55" fmla="*/ 0 h 654"/>
                <a:gd name="T56" fmla="*/ 0 w 545"/>
                <a:gd name="T57" fmla="*/ 0 h 654"/>
                <a:gd name="T58" fmla="*/ 0 w 545"/>
                <a:gd name="T59" fmla="*/ 0 h 654"/>
                <a:gd name="T60" fmla="*/ 0 w 545"/>
                <a:gd name="T61" fmla="*/ 0 h 654"/>
                <a:gd name="T62" fmla="*/ 0 w 545"/>
                <a:gd name="T63" fmla="*/ 0 h 654"/>
                <a:gd name="T64" fmla="*/ 0 w 545"/>
                <a:gd name="T65" fmla="*/ 0 h 654"/>
                <a:gd name="T66" fmla="*/ 0 w 545"/>
                <a:gd name="T67" fmla="*/ 0 h 654"/>
                <a:gd name="T68" fmla="*/ 0 w 545"/>
                <a:gd name="T69" fmla="*/ 0 h 654"/>
                <a:gd name="T70" fmla="*/ 0 w 545"/>
                <a:gd name="T71" fmla="*/ 0 h 654"/>
                <a:gd name="T72" fmla="*/ 0 w 545"/>
                <a:gd name="T73" fmla="*/ 0 h 654"/>
                <a:gd name="T74" fmla="*/ 0 w 545"/>
                <a:gd name="T75" fmla="*/ 0 h 654"/>
                <a:gd name="T76" fmla="*/ 0 w 545"/>
                <a:gd name="T77" fmla="*/ 0 h 654"/>
                <a:gd name="T78" fmla="*/ 0 w 545"/>
                <a:gd name="T79" fmla="*/ 0 h 654"/>
                <a:gd name="T80" fmla="*/ 0 w 545"/>
                <a:gd name="T81" fmla="*/ 0 h 654"/>
                <a:gd name="T82" fmla="*/ 0 w 545"/>
                <a:gd name="T83" fmla="*/ 0 h 654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w 545"/>
                <a:gd name="T127" fmla="*/ 0 h 654"/>
                <a:gd name="T128" fmla="*/ 545 w 545"/>
                <a:gd name="T129" fmla="*/ 654 h 654"/>
              </a:gdLst>
              <a:ahLst/>
              <a:cxnLst>
                <a:cxn ang="T84">
                  <a:pos x="T0" y="T1"/>
                </a:cxn>
                <a:cxn ang="T85">
                  <a:pos x="T2" y="T3"/>
                </a:cxn>
                <a:cxn ang="T86">
                  <a:pos x="T4" y="T5"/>
                </a:cxn>
                <a:cxn ang="T87">
                  <a:pos x="T6" y="T7"/>
                </a:cxn>
                <a:cxn ang="T88">
                  <a:pos x="T8" y="T9"/>
                </a:cxn>
                <a:cxn ang="T89">
                  <a:pos x="T10" y="T11"/>
                </a:cxn>
                <a:cxn ang="T90">
                  <a:pos x="T12" y="T13"/>
                </a:cxn>
                <a:cxn ang="T91">
                  <a:pos x="T14" y="T15"/>
                </a:cxn>
                <a:cxn ang="T92">
                  <a:pos x="T16" y="T17"/>
                </a:cxn>
                <a:cxn ang="T93">
                  <a:pos x="T18" y="T19"/>
                </a:cxn>
                <a:cxn ang="T94">
                  <a:pos x="T20" y="T21"/>
                </a:cxn>
                <a:cxn ang="T95">
                  <a:pos x="T22" y="T23"/>
                </a:cxn>
                <a:cxn ang="T96">
                  <a:pos x="T24" y="T25"/>
                </a:cxn>
                <a:cxn ang="T97">
                  <a:pos x="T26" y="T27"/>
                </a:cxn>
                <a:cxn ang="T98">
                  <a:pos x="T28" y="T29"/>
                </a:cxn>
                <a:cxn ang="T99">
                  <a:pos x="T30" y="T31"/>
                </a:cxn>
                <a:cxn ang="T100">
                  <a:pos x="T32" y="T33"/>
                </a:cxn>
                <a:cxn ang="T101">
                  <a:pos x="T34" y="T35"/>
                </a:cxn>
                <a:cxn ang="T102">
                  <a:pos x="T36" y="T37"/>
                </a:cxn>
                <a:cxn ang="T103">
                  <a:pos x="T38" y="T39"/>
                </a:cxn>
                <a:cxn ang="T104">
                  <a:pos x="T40" y="T41"/>
                </a:cxn>
                <a:cxn ang="T105">
                  <a:pos x="T42" y="T43"/>
                </a:cxn>
                <a:cxn ang="T106">
                  <a:pos x="T44" y="T45"/>
                </a:cxn>
                <a:cxn ang="T107">
                  <a:pos x="T46" y="T47"/>
                </a:cxn>
                <a:cxn ang="T108">
                  <a:pos x="T48" y="T49"/>
                </a:cxn>
                <a:cxn ang="T109">
                  <a:pos x="T50" y="T51"/>
                </a:cxn>
                <a:cxn ang="T110">
                  <a:pos x="T52" y="T53"/>
                </a:cxn>
                <a:cxn ang="T111">
                  <a:pos x="T54" y="T55"/>
                </a:cxn>
                <a:cxn ang="T112">
                  <a:pos x="T56" y="T57"/>
                </a:cxn>
                <a:cxn ang="T113">
                  <a:pos x="T58" y="T59"/>
                </a:cxn>
                <a:cxn ang="T114">
                  <a:pos x="T60" y="T61"/>
                </a:cxn>
                <a:cxn ang="T115">
                  <a:pos x="T62" y="T63"/>
                </a:cxn>
                <a:cxn ang="T116">
                  <a:pos x="T64" y="T65"/>
                </a:cxn>
                <a:cxn ang="T117">
                  <a:pos x="T66" y="T67"/>
                </a:cxn>
                <a:cxn ang="T118">
                  <a:pos x="T68" y="T69"/>
                </a:cxn>
                <a:cxn ang="T119">
                  <a:pos x="T70" y="T71"/>
                </a:cxn>
                <a:cxn ang="T120">
                  <a:pos x="T72" y="T73"/>
                </a:cxn>
                <a:cxn ang="T121">
                  <a:pos x="T74" y="T75"/>
                </a:cxn>
                <a:cxn ang="T122">
                  <a:pos x="T76" y="T77"/>
                </a:cxn>
                <a:cxn ang="T123">
                  <a:pos x="T78" y="T79"/>
                </a:cxn>
                <a:cxn ang="T124">
                  <a:pos x="T80" y="T81"/>
                </a:cxn>
                <a:cxn ang="T125">
                  <a:pos x="T82" y="T83"/>
                </a:cxn>
              </a:cxnLst>
              <a:rect l="T126" t="T127" r="T128" b="T129"/>
              <a:pathLst>
                <a:path w="545" h="654">
                  <a:moveTo>
                    <a:pt x="211" y="136"/>
                  </a:moveTo>
                  <a:lnTo>
                    <a:pt x="255" y="196"/>
                  </a:lnTo>
                  <a:lnTo>
                    <a:pt x="295" y="256"/>
                  </a:lnTo>
                  <a:lnTo>
                    <a:pt x="338" y="316"/>
                  </a:lnTo>
                  <a:lnTo>
                    <a:pt x="379" y="376"/>
                  </a:lnTo>
                  <a:lnTo>
                    <a:pt x="423" y="439"/>
                  </a:lnTo>
                  <a:lnTo>
                    <a:pt x="464" y="499"/>
                  </a:lnTo>
                  <a:lnTo>
                    <a:pt x="505" y="559"/>
                  </a:lnTo>
                  <a:lnTo>
                    <a:pt x="545" y="619"/>
                  </a:lnTo>
                  <a:lnTo>
                    <a:pt x="522" y="624"/>
                  </a:lnTo>
                  <a:lnTo>
                    <a:pt x="497" y="630"/>
                  </a:lnTo>
                  <a:lnTo>
                    <a:pt x="469" y="632"/>
                  </a:lnTo>
                  <a:lnTo>
                    <a:pt x="445" y="637"/>
                  </a:lnTo>
                  <a:lnTo>
                    <a:pt x="418" y="640"/>
                  </a:lnTo>
                  <a:lnTo>
                    <a:pt x="393" y="646"/>
                  </a:lnTo>
                  <a:lnTo>
                    <a:pt x="366" y="649"/>
                  </a:lnTo>
                  <a:lnTo>
                    <a:pt x="342" y="654"/>
                  </a:lnTo>
                  <a:lnTo>
                    <a:pt x="338" y="626"/>
                  </a:lnTo>
                  <a:lnTo>
                    <a:pt x="336" y="602"/>
                  </a:lnTo>
                  <a:lnTo>
                    <a:pt x="336" y="578"/>
                  </a:lnTo>
                  <a:lnTo>
                    <a:pt x="336" y="553"/>
                  </a:lnTo>
                  <a:lnTo>
                    <a:pt x="347" y="553"/>
                  </a:lnTo>
                  <a:lnTo>
                    <a:pt x="361" y="553"/>
                  </a:lnTo>
                  <a:lnTo>
                    <a:pt x="374" y="553"/>
                  </a:lnTo>
                  <a:lnTo>
                    <a:pt x="386" y="550"/>
                  </a:lnTo>
                  <a:lnTo>
                    <a:pt x="396" y="550"/>
                  </a:lnTo>
                  <a:lnTo>
                    <a:pt x="407" y="545"/>
                  </a:lnTo>
                  <a:lnTo>
                    <a:pt x="415" y="537"/>
                  </a:lnTo>
                  <a:lnTo>
                    <a:pt x="421" y="523"/>
                  </a:lnTo>
                  <a:lnTo>
                    <a:pt x="421" y="509"/>
                  </a:lnTo>
                  <a:lnTo>
                    <a:pt x="418" y="499"/>
                  </a:lnTo>
                  <a:lnTo>
                    <a:pt x="412" y="488"/>
                  </a:lnTo>
                  <a:lnTo>
                    <a:pt x="402" y="483"/>
                  </a:lnTo>
                  <a:lnTo>
                    <a:pt x="391" y="479"/>
                  </a:lnTo>
                  <a:lnTo>
                    <a:pt x="377" y="477"/>
                  </a:lnTo>
                  <a:lnTo>
                    <a:pt x="366" y="477"/>
                  </a:lnTo>
                  <a:lnTo>
                    <a:pt x="356" y="477"/>
                  </a:lnTo>
                  <a:lnTo>
                    <a:pt x="342" y="477"/>
                  </a:lnTo>
                  <a:lnTo>
                    <a:pt x="331" y="477"/>
                  </a:lnTo>
                  <a:lnTo>
                    <a:pt x="322" y="477"/>
                  </a:lnTo>
                  <a:lnTo>
                    <a:pt x="312" y="477"/>
                  </a:lnTo>
                  <a:lnTo>
                    <a:pt x="298" y="463"/>
                  </a:lnTo>
                  <a:lnTo>
                    <a:pt x="285" y="447"/>
                  </a:lnTo>
                  <a:lnTo>
                    <a:pt x="271" y="430"/>
                  </a:lnTo>
                  <a:lnTo>
                    <a:pt x="260" y="414"/>
                  </a:lnTo>
                  <a:lnTo>
                    <a:pt x="246" y="401"/>
                  </a:lnTo>
                  <a:lnTo>
                    <a:pt x="235" y="384"/>
                  </a:lnTo>
                  <a:lnTo>
                    <a:pt x="225" y="368"/>
                  </a:lnTo>
                  <a:lnTo>
                    <a:pt x="211" y="354"/>
                  </a:lnTo>
                  <a:lnTo>
                    <a:pt x="214" y="338"/>
                  </a:lnTo>
                  <a:lnTo>
                    <a:pt x="216" y="324"/>
                  </a:lnTo>
                  <a:lnTo>
                    <a:pt x="214" y="313"/>
                  </a:lnTo>
                  <a:lnTo>
                    <a:pt x="200" y="302"/>
                  </a:lnTo>
                  <a:lnTo>
                    <a:pt x="202" y="292"/>
                  </a:lnTo>
                  <a:lnTo>
                    <a:pt x="197" y="283"/>
                  </a:lnTo>
                  <a:lnTo>
                    <a:pt x="189" y="278"/>
                  </a:lnTo>
                  <a:lnTo>
                    <a:pt x="186" y="267"/>
                  </a:lnTo>
                  <a:lnTo>
                    <a:pt x="120" y="177"/>
                  </a:lnTo>
                  <a:lnTo>
                    <a:pt x="137" y="175"/>
                  </a:lnTo>
                  <a:lnTo>
                    <a:pt x="154" y="171"/>
                  </a:lnTo>
                  <a:lnTo>
                    <a:pt x="167" y="169"/>
                  </a:lnTo>
                  <a:lnTo>
                    <a:pt x="175" y="157"/>
                  </a:lnTo>
                  <a:lnTo>
                    <a:pt x="175" y="150"/>
                  </a:lnTo>
                  <a:lnTo>
                    <a:pt x="178" y="141"/>
                  </a:lnTo>
                  <a:lnTo>
                    <a:pt x="181" y="134"/>
                  </a:lnTo>
                  <a:lnTo>
                    <a:pt x="181" y="128"/>
                  </a:lnTo>
                  <a:lnTo>
                    <a:pt x="170" y="117"/>
                  </a:lnTo>
                  <a:lnTo>
                    <a:pt x="156" y="106"/>
                  </a:lnTo>
                  <a:lnTo>
                    <a:pt x="142" y="101"/>
                  </a:lnTo>
                  <a:lnTo>
                    <a:pt x="129" y="95"/>
                  </a:lnTo>
                  <a:lnTo>
                    <a:pt x="115" y="93"/>
                  </a:lnTo>
                  <a:lnTo>
                    <a:pt x="99" y="93"/>
                  </a:lnTo>
                  <a:lnTo>
                    <a:pt x="85" y="95"/>
                  </a:lnTo>
                  <a:lnTo>
                    <a:pt x="69" y="98"/>
                  </a:lnTo>
                  <a:lnTo>
                    <a:pt x="0" y="8"/>
                  </a:lnTo>
                  <a:lnTo>
                    <a:pt x="12" y="5"/>
                  </a:lnTo>
                  <a:lnTo>
                    <a:pt x="23" y="3"/>
                  </a:lnTo>
                  <a:lnTo>
                    <a:pt x="34" y="3"/>
                  </a:lnTo>
                  <a:lnTo>
                    <a:pt x="44" y="8"/>
                  </a:lnTo>
                  <a:lnTo>
                    <a:pt x="64" y="5"/>
                  </a:lnTo>
                  <a:lnTo>
                    <a:pt x="80" y="3"/>
                  </a:lnTo>
                  <a:lnTo>
                    <a:pt x="96" y="0"/>
                  </a:lnTo>
                  <a:lnTo>
                    <a:pt x="110" y="3"/>
                  </a:lnTo>
                  <a:lnTo>
                    <a:pt x="211" y="136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2" name="Freeform 274">
              <a:extLst>
                <a:ext uri="{FF2B5EF4-FFF2-40B4-BE49-F238E27FC236}">
                  <a16:creationId xmlns:a16="http://schemas.microsoft.com/office/drawing/2014/main" id="{A4DDB2B1-EF71-4145-A30F-08334A9AD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2" y="2062"/>
              <a:ext cx="83" cy="205"/>
            </a:xfrm>
            <a:custGeom>
              <a:avLst/>
              <a:gdLst>
                <a:gd name="T0" fmla="*/ 0 w 329"/>
                <a:gd name="T1" fmla="*/ 0 h 820"/>
                <a:gd name="T2" fmla="*/ 0 w 329"/>
                <a:gd name="T3" fmla="*/ 0 h 820"/>
                <a:gd name="T4" fmla="*/ 0 w 329"/>
                <a:gd name="T5" fmla="*/ 0 h 820"/>
                <a:gd name="T6" fmla="*/ 0 w 329"/>
                <a:gd name="T7" fmla="*/ 0 h 820"/>
                <a:gd name="T8" fmla="*/ 0 w 329"/>
                <a:gd name="T9" fmla="*/ 0 h 820"/>
                <a:gd name="T10" fmla="*/ 0 w 329"/>
                <a:gd name="T11" fmla="*/ 0 h 820"/>
                <a:gd name="T12" fmla="*/ 0 w 329"/>
                <a:gd name="T13" fmla="*/ 0 h 820"/>
                <a:gd name="T14" fmla="*/ 0 w 329"/>
                <a:gd name="T15" fmla="*/ 0 h 820"/>
                <a:gd name="T16" fmla="*/ 0 w 329"/>
                <a:gd name="T17" fmla="*/ 0 h 820"/>
                <a:gd name="T18" fmla="*/ 0 w 329"/>
                <a:gd name="T19" fmla="*/ 0 h 820"/>
                <a:gd name="T20" fmla="*/ 0 w 329"/>
                <a:gd name="T21" fmla="*/ 0 h 820"/>
                <a:gd name="T22" fmla="*/ 0 w 329"/>
                <a:gd name="T23" fmla="*/ 0 h 820"/>
                <a:gd name="T24" fmla="*/ 0 w 329"/>
                <a:gd name="T25" fmla="*/ 0 h 820"/>
                <a:gd name="T26" fmla="*/ 0 w 329"/>
                <a:gd name="T27" fmla="*/ 0 h 820"/>
                <a:gd name="T28" fmla="*/ 0 w 329"/>
                <a:gd name="T29" fmla="*/ 0 h 820"/>
                <a:gd name="T30" fmla="*/ 0 w 329"/>
                <a:gd name="T31" fmla="*/ 0 h 820"/>
                <a:gd name="T32" fmla="*/ 0 w 329"/>
                <a:gd name="T33" fmla="*/ 0 h 820"/>
                <a:gd name="T34" fmla="*/ 0 w 329"/>
                <a:gd name="T35" fmla="*/ 0 h 820"/>
                <a:gd name="T36" fmla="*/ 0 w 329"/>
                <a:gd name="T37" fmla="*/ 0 h 820"/>
                <a:gd name="T38" fmla="*/ 0 w 329"/>
                <a:gd name="T39" fmla="*/ 0 h 820"/>
                <a:gd name="T40" fmla="*/ 0 w 329"/>
                <a:gd name="T41" fmla="*/ 0 h 820"/>
                <a:gd name="T42" fmla="*/ 0 w 329"/>
                <a:gd name="T43" fmla="*/ 0 h 820"/>
                <a:gd name="T44" fmla="*/ 0 w 329"/>
                <a:gd name="T45" fmla="*/ 0 h 820"/>
                <a:gd name="T46" fmla="*/ 0 w 329"/>
                <a:gd name="T47" fmla="*/ 0 h 820"/>
                <a:gd name="T48" fmla="*/ 0 w 329"/>
                <a:gd name="T49" fmla="*/ 0 h 820"/>
                <a:gd name="T50" fmla="*/ 0 w 329"/>
                <a:gd name="T51" fmla="*/ 0 h 820"/>
                <a:gd name="T52" fmla="*/ 0 w 329"/>
                <a:gd name="T53" fmla="*/ 0 h 820"/>
                <a:gd name="T54" fmla="*/ 0 w 329"/>
                <a:gd name="T55" fmla="*/ 0 h 820"/>
                <a:gd name="T56" fmla="*/ 0 w 329"/>
                <a:gd name="T57" fmla="*/ 0 h 820"/>
                <a:gd name="T58" fmla="*/ 0 w 329"/>
                <a:gd name="T59" fmla="*/ 0 h 820"/>
                <a:gd name="T60" fmla="*/ 0 w 329"/>
                <a:gd name="T61" fmla="*/ 0 h 820"/>
                <a:gd name="T62" fmla="*/ 0 w 329"/>
                <a:gd name="T63" fmla="*/ 0 h 820"/>
                <a:gd name="T64" fmla="*/ 0 w 329"/>
                <a:gd name="T65" fmla="*/ 0 h 820"/>
                <a:gd name="T66" fmla="*/ 0 w 329"/>
                <a:gd name="T67" fmla="*/ 0 h 820"/>
                <a:gd name="T68" fmla="*/ 0 w 329"/>
                <a:gd name="T69" fmla="*/ 0 h 820"/>
                <a:gd name="T70" fmla="*/ 0 w 329"/>
                <a:gd name="T71" fmla="*/ 0 h 820"/>
                <a:gd name="T72" fmla="*/ 0 w 329"/>
                <a:gd name="T73" fmla="*/ 0 h 820"/>
                <a:gd name="T74" fmla="*/ 0 w 329"/>
                <a:gd name="T75" fmla="*/ 0 h 820"/>
                <a:gd name="T76" fmla="*/ 0 w 329"/>
                <a:gd name="T77" fmla="*/ 0 h 820"/>
                <a:gd name="T78" fmla="*/ 0 w 329"/>
                <a:gd name="T79" fmla="*/ 0 h 820"/>
                <a:gd name="T80" fmla="*/ 0 w 329"/>
                <a:gd name="T81" fmla="*/ 0 h 820"/>
                <a:gd name="T82" fmla="*/ 0 w 329"/>
                <a:gd name="T83" fmla="*/ 0 h 820"/>
                <a:gd name="T84" fmla="*/ 0 w 329"/>
                <a:gd name="T85" fmla="*/ 0 h 820"/>
                <a:gd name="T86" fmla="*/ 0 w 329"/>
                <a:gd name="T87" fmla="*/ 0 h 820"/>
                <a:gd name="T88" fmla="*/ 0 w 329"/>
                <a:gd name="T89" fmla="*/ 0 h 820"/>
                <a:gd name="T90" fmla="*/ 0 w 329"/>
                <a:gd name="T91" fmla="*/ 0 h 820"/>
                <a:gd name="T92" fmla="*/ 0 w 329"/>
                <a:gd name="T93" fmla="*/ 0 h 820"/>
                <a:gd name="T94" fmla="*/ 0 w 329"/>
                <a:gd name="T95" fmla="*/ 0 h 820"/>
                <a:gd name="T96" fmla="*/ 0 w 329"/>
                <a:gd name="T97" fmla="*/ 0 h 820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29"/>
                <a:gd name="T148" fmla="*/ 0 h 820"/>
                <a:gd name="T149" fmla="*/ 329 w 329"/>
                <a:gd name="T150" fmla="*/ 820 h 820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29" h="820">
                  <a:moveTo>
                    <a:pt x="35" y="11"/>
                  </a:moveTo>
                  <a:lnTo>
                    <a:pt x="38" y="25"/>
                  </a:lnTo>
                  <a:lnTo>
                    <a:pt x="46" y="35"/>
                  </a:lnTo>
                  <a:lnTo>
                    <a:pt x="54" y="48"/>
                  </a:lnTo>
                  <a:lnTo>
                    <a:pt x="59" y="60"/>
                  </a:lnTo>
                  <a:lnTo>
                    <a:pt x="89" y="133"/>
                  </a:lnTo>
                  <a:lnTo>
                    <a:pt x="122" y="204"/>
                  </a:lnTo>
                  <a:lnTo>
                    <a:pt x="155" y="278"/>
                  </a:lnTo>
                  <a:lnTo>
                    <a:pt x="188" y="349"/>
                  </a:lnTo>
                  <a:lnTo>
                    <a:pt x="220" y="422"/>
                  </a:lnTo>
                  <a:lnTo>
                    <a:pt x="253" y="492"/>
                  </a:lnTo>
                  <a:lnTo>
                    <a:pt x="289" y="563"/>
                  </a:lnTo>
                  <a:lnTo>
                    <a:pt x="321" y="634"/>
                  </a:lnTo>
                  <a:lnTo>
                    <a:pt x="324" y="678"/>
                  </a:lnTo>
                  <a:lnTo>
                    <a:pt x="326" y="724"/>
                  </a:lnTo>
                  <a:lnTo>
                    <a:pt x="329" y="768"/>
                  </a:lnTo>
                  <a:lnTo>
                    <a:pt x="329" y="814"/>
                  </a:lnTo>
                  <a:lnTo>
                    <a:pt x="324" y="814"/>
                  </a:lnTo>
                  <a:lnTo>
                    <a:pt x="319" y="818"/>
                  </a:lnTo>
                  <a:lnTo>
                    <a:pt x="313" y="820"/>
                  </a:lnTo>
                  <a:lnTo>
                    <a:pt x="305" y="820"/>
                  </a:lnTo>
                  <a:lnTo>
                    <a:pt x="308" y="814"/>
                  </a:lnTo>
                  <a:lnTo>
                    <a:pt x="305" y="812"/>
                  </a:lnTo>
                  <a:lnTo>
                    <a:pt x="303" y="806"/>
                  </a:lnTo>
                  <a:lnTo>
                    <a:pt x="303" y="800"/>
                  </a:lnTo>
                  <a:lnTo>
                    <a:pt x="319" y="779"/>
                  </a:lnTo>
                  <a:lnTo>
                    <a:pt x="324" y="719"/>
                  </a:lnTo>
                  <a:lnTo>
                    <a:pt x="316" y="664"/>
                  </a:lnTo>
                  <a:lnTo>
                    <a:pt x="299" y="651"/>
                  </a:lnTo>
                  <a:lnTo>
                    <a:pt x="299" y="689"/>
                  </a:lnTo>
                  <a:lnTo>
                    <a:pt x="303" y="722"/>
                  </a:lnTo>
                  <a:lnTo>
                    <a:pt x="303" y="757"/>
                  </a:lnTo>
                  <a:lnTo>
                    <a:pt x="299" y="795"/>
                  </a:lnTo>
                  <a:lnTo>
                    <a:pt x="261" y="708"/>
                  </a:lnTo>
                  <a:lnTo>
                    <a:pt x="223" y="623"/>
                  </a:lnTo>
                  <a:lnTo>
                    <a:pt x="185" y="536"/>
                  </a:lnTo>
                  <a:lnTo>
                    <a:pt x="149" y="452"/>
                  </a:lnTo>
                  <a:lnTo>
                    <a:pt x="112" y="365"/>
                  </a:lnTo>
                  <a:lnTo>
                    <a:pt x="73" y="280"/>
                  </a:lnTo>
                  <a:lnTo>
                    <a:pt x="38" y="193"/>
                  </a:lnTo>
                  <a:lnTo>
                    <a:pt x="0" y="108"/>
                  </a:lnTo>
                  <a:lnTo>
                    <a:pt x="2" y="81"/>
                  </a:lnTo>
                  <a:lnTo>
                    <a:pt x="8" y="51"/>
                  </a:lnTo>
                  <a:lnTo>
                    <a:pt x="13" y="25"/>
                  </a:lnTo>
                  <a:lnTo>
                    <a:pt x="21" y="0"/>
                  </a:lnTo>
                  <a:lnTo>
                    <a:pt x="27" y="0"/>
                  </a:lnTo>
                  <a:lnTo>
                    <a:pt x="32" y="2"/>
                  </a:lnTo>
                  <a:lnTo>
                    <a:pt x="35" y="7"/>
                  </a:lnTo>
                  <a:lnTo>
                    <a:pt x="35" y="11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3" name="Freeform 275">
              <a:extLst>
                <a:ext uri="{FF2B5EF4-FFF2-40B4-BE49-F238E27FC236}">
                  <a16:creationId xmlns:a16="http://schemas.microsoft.com/office/drawing/2014/main" id="{371BC7D7-7022-AA4D-BAFF-DC33B083950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" y="2064"/>
              <a:ext cx="281" cy="106"/>
            </a:xfrm>
            <a:custGeom>
              <a:avLst/>
              <a:gdLst>
                <a:gd name="T0" fmla="*/ 0 w 1126"/>
                <a:gd name="T1" fmla="*/ 0 h 423"/>
                <a:gd name="T2" fmla="*/ 0 w 1126"/>
                <a:gd name="T3" fmla="*/ 0 h 423"/>
                <a:gd name="T4" fmla="*/ 0 w 1126"/>
                <a:gd name="T5" fmla="*/ 0 h 423"/>
                <a:gd name="T6" fmla="*/ 0 w 1126"/>
                <a:gd name="T7" fmla="*/ 0 h 423"/>
                <a:gd name="T8" fmla="*/ 0 w 1126"/>
                <a:gd name="T9" fmla="*/ 0 h 423"/>
                <a:gd name="T10" fmla="*/ 0 w 1126"/>
                <a:gd name="T11" fmla="*/ 0 h 423"/>
                <a:gd name="T12" fmla="*/ 0 w 1126"/>
                <a:gd name="T13" fmla="*/ 0 h 423"/>
                <a:gd name="T14" fmla="*/ 0 w 1126"/>
                <a:gd name="T15" fmla="*/ 0 h 423"/>
                <a:gd name="T16" fmla="*/ 0 w 1126"/>
                <a:gd name="T17" fmla="*/ 0 h 423"/>
                <a:gd name="T18" fmla="*/ 0 w 1126"/>
                <a:gd name="T19" fmla="*/ 0 h 423"/>
                <a:gd name="T20" fmla="*/ 0 w 1126"/>
                <a:gd name="T21" fmla="*/ 0 h 423"/>
                <a:gd name="T22" fmla="*/ 0 w 1126"/>
                <a:gd name="T23" fmla="*/ 0 h 423"/>
                <a:gd name="T24" fmla="*/ 0 w 1126"/>
                <a:gd name="T25" fmla="*/ 0 h 423"/>
                <a:gd name="T26" fmla="*/ 0 w 1126"/>
                <a:gd name="T27" fmla="*/ 0 h 423"/>
                <a:gd name="T28" fmla="*/ 0 w 1126"/>
                <a:gd name="T29" fmla="*/ 0 h 423"/>
                <a:gd name="T30" fmla="*/ 0 w 1126"/>
                <a:gd name="T31" fmla="*/ 0 h 423"/>
                <a:gd name="T32" fmla="*/ 0 w 1126"/>
                <a:gd name="T33" fmla="*/ 0 h 423"/>
                <a:gd name="T34" fmla="*/ 0 w 1126"/>
                <a:gd name="T35" fmla="*/ 0 h 423"/>
                <a:gd name="T36" fmla="*/ 0 w 1126"/>
                <a:gd name="T37" fmla="*/ 0 h 423"/>
                <a:gd name="T38" fmla="*/ 0 w 1126"/>
                <a:gd name="T39" fmla="*/ 0 h 423"/>
                <a:gd name="T40" fmla="*/ 0 w 1126"/>
                <a:gd name="T41" fmla="*/ 0 h 423"/>
                <a:gd name="T42" fmla="*/ 0 w 1126"/>
                <a:gd name="T43" fmla="*/ 0 h 423"/>
                <a:gd name="T44" fmla="*/ 0 w 1126"/>
                <a:gd name="T45" fmla="*/ 0 h 423"/>
                <a:gd name="T46" fmla="*/ 0 w 1126"/>
                <a:gd name="T47" fmla="*/ 0 h 423"/>
                <a:gd name="T48" fmla="*/ 0 w 1126"/>
                <a:gd name="T49" fmla="*/ 0 h 423"/>
                <a:gd name="T50" fmla="*/ 0 w 1126"/>
                <a:gd name="T51" fmla="*/ 0 h 423"/>
                <a:gd name="T52" fmla="*/ 0 w 1126"/>
                <a:gd name="T53" fmla="*/ 0 h 423"/>
                <a:gd name="T54" fmla="*/ 0 w 1126"/>
                <a:gd name="T55" fmla="*/ 0 h 423"/>
                <a:gd name="T56" fmla="*/ 0 w 1126"/>
                <a:gd name="T57" fmla="*/ 0 h 423"/>
                <a:gd name="T58" fmla="*/ 0 w 1126"/>
                <a:gd name="T59" fmla="*/ 0 h 423"/>
                <a:gd name="T60" fmla="*/ 0 w 1126"/>
                <a:gd name="T61" fmla="*/ 0 h 423"/>
                <a:gd name="T62" fmla="*/ 0 w 1126"/>
                <a:gd name="T63" fmla="*/ 0 h 423"/>
                <a:gd name="T64" fmla="*/ 0 w 1126"/>
                <a:gd name="T65" fmla="*/ 0 h 423"/>
                <a:gd name="T66" fmla="*/ 0 w 1126"/>
                <a:gd name="T67" fmla="*/ 0 h 423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w 1126"/>
                <a:gd name="T103" fmla="*/ 0 h 423"/>
                <a:gd name="T104" fmla="*/ 1126 w 1126"/>
                <a:gd name="T105" fmla="*/ 423 h 423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T102" t="T103" r="T104" b="T105"/>
              <a:pathLst>
                <a:path w="1126" h="423">
                  <a:moveTo>
                    <a:pt x="1126" y="262"/>
                  </a:moveTo>
                  <a:lnTo>
                    <a:pt x="1104" y="278"/>
                  </a:lnTo>
                  <a:lnTo>
                    <a:pt x="1082" y="292"/>
                  </a:lnTo>
                  <a:lnTo>
                    <a:pt x="1058" y="301"/>
                  </a:lnTo>
                  <a:lnTo>
                    <a:pt x="1034" y="306"/>
                  </a:lnTo>
                  <a:lnTo>
                    <a:pt x="1006" y="312"/>
                  </a:lnTo>
                  <a:lnTo>
                    <a:pt x="979" y="314"/>
                  </a:lnTo>
                  <a:lnTo>
                    <a:pt x="952" y="317"/>
                  </a:lnTo>
                  <a:lnTo>
                    <a:pt x="924" y="322"/>
                  </a:lnTo>
                  <a:lnTo>
                    <a:pt x="881" y="331"/>
                  </a:lnTo>
                  <a:lnTo>
                    <a:pt x="839" y="336"/>
                  </a:lnTo>
                  <a:lnTo>
                    <a:pt x="796" y="344"/>
                  </a:lnTo>
                  <a:lnTo>
                    <a:pt x="752" y="349"/>
                  </a:lnTo>
                  <a:lnTo>
                    <a:pt x="712" y="358"/>
                  </a:lnTo>
                  <a:lnTo>
                    <a:pt x="668" y="363"/>
                  </a:lnTo>
                  <a:lnTo>
                    <a:pt x="625" y="368"/>
                  </a:lnTo>
                  <a:lnTo>
                    <a:pt x="584" y="374"/>
                  </a:lnTo>
                  <a:lnTo>
                    <a:pt x="540" y="379"/>
                  </a:lnTo>
                  <a:lnTo>
                    <a:pt x="499" y="388"/>
                  </a:lnTo>
                  <a:lnTo>
                    <a:pt x="455" y="393"/>
                  </a:lnTo>
                  <a:lnTo>
                    <a:pt x="414" y="399"/>
                  </a:lnTo>
                  <a:lnTo>
                    <a:pt x="371" y="404"/>
                  </a:lnTo>
                  <a:lnTo>
                    <a:pt x="330" y="409"/>
                  </a:lnTo>
                  <a:lnTo>
                    <a:pt x="287" y="418"/>
                  </a:lnTo>
                  <a:lnTo>
                    <a:pt x="246" y="423"/>
                  </a:lnTo>
                  <a:lnTo>
                    <a:pt x="232" y="423"/>
                  </a:lnTo>
                  <a:lnTo>
                    <a:pt x="216" y="423"/>
                  </a:lnTo>
                  <a:lnTo>
                    <a:pt x="202" y="423"/>
                  </a:lnTo>
                  <a:lnTo>
                    <a:pt x="188" y="420"/>
                  </a:lnTo>
                  <a:lnTo>
                    <a:pt x="172" y="420"/>
                  </a:lnTo>
                  <a:lnTo>
                    <a:pt x="158" y="415"/>
                  </a:lnTo>
                  <a:lnTo>
                    <a:pt x="145" y="412"/>
                  </a:lnTo>
                  <a:lnTo>
                    <a:pt x="131" y="407"/>
                  </a:lnTo>
                  <a:lnTo>
                    <a:pt x="112" y="379"/>
                  </a:lnTo>
                  <a:lnTo>
                    <a:pt x="96" y="349"/>
                  </a:lnTo>
                  <a:lnTo>
                    <a:pt x="80" y="319"/>
                  </a:lnTo>
                  <a:lnTo>
                    <a:pt x="66" y="289"/>
                  </a:lnTo>
                  <a:lnTo>
                    <a:pt x="50" y="257"/>
                  </a:lnTo>
                  <a:lnTo>
                    <a:pt x="33" y="227"/>
                  </a:lnTo>
                  <a:lnTo>
                    <a:pt x="16" y="197"/>
                  </a:lnTo>
                  <a:lnTo>
                    <a:pt x="0" y="167"/>
                  </a:lnTo>
                  <a:lnTo>
                    <a:pt x="39" y="208"/>
                  </a:lnTo>
                  <a:lnTo>
                    <a:pt x="85" y="246"/>
                  </a:lnTo>
                  <a:lnTo>
                    <a:pt x="140" y="278"/>
                  </a:lnTo>
                  <a:lnTo>
                    <a:pt x="200" y="306"/>
                  </a:lnTo>
                  <a:lnTo>
                    <a:pt x="265" y="328"/>
                  </a:lnTo>
                  <a:lnTo>
                    <a:pt x="333" y="347"/>
                  </a:lnTo>
                  <a:lnTo>
                    <a:pt x="404" y="358"/>
                  </a:lnTo>
                  <a:lnTo>
                    <a:pt x="478" y="363"/>
                  </a:lnTo>
                  <a:lnTo>
                    <a:pt x="549" y="363"/>
                  </a:lnTo>
                  <a:lnTo>
                    <a:pt x="619" y="358"/>
                  </a:lnTo>
                  <a:lnTo>
                    <a:pt x="687" y="349"/>
                  </a:lnTo>
                  <a:lnTo>
                    <a:pt x="750" y="331"/>
                  </a:lnTo>
                  <a:lnTo>
                    <a:pt x="809" y="308"/>
                  </a:lnTo>
                  <a:lnTo>
                    <a:pt x="864" y="278"/>
                  </a:lnTo>
                  <a:lnTo>
                    <a:pt x="908" y="243"/>
                  </a:lnTo>
                  <a:lnTo>
                    <a:pt x="946" y="202"/>
                  </a:lnTo>
                  <a:lnTo>
                    <a:pt x="960" y="151"/>
                  </a:lnTo>
                  <a:lnTo>
                    <a:pt x="970" y="96"/>
                  </a:lnTo>
                  <a:lnTo>
                    <a:pt x="968" y="44"/>
                  </a:lnTo>
                  <a:lnTo>
                    <a:pt x="940" y="0"/>
                  </a:lnTo>
                  <a:lnTo>
                    <a:pt x="965" y="31"/>
                  </a:lnTo>
                  <a:lnTo>
                    <a:pt x="990" y="64"/>
                  </a:lnTo>
                  <a:lnTo>
                    <a:pt x="1014" y="96"/>
                  </a:lnTo>
                  <a:lnTo>
                    <a:pt x="1036" y="129"/>
                  </a:lnTo>
                  <a:lnTo>
                    <a:pt x="1058" y="161"/>
                  </a:lnTo>
                  <a:lnTo>
                    <a:pt x="1082" y="195"/>
                  </a:lnTo>
                  <a:lnTo>
                    <a:pt x="1104" y="230"/>
                  </a:lnTo>
                  <a:lnTo>
                    <a:pt x="1126" y="262"/>
                  </a:ln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4" name="Freeform 276">
              <a:extLst>
                <a:ext uri="{FF2B5EF4-FFF2-40B4-BE49-F238E27FC236}">
                  <a16:creationId xmlns:a16="http://schemas.microsoft.com/office/drawing/2014/main" id="{E0B4F80B-8754-AB4E-8BC7-E339FF093B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6" y="2067"/>
              <a:ext cx="83" cy="211"/>
            </a:xfrm>
            <a:custGeom>
              <a:avLst/>
              <a:gdLst>
                <a:gd name="T0" fmla="*/ 0 w 330"/>
                <a:gd name="T1" fmla="*/ 0 h 842"/>
                <a:gd name="T2" fmla="*/ 0 w 330"/>
                <a:gd name="T3" fmla="*/ 0 h 842"/>
                <a:gd name="T4" fmla="*/ 0 w 330"/>
                <a:gd name="T5" fmla="*/ 0 h 842"/>
                <a:gd name="T6" fmla="*/ 0 w 330"/>
                <a:gd name="T7" fmla="*/ 0 h 842"/>
                <a:gd name="T8" fmla="*/ 0 w 330"/>
                <a:gd name="T9" fmla="*/ 0 h 842"/>
                <a:gd name="T10" fmla="*/ 0 w 330"/>
                <a:gd name="T11" fmla="*/ 0 h 842"/>
                <a:gd name="T12" fmla="*/ 0 w 330"/>
                <a:gd name="T13" fmla="*/ 0 h 842"/>
                <a:gd name="T14" fmla="*/ 0 w 330"/>
                <a:gd name="T15" fmla="*/ 0 h 842"/>
                <a:gd name="T16" fmla="*/ 0 w 330"/>
                <a:gd name="T17" fmla="*/ 0 h 842"/>
                <a:gd name="T18" fmla="*/ 0 w 330"/>
                <a:gd name="T19" fmla="*/ 0 h 842"/>
                <a:gd name="T20" fmla="*/ 0 w 330"/>
                <a:gd name="T21" fmla="*/ 0 h 842"/>
                <a:gd name="T22" fmla="*/ 0 w 330"/>
                <a:gd name="T23" fmla="*/ 0 h 842"/>
                <a:gd name="T24" fmla="*/ 0 w 330"/>
                <a:gd name="T25" fmla="*/ 0 h 842"/>
                <a:gd name="T26" fmla="*/ 0 w 330"/>
                <a:gd name="T27" fmla="*/ 0 h 842"/>
                <a:gd name="T28" fmla="*/ 0 w 330"/>
                <a:gd name="T29" fmla="*/ 0 h 842"/>
                <a:gd name="T30" fmla="*/ 0 w 330"/>
                <a:gd name="T31" fmla="*/ 0 h 842"/>
                <a:gd name="T32" fmla="*/ 0 w 330"/>
                <a:gd name="T33" fmla="*/ 0 h 842"/>
                <a:gd name="T34" fmla="*/ 0 w 330"/>
                <a:gd name="T35" fmla="*/ 0 h 842"/>
                <a:gd name="T36" fmla="*/ 0 w 330"/>
                <a:gd name="T37" fmla="*/ 0 h 842"/>
                <a:gd name="T38" fmla="*/ 0 w 330"/>
                <a:gd name="T39" fmla="*/ 0 h 842"/>
                <a:gd name="T40" fmla="*/ 0 w 330"/>
                <a:gd name="T41" fmla="*/ 0 h 842"/>
                <a:gd name="T42" fmla="*/ 0 w 330"/>
                <a:gd name="T43" fmla="*/ 0 h 842"/>
                <a:gd name="T44" fmla="*/ 0 w 330"/>
                <a:gd name="T45" fmla="*/ 0 h 842"/>
                <a:gd name="T46" fmla="*/ 0 w 330"/>
                <a:gd name="T47" fmla="*/ 0 h 842"/>
                <a:gd name="T48" fmla="*/ 0 w 330"/>
                <a:gd name="T49" fmla="*/ 0 h 842"/>
                <a:gd name="T50" fmla="*/ 0 w 330"/>
                <a:gd name="T51" fmla="*/ 0 h 842"/>
                <a:gd name="T52" fmla="*/ 0 w 330"/>
                <a:gd name="T53" fmla="*/ 0 h 842"/>
                <a:gd name="T54" fmla="*/ 0 w 330"/>
                <a:gd name="T55" fmla="*/ 0 h 842"/>
                <a:gd name="T56" fmla="*/ 0 w 330"/>
                <a:gd name="T57" fmla="*/ 0 h 842"/>
                <a:gd name="T58" fmla="*/ 0 w 330"/>
                <a:gd name="T59" fmla="*/ 0 h 842"/>
                <a:gd name="T60" fmla="*/ 0 w 330"/>
                <a:gd name="T61" fmla="*/ 0 h 842"/>
                <a:gd name="T62" fmla="*/ 0 w 330"/>
                <a:gd name="T63" fmla="*/ 0 h 842"/>
                <a:gd name="T64" fmla="*/ 0 w 330"/>
                <a:gd name="T65" fmla="*/ 0 h 842"/>
                <a:gd name="T66" fmla="*/ 0 w 330"/>
                <a:gd name="T67" fmla="*/ 0 h 842"/>
                <a:gd name="T68" fmla="*/ 0 w 330"/>
                <a:gd name="T69" fmla="*/ 0 h 842"/>
                <a:gd name="T70" fmla="*/ 0 w 330"/>
                <a:gd name="T71" fmla="*/ 0 h 842"/>
                <a:gd name="T72" fmla="*/ 0 w 330"/>
                <a:gd name="T73" fmla="*/ 0 h 842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w 330"/>
                <a:gd name="T112" fmla="*/ 0 h 842"/>
                <a:gd name="T113" fmla="*/ 330 w 330"/>
                <a:gd name="T114" fmla="*/ 842 h 842"/>
              </a:gdLst>
              <a:ahLst/>
              <a:cxnLst>
                <a:cxn ang="T74">
                  <a:pos x="T0" y="T1"/>
                </a:cxn>
                <a:cxn ang="T75">
                  <a:pos x="T2" y="T3"/>
                </a:cxn>
                <a:cxn ang="T76">
                  <a:pos x="T4" y="T5"/>
                </a:cxn>
                <a:cxn ang="T77">
                  <a:pos x="T6" y="T7"/>
                </a:cxn>
                <a:cxn ang="T78">
                  <a:pos x="T8" y="T9"/>
                </a:cxn>
                <a:cxn ang="T79">
                  <a:pos x="T10" y="T11"/>
                </a:cxn>
                <a:cxn ang="T80">
                  <a:pos x="T12" y="T13"/>
                </a:cxn>
                <a:cxn ang="T81">
                  <a:pos x="T14" y="T15"/>
                </a:cxn>
                <a:cxn ang="T82">
                  <a:pos x="T16" y="T17"/>
                </a:cxn>
                <a:cxn ang="T83">
                  <a:pos x="T18" y="T19"/>
                </a:cxn>
                <a:cxn ang="T84">
                  <a:pos x="T20" y="T21"/>
                </a:cxn>
                <a:cxn ang="T85">
                  <a:pos x="T22" y="T23"/>
                </a:cxn>
                <a:cxn ang="T86">
                  <a:pos x="T24" y="T25"/>
                </a:cxn>
                <a:cxn ang="T87">
                  <a:pos x="T26" y="T27"/>
                </a:cxn>
                <a:cxn ang="T88">
                  <a:pos x="T28" y="T29"/>
                </a:cxn>
                <a:cxn ang="T89">
                  <a:pos x="T30" y="T31"/>
                </a:cxn>
                <a:cxn ang="T90">
                  <a:pos x="T32" y="T33"/>
                </a:cxn>
                <a:cxn ang="T91">
                  <a:pos x="T34" y="T35"/>
                </a:cxn>
                <a:cxn ang="T92">
                  <a:pos x="T36" y="T37"/>
                </a:cxn>
                <a:cxn ang="T93">
                  <a:pos x="T38" y="T39"/>
                </a:cxn>
                <a:cxn ang="T94">
                  <a:pos x="T40" y="T41"/>
                </a:cxn>
                <a:cxn ang="T95">
                  <a:pos x="T42" y="T43"/>
                </a:cxn>
                <a:cxn ang="T96">
                  <a:pos x="T44" y="T45"/>
                </a:cxn>
                <a:cxn ang="T97">
                  <a:pos x="T46" y="T47"/>
                </a:cxn>
                <a:cxn ang="T98">
                  <a:pos x="T48" y="T49"/>
                </a:cxn>
                <a:cxn ang="T99">
                  <a:pos x="T50" y="T51"/>
                </a:cxn>
                <a:cxn ang="T100">
                  <a:pos x="T52" y="T53"/>
                </a:cxn>
                <a:cxn ang="T101">
                  <a:pos x="T54" y="T55"/>
                </a:cxn>
                <a:cxn ang="T102">
                  <a:pos x="T56" y="T57"/>
                </a:cxn>
                <a:cxn ang="T103">
                  <a:pos x="T58" y="T59"/>
                </a:cxn>
                <a:cxn ang="T104">
                  <a:pos x="T60" y="T61"/>
                </a:cxn>
                <a:cxn ang="T105">
                  <a:pos x="T62" y="T63"/>
                </a:cxn>
                <a:cxn ang="T106">
                  <a:pos x="T64" y="T65"/>
                </a:cxn>
                <a:cxn ang="T107">
                  <a:pos x="T66" y="T67"/>
                </a:cxn>
                <a:cxn ang="T108">
                  <a:pos x="T68" y="T69"/>
                </a:cxn>
                <a:cxn ang="T109">
                  <a:pos x="T70" y="T71"/>
                </a:cxn>
                <a:cxn ang="T110">
                  <a:pos x="T72" y="T73"/>
                </a:cxn>
              </a:cxnLst>
              <a:rect l="T111" t="T112" r="T113" b="T114"/>
              <a:pathLst>
                <a:path w="330" h="842">
                  <a:moveTo>
                    <a:pt x="44" y="20"/>
                  </a:moveTo>
                  <a:lnTo>
                    <a:pt x="49" y="44"/>
                  </a:lnTo>
                  <a:lnTo>
                    <a:pt x="58" y="66"/>
                  </a:lnTo>
                  <a:lnTo>
                    <a:pt x="68" y="88"/>
                  </a:lnTo>
                  <a:lnTo>
                    <a:pt x="79" y="113"/>
                  </a:lnTo>
                  <a:lnTo>
                    <a:pt x="84" y="113"/>
                  </a:lnTo>
                  <a:lnTo>
                    <a:pt x="111" y="186"/>
                  </a:lnTo>
                  <a:lnTo>
                    <a:pt x="141" y="260"/>
                  </a:lnTo>
                  <a:lnTo>
                    <a:pt x="171" y="333"/>
                  </a:lnTo>
                  <a:lnTo>
                    <a:pt x="201" y="407"/>
                  </a:lnTo>
                  <a:lnTo>
                    <a:pt x="235" y="480"/>
                  </a:lnTo>
                  <a:lnTo>
                    <a:pt x="265" y="551"/>
                  </a:lnTo>
                  <a:lnTo>
                    <a:pt x="295" y="625"/>
                  </a:lnTo>
                  <a:lnTo>
                    <a:pt x="325" y="699"/>
                  </a:lnTo>
                  <a:lnTo>
                    <a:pt x="322" y="729"/>
                  </a:lnTo>
                  <a:lnTo>
                    <a:pt x="325" y="758"/>
                  </a:lnTo>
                  <a:lnTo>
                    <a:pt x="327" y="791"/>
                  </a:lnTo>
                  <a:lnTo>
                    <a:pt x="330" y="818"/>
                  </a:lnTo>
                  <a:lnTo>
                    <a:pt x="330" y="832"/>
                  </a:lnTo>
                  <a:lnTo>
                    <a:pt x="322" y="840"/>
                  </a:lnTo>
                  <a:lnTo>
                    <a:pt x="308" y="842"/>
                  </a:lnTo>
                  <a:lnTo>
                    <a:pt x="295" y="842"/>
                  </a:lnTo>
                  <a:lnTo>
                    <a:pt x="259" y="750"/>
                  </a:lnTo>
                  <a:lnTo>
                    <a:pt x="221" y="660"/>
                  </a:lnTo>
                  <a:lnTo>
                    <a:pt x="185" y="568"/>
                  </a:lnTo>
                  <a:lnTo>
                    <a:pt x="147" y="474"/>
                  </a:lnTo>
                  <a:lnTo>
                    <a:pt x="111" y="385"/>
                  </a:lnTo>
                  <a:lnTo>
                    <a:pt x="74" y="292"/>
                  </a:lnTo>
                  <a:lnTo>
                    <a:pt x="38" y="202"/>
                  </a:lnTo>
                  <a:lnTo>
                    <a:pt x="0" y="113"/>
                  </a:lnTo>
                  <a:lnTo>
                    <a:pt x="3" y="94"/>
                  </a:lnTo>
                  <a:lnTo>
                    <a:pt x="5" y="71"/>
                  </a:lnTo>
                  <a:lnTo>
                    <a:pt x="8" y="50"/>
                  </a:lnTo>
                  <a:lnTo>
                    <a:pt x="14" y="30"/>
                  </a:lnTo>
                  <a:lnTo>
                    <a:pt x="14" y="12"/>
                  </a:lnTo>
                  <a:lnTo>
                    <a:pt x="33" y="0"/>
                  </a:lnTo>
                  <a:lnTo>
                    <a:pt x="44" y="20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5" name="Freeform 277">
              <a:extLst>
                <a:ext uri="{FF2B5EF4-FFF2-40B4-BE49-F238E27FC236}">
                  <a16:creationId xmlns:a16="http://schemas.microsoft.com/office/drawing/2014/main" id="{9413DBD2-3886-1944-ACFF-7B86B36CE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74" y="2073"/>
              <a:ext cx="64" cy="30"/>
            </a:xfrm>
            <a:custGeom>
              <a:avLst/>
              <a:gdLst>
                <a:gd name="T0" fmla="*/ 0 w 257"/>
                <a:gd name="T1" fmla="*/ 0 h 120"/>
                <a:gd name="T2" fmla="*/ 0 w 257"/>
                <a:gd name="T3" fmla="*/ 0 h 120"/>
                <a:gd name="T4" fmla="*/ 0 w 257"/>
                <a:gd name="T5" fmla="*/ 0 h 120"/>
                <a:gd name="T6" fmla="*/ 0 w 257"/>
                <a:gd name="T7" fmla="*/ 0 h 120"/>
                <a:gd name="T8" fmla="*/ 0 w 257"/>
                <a:gd name="T9" fmla="*/ 0 h 120"/>
                <a:gd name="T10" fmla="*/ 0 w 257"/>
                <a:gd name="T11" fmla="*/ 0 h 120"/>
                <a:gd name="T12" fmla="*/ 0 w 257"/>
                <a:gd name="T13" fmla="*/ 0 h 120"/>
                <a:gd name="T14" fmla="*/ 0 w 257"/>
                <a:gd name="T15" fmla="*/ 0 h 120"/>
                <a:gd name="T16" fmla="*/ 0 w 257"/>
                <a:gd name="T17" fmla="*/ 0 h 120"/>
                <a:gd name="T18" fmla="*/ 0 w 257"/>
                <a:gd name="T19" fmla="*/ 0 h 120"/>
                <a:gd name="T20" fmla="*/ 0 w 257"/>
                <a:gd name="T21" fmla="*/ 0 h 120"/>
                <a:gd name="T22" fmla="*/ 0 w 257"/>
                <a:gd name="T23" fmla="*/ 0 h 120"/>
                <a:gd name="T24" fmla="*/ 0 w 257"/>
                <a:gd name="T25" fmla="*/ 0 h 120"/>
                <a:gd name="T26" fmla="*/ 0 w 257"/>
                <a:gd name="T27" fmla="*/ 0 h 120"/>
                <a:gd name="T28" fmla="*/ 0 w 257"/>
                <a:gd name="T29" fmla="*/ 0 h 120"/>
                <a:gd name="T30" fmla="*/ 0 w 257"/>
                <a:gd name="T31" fmla="*/ 0 h 120"/>
                <a:gd name="T32" fmla="*/ 0 w 257"/>
                <a:gd name="T33" fmla="*/ 0 h 120"/>
                <a:gd name="T34" fmla="*/ 0 w 257"/>
                <a:gd name="T35" fmla="*/ 0 h 120"/>
                <a:gd name="T36" fmla="*/ 0 w 257"/>
                <a:gd name="T37" fmla="*/ 0 h 120"/>
                <a:gd name="T38" fmla="*/ 0 w 257"/>
                <a:gd name="T39" fmla="*/ 0 h 120"/>
                <a:gd name="T40" fmla="*/ 0 w 257"/>
                <a:gd name="T41" fmla="*/ 0 h 120"/>
                <a:gd name="T42" fmla="*/ 0 w 257"/>
                <a:gd name="T43" fmla="*/ 0 h 120"/>
                <a:gd name="T44" fmla="*/ 0 w 257"/>
                <a:gd name="T45" fmla="*/ 0 h 120"/>
                <a:gd name="T46" fmla="*/ 0 w 257"/>
                <a:gd name="T47" fmla="*/ 0 h 120"/>
                <a:gd name="T48" fmla="*/ 0 w 257"/>
                <a:gd name="T49" fmla="*/ 0 h 120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257"/>
                <a:gd name="T76" fmla="*/ 0 h 120"/>
                <a:gd name="T77" fmla="*/ 257 w 257"/>
                <a:gd name="T78" fmla="*/ 120 h 120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257" h="120">
                  <a:moveTo>
                    <a:pt x="227" y="0"/>
                  </a:moveTo>
                  <a:lnTo>
                    <a:pt x="230" y="19"/>
                  </a:lnTo>
                  <a:lnTo>
                    <a:pt x="238" y="30"/>
                  </a:lnTo>
                  <a:lnTo>
                    <a:pt x="248" y="38"/>
                  </a:lnTo>
                  <a:lnTo>
                    <a:pt x="257" y="60"/>
                  </a:lnTo>
                  <a:lnTo>
                    <a:pt x="230" y="69"/>
                  </a:lnTo>
                  <a:lnTo>
                    <a:pt x="205" y="76"/>
                  </a:lnTo>
                  <a:lnTo>
                    <a:pt x="178" y="85"/>
                  </a:lnTo>
                  <a:lnTo>
                    <a:pt x="151" y="90"/>
                  </a:lnTo>
                  <a:lnTo>
                    <a:pt x="124" y="99"/>
                  </a:lnTo>
                  <a:lnTo>
                    <a:pt x="99" y="106"/>
                  </a:lnTo>
                  <a:lnTo>
                    <a:pt x="71" y="111"/>
                  </a:lnTo>
                  <a:lnTo>
                    <a:pt x="44" y="120"/>
                  </a:lnTo>
                  <a:lnTo>
                    <a:pt x="31" y="99"/>
                  </a:lnTo>
                  <a:lnTo>
                    <a:pt x="20" y="74"/>
                  </a:lnTo>
                  <a:lnTo>
                    <a:pt x="11" y="49"/>
                  </a:lnTo>
                  <a:lnTo>
                    <a:pt x="0" y="22"/>
                  </a:lnTo>
                  <a:lnTo>
                    <a:pt x="28" y="19"/>
                  </a:lnTo>
                  <a:lnTo>
                    <a:pt x="58" y="14"/>
                  </a:lnTo>
                  <a:lnTo>
                    <a:pt x="85" y="11"/>
                  </a:lnTo>
                  <a:lnTo>
                    <a:pt x="112" y="5"/>
                  </a:lnTo>
                  <a:lnTo>
                    <a:pt x="140" y="3"/>
                  </a:lnTo>
                  <a:lnTo>
                    <a:pt x="167" y="3"/>
                  </a:lnTo>
                  <a:lnTo>
                    <a:pt x="197" y="0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6" name="Freeform 278">
              <a:extLst>
                <a:ext uri="{FF2B5EF4-FFF2-40B4-BE49-F238E27FC236}">
                  <a16:creationId xmlns:a16="http://schemas.microsoft.com/office/drawing/2014/main" id="{3602B9A4-14F4-0140-A2AF-DAFFCDF88A9E}"/>
                </a:ext>
              </a:extLst>
            </p:cNvPr>
            <p:cNvSpPr>
              <a:spLocks/>
            </p:cNvSpPr>
            <p:nvPr/>
          </p:nvSpPr>
          <p:spPr bwMode="auto">
            <a:xfrm>
              <a:off x="2617" y="2073"/>
              <a:ext cx="78" cy="209"/>
            </a:xfrm>
            <a:custGeom>
              <a:avLst/>
              <a:gdLst>
                <a:gd name="T0" fmla="*/ 0 w 311"/>
                <a:gd name="T1" fmla="*/ 0 h 834"/>
                <a:gd name="T2" fmla="*/ 0 w 311"/>
                <a:gd name="T3" fmla="*/ 0 h 834"/>
                <a:gd name="T4" fmla="*/ 0 w 311"/>
                <a:gd name="T5" fmla="*/ 0 h 834"/>
                <a:gd name="T6" fmla="*/ 0 w 311"/>
                <a:gd name="T7" fmla="*/ 0 h 834"/>
                <a:gd name="T8" fmla="*/ 0 w 311"/>
                <a:gd name="T9" fmla="*/ 0 h 834"/>
                <a:gd name="T10" fmla="*/ 0 w 311"/>
                <a:gd name="T11" fmla="*/ 0 h 834"/>
                <a:gd name="T12" fmla="*/ 0 w 311"/>
                <a:gd name="T13" fmla="*/ 0 h 834"/>
                <a:gd name="T14" fmla="*/ 0 w 311"/>
                <a:gd name="T15" fmla="*/ 0 h 834"/>
                <a:gd name="T16" fmla="*/ 0 w 311"/>
                <a:gd name="T17" fmla="*/ 0 h 834"/>
                <a:gd name="T18" fmla="*/ 0 w 311"/>
                <a:gd name="T19" fmla="*/ 0 h 834"/>
                <a:gd name="T20" fmla="*/ 0 w 311"/>
                <a:gd name="T21" fmla="*/ 0 h 834"/>
                <a:gd name="T22" fmla="*/ 0 w 311"/>
                <a:gd name="T23" fmla="*/ 0 h 834"/>
                <a:gd name="T24" fmla="*/ 0 w 311"/>
                <a:gd name="T25" fmla="*/ 0 h 834"/>
                <a:gd name="T26" fmla="*/ 0 w 311"/>
                <a:gd name="T27" fmla="*/ 0 h 834"/>
                <a:gd name="T28" fmla="*/ 0 w 311"/>
                <a:gd name="T29" fmla="*/ 0 h 834"/>
                <a:gd name="T30" fmla="*/ 0 w 311"/>
                <a:gd name="T31" fmla="*/ 0 h 834"/>
                <a:gd name="T32" fmla="*/ 0 w 311"/>
                <a:gd name="T33" fmla="*/ 0 h 834"/>
                <a:gd name="T34" fmla="*/ 0 w 311"/>
                <a:gd name="T35" fmla="*/ 0 h 834"/>
                <a:gd name="T36" fmla="*/ 0 w 311"/>
                <a:gd name="T37" fmla="*/ 0 h 834"/>
                <a:gd name="T38" fmla="*/ 0 w 311"/>
                <a:gd name="T39" fmla="*/ 0 h 834"/>
                <a:gd name="T40" fmla="*/ 0 w 311"/>
                <a:gd name="T41" fmla="*/ 0 h 834"/>
                <a:gd name="T42" fmla="*/ 0 w 311"/>
                <a:gd name="T43" fmla="*/ 0 h 834"/>
                <a:gd name="T44" fmla="*/ 0 w 311"/>
                <a:gd name="T45" fmla="*/ 0 h 834"/>
                <a:gd name="T46" fmla="*/ 0 w 311"/>
                <a:gd name="T47" fmla="*/ 0 h 834"/>
                <a:gd name="T48" fmla="*/ 0 w 311"/>
                <a:gd name="T49" fmla="*/ 0 h 834"/>
                <a:gd name="T50" fmla="*/ 0 w 311"/>
                <a:gd name="T51" fmla="*/ 0 h 834"/>
                <a:gd name="T52" fmla="*/ 0 w 311"/>
                <a:gd name="T53" fmla="*/ 0 h 834"/>
                <a:gd name="T54" fmla="*/ 0 w 311"/>
                <a:gd name="T55" fmla="*/ 0 h 834"/>
                <a:gd name="T56" fmla="*/ 0 w 311"/>
                <a:gd name="T57" fmla="*/ 0 h 834"/>
                <a:gd name="T58" fmla="*/ 0 w 311"/>
                <a:gd name="T59" fmla="*/ 0 h 834"/>
                <a:gd name="T60" fmla="*/ 0 w 311"/>
                <a:gd name="T61" fmla="*/ 0 h 834"/>
                <a:gd name="T62" fmla="*/ 0 w 311"/>
                <a:gd name="T63" fmla="*/ 0 h 834"/>
                <a:gd name="T64" fmla="*/ 0 w 311"/>
                <a:gd name="T65" fmla="*/ 0 h 834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w 311"/>
                <a:gd name="T100" fmla="*/ 0 h 834"/>
                <a:gd name="T101" fmla="*/ 311 w 311"/>
                <a:gd name="T102" fmla="*/ 834 h 834"/>
              </a:gdLst>
              <a:ahLst/>
              <a:cxnLst>
                <a:cxn ang="T66">
                  <a:pos x="T0" y="T1"/>
                </a:cxn>
                <a:cxn ang="T67">
                  <a:pos x="T2" y="T3"/>
                </a:cxn>
                <a:cxn ang="T68">
                  <a:pos x="T4" y="T5"/>
                </a:cxn>
                <a:cxn ang="T69">
                  <a:pos x="T6" y="T7"/>
                </a:cxn>
                <a:cxn ang="T70">
                  <a:pos x="T8" y="T9"/>
                </a:cxn>
                <a:cxn ang="T71">
                  <a:pos x="T10" y="T11"/>
                </a:cxn>
                <a:cxn ang="T72">
                  <a:pos x="T12" y="T13"/>
                </a:cxn>
                <a:cxn ang="T73">
                  <a:pos x="T14" y="T15"/>
                </a:cxn>
                <a:cxn ang="T74">
                  <a:pos x="T16" y="T17"/>
                </a:cxn>
                <a:cxn ang="T75">
                  <a:pos x="T18" y="T19"/>
                </a:cxn>
                <a:cxn ang="T76">
                  <a:pos x="T20" y="T21"/>
                </a:cxn>
                <a:cxn ang="T77">
                  <a:pos x="T22" y="T23"/>
                </a:cxn>
                <a:cxn ang="T78">
                  <a:pos x="T24" y="T25"/>
                </a:cxn>
                <a:cxn ang="T79">
                  <a:pos x="T26" y="T27"/>
                </a:cxn>
                <a:cxn ang="T80">
                  <a:pos x="T28" y="T29"/>
                </a:cxn>
                <a:cxn ang="T81">
                  <a:pos x="T30" y="T31"/>
                </a:cxn>
                <a:cxn ang="T82">
                  <a:pos x="T32" y="T33"/>
                </a:cxn>
                <a:cxn ang="T83">
                  <a:pos x="T34" y="T35"/>
                </a:cxn>
                <a:cxn ang="T84">
                  <a:pos x="T36" y="T37"/>
                </a:cxn>
                <a:cxn ang="T85">
                  <a:pos x="T38" y="T39"/>
                </a:cxn>
                <a:cxn ang="T86">
                  <a:pos x="T40" y="T41"/>
                </a:cxn>
                <a:cxn ang="T87">
                  <a:pos x="T42" y="T43"/>
                </a:cxn>
                <a:cxn ang="T88">
                  <a:pos x="T44" y="T45"/>
                </a:cxn>
                <a:cxn ang="T89">
                  <a:pos x="T46" y="T47"/>
                </a:cxn>
                <a:cxn ang="T90">
                  <a:pos x="T48" y="T49"/>
                </a:cxn>
                <a:cxn ang="T91">
                  <a:pos x="T50" y="T51"/>
                </a:cxn>
                <a:cxn ang="T92">
                  <a:pos x="T52" y="T53"/>
                </a:cxn>
                <a:cxn ang="T93">
                  <a:pos x="T54" y="T55"/>
                </a:cxn>
                <a:cxn ang="T94">
                  <a:pos x="T56" y="T57"/>
                </a:cxn>
                <a:cxn ang="T95">
                  <a:pos x="T58" y="T59"/>
                </a:cxn>
                <a:cxn ang="T96">
                  <a:pos x="T60" y="T61"/>
                </a:cxn>
                <a:cxn ang="T97">
                  <a:pos x="T62" y="T63"/>
                </a:cxn>
                <a:cxn ang="T98">
                  <a:pos x="T64" y="T65"/>
                </a:cxn>
              </a:cxnLst>
              <a:rect l="T99" t="T100" r="T101" b="T102"/>
              <a:pathLst>
                <a:path w="311" h="834">
                  <a:moveTo>
                    <a:pt x="35" y="28"/>
                  </a:moveTo>
                  <a:lnTo>
                    <a:pt x="68" y="109"/>
                  </a:lnTo>
                  <a:lnTo>
                    <a:pt x="98" y="189"/>
                  </a:lnTo>
                  <a:lnTo>
                    <a:pt x="131" y="270"/>
                  </a:lnTo>
                  <a:lnTo>
                    <a:pt x="163" y="352"/>
                  </a:lnTo>
                  <a:lnTo>
                    <a:pt x="196" y="433"/>
                  </a:lnTo>
                  <a:lnTo>
                    <a:pt x="228" y="515"/>
                  </a:lnTo>
                  <a:lnTo>
                    <a:pt x="258" y="596"/>
                  </a:lnTo>
                  <a:lnTo>
                    <a:pt x="292" y="679"/>
                  </a:lnTo>
                  <a:lnTo>
                    <a:pt x="297" y="717"/>
                  </a:lnTo>
                  <a:lnTo>
                    <a:pt x="299" y="755"/>
                  </a:lnTo>
                  <a:lnTo>
                    <a:pt x="302" y="793"/>
                  </a:lnTo>
                  <a:lnTo>
                    <a:pt x="311" y="831"/>
                  </a:lnTo>
                  <a:lnTo>
                    <a:pt x="302" y="831"/>
                  </a:lnTo>
                  <a:lnTo>
                    <a:pt x="292" y="831"/>
                  </a:lnTo>
                  <a:lnTo>
                    <a:pt x="283" y="834"/>
                  </a:lnTo>
                  <a:lnTo>
                    <a:pt x="272" y="834"/>
                  </a:lnTo>
                  <a:lnTo>
                    <a:pt x="237" y="747"/>
                  </a:lnTo>
                  <a:lnTo>
                    <a:pt x="205" y="660"/>
                  </a:lnTo>
                  <a:lnTo>
                    <a:pt x="169" y="573"/>
                  </a:lnTo>
                  <a:lnTo>
                    <a:pt x="136" y="485"/>
                  </a:lnTo>
                  <a:lnTo>
                    <a:pt x="101" y="396"/>
                  </a:lnTo>
                  <a:lnTo>
                    <a:pt x="68" y="308"/>
                  </a:lnTo>
                  <a:lnTo>
                    <a:pt x="33" y="221"/>
                  </a:lnTo>
                  <a:lnTo>
                    <a:pt x="0" y="131"/>
                  </a:lnTo>
                  <a:lnTo>
                    <a:pt x="5" y="101"/>
                  </a:lnTo>
                  <a:lnTo>
                    <a:pt x="8" y="69"/>
                  </a:lnTo>
                  <a:lnTo>
                    <a:pt x="14" y="35"/>
                  </a:lnTo>
                  <a:lnTo>
                    <a:pt x="16" y="0"/>
                  </a:lnTo>
                  <a:lnTo>
                    <a:pt x="24" y="3"/>
                  </a:lnTo>
                  <a:lnTo>
                    <a:pt x="30" y="8"/>
                  </a:lnTo>
                  <a:lnTo>
                    <a:pt x="33" y="19"/>
                  </a:lnTo>
                  <a:lnTo>
                    <a:pt x="35" y="28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7" name="Freeform 279">
              <a:extLst>
                <a:ext uri="{FF2B5EF4-FFF2-40B4-BE49-F238E27FC236}">
                  <a16:creationId xmlns:a16="http://schemas.microsoft.com/office/drawing/2014/main" id="{4B1931DF-EF9B-F747-B742-48CF608795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9" y="2078"/>
              <a:ext cx="83" cy="211"/>
            </a:xfrm>
            <a:custGeom>
              <a:avLst/>
              <a:gdLst>
                <a:gd name="T0" fmla="*/ 0 w 331"/>
                <a:gd name="T1" fmla="*/ 0 h 844"/>
                <a:gd name="T2" fmla="*/ 0 w 331"/>
                <a:gd name="T3" fmla="*/ 0 h 844"/>
                <a:gd name="T4" fmla="*/ 0 w 331"/>
                <a:gd name="T5" fmla="*/ 0 h 844"/>
                <a:gd name="T6" fmla="*/ 0 w 331"/>
                <a:gd name="T7" fmla="*/ 0 h 844"/>
                <a:gd name="T8" fmla="*/ 0 w 331"/>
                <a:gd name="T9" fmla="*/ 0 h 844"/>
                <a:gd name="T10" fmla="*/ 0 w 331"/>
                <a:gd name="T11" fmla="*/ 0 h 844"/>
                <a:gd name="T12" fmla="*/ 0 w 331"/>
                <a:gd name="T13" fmla="*/ 0 h 844"/>
                <a:gd name="T14" fmla="*/ 0 w 331"/>
                <a:gd name="T15" fmla="*/ 0 h 844"/>
                <a:gd name="T16" fmla="*/ 0 w 331"/>
                <a:gd name="T17" fmla="*/ 0 h 844"/>
                <a:gd name="T18" fmla="*/ 0 w 331"/>
                <a:gd name="T19" fmla="*/ 0 h 844"/>
                <a:gd name="T20" fmla="*/ 0 w 331"/>
                <a:gd name="T21" fmla="*/ 0 h 844"/>
                <a:gd name="T22" fmla="*/ 0 w 331"/>
                <a:gd name="T23" fmla="*/ 0 h 844"/>
                <a:gd name="T24" fmla="*/ 0 w 331"/>
                <a:gd name="T25" fmla="*/ 0 h 844"/>
                <a:gd name="T26" fmla="*/ 0 w 331"/>
                <a:gd name="T27" fmla="*/ 0 h 844"/>
                <a:gd name="T28" fmla="*/ 0 w 331"/>
                <a:gd name="T29" fmla="*/ 0 h 844"/>
                <a:gd name="T30" fmla="*/ 0 w 331"/>
                <a:gd name="T31" fmla="*/ 0 h 844"/>
                <a:gd name="T32" fmla="*/ 0 w 331"/>
                <a:gd name="T33" fmla="*/ 0 h 844"/>
                <a:gd name="T34" fmla="*/ 0 w 331"/>
                <a:gd name="T35" fmla="*/ 0 h 844"/>
                <a:gd name="T36" fmla="*/ 0 w 331"/>
                <a:gd name="T37" fmla="*/ 0 h 844"/>
                <a:gd name="T38" fmla="*/ 0 w 331"/>
                <a:gd name="T39" fmla="*/ 0 h 844"/>
                <a:gd name="T40" fmla="*/ 0 w 331"/>
                <a:gd name="T41" fmla="*/ 0 h 844"/>
                <a:gd name="T42" fmla="*/ 0 w 331"/>
                <a:gd name="T43" fmla="*/ 0 h 844"/>
                <a:gd name="T44" fmla="*/ 0 w 331"/>
                <a:gd name="T45" fmla="*/ 0 h 844"/>
                <a:gd name="T46" fmla="*/ 0 w 331"/>
                <a:gd name="T47" fmla="*/ 0 h 844"/>
                <a:gd name="T48" fmla="*/ 0 w 331"/>
                <a:gd name="T49" fmla="*/ 0 h 844"/>
                <a:gd name="T50" fmla="*/ 0 w 331"/>
                <a:gd name="T51" fmla="*/ 0 h 844"/>
                <a:gd name="T52" fmla="*/ 0 w 331"/>
                <a:gd name="T53" fmla="*/ 0 h 844"/>
                <a:gd name="T54" fmla="*/ 0 w 331"/>
                <a:gd name="T55" fmla="*/ 0 h 844"/>
                <a:gd name="T56" fmla="*/ 0 w 331"/>
                <a:gd name="T57" fmla="*/ 0 h 844"/>
                <a:gd name="T58" fmla="*/ 0 w 331"/>
                <a:gd name="T59" fmla="*/ 0 h 844"/>
                <a:gd name="T60" fmla="*/ 0 w 331"/>
                <a:gd name="T61" fmla="*/ 0 h 844"/>
                <a:gd name="T62" fmla="*/ 0 w 331"/>
                <a:gd name="T63" fmla="*/ 0 h 844"/>
                <a:gd name="T64" fmla="*/ 0 w 331"/>
                <a:gd name="T65" fmla="*/ 0 h 844"/>
                <a:gd name="T66" fmla="*/ 0 w 331"/>
                <a:gd name="T67" fmla="*/ 0 h 844"/>
                <a:gd name="T68" fmla="*/ 0 w 331"/>
                <a:gd name="T69" fmla="*/ 0 h 844"/>
                <a:gd name="T70" fmla="*/ 0 w 331"/>
                <a:gd name="T71" fmla="*/ 0 h 844"/>
                <a:gd name="T72" fmla="*/ 0 w 331"/>
                <a:gd name="T73" fmla="*/ 0 h 844"/>
                <a:gd name="T74" fmla="*/ 0 w 331"/>
                <a:gd name="T75" fmla="*/ 0 h 844"/>
                <a:gd name="T76" fmla="*/ 0 w 331"/>
                <a:gd name="T77" fmla="*/ 0 h 844"/>
                <a:gd name="T78" fmla="*/ 0 w 331"/>
                <a:gd name="T79" fmla="*/ 0 h 844"/>
                <a:gd name="T80" fmla="*/ 0 w 331"/>
                <a:gd name="T81" fmla="*/ 0 h 844"/>
                <a:gd name="T82" fmla="*/ 0 w 331"/>
                <a:gd name="T83" fmla="*/ 0 h 844"/>
                <a:gd name="T84" fmla="*/ 0 w 331"/>
                <a:gd name="T85" fmla="*/ 0 h 844"/>
                <a:gd name="T86" fmla="*/ 0 w 331"/>
                <a:gd name="T87" fmla="*/ 0 h 844"/>
                <a:gd name="T88" fmla="*/ 0 w 331"/>
                <a:gd name="T89" fmla="*/ 0 h 844"/>
                <a:gd name="T90" fmla="*/ 0 w 331"/>
                <a:gd name="T91" fmla="*/ 0 h 844"/>
                <a:gd name="T92" fmla="*/ 0 w 331"/>
                <a:gd name="T93" fmla="*/ 0 h 844"/>
                <a:gd name="T94" fmla="*/ 0 w 331"/>
                <a:gd name="T95" fmla="*/ 0 h 844"/>
                <a:gd name="T96" fmla="*/ 0 w 331"/>
                <a:gd name="T97" fmla="*/ 0 h 844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31"/>
                <a:gd name="T148" fmla="*/ 0 h 844"/>
                <a:gd name="T149" fmla="*/ 331 w 331"/>
                <a:gd name="T150" fmla="*/ 844 h 844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31" h="844">
                  <a:moveTo>
                    <a:pt x="61" y="35"/>
                  </a:moveTo>
                  <a:lnTo>
                    <a:pt x="91" y="117"/>
                  </a:lnTo>
                  <a:lnTo>
                    <a:pt x="121" y="201"/>
                  </a:lnTo>
                  <a:lnTo>
                    <a:pt x="154" y="283"/>
                  </a:lnTo>
                  <a:lnTo>
                    <a:pt x="184" y="365"/>
                  </a:lnTo>
                  <a:lnTo>
                    <a:pt x="214" y="446"/>
                  </a:lnTo>
                  <a:lnTo>
                    <a:pt x="246" y="528"/>
                  </a:lnTo>
                  <a:lnTo>
                    <a:pt x="276" y="609"/>
                  </a:lnTo>
                  <a:lnTo>
                    <a:pt x="306" y="692"/>
                  </a:lnTo>
                  <a:lnTo>
                    <a:pt x="317" y="727"/>
                  </a:lnTo>
                  <a:lnTo>
                    <a:pt x="322" y="763"/>
                  </a:lnTo>
                  <a:lnTo>
                    <a:pt x="326" y="798"/>
                  </a:lnTo>
                  <a:lnTo>
                    <a:pt x="331" y="831"/>
                  </a:lnTo>
                  <a:lnTo>
                    <a:pt x="320" y="834"/>
                  </a:lnTo>
                  <a:lnTo>
                    <a:pt x="312" y="836"/>
                  </a:lnTo>
                  <a:lnTo>
                    <a:pt x="303" y="839"/>
                  </a:lnTo>
                  <a:lnTo>
                    <a:pt x="292" y="841"/>
                  </a:lnTo>
                  <a:lnTo>
                    <a:pt x="296" y="811"/>
                  </a:lnTo>
                  <a:lnTo>
                    <a:pt x="296" y="779"/>
                  </a:lnTo>
                  <a:lnTo>
                    <a:pt x="296" y="749"/>
                  </a:lnTo>
                  <a:lnTo>
                    <a:pt x="298" y="716"/>
                  </a:lnTo>
                  <a:lnTo>
                    <a:pt x="292" y="710"/>
                  </a:lnTo>
                  <a:lnTo>
                    <a:pt x="292" y="705"/>
                  </a:lnTo>
                  <a:lnTo>
                    <a:pt x="292" y="700"/>
                  </a:lnTo>
                  <a:lnTo>
                    <a:pt x="287" y="694"/>
                  </a:lnTo>
                  <a:lnTo>
                    <a:pt x="282" y="730"/>
                  </a:lnTo>
                  <a:lnTo>
                    <a:pt x="278" y="768"/>
                  </a:lnTo>
                  <a:lnTo>
                    <a:pt x="278" y="804"/>
                  </a:lnTo>
                  <a:lnTo>
                    <a:pt x="276" y="836"/>
                  </a:lnTo>
                  <a:lnTo>
                    <a:pt x="278" y="839"/>
                  </a:lnTo>
                  <a:lnTo>
                    <a:pt x="285" y="841"/>
                  </a:lnTo>
                  <a:lnTo>
                    <a:pt x="287" y="841"/>
                  </a:lnTo>
                  <a:lnTo>
                    <a:pt x="276" y="844"/>
                  </a:lnTo>
                  <a:lnTo>
                    <a:pt x="241" y="758"/>
                  </a:lnTo>
                  <a:lnTo>
                    <a:pt x="205" y="670"/>
                  </a:lnTo>
                  <a:lnTo>
                    <a:pt x="170" y="579"/>
                  </a:lnTo>
                  <a:lnTo>
                    <a:pt x="137" y="493"/>
                  </a:lnTo>
                  <a:lnTo>
                    <a:pt x="101" y="406"/>
                  </a:lnTo>
                  <a:lnTo>
                    <a:pt x="69" y="319"/>
                  </a:lnTo>
                  <a:lnTo>
                    <a:pt x="34" y="231"/>
                  </a:lnTo>
                  <a:lnTo>
                    <a:pt x="0" y="144"/>
                  </a:lnTo>
                  <a:lnTo>
                    <a:pt x="9" y="108"/>
                  </a:lnTo>
                  <a:lnTo>
                    <a:pt x="14" y="71"/>
                  </a:lnTo>
                  <a:lnTo>
                    <a:pt x="20" y="35"/>
                  </a:lnTo>
                  <a:lnTo>
                    <a:pt x="31" y="0"/>
                  </a:lnTo>
                  <a:lnTo>
                    <a:pt x="39" y="5"/>
                  </a:lnTo>
                  <a:lnTo>
                    <a:pt x="48" y="16"/>
                  </a:lnTo>
                  <a:lnTo>
                    <a:pt x="55" y="27"/>
                  </a:lnTo>
                  <a:lnTo>
                    <a:pt x="61" y="35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8" name="Freeform 280">
              <a:extLst>
                <a:ext uri="{FF2B5EF4-FFF2-40B4-BE49-F238E27FC236}">
                  <a16:creationId xmlns:a16="http://schemas.microsoft.com/office/drawing/2014/main" id="{88905665-2308-CB41-BB76-172103BB26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51" y="2078"/>
              <a:ext cx="65" cy="57"/>
            </a:xfrm>
            <a:custGeom>
              <a:avLst/>
              <a:gdLst>
                <a:gd name="T0" fmla="*/ 0 w 261"/>
                <a:gd name="T1" fmla="*/ 0 h 229"/>
                <a:gd name="T2" fmla="*/ 0 w 261"/>
                <a:gd name="T3" fmla="*/ 0 h 229"/>
                <a:gd name="T4" fmla="*/ 0 w 261"/>
                <a:gd name="T5" fmla="*/ 0 h 229"/>
                <a:gd name="T6" fmla="*/ 0 w 261"/>
                <a:gd name="T7" fmla="*/ 0 h 229"/>
                <a:gd name="T8" fmla="*/ 0 w 261"/>
                <a:gd name="T9" fmla="*/ 0 h 229"/>
                <a:gd name="T10" fmla="*/ 0 w 261"/>
                <a:gd name="T11" fmla="*/ 0 h 229"/>
                <a:gd name="T12" fmla="*/ 0 w 261"/>
                <a:gd name="T13" fmla="*/ 0 h 229"/>
                <a:gd name="T14" fmla="*/ 0 w 261"/>
                <a:gd name="T15" fmla="*/ 0 h 229"/>
                <a:gd name="T16" fmla="*/ 0 w 261"/>
                <a:gd name="T17" fmla="*/ 0 h 229"/>
                <a:gd name="T18" fmla="*/ 0 w 261"/>
                <a:gd name="T19" fmla="*/ 0 h 229"/>
                <a:gd name="T20" fmla="*/ 0 w 261"/>
                <a:gd name="T21" fmla="*/ 0 h 229"/>
                <a:gd name="T22" fmla="*/ 0 w 261"/>
                <a:gd name="T23" fmla="*/ 0 h 229"/>
                <a:gd name="T24" fmla="*/ 0 w 261"/>
                <a:gd name="T25" fmla="*/ 0 h 229"/>
                <a:gd name="T26" fmla="*/ 0 w 261"/>
                <a:gd name="T27" fmla="*/ 0 h 229"/>
                <a:gd name="T28" fmla="*/ 0 w 261"/>
                <a:gd name="T29" fmla="*/ 0 h 229"/>
                <a:gd name="T30" fmla="*/ 0 w 261"/>
                <a:gd name="T31" fmla="*/ 0 h 229"/>
                <a:gd name="T32" fmla="*/ 0 w 261"/>
                <a:gd name="T33" fmla="*/ 0 h 229"/>
                <a:gd name="T34" fmla="*/ 0 w 261"/>
                <a:gd name="T35" fmla="*/ 0 h 229"/>
                <a:gd name="T36" fmla="*/ 0 w 261"/>
                <a:gd name="T37" fmla="*/ 0 h 229"/>
                <a:gd name="T38" fmla="*/ 0 w 261"/>
                <a:gd name="T39" fmla="*/ 0 h 229"/>
                <a:gd name="T40" fmla="*/ 0 w 261"/>
                <a:gd name="T41" fmla="*/ 0 h 229"/>
                <a:gd name="T42" fmla="*/ 0 w 261"/>
                <a:gd name="T43" fmla="*/ 0 h 229"/>
                <a:gd name="T44" fmla="*/ 0 w 261"/>
                <a:gd name="T45" fmla="*/ 0 h 229"/>
                <a:gd name="T46" fmla="*/ 0 w 261"/>
                <a:gd name="T47" fmla="*/ 0 h 229"/>
                <a:gd name="T48" fmla="*/ 0 w 261"/>
                <a:gd name="T49" fmla="*/ 0 h 229"/>
                <a:gd name="T50" fmla="*/ 0 w 261"/>
                <a:gd name="T51" fmla="*/ 0 h 229"/>
                <a:gd name="T52" fmla="*/ 0 w 261"/>
                <a:gd name="T53" fmla="*/ 0 h 229"/>
                <a:gd name="T54" fmla="*/ 0 w 261"/>
                <a:gd name="T55" fmla="*/ 0 h 229"/>
                <a:gd name="T56" fmla="*/ 0 w 261"/>
                <a:gd name="T57" fmla="*/ 0 h 229"/>
                <a:gd name="T58" fmla="*/ 0 w 261"/>
                <a:gd name="T59" fmla="*/ 0 h 229"/>
                <a:gd name="T60" fmla="*/ 0 w 261"/>
                <a:gd name="T61" fmla="*/ 0 h 229"/>
                <a:gd name="T62" fmla="*/ 0 w 261"/>
                <a:gd name="T63" fmla="*/ 0 h 229"/>
                <a:gd name="T64" fmla="*/ 0 w 261"/>
                <a:gd name="T65" fmla="*/ 0 h 229"/>
                <a:gd name="T66" fmla="*/ 0 w 261"/>
                <a:gd name="T67" fmla="*/ 0 h 229"/>
                <a:gd name="T68" fmla="*/ 0 w 261"/>
                <a:gd name="T69" fmla="*/ 0 h 229"/>
                <a:gd name="T70" fmla="*/ 0 w 261"/>
                <a:gd name="T71" fmla="*/ 0 h 229"/>
                <a:gd name="T72" fmla="*/ 0 w 261"/>
                <a:gd name="T73" fmla="*/ 0 h 229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w 261"/>
                <a:gd name="T112" fmla="*/ 0 h 229"/>
                <a:gd name="T113" fmla="*/ 261 w 261"/>
                <a:gd name="T114" fmla="*/ 229 h 229"/>
              </a:gdLst>
              <a:ahLst/>
              <a:cxnLst>
                <a:cxn ang="T74">
                  <a:pos x="T0" y="T1"/>
                </a:cxn>
                <a:cxn ang="T75">
                  <a:pos x="T2" y="T3"/>
                </a:cxn>
                <a:cxn ang="T76">
                  <a:pos x="T4" y="T5"/>
                </a:cxn>
                <a:cxn ang="T77">
                  <a:pos x="T6" y="T7"/>
                </a:cxn>
                <a:cxn ang="T78">
                  <a:pos x="T8" y="T9"/>
                </a:cxn>
                <a:cxn ang="T79">
                  <a:pos x="T10" y="T11"/>
                </a:cxn>
                <a:cxn ang="T80">
                  <a:pos x="T12" y="T13"/>
                </a:cxn>
                <a:cxn ang="T81">
                  <a:pos x="T14" y="T15"/>
                </a:cxn>
                <a:cxn ang="T82">
                  <a:pos x="T16" y="T17"/>
                </a:cxn>
                <a:cxn ang="T83">
                  <a:pos x="T18" y="T19"/>
                </a:cxn>
                <a:cxn ang="T84">
                  <a:pos x="T20" y="T21"/>
                </a:cxn>
                <a:cxn ang="T85">
                  <a:pos x="T22" y="T23"/>
                </a:cxn>
                <a:cxn ang="T86">
                  <a:pos x="T24" y="T25"/>
                </a:cxn>
                <a:cxn ang="T87">
                  <a:pos x="T26" y="T27"/>
                </a:cxn>
                <a:cxn ang="T88">
                  <a:pos x="T28" y="T29"/>
                </a:cxn>
                <a:cxn ang="T89">
                  <a:pos x="T30" y="T31"/>
                </a:cxn>
                <a:cxn ang="T90">
                  <a:pos x="T32" y="T33"/>
                </a:cxn>
                <a:cxn ang="T91">
                  <a:pos x="T34" y="T35"/>
                </a:cxn>
                <a:cxn ang="T92">
                  <a:pos x="T36" y="T37"/>
                </a:cxn>
                <a:cxn ang="T93">
                  <a:pos x="T38" y="T39"/>
                </a:cxn>
                <a:cxn ang="T94">
                  <a:pos x="T40" y="T41"/>
                </a:cxn>
                <a:cxn ang="T95">
                  <a:pos x="T42" y="T43"/>
                </a:cxn>
                <a:cxn ang="T96">
                  <a:pos x="T44" y="T45"/>
                </a:cxn>
                <a:cxn ang="T97">
                  <a:pos x="T46" y="T47"/>
                </a:cxn>
                <a:cxn ang="T98">
                  <a:pos x="T48" y="T49"/>
                </a:cxn>
                <a:cxn ang="T99">
                  <a:pos x="T50" y="T51"/>
                </a:cxn>
                <a:cxn ang="T100">
                  <a:pos x="T52" y="T53"/>
                </a:cxn>
                <a:cxn ang="T101">
                  <a:pos x="T54" y="T55"/>
                </a:cxn>
                <a:cxn ang="T102">
                  <a:pos x="T56" y="T57"/>
                </a:cxn>
                <a:cxn ang="T103">
                  <a:pos x="T58" y="T59"/>
                </a:cxn>
                <a:cxn ang="T104">
                  <a:pos x="T60" y="T61"/>
                </a:cxn>
                <a:cxn ang="T105">
                  <a:pos x="T62" y="T63"/>
                </a:cxn>
                <a:cxn ang="T106">
                  <a:pos x="T64" y="T65"/>
                </a:cxn>
                <a:cxn ang="T107">
                  <a:pos x="T66" y="T67"/>
                </a:cxn>
                <a:cxn ang="T108">
                  <a:pos x="T68" y="T69"/>
                </a:cxn>
                <a:cxn ang="T109">
                  <a:pos x="T70" y="T71"/>
                </a:cxn>
                <a:cxn ang="T110">
                  <a:pos x="T72" y="T73"/>
                </a:cxn>
              </a:cxnLst>
              <a:rect l="T111" t="T112" r="T113" b="T114"/>
              <a:pathLst>
                <a:path w="261" h="229">
                  <a:moveTo>
                    <a:pt x="261" y="48"/>
                  </a:moveTo>
                  <a:lnTo>
                    <a:pt x="261" y="82"/>
                  </a:lnTo>
                  <a:lnTo>
                    <a:pt x="255" y="112"/>
                  </a:lnTo>
                  <a:lnTo>
                    <a:pt x="239" y="144"/>
                  </a:lnTo>
                  <a:lnTo>
                    <a:pt x="214" y="168"/>
                  </a:lnTo>
                  <a:lnTo>
                    <a:pt x="204" y="177"/>
                  </a:lnTo>
                  <a:lnTo>
                    <a:pt x="196" y="185"/>
                  </a:lnTo>
                  <a:lnTo>
                    <a:pt x="184" y="193"/>
                  </a:lnTo>
                  <a:lnTo>
                    <a:pt x="172" y="201"/>
                  </a:lnTo>
                  <a:lnTo>
                    <a:pt x="161" y="207"/>
                  </a:lnTo>
                  <a:lnTo>
                    <a:pt x="149" y="215"/>
                  </a:lnTo>
                  <a:lnTo>
                    <a:pt x="136" y="220"/>
                  </a:lnTo>
                  <a:lnTo>
                    <a:pt x="124" y="229"/>
                  </a:lnTo>
                  <a:lnTo>
                    <a:pt x="111" y="212"/>
                  </a:lnTo>
                  <a:lnTo>
                    <a:pt x="98" y="195"/>
                  </a:lnTo>
                  <a:lnTo>
                    <a:pt x="84" y="179"/>
                  </a:lnTo>
                  <a:lnTo>
                    <a:pt x="67" y="165"/>
                  </a:lnTo>
                  <a:lnTo>
                    <a:pt x="48" y="152"/>
                  </a:lnTo>
                  <a:lnTo>
                    <a:pt x="32" y="142"/>
                  </a:lnTo>
                  <a:lnTo>
                    <a:pt x="16" y="128"/>
                  </a:lnTo>
                  <a:lnTo>
                    <a:pt x="0" y="114"/>
                  </a:lnTo>
                  <a:lnTo>
                    <a:pt x="2" y="87"/>
                  </a:lnTo>
                  <a:lnTo>
                    <a:pt x="11" y="62"/>
                  </a:lnTo>
                  <a:lnTo>
                    <a:pt x="21" y="38"/>
                  </a:lnTo>
                  <a:lnTo>
                    <a:pt x="35" y="13"/>
                  </a:lnTo>
                  <a:lnTo>
                    <a:pt x="37" y="8"/>
                  </a:lnTo>
                  <a:lnTo>
                    <a:pt x="35" y="5"/>
                  </a:lnTo>
                  <a:lnTo>
                    <a:pt x="32" y="2"/>
                  </a:lnTo>
                  <a:lnTo>
                    <a:pt x="30" y="0"/>
                  </a:lnTo>
                  <a:lnTo>
                    <a:pt x="60" y="5"/>
                  </a:lnTo>
                  <a:lnTo>
                    <a:pt x="89" y="11"/>
                  </a:lnTo>
                  <a:lnTo>
                    <a:pt x="119" y="16"/>
                  </a:lnTo>
                  <a:lnTo>
                    <a:pt x="149" y="18"/>
                  </a:lnTo>
                  <a:lnTo>
                    <a:pt x="177" y="27"/>
                  </a:lnTo>
                  <a:lnTo>
                    <a:pt x="207" y="32"/>
                  </a:lnTo>
                  <a:lnTo>
                    <a:pt x="234" y="41"/>
                  </a:lnTo>
                  <a:lnTo>
                    <a:pt x="261" y="48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29" name="Freeform 281">
              <a:extLst>
                <a:ext uri="{FF2B5EF4-FFF2-40B4-BE49-F238E27FC236}">
                  <a16:creationId xmlns:a16="http://schemas.microsoft.com/office/drawing/2014/main" id="{5DE79AD6-76F5-7F4C-8E53-41FB78A022B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27" y="2079"/>
              <a:ext cx="81" cy="175"/>
            </a:xfrm>
            <a:custGeom>
              <a:avLst/>
              <a:gdLst>
                <a:gd name="T0" fmla="*/ 0 w 324"/>
                <a:gd name="T1" fmla="*/ 0 h 700"/>
                <a:gd name="T2" fmla="*/ 0 w 324"/>
                <a:gd name="T3" fmla="*/ 0 h 700"/>
                <a:gd name="T4" fmla="*/ 0 w 324"/>
                <a:gd name="T5" fmla="*/ 0 h 700"/>
                <a:gd name="T6" fmla="*/ 0 w 324"/>
                <a:gd name="T7" fmla="*/ 0 h 700"/>
                <a:gd name="T8" fmla="*/ 0 w 324"/>
                <a:gd name="T9" fmla="*/ 0 h 700"/>
                <a:gd name="T10" fmla="*/ 0 w 324"/>
                <a:gd name="T11" fmla="*/ 0 h 700"/>
                <a:gd name="T12" fmla="*/ 0 w 324"/>
                <a:gd name="T13" fmla="*/ 0 h 700"/>
                <a:gd name="T14" fmla="*/ 0 w 324"/>
                <a:gd name="T15" fmla="*/ 0 h 700"/>
                <a:gd name="T16" fmla="*/ 0 w 324"/>
                <a:gd name="T17" fmla="*/ 0 h 700"/>
                <a:gd name="T18" fmla="*/ 0 w 324"/>
                <a:gd name="T19" fmla="*/ 0 h 700"/>
                <a:gd name="T20" fmla="*/ 0 w 324"/>
                <a:gd name="T21" fmla="*/ 0 h 700"/>
                <a:gd name="T22" fmla="*/ 0 w 324"/>
                <a:gd name="T23" fmla="*/ 0 h 700"/>
                <a:gd name="T24" fmla="*/ 0 w 324"/>
                <a:gd name="T25" fmla="*/ 0 h 700"/>
                <a:gd name="T26" fmla="*/ 0 w 324"/>
                <a:gd name="T27" fmla="*/ 0 h 700"/>
                <a:gd name="T28" fmla="*/ 0 w 324"/>
                <a:gd name="T29" fmla="*/ 0 h 700"/>
                <a:gd name="T30" fmla="*/ 0 w 324"/>
                <a:gd name="T31" fmla="*/ 0 h 700"/>
                <a:gd name="T32" fmla="*/ 0 w 324"/>
                <a:gd name="T33" fmla="*/ 0 h 700"/>
                <a:gd name="T34" fmla="*/ 0 w 324"/>
                <a:gd name="T35" fmla="*/ 0 h 700"/>
                <a:gd name="T36" fmla="*/ 0 w 324"/>
                <a:gd name="T37" fmla="*/ 0 h 700"/>
                <a:gd name="T38" fmla="*/ 0 w 324"/>
                <a:gd name="T39" fmla="*/ 0 h 700"/>
                <a:gd name="T40" fmla="*/ 0 w 324"/>
                <a:gd name="T41" fmla="*/ 0 h 700"/>
                <a:gd name="T42" fmla="*/ 0 w 324"/>
                <a:gd name="T43" fmla="*/ 0 h 700"/>
                <a:gd name="T44" fmla="*/ 0 w 324"/>
                <a:gd name="T45" fmla="*/ 0 h 700"/>
                <a:gd name="T46" fmla="*/ 0 w 324"/>
                <a:gd name="T47" fmla="*/ 0 h 700"/>
                <a:gd name="T48" fmla="*/ 0 w 324"/>
                <a:gd name="T49" fmla="*/ 0 h 700"/>
                <a:gd name="T50" fmla="*/ 0 w 324"/>
                <a:gd name="T51" fmla="*/ 0 h 700"/>
                <a:gd name="T52" fmla="*/ 0 w 324"/>
                <a:gd name="T53" fmla="*/ 0 h 700"/>
                <a:gd name="T54" fmla="*/ 0 w 324"/>
                <a:gd name="T55" fmla="*/ 0 h 700"/>
                <a:gd name="T56" fmla="*/ 0 w 324"/>
                <a:gd name="T57" fmla="*/ 0 h 700"/>
                <a:gd name="T58" fmla="*/ 0 w 324"/>
                <a:gd name="T59" fmla="*/ 0 h 700"/>
                <a:gd name="T60" fmla="*/ 0 w 324"/>
                <a:gd name="T61" fmla="*/ 0 h 700"/>
                <a:gd name="T62" fmla="*/ 0 w 324"/>
                <a:gd name="T63" fmla="*/ 0 h 700"/>
                <a:gd name="T64" fmla="*/ 0 w 324"/>
                <a:gd name="T65" fmla="*/ 0 h 700"/>
                <a:gd name="T66" fmla="*/ 0 w 324"/>
                <a:gd name="T67" fmla="*/ 0 h 700"/>
                <a:gd name="T68" fmla="*/ 0 w 324"/>
                <a:gd name="T69" fmla="*/ 0 h 700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324"/>
                <a:gd name="T106" fmla="*/ 0 h 700"/>
                <a:gd name="T107" fmla="*/ 324 w 324"/>
                <a:gd name="T108" fmla="*/ 700 h 700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324" h="700">
                  <a:moveTo>
                    <a:pt x="315" y="574"/>
                  </a:moveTo>
                  <a:lnTo>
                    <a:pt x="324" y="581"/>
                  </a:lnTo>
                  <a:lnTo>
                    <a:pt x="324" y="592"/>
                  </a:lnTo>
                  <a:lnTo>
                    <a:pt x="321" y="602"/>
                  </a:lnTo>
                  <a:lnTo>
                    <a:pt x="324" y="616"/>
                  </a:lnTo>
                  <a:lnTo>
                    <a:pt x="321" y="700"/>
                  </a:lnTo>
                  <a:lnTo>
                    <a:pt x="310" y="670"/>
                  </a:lnTo>
                  <a:lnTo>
                    <a:pt x="294" y="640"/>
                  </a:lnTo>
                  <a:lnTo>
                    <a:pt x="275" y="611"/>
                  </a:lnTo>
                  <a:lnTo>
                    <a:pt x="255" y="581"/>
                  </a:lnTo>
                  <a:lnTo>
                    <a:pt x="253" y="581"/>
                  </a:lnTo>
                  <a:lnTo>
                    <a:pt x="248" y="578"/>
                  </a:lnTo>
                  <a:lnTo>
                    <a:pt x="245" y="572"/>
                  </a:lnTo>
                  <a:lnTo>
                    <a:pt x="239" y="569"/>
                  </a:lnTo>
                  <a:lnTo>
                    <a:pt x="209" y="504"/>
                  </a:lnTo>
                  <a:lnTo>
                    <a:pt x="179" y="439"/>
                  </a:lnTo>
                  <a:lnTo>
                    <a:pt x="149" y="374"/>
                  </a:lnTo>
                  <a:lnTo>
                    <a:pt x="119" y="308"/>
                  </a:lnTo>
                  <a:lnTo>
                    <a:pt x="89" y="243"/>
                  </a:lnTo>
                  <a:lnTo>
                    <a:pt x="59" y="174"/>
                  </a:lnTo>
                  <a:lnTo>
                    <a:pt x="29" y="109"/>
                  </a:lnTo>
                  <a:lnTo>
                    <a:pt x="0" y="41"/>
                  </a:lnTo>
                  <a:lnTo>
                    <a:pt x="7" y="43"/>
                  </a:lnTo>
                  <a:lnTo>
                    <a:pt x="16" y="43"/>
                  </a:lnTo>
                  <a:lnTo>
                    <a:pt x="18" y="43"/>
                  </a:lnTo>
                  <a:lnTo>
                    <a:pt x="24" y="38"/>
                  </a:lnTo>
                  <a:lnTo>
                    <a:pt x="29" y="0"/>
                  </a:lnTo>
                  <a:lnTo>
                    <a:pt x="68" y="71"/>
                  </a:lnTo>
                  <a:lnTo>
                    <a:pt x="103" y="142"/>
                  </a:lnTo>
                  <a:lnTo>
                    <a:pt x="138" y="213"/>
                  </a:lnTo>
                  <a:lnTo>
                    <a:pt x="174" y="284"/>
                  </a:lnTo>
                  <a:lnTo>
                    <a:pt x="209" y="357"/>
                  </a:lnTo>
                  <a:lnTo>
                    <a:pt x="245" y="427"/>
                  </a:lnTo>
                  <a:lnTo>
                    <a:pt x="280" y="501"/>
                  </a:lnTo>
                  <a:lnTo>
                    <a:pt x="315" y="574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0" name="Freeform 282">
              <a:extLst>
                <a:ext uri="{FF2B5EF4-FFF2-40B4-BE49-F238E27FC236}">
                  <a16:creationId xmlns:a16="http://schemas.microsoft.com/office/drawing/2014/main" id="{CCD188B2-CA5C-CE4B-9CE9-C19C13DC92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3" y="2091"/>
              <a:ext cx="8" cy="7"/>
            </a:xfrm>
            <a:custGeom>
              <a:avLst/>
              <a:gdLst>
                <a:gd name="T0" fmla="*/ 0 w 36"/>
                <a:gd name="T1" fmla="*/ 0 h 30"/>
                <a:gd name="T2" fmla="*/ 0 w 36"/>
                <a:gd name="T3" fmla="*/ 0 h 30"/>
                <a:gd name="T4" fmla="*/ 0 w 36"/>
                <a:gd name="T5" fmla="*/ 0 h 30"/>
                <a:gd name="T6" fmla="*/ 0 w 36"/>
                <a:gd name="T7" fmla="*/ 0 h 30"/>
                <a:gd name="T8" fmla="*/ 0 w 36"/>
                <a:gd name="T9" fmla="*/ 0 h 30"/>
                <a:gd name="T10" fmla="*/ 0 w 36"/>
                <a:gd name="T11" fmla="*/ 0 h 30"/>
                <a:gd name="T12" fmla="*/ 0 w 36"/>
                <a:gd name="T13" fmla="*/ 0 h 30"/>
                <a:gd name="T14" fmla="*/ 0 w 36"/>
                <a:gd name="T15" fmla="*/ 0 h 30"/>
                <a:gd name="T16" fmla="*/ 0 w 36"/>
                <a:gd name="T17" fmla="*/ 0 h 30"/>
                <a:gd name="T18" fmla="*/ 0 w 36"/>
                <a:gd name="T19" fmla="*/ 0 h 3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36"/>
                <a:gd name="T31" fmla="*/ 0 h 30"/>
                <a:gd name="T32" fmla="*/ 36 w 36"/>
                <a:gd name="T33" fmla="*/ 30 h 3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36" h="30">
                  <a:moveTo>
                    <a:pt x="36" y="19"/>
                  </a:moveTo>
                  <a:lnTo>
                    <a:pt x="6" y="30"/>
                  </a:lnTo>
                  <a:lnTo>
                    <a:pt x="2" y="22"/>
                  </a:lnTo>
                  <a:lnTo>
                    <a:pt x="2" y="14"/>
                  </a:lnTo>
                  <a:lnTo>
                    <a:pt x="0" y="5"/>
                  </a:lnTo>
                  <a:lnTo>
                    <a:pt x="6" y="0"/>
                  </a:lnTo>
                  <a:lnTo>
                    <a:pt x="14" y="5"/>
                  </a:lnTo>
                  <a:lnTo>
                    <a:pt x="22" y="8"/>
                  </a:lnTo>
                  <a:lnTo>
                    <a:pt x="30" y="14"/>
                  </a:lnTo>
                  <a:lnTo>
                    <a:pt x="36" y="19"/>
                  </a:lnTo>
                  <a:close/>
                </a:path>
              </a:pathLst>
            </a:custGeom>
            <a:solidFill>
              <a:srgbClr val="8E8E8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1" name="Freeform 283">
              <a:extLst>
                <a:ext uri="{FF2B5EF4-FFF2-40B4-BE49-F238E27FC236}">
                  <a16:creationId xmlns:a16="http://schemas.microsoft.com/office/drawing/2014/main" id="{31B8A7FA-5C5C-E541-8C5D-D18DB3EC3213}"/>
                </a:ext>
              </a:extLst>
            </p:cNvPr>
            <p:cNvSpPr>
              <a:spLocks/>
            </p:cNvSpPr>
            <p:nvPr/>
          </p:nvSpPr>
          <p:spPr bwMode="auto">
            <a:xfrm>
              <a:off x="2672" y="2096"/>
              <a:ext cx="103" cy="179"/>
            </a:xfrm>
            <a:custGeom>
              <a:avLst/>
              <a:gdLst>
                <a:gd name="T0" fmla="*/ 0 w 411"/>
                <a:gd name="T1" fmla="*/ 0 h 717"/>
                <a:gd name="T2" fmla="*/ 0 w 411"/>
                <a:gd name="T3" fmla="*/ 0 h 717"/>
                <a:gd name="T4" fmla="*/ 0 w 411"/>
                <a:gd name="T5" fmla="*/ 0 h 717"/>
                <a:gd name="T6" fmla="*/ 0 w 411"/>
                <a:gd name="T7" fmla="*/ 0 h 717"/>
                <a:gd name="T8" fmla="*/ 0 w 411"/>
                <a:gd name="T9" fmla="*/ 0 h 717"/>
                <a:gd name="T10" fmla="*/ 0 w 411"/>
                <a:gd name="T11" fmla="*/ 0 h 717"/>
                <a:gd name="T12" fmla="*/ 0 w 411"/>
                <a:gd name="T13" fmla="*/ 0 h 717"/>
                <a:gd name="T14" fmla="*/ 0 w 411"/>
                <a:gd name="T15" fmla="*/ 0 h 717"/>
                <a:gd name="T16" fmla="*/ 0 w 411"/>
                <a:gd name="T17" fmla="*/ 0 h 717"/>
                <a:gd name="T18" fmla="*/ 0 w 411"/>
                <a:gd name="T19" fmla="*/ 0 h 717"/>
                <a:gd name="T20" fmla="*/ 0 w 411"/>
                <a:gd name="T21" fmla="*/ 0 h 717"/>
                <a:gd name="T22" fmla="*/ 0 w 411"/>
                <a:gd name="T23" fmla="*/ 0 h 717"/>
                <a:gd name="T24" fmla="*/ 0 w 411"/>
                <a:gd name="T25" fmla="*/ 0 h 717"/>
                <a:gd name="T26" fmla="*/ 0 w 411"/>
                <a:gd name="T27" fmla="*/ 0 h 717"/>
                <a:gd name="T28" fmla="*/ 0 w 411"/>
                <a:gd name="T29" fmla="*/ 0 h 717"/>
                <a:gd name="T30" fmla="*/ 0 w 411"/>
                <a:gd name="T31" fmla="*/ 0 h 717"/>
                <a:gd name="T32" fmla="*/ 0 w 411"/>
                <a:gd name="T33" fmla="*/ 0 h 717"/>
                <a:gd name="T34" fmla="*/ 0 w 411"/>
                <a:gd name="T35" fmla="*/ 0 h 717"/>
                <a:gd name="T36" fmla="*/ 0 w 411"/>
                <a:gd name="T37" fmla="*/ 0 h 717"/>
                <a:gd name="T38" fmla="*/ 0 w 411"/>
                <a:gd name="T39" fmla="*/ 0 h 717"/>
                <a:gd name="T40" fmla="*/ 0 w 411"/>
                <a:gd name="T41" fmla="*/ 0 h 717"/>
                <a:gd name="T42" fmla="*/ 0 w 411"/>
                <a:gd name="T43" fmla="*/ 0 h 717"/>
                <a:gd name="T44" fmla="*/ 0 w 411"/>
                <a:gd name="T45" fmla="*/ 0 h 717"/>
                <a:gd name="T46" fmla="*/ 0 w 411"/>
                <a:gd name="T47" fmla="*/ 0 h 717"/>
                <a:gd name="T48" fmla="*/ 0 w 411"/>
                <a:gd name="T49" fmla="*/ 0 h 717"/>
                <a:gd name="T50" fmla="*/ 0 w 411"/>
                <a:gd name="T51" fmla="*/ 0 h 717"/>
                <a:gd name="T52" fmla="*/ 0 w 411"/>
                <a:gd name="T53" fmla="*/ 0 h 717"/>
                <a:gd name="T54" fmla="*/ 0 w 411"/>
                <a:gd name="T55" fmla="*/ 0 h 717"/>
                <a:gd name="T56" fmla="*/ 0 w 411"/>
                <a:gd name="T57" fmla="*/ 0 h 717"/>
                <a:gd name="T58" fmla="*/ 0 w 411"/>
                <a:gd name="T59" fmla="*/ 0 h 717"/>
                <a:gd name="T60" fmla="*/ 0 w 411"/>
                <a:gd name="T61" fmla="*/ 0 h 717"/>
                <a:gd name="T62" fmla="*/ 0 w 411"/>
                <a:gd name="T63" fmla="*/ 0 h 717"/>
                <a:gd name="T64" fmla="*/ 0 w 411"/>
                <a:gd name="T65" fmla="*/ 0 h 717"/>
                <a:gd name="T66" fmla="*/ 0 w 411"/>
                <a:gd name="T67" fmla="*/ 0 h 717"/>
                <a:gd name="T68" fmla="*/ 0 w 411"/>
                <a:gd name="T69" fmla="*/ 0 h 717"/>
                <a:gd name="T70" fmla="*/ 0 w 411"/>
                <a:gd name="T71" fmla="*/ 0 h 717"/>
                <a:gd name="T72" fmla="*/ 0 w 411"/>
                <a:gd name="T73" fmla="*/ 0 h 717"/>
                <a:gd name="T74" fmla="*/ 0 w 411"/>
                <a:gd name="T75" fmla="*/ 0 h 717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w 411"/>
                <a:gd name="T115" fmla="*/ 0 h 717"/>
                <a:gd name="T116" fmla="*/ 411 w 411"/>
                <a:gd name="T117" fmla="*/ 717 h 717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T114" t="T115" r="T116" b="T117"/>
              <a:pathLst>
                <a:path w="411" h="717">
                  <a:moveTo>
                    <a:pt x="405" y="679"/>
                  </a:moveTo>
                  <a:lnTo>
                    <a:pt x="405" y="681"/>
                  </a:lnTo>
                  <a:lnTo>
                    <a:pt x="405" y="685"/>
                  </a:lnTo>
                  <a:lnTo>
                    <a:pt x="409" y="687"/>
                  </a:lnTo>
                  <a:lnTo>
                    <a:pt x="411" y="687"/>
                  </a:lnTo>
                  <a:lnTo>
                    <a:pt x="389" y="692"/>
                  </a:lnTo>
                  <a:lnTo>
                    <a:pt x="370" y="697"/>
                  </a:lnTo>
                  <a:lnTo>
                    <a:pt x="349" y="701"/>
                  </a:lnTo>
                  <a:lnTo>
                    <a:pt x="329" y="706"/>
                  </a:lnTo>
                  <a:lnTo>
                    <a:pt x="308" y="708"/>
                  </a:lnTo>
                  <a:lnTo>
                    <a:pt x="289" y="711"/>
                  </a:lnTo>
                  <a:lnTo>
                    <a:pt x="269" y="715"/>
                  </a:lnTo>
                  <a:lnTo>
                    <a:pt x="250" y="717"/>
                  </a:lnTo>
                  <a:lnTo>
                    <a:pt x="245" y="690"/>
                  </a:lnTo>
                  <a:lnTo>
                    <a:pt x="242" y="662"/>
                  </a:lnTo>
                  <a:lnTo>
                    <a:pt x="239" y="637"/>
                  </a:lnTo>
                  <a:lnTo>
                    <a:pt x="237" y="614"/>
                  </a:lnTo>
                  <a:lnTo>
                    <a:pt x="248" y="616"/>
                  </a:lnTo>
                  <a:lnTo>
                    <a:pt x="258" y="619"/>
                  </a:lnTo>
                  <a:lnTo>
                    <a:pt x="269" y="619"/>
                  </a:lnTo>
                  <a:lnTo>
                    <a:pt x="280" y="619"/>
                  </a:lnTo>
                  <a:lnTo>
                    <a:pt x="292" y="619"/>
                  </a:lnTo>
                  <a:lnTo>
                    <a:pt x="302" y="616"/>
                  </a:lnTo>
                  <a:lnTo>
                    <a:pt x="313" y="614"/>
                  </a:lnTo>
                  <a:lnTo>
                    <a:pt x="324" y="607"/>
                  </a:lnTo>
                  <a:lnTo>
                    <a:pt x="329" y="597"/>
                  </a:lnTo>
                  <a:lnTo>
                    <a:pt x="329" y="584"/>
                  </a:lnTo>
                  <a:lnTo>
                    <a:pt x="329" y="570"/>
                  </a:lnTo>
                  <a:lnTo>
                    <a:pt x="327" y="559"/>
                  </a:lnTo>
                  <a:lnTo>
                    <a:pt x="319" y="550"/>
                  </a:lnTo>
                  <a:lnTo>
                    <a:pt x="310" y="545"/>
                  </a:lnTo>
                  <a:lnTo>
                    <a:pt x="302" y="540"/>
                  </a:lnTo>
                  <a:lnTo>
                    <a:pt x="292" y="536"/>
                  </a:lnTo>
                  <a:lnTo>
                    <a:pt x="280" y="534"/>
                  </a:lnTo>
                  <a:lnTo>
                    <a:pt x="267" y="534"/>
                  </a:lnTo>
                  <a:lnTo>
                    <a:pt x="256" y="534"/>
                  </a:lnTo>
                  <a:lnTo>
                    <a:pt x="245" y="536"/>
                  </a:lnTo>
                  <a:lnTo>
                    <a:pt x="226" y="543"/>
                  </a:lnTo>
                  <a:lnTo>
                    <a:pt x="207" y="496"/>
                  </a:lnTo>
                  <a:lnTo>
                    <a:pt x="185" y="453"/>
                  </a:lnTo>
                  <a:lnTo>
                    <a:pt x="166" y="407"/>
                  </a:lnTo>
                  <a:lnTo>
                    <a:pt x="147" y="359"/>
                  </a:lnTo>
                  <a:lnTo>
                    <a:pt x="125" y="313"/>
                  </a:lnTo>
                  <a:lnTo>
                    <a:pt x="106" y="264"/>
                  </a:lnTo>
                  <a:lnTo>
                    <a:pt x="85" y="218"/>
                  </a:lnTo>
                  <a:lnTo>
                    <a:pt x="65" y="172"/>
                  </a:lnTo>
                  <a:lnTo>
                    <a:pt x="76" y="170"/>
                  </a:lnTo>
                  <a:lnTo>
                    <a:pt x="90" y="170"/>
                  </a:lnTo>
                  <a:lnTo>
                    <a:pt x="101" y="170"/>
                  </a:lnTo>
                  <a:lnTo>
                    <a:pt x="111" y="166"/>
                  </a:lnTo>
                  <a:lnTo>
                    <a:pt x="125" y="163"/>
                  </a:lnTo>
                  <a:lnTo>
                    <a:pt x="136" y="161"/>
                  </a:lnTo>
                  <a:lnTo>
                    <a:pt x="144" y="156"/>
                  </a:lnTo>
                  <a:lnTo>
                    <a:pt x="155" y="147"/>
                  </a:lnTo>
                  <a:lnTo>
                    <a:pt x="152" y="134"/>
                  </a:lnTo>
                  <a:lnTo>
                    <a:pt x="147" y="120"/>
                  </a:lnTo>
                  <a:lnTo>
                    <a:pt x="141" y="109"/>
                  </a:lnTo>
                  <a:lnTo>
                    <a:pt x="131" y="95"/>
                  </a:lnTo>
                  <a:lnTo>
                    <a:pt x="120" y="92"/>
                  </a:lnTo>
                  <a:lnTo>
                    <a:pt x="106" y="92"/>
                  </a:lnTo>
                  <a:lnTo>
                    <a:pt x="95" y="92"/>
                  </a:lnTo>
                  <a:lnTo>
                    <a:pt x="81" y="92"/>
                  </a:lnTo>
                  <a:lnTo>
                    <a:pt x="71" y="95"/>
                  </a:lnTo>
                  <a:lnTo>
                    <a:pt x="60" y="99"/>
                  </a:lnTo>
                  <a:lnTo>
                    <a:pt x="49" y="101"/>
                  </a:lnTo>
                  <a:lnTo>
                    <a:pt x="41" y="106"/>
                  </a:lnTo>
                  <a:lnTo>
                    <a:pt x="41" y="112"/>
                  </a:lnTo>
                  <a:lnTo>
                    <a:pt x="0" y="16"/>
                  </a:lnTo>
                  <a:lnTo>
                    <a:pt x="14" y="14"/>
                  </a:lnTo>
                  <a:lnTo>
                    <a:pt x="27" y="11"/>
                  </a:lnTo>
                  <a:lnTo>
                    <a:pt x="43" y="9"/>
                  </a:lnTo>
                  <a:lnTo>
                    <a:pt x="57" y="5"/>
                  </a:lnTo>
                  <a:lnTo>
                    <a:pt x="73" y="5"/>
                  </a:lnTo>
                  <a:lnTo>
                    <a:pt x="90" y="3"/>
                  </a:lnTo>
                  <a:lnTo>
                    <a:pt x="103" y="3"/>
                  </a:lnTo>
                  <a:lnTo>
                    <a:pt x="120" y="0"/>
                  </a:lnTo>
                  <a:lnTo>
                    <a:pt x="405" y="679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2" name="Freeform 284">
              <a:extLst>
                <a:ext uri="{FF2B5EF4-FFF2-40B4-BE49-F238E27FC236}">
                  <a16:creationId xmlns:a16="http://schemas.microsoft.com/office/drawing/2014/main" id="{A3314C39-67E8-074A-9E34-00091FF38EB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7" y="2099"/>
              <a:ext cx="35" cy="6"/>
            </a:xfrm>
            <a:custGeom>
              <a:avLst/>
              <a:gdLst>
                <a:gd name="T0" fmla="*/ 0 w 138"/>
                <a:gd name="T1" fmla="*/ 0 h 21"/>
                <a:gd name="T2" fmla="*/ 0 w 138"/>
                <a:gd name="T3" fmla="*/ 0 h 21"/>
                <a:gd name="T4" fmla="*/ 0 w 138"/>
                <a:gd name="T5" fmla="*/ 0 h 21"/>
                <a:gd name="T6" fmla="*/ 0 w 138"/>
                <a:gd name="T7" fmla="*/ 0 h 21"/>
                <a:gd name="T8" fmla="*/ 0 w 138"/>
                <a:gd name="T9" fmla="*/ 0 h 21"/>
                <a:gd name="T10" fmla="*/ 0 w 138"/>
                <a:gd name="T11" fmla="*/ 0 h 21"/>
                <a:gd name="T12" fmla="*/ 0 w 138"/>
                <a:gd name="T13" fmla="*/ 0 h 21"/>
                <a:gd name="T14" fmla="*/ 0 w 138"/>
                <a:gd name="T15" fmla="*/ 0 h 21"/>
                <a:gd name="T16" fmla="*/ 0 w 138"/>
                <a:gd name="T17" fmla="*/ 0 h 21"/>
                <a:gd name="T18" fmla="*/ 0 w 138"/>
                <a:gd name="T19" fmla="*/ 0 h 21"/>
                <a:gd name="T20" fmla="*/ 0 w 138"/>
                <a:gd name="T21" fmla="*/ 0 h 21"/>
                <a:gd name="T22" fmla="*/ 0 w 138"/>
                <a:gd name="T23" fmla="*/ 0 h 21"/>
                <a:gd name="T24" fmla="*/ 0 w 138"/>
                <a:gd name="T25" fmla="*/ 0 h 21"/>
                <a:gd name="T26" fmla="*/ 0 w 138"/>
                <a:gd name="T27" fmla="*/ 0 h 21"/>
                <a:gd name="T28" fmla="*/ 0 w 138"/>
                <a:gd name="T29" fmla="*/ 0 h 21"/>
                <a:gd name="T30" fmla="*/ 0 w 138"/>
                <a:gd name="T31" fmla="*/ 0 h 21"/>
                <a:gd name="T32" fmla="*/ 0 w 138"/>
                <a:gd name="T33" fmla="*/ 0 h 21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38"/>
                <a:gd name="T52" fmla="*/ 0 h 21"/>
                <a:gd name="T53" fmla="*/ 138 w 138"/>
                <a:gd name="T54" fmla="*/ 21 h 21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38" h="21">
                  <a:moveTo>
                    <a:pt x="0" y="13"/>
                  </a:moveTo>
                  <a:lnTo>
                    <a:pt x="16" y="5"/>
                  </a:lnTo>
                  <a:lnTo>
                    <a:pt x="35" y="0"/>
                  </a:lnTo>
                  <a:lnTo>
                    <a:pt x="51" y="0"/>
                  </a:lnTo>
                  <a:lnTo>
                    <a:pt x="70" y="2"/>
                  </a:lnTo>
                  <a:lnTo>
                    <a:pt x="87" y="7"/>
                  </a:lnTo>
                  <a:lnTo>
                    <a:pt x="106" y="13"/>
                  </a:lnTo>
                  <a:lnTo>
                    <a:pt x="122" y="19"/>
                  </a:lnTo>
                  <a:lnTo>
                    <a:pt x="138" y="21"/>
                  </a:lnTo>
                  <a:lnTo>
                    <a:pt x="133" y="21"/>
                  </a:lnTo>
                  <a:lnTo>
                    <a:pt x="122" y="21"/>
                  </a:lnTo>
                  <a:lnTo>
                    <a:pt x="106" y="19"/>
                  </a:lnTo>
                  <a:lnTo>
                    <a:pt x="83" y="16"/>
                  </a:lnTo>
                  <a:lnTo>
                    <a:pt x="62" y="16"/>
                  </a:lnTo>
                  <a:lnTo>
                    <a:pt x="37" y="13"/>
                  </a:lnTo>
                  <a:lnTo>
                    <a:pt x="16" y="13"/>
                  </a:lnTo>
                  <a:lnTo>
                    <a:pt x="0" y="13"/>
                  </a:lnTo>
                  <a:close/>
                </a:path>
              </a:pathLst>
            </a:custGeom>
            <a:solidFill>
              <a:srgbClr val="8E8E8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3" name="Freeform 285">
              <a:extLst>
                <a:ext uri="{FF2B5EF4-FFF2-40B4-BE49-F238E27FC236}">
                  <a16:creationId xmlns:a16="http://schemas.microsoft.com/office/drawing/2014/main" id="{0DAD9A13-3FE9-C443-B145-CA71BED324E7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7" y="2100"/>
              <a:ext cx="78" cy="180"/>
            </a:xfrm>
            <a:custGeom>
              <a:avLst/>
              <a:gdLst>
                <a:gd name="T0" fmla="*/ 0 w 312"/>
                <a:gd name="T1" fmla="*/ 0 h 722"/>
                <a:gd name="T2" fmla="*/ 0 w 312"/>
                <a:gd name="T3" fmla="*/ 0 h 722"/>
                <a:gd name="T4" fmla="*/ 0 w 312"/>
                <a:gd name="T5" fmla="*/ 0 h 722"/>
                <a:gd name="T6" fmla="*/ 0 w 312"/>
                <a:gd name="T7" fmla="*/ 0 h 722"/>
                <a:gd name="T8" fmla="*/ 0 w 312"/>
                <a:gd name="T9" fmla="*/ 0 h 722"/>
                <a:gd name="T10" fmla="*/ 0 w 312"/>
                <a:gd name="T11" fmla="*/ 0 h 722"/>
                <a:gd name="T12" fmla="*/ 0 w 312"/>
                <a:gd name="T13" fmla="*/ 0 h 722"/>
                <a:gd name="T14" fmla="*/ 0 w 312"/>
                <a:gd name="T15" fmla="*/ 0 h 722"/>
                <a:gd name="T16" fmla="*/ 0 w 312"/>
                <a:gd name="T17" fmla="*/ 0 h 722"/>
                <a:gd name="T18" fmla="*/ 0 w 312"/>
                <a:gd name="T19" fmla="*/ 0 h 722"/>
                <a:gd name="T20" fmla="*/ 0 w 312"/>
                <a:gd name="T21" fmla="*/ 0 h 722"/>
                <a:gd name="T22" fmla="*/ 0 w 312"/>
                <a:gd name="T23" fmla="*/ 0 h 722"/>
                <a:gd name="T24" fmla="*/ 0 w 312"/>
                <a:gd name="T25" fmla="*/ 0 h 722"/>
                <a:gd name="T26" fmla="*/ 0 w 312"/>
                <a:gd name="T27" fmla="*/ 0 h 722"/>
                <a:gd name="T28" fmla="*/ 0 w 312"/>
                <a:gd name="T29" fmla="*/ 0 h 722"/>
                <a:gd name="T30" fmla="*/ 0 w 312"/>
                <a:gd name="T31" fmla="*/ 0 h 722"/>
                <a:gd name="T32" fmla="*/ 0 w 312"/>
                <a:gd name="T33" fmla="*/ 0 h 722"/>
                <a:gd name="T34" fmla="*/ 0 w 312"/>
                <a:gd name="T35" fmla="*/ 0 h 722"/>
                <a:gd name="T36" fmla="*/ 0 w 312"/>
                <a:gd name="T37" fmla="*/ 0 h 722"/>
                <a:gd name="T38" fmla="*/ 0 w 312"/>
                <a:gd name="T39" fmla="*/ 0 h 722"/>
                <a:gd name="T40" fmla="*/ 0 w 312"/>
                <a:gd name="T41" fmla="*/ 0 h 722"/>
                <a:gd name="T42" fmla="*/ 0 w 312"/>
                <a:gd name="T43" fmla="*/ 0 h 722"/>
                <a:gd name="T44" fmla="*/ 0 w 312"/>
                <a:gd name="T45" fmla="*/ 0 h 722"/>
                <a:gd name="T46" fmla="*/ 0 w 312"/>
                <a:gd name="T47" fmla="*/ 0 h 722"/>
                <a:gd name="T48" fmla="*/ 0 w 312"/>
                <a:gd name="T49" fmla="*/ 0 h 722"/>
                <a:gd name="T50" fmla="*/ 0 w 312"/>
                <a:gd name="T51" fmla="*/ 0 h 722"/>
                <a:gd name="T52" fmla="*/ 0 w 312"/>
                <a:gd name="T53" fmla="*/ 0 h 722"/>
                <a:gd name="T54" fmla="*/ 0 w 312"/>
                <a:gd name="T55" fmla="*/ 0 h 722"/>
                <a:gd name="T56" fmla="*/ 0 w 312"/>
                <a:gd name="T57" fmla="*/ 0 h 722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312"/>
                <a:gd name="T88" fmla="*/ 0 h 722"/>
                <a:gd name="T89" fmla="*/ 312 w 312"/>
                <a:gd name="T90" fmla="*/ 722 h 722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312" h="722">
                  <a:moveTo>
                    <a:pt x="34" y="5"/>
                  </a:moveTo>
                  <a:lnTo>
                    <a:pt x="66" y="93"/>
                  </a:lnTo>
                  <a:lnTo>
                    <a:pt x="101" y="184"/>
                  </a:lnTo>
                  <a:lnTo>
                    <a:pt x="137" y="270"/>
                  </a:lnTo>
                  <a:lnTo>
                    <a:pt x="172" y="357"/>
                  </a:lnTo>
                  <a:lnTo>
                    <a:pt x="205" y="448"/>
                  </a:lnTo>
                  <a:lnTo>
                    <a:pt x="241" y="534"/>
                  </a:lnTo>
                  <a:lnTo>
                    <a:pt x="276" y="625"/>
                  </a:lnTo>
                  <a:lnTo>
                    <a:pt x="312" y="711"/>
                  </a:lnTo>
                  <a:lnTo>
                    <a:pt x="292" y="715"/>
                  </a:lnTo>
                  <a:lnTo>
                    <a:pt x="276" y="717"/>
                  </a:lnTo>
                  <a:lnTo>
                    <a:pt x="257" y="720"/>
                  </a:lnTo>
                  <a:lnTo>
                    <a:pt x="241" y="722"/>
                  </a:lnTo>
                  <a:lnTo>
                    <a:pt x="241" y="679"/>
                  </a:lnTo>
                  <a:lnTo>
                    <a:pt x="237" y="638"/>
                  </a:lnTo>
                  <a:lnTo>
                    <a:pt x="232" y="595"/>
                  </a:lnTo>
                  <a:lnTo>
                    <a:pt x="225" y="551"/>
                  </a:lnTo>
                  <a:lnTo>
                    <a:pt x="195" y="483"/>
                  </a:lnTo>
                  <a:lnTo>
                    <a:pt x="167" y="414"/>
                  </a:lnTo>
                  <a:lnTo>
                    <a:pt x="137" y="347"/>
                  </a:lnTo>
                  <a:lnTo>
                    <a:pt x="110" y="278"/>
                  </a:lnTo>
                  <a:lnTo>
                    <a:pt x="82" y="207"/>
                  </a:lnTo>
                  <a:lnTo>
                    <a:pt x="55" y="140"/>
                  </a:lnTo>
                  <a:lnTo>
                    <a:pt x="28" y="69"/>
                  </a:lnTo>
                  <a:lnTo>
                    <a:pt x="0" y="0"/>
                  </a:lnTo>
                  <a:lnTo>
                    <a:pt x="6" y="3"/>
                  </a:lnTo>
                  <a:lnTo>
                    <a:pt x="14" y="5"/>
                  </a:lnTo>
                  <a:lnTo>
                    <a:pt x="23" y="9"/>
                  </a:lnTo>
                  <a:lnTo>
                    <a:pt x="34" y="5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4" name="Freeform 286">
              <a:extLst>
                <a:ext uri="{FF2B5EF4-FFF2-40B4-BE49-F238E27FC236}">
                  <a16:creationId xmlns:a16="http://schemas.microsoft.com/office/drawing/2014/main" id="{67FC716E-91B5-5F48-9066-91E2DB14204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0" y="2103"/>
              <a:ext cx="79" cy="47"/>
            </a:xfrm>
            <a:custGeom>
              <a:avLst/>
              <a:gdLst>
                <a:gd name="T0" fmla="*/ 0 w 316"/>
                <a:gd name="T1" fmla="*/ 0 h 186"/>
                <a:gd name="T2" fmla="*/ 0 w 316"/>
                <a:gd name="T3" fmla="*/ 0 h 186"/>
                <a:gd name="T4" fmla="*/ 0 w 316"/>
                <a:gd name="T5" fmla="*/ 0 h 186"/>
                <a:gd name="T6" fmla="*/ 0 w 316"/>
                <a:gd name="T7" fmla="*/ 0 h 186"/>
                <a:gd name="T8" fmla="*/ 0 w 316"/>
                <a:gd name="T9" fmla="*/ 0 h 186"/>
                <a:gd name="T10" fmla="*/ 0 w 316"/>
                <a:gd name="T11" fmla="*/ 0 h 186"/>
                <a:gd name="T12" fmla="*/ 0 w 316"/>
                <a:gd name="T13" fmla="*/ 0 h 186"/>
                <a:gd name="T14" fmla="*/ 0 w 316"/>
                <a:gd name="T15" fmla="*/ 0 h 186"/>
                <a:gd name="T16" fmla="*/ 0 w 316"/>
                <a:gd name="T17" fmla="*/ 0 h 186"/>
                <a:gd name="T18" fmla="*/ 0 w 316"/>
                <a:gd name="T19" fmla="*/ 0 h 186"/>
                <a:gd name="T20" fmla="*/ 0 w 316"/>
                <a:gd name="T21" fmla="*/ 0 h 186"/>
                <a:gd name="T22" fmla="*/ 0 w 316"/>
                <a:gd name="T23" fmla="*/ 0 h 186"/>
                <a:gd name="T24" fmla="*/ 0 w 316"/>
                <a:gd name="T25" fmla="*/ 0 h 186"/>
                <a:gd name="T26" fmla="*/ 0 w 316"/>
                <a:gd name="T27" fmla="*/ 0 h 186"/>
                <a:gd name="T28" fmla="*/ 0 w 316"/>
                <a:gd name="T29" fmla="*/ 0 h 186"/>
                <a:gd name="T30" fmla="*/ 0 w 316"/>
                <a:gd name="T31" fmla="*/ 0 h 186"/>
                <a:gd name="T32" fmla="*/ 0 w 316"/>
                <a:gd name="T33" fmla="*/ 0 h 186"/>
                <a:gd name="T34" fmla="*/ 0 w 316"/>
                <a:gd name="T35" fmla="*/ 0 h 186"/>
                <a:gd name="T36" fmla="*/ 0 w 316"/>
                <a:gd name="T37" fmla="*/ 0 h 186"/>
                <a:gd name="T38" fmla="*/ 0 w 316"/>
                <a:gd name="T39" fmla="*/ 0 h 186"/>
                <a:gd name="T40" fmla="*/ 0 w 316"/>
                <a:gd name="T41" fmla="*/ 0 h 186"/>
                <a:gd name="T42" fmla="*/ 0 w 316"/>
                <a:gd name="T43" fmla="*/ 0 h 186"/>
                <a:gd name="T44" fmla="*/ 0 w 316"/>
                <a:gd name="T45" fmla="*/ 0 h 186"/>
                <a:gd name="T46" fmla="*/ 0 w 316"/>
                <a:gd name="T47" fmla="*/ 0 h 186"/>
                <a:gd name="T48" fmla="*/ 0 w 316"/>
                <a:gd name="T49" fmla="*/ 0 h 186"/>
                <a:gd name="T50" fmla="*/ 0 w 316"/>
                <a:gd name="T51" fmla="*/ 0 h 186"/>
                <a:gd name="T52" fmla="*/ 0 w 316"/>
                <a:gd name="T53" fmla="*/ 0 h 186"/>
                <a:gd name="T54" fmla="*/ 0 w 316"/>
                <a:gd name="T55" fmla="*/ 0 h 186"/>
                <a:gd name="T56" fmla="*/ 0 w 316"/>
                <a:gd name="T57" fmla="*/ 0 h 186"/>
                <a:gd name="T58" fmla="*/ 0 w 316"/>
                <a:gd name="T59" fmla="*/ 0 h 186"/>
                <a:gd name="T60" fmla="*/ 0 w 316"/>
                <a:gd name="T61" fmla="*/ 0 h 186"/>
                <a:gd name="T62" fmla="*/ 0 w 316"/>
                <a:gd name="T63" fmla="*/ 0 h 186"/>
                <a:gd name="T64" fmla="*/ 0 w 316"/>
                <a:gd name="T65" fmla="*/ 0 h 186"/>
                <a:gd name="T66" fmla="*/ 0 w 316"/>
                <a:gd name="T67" fmla="*/ 0 h 186"/>
                <a:gd name="T68" fmla="*/ 0 w 316"/>
                <a:gd name="T69" fmla="*/ 0 h 186"/>
                <a:gd name="T70" fmla="*/ 0 w 316"/>
                <a:gd name="T71" fmla="*/ 0 h 186"/>
                <a:gd name="T72" fmla="*/ 0 w 316"/>
                <a:gd name="T73" fmla="*/ 0 h 186"/>
                <a:gd name="T74" fmla="*/ 0 w 316"/>
                <a:gd name="T75" fmla="*/ 0 h 186"/>
                <a:gd name="T76" fmla="*/ 0 w 316"/>
                <a:gd name="T77" fmla="*/ 0 h 186"/>
                <a:gd name="T78" fmla="*/ 0 w 316"/>
                <a:gd name="T79" fmla="*/ 0 h 186"/>
                <a:gd name="T80" fmla="*/ 0 w 316"/>
                <a:gd name="T81" fmla="*/ 0 h 186"/>
                <a:gd name="T82" fmla="*/ 0 w 316"/>
                <a:gd name="T83" fmla="*/ 0 h 186"/>
                <a:gd name="T84" fmla="*/ 0 w 316"/>
                <a:gd name="T85" fmla="*/ 0 h 186"/>
                <a:gd name="T86" fmla="*/ 0 w 316"/>
                <a:gd name="T87" fmla="*/ 0 h 186"/>
                <a:gd name="T88" fmla="*/ 0 w 316"/>
                <a:gd name="T89" fmla="*/ 0 h 18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316"/>
                <a:gd name="T136" fmla="*/ 0 h 186"/>
                <a:gd name="T137" fmla="*/ 316 w 316"/>
                <a:gd name="T138" fmla="*/ 186 h 186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316" h="186">
                  <a:moveTo>
                    <a:pt x="223" y="46"/>
                  </a:moveTo>
                  <a:lnTo>
                    <a:pt x="237" y="55"/>
                  </a:lnTo>
                  <a:lnTo>
                    <a:pt x="248" y="62"/>
                  </a:lnTo>
                  <a:lnTo>
                    <a:pt x="256" y="71"/>
                  </a:lnTo>
                  <a:lnTo>
                    <a:pt x="267" y="82"/>
                  </a:lnTo>
                  <a:lnTo>
                    <a:pt x="278" y="92"/>
                  </a:lnTo>
                  <a:lnTo>
                    <a:pt x="286" y="104"/>
                  </a:lnTo>
                  <a:lnTo>
                    <a:pt x="297" y="115"/>
                  </a:lnTo>
                  <a:lnTo>
                    <a:pt x="311" y="122"/>
                  </a:lnTo>
                  <a:lnTo>
                    <a:pt x="316" y="133"/>
                  </a:lnTo>
                  <a:lnTo>
                    <a:pt x="308" y="142"/>
                  </a:lnTo>
                  <a:lnTo>
                    <a:pt x="294" y="147"/>
                  </a:lnTo>
                  <a:lnTo>
                    <a:pt x="281" y="152"/>
                  </a:lnTo>
                  <a:lnTo>
                    <a:pt x="253" y="163"/>
                  </a:lnTo>
                  <a:lnTo>
                    <a:pt x="226" y="172"/>
                  </a:lnTo>
                  <a:lnTo>
                    <a:pt x="196" y="177"/>
                  </a:lnTo>
                  <a:lnTo>
                    <a:pt x="166" y="180"/>
                  </a:lnTo>
                  <a:lnTo>
                    <a:pt x="136" y="182"/>
                  </a:lnTo>
                  <a:lnTo>
                    <a:pt x="106" y="186"/>
                  </a:lnTo>
                  <a:lnTo>
                    <a:pt x="74" y="186"/>
                  </a:lnTo>
                  <a:lnTo>
                    <a:pt x="44" y="186"/>
                  </a:lnTo>
                  <a:lnTo>
                    <a:pt x="28" y="180"/>
                  </a:lnTo>
                  <a:lnTo>
                    <a:pt x="19" y="170"/>
                  </a:lnTo>
                  <a:lnTo>
                    <a:pt x="11" y="152"/>
                  </a:lnTo>
                  <a:lnTo>
                    <a:pt x="5" y="136"/>
                  </a:lnTo>
                  <a:lnTo>
                    <a:pt x="3" y="120"/>
                  </a:lnTo>
                  <a:lnTo>
                    <a:pt x="0" y="104"/>
                  </a:lnTo>
                  <a:lnTo>
                    <a:pt x="3" y="87"/>
                  </a:lnTo>
                  <a:lnTo>
                    <a:pt x="14" y="76"/>
                  </a:lnTo>
                  <a:lnTo>
                    <a:pt x="28" y="71"/>
                  </a:lnTo>
                  <a:lnTo>
                    <a:pt x="41" y="65"/>
                  </a:lnTo>
                  <a:lnTo>
                    <a:pt x="55" y="57"/>
                  </a:lnTo>
                  <a:lnTo>
                    <a:pt x="69" y="52"/>
                  </a:lnTo>
                  <a:lnTo>
                    <a:pt x="81" y="44"/>
                  </a:lnTo>
                  <a:lnTo>
                    <a:pt x="95" y="35"/>
                  </a:lnTo>
                  <a:lnTo>
                    <a:pt x="109" y="30"/>
                  </a:lnTo>
                  <a:lnTo>
                    <a:pt x="120" y="22"/>
                  </a:lnTo>
                  <a:lnTo>
                    <a:pt x="131" y="22"/>
                  </a:lnTo>
                  <a:lnTo>
                    <a:pt x="136" y="14"/>
                  </a:lnTo>
                  <a:lnTo>
                    <a:pt x="142" y="5"/>
                  </a:lnTo>
                  <a:lnTo>
                    <a:pt x="150" y="0"/>
                  </a:lnTo>
                  <a:lnTo>
                    <a:pt x="169" y="5"/>
                  </a:lnTo>
                  <a:lnTo>
                    <a:pt x="188" y="19"/>
                  </a:lnTo>
                  <a:lnTo>
                    <a:pt x="205" y="35"/>
                  </a:lnTo>
                  <a:lnTo>
                    <a:pt x="223" y="46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5" name="Freeform 287">
              <a:extLst>
                <a:ext uri="{FF2B5EF4-FFF2-40B4-BE49-F238E27FC236}">
                  <a16:creationId xmlns:a16="http://schemas.microsoft.com/office/drawing/2014/main" id="{6B6DB522-F546-5140-B27D-E7EE5790098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85" y="2105"/>
              <a:ext cx="11" cy="20"/>
            </a:xfrm>
            <a:custGeom>
              <a:avLst/>
              <a:gdLst>
                <a:gd name="T0" fmla="*/ 0 w 46"/>
                <a:gd name="T1" fmla="*/ 0 h 82"/>
                <a:gd name="T2" fmla="*/ 0 w 46"/>
                <a:gd name="T3" fmla="*/ 0 h 82"/>
                <a:gd name="T4" fmla="*/ 0 w 46"/>
                <a:gd name="T5" fmla="*/ 0 h 82"/>
                <a:gd name="T6" fmla="*/ 0 w 46"/>
                <a:gd name="T7" fmla="*/ 0 h 82"/>
                <a:gd name="T8" fmla="*/ 0 w 46"/>
                <a:gd name="T9" fmla="*/ 0 h 82"/>
                <a:gd name="T10" fmla="*/ 0 w 46"/>
                <a:gd name="T11" fmla="*/ 0 h 82"/>
                <a:gd name="T12" fmla="*/ 0 w 46"/>
                <a:gd name="T13" fmla="*/ 0 h 82"/>
                <a:gd name="T14" fmla="*/ 0 w 46"/>
                <a:gd name="T15" fmla="*/ 0 h 82"/>
                <a:gd name="T16" fmla="*/ 0 w 46"/>
                <a:gd name="T17" fmla="*/ 0 h 82"/>
                <a:gd name="T18" fmla="*/ 0 w 46"/>
                <a:gd name="T19" fmla="*/ 0 h 82"/>
                <a:gd name="T20" fmla="*/ 0 w 46"/>
                <a:gd name="T21" fmla="*/ 0 h 82"/>
                <a:gd name="T22" fmla="*/ 0 w 46"/>
                <a:gd name="T23" fmla="*/ 0 h 82"/>
                <a:gd name="T24" fmla="*/ 0 w 46"/>
                <a:gd name="T25" fmla="*/ 0 h 82"/>
                <a:gd name="T26" fmla="*/ 0 w 46"/>
                <a:gd name="T27" fmla="*/ 0 h 82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46"/>
                <a:gd name="T43" fmla="*/ 0 h 82"/>
                <a:gd name="T44" fmla="*/ 46 w 46"/>
                <a:gd name="T45" fmla="*/ 82 h 82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46" h="82">
                  <a:moveTo>
                    <a:pt x="44" y="6"/>
                  </a:moveTo>
                  <a:lnTo>
                    <a:pt x="46" y="25"/>
                  </a:lnTo>
                  <a:lnTo>
                    <a:pt x="44" y="44"/>
                  </a:lnTo>
                  <a:lnTo>
                    <a:pt x="41" y="64"/>
                  </a:lnTo>
                  <a:lnTo>
                    <a:pt x="44" y="82"/>
                  </a:lnTo>
                  <a:lnTo>
                    <a:pt x="33" y="77"/>
                  </a:lnTo>
                  <a:lnTo>
                    <a:pt x="19" y="77"/>
                  </a:lnTo>
                  <a:lnTo>
                    <a:pt x="5" y="71"/>
                  </a:lnTo>
                  <a:lnTo>
                    <a:pt x="0" y="60"/>
                  </a:lnTo>
                  <a:lnTo>
                    <a:pt x="14" y="0"/>
                  </a:lnTo>
                  <a:lnTo>
                    <a:pt x="22" y="4"/>
                  </a:lnTo>
                  <a:lnTo>
                    <a:pt x="30" y="6"/>
                  </a:lnTo>
                  <a:lnTo>
                    <a:pt x="35" y="6"/>
                  </a:lnTo>
                  <a:lnTo>
                    <a:pt x="44" y="6"/>
                  </a:lnTo>
                  <a:close/>
                </a:path>
              </a:pathLst>
            </a:custGeom>
            <a:solidFill>
              <a:srgbClr val="8E8E8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6" name="Freeform 288">
              <a:extLst>
                <a:ext uri="{FF2B5EF4-FFF2-40B4-BE49-F238E27FC236}">
                  <a16:creationId xmlns:a16="http://schemas.microsoft.com/office/drawing/2014/main" id="{2B6F9D46-C8CB-494F-94E9-9D26C614F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20" y="2106"/>
              <a:ext cx="63" cy="39"/>
            </a:xfrm>
            <a:custGeom>
              <a:avLst/>
              <a:gdLst>
                <a:gd name="T0" fmla="*/ 0 w 253"/>
                <a:gd name="T1" fmla="*/ 0 h 155"/>
                <a:gd name="T2" fmla="*/ 0 w 253"/>
                <a:gd name="T3" fmla="*/ 0 h 155"/>
                <a:gd name="T4" fmla="*/ 0 w 253"/>
                <a:gd name="T5" fmla="*/ 0 h 155"/>
                <a:gd name="T6" fmla="*/ 0 w 253"/>
                <a:gd name="T7" fmla="*/ 0 h 155"/>
                <a:gd name="T8" fmla="*/ 0 w 253"/>
                <a:gd name="T9" fmla="*/ 0 h 155"/>
                <a:gd name="T10" fmla="*/ 0 w 253"/>
                <a:gd name="T11" fmla="*/ 0 h 155"/>
                <a:gd name="T12" fmla="*/ 0 w 253"/>
                <a:gd name="T13" fmla="*/ 0 h 155"/>
                <a:gd name="T14" fmla="*/ 0 w 253"/>
                <a:gd name="T15" fmla="*/ 0 h 155"/>
                <a:gd name="T16" fmla="*/ 0 w 253"/>
                <a:gd name="T17" fmla="*/ 0 h 155"/>
                <a:gd name="T18" fmla="*/ 0 w 253"/>
                <a:gd name="T19" fmla="*/ 0 h 155"/>
                <a:gd name="T20" fmla="*/ 0 w 253"/>
                <a:gd name="T21" fmla="*/ 0 h 155"/>
                <a:gd name="T22" fmla="*/ 0 w 253"/>
                <a:gd name="T23" fmla="*/ 0 h 155"/>
                <a:gd name="T24" fmla="*/ 0 w 253"/>
                <a:gd name="T25" fmla="*/ 0 h 155"/>
                <a:gd name="T26" fmla="*/ 0 w 253"/>
                <a:gd name="T27" fmla="*/ 0 h 155"/>
                <a:gd name="T28" fmla="*/ 0 w 253"/>
                <a:gd name="T29" fmla="*/ 0 h 155"/>
                <a:gd name="T30" fmla="*/ 0 w 253"/>
                <a:gd name="T31" fmla="*/ 0 h 155"/>
                <a:gd name="T32" fmla="*/ 0 w 253"/>
                <a:gd name="T33" fmla="*/ 0 h 155"/>
                <a:gd name="T34" fmla="*/ 0 w 253"/>
                <a:gd name="T35" fmla="*/ 0 h 155"/>
                <a:gd name="T36" fmla="*/ 0 w 253"/>
                <a:gd name="T37" fmla="*/ 0 h 155"/>
                <a:gd name="T38" fmla="*/ 0 w 253"/>
                <a:gd name="T39" fmla="*/ 0 h 155"/>
                <a:gd name="T40" fmla="*/ 0 w 253"/>
                <a:gd name="T41" fmla="*/ 0 h 155"/>
                <a:gd name="T42" fmla="*/ 0 w 253"/>
                <a:gd name="T43" fmla="*/ 0 h 155"/>
                <a:gd name="T44" fmla="*/ 0 w 253"/>
                <a:gd name="T45" fmla="*/ 0 h 155"/>
                <a:gd name="T46" fmla="*/ 0 w 253"/>
                <a:gd name="T47" fmla="*/ 0 h 155"/>
                <a:gd name="T48" fmla="*/ 0 w 253"/>
                <a:gd name="T49" fmla="*/ 0 h 155"/>
                <a:gd name="T50" fmla="*/ 0 w 253"/>
                <a:gd name="T51" fmla="*/ 0 h 155"/>
                <a:gd name="T52" fmla="*/ 0 w 253"/>
                <a:gd name="T53" fmla="*/ 0 h 155"/>
                <a:gd name="T54" fmla="*/ 0 w 253"/>
                <a:gd name="T55" fmla="*/ 0 h 155"/>
                <a:gd name="T56" fmla="*/ 0 w 253"/>
                <a:gd name="T57" fmla="*/ 0 h 155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253"/>
                <a:gd name="T88" fmla="*/ 0 h 155"/>
                <a:gd name="T89" fmla="*/ 253 w 253"/>
                <a:gd name="T90" fmla="*/ 155 h 155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253" h="155">
                  <a:moveTo>
                    <a:pt x="253" y="11"/>
                  </a:moveTo>
                  <a:lnTo>
                    <a:pt x="248" y="49"/>
                  </a:lnTo>
                  <a:lnTo>
                    <a:pt x="241" y="85"/>
                  </a:lnTo>
                  <a:lnTo>
                    <a:pt x="227" y="120"/>
                  </a:lnTo>
                  <a:lnTo>
                    <a:pt x="216" y="155"/>
                  </a:lnTo>
                  <a:lnTo>
                    <a:pt x="188" y="152"/>
                  </a:lnTo>
                  <a:lnTo>
                    <a:pt x="161" y="147"/>
                  </a:lnTo>
                  <a:lnTo>
                    <a:pt x="133" y="141"/>
                  </a:lnTo>
                  <a:lnTo>
                    <a:pt x="106" y="134"/>
                  </a:lnTo>
                  <a:lnTo>
                    <a:pt x="80" y="122"/>
                  </a:lnTo>
                  <a:lnTo>
                    <a:pt x="52" y="115"/>
                  </a:lnTo>
                  <a:lnTo>
                    <a:pt x="27" y="104"/>
                  </a:lnTo>
                  <a:lnTo>
                    <a:pt x="0" y="95"/>
                  </a:lnTo>
                  <a:lnTo>
                    <a:pt x="6" y="68"/>
                  </a:lnTo>
                  <a:lnTo>
                    <a:pt x="19" y="44"/>
                  </a:lnTo>
                  <a:lnTo>
                    <a:pt x="39" y="28"/>
                  </a:lnTo>
                  <a:lnTo>
                    <a:pt x="60" y="11"/>
                  </a:lnTo>
                  <a:lnTo>
                    <a:pt x="68" y="11"/>
                  </a:lnTo>
                  <a:lnTo>
                    <a:pt x="74" y="8"/>
                  </a:lnTo>
                  <a:lnTo>
                    <a:pt x="80" y="5"/>
                  </a:lnTo>
                  <a:lnTo>
                    <a:pt x="85" y="0"/>
                  </a:lnTo>
                  <a:lnTo>
                    <a:pt x="106" y="3"/>
                  </a:lnTo>
                  <a:lnTo>
                    <a:pt x="126" y="5"/>
                  </a:lnTo>
                  <a:lnTo>
                    <a:pt x="147" y="8"/>
                  </a:lnTo>
                  <a:lnTo>
                    <a:pt x="169" y="11"/>
                  </a:lnTo>
                  <a:lnTo>
                    <a:pt x="191" y="14"/>
                  </a:lnTo>
                  <a:lnTo>
                    <a:pt x="213" y="14"/>
                  </a:lnTo>
                  <a:lnTo>
                    <a:pt x="232" y="14"/>
                  </a:lnTo>
                  <a:lnTo>
                    <a:pt x="253" y="11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7" name="Freeform 289">
              <a:extLst>
                <a:ext uri="{FF2B5EF4-FFF2-40B4-BE49-F238E27FC236}">
                  <a16:creationId xmlns:a16="http://schemas.microsoft.com/office/drawing/2014/main" id="{7706B11D-752D-8B45-A73E-585D9C5DB38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1" y="2106"/>
              <a:ext cx="14" cy="9"/>
            </a:xfrm>
            <a:custGeom>
              <a:avLst/>
              <a:gdLst>
                <a:gd name="T0" fmla="*/ 0 w 55"/>
                <a:gd name="T1" fmla="*/ 0 h 35"/>
                <a:gd name="T2" fmla="*/ 0 w 55"/>
                <a:gd name="T3" fmla="*/ 0 h 35"/>
                <a:gd name="T4" fmla="*/ 0 w 55"/>
                <a:gd name="T5" fmla="*/ 0 h 35"/>
                <a:gd name="T6" fmla="*/ 0 w 55"/>
                <a:gd name="T7" fmla="*/ 0 h 35"/>
                <a:gd name="T8" fmla="*/ 0 w 55"/>
                <a:gd name="T9" fmla="*/ 0 h 35"/>
                <a:gd name="T10" fmla="*/ 0 w 55"/>
                <a:gd name="T11" fmla="*/ 0 h 35"/>
                <a:gd name="T12" fmla="*/ 0 w 55"/>
                <a:gd name="T13" fmla="*/ 0 h 35"/>
                <a:gd name="T14" fmla="*/ 0 w 55"/>
                <a:gd name="T15" fmla="*/ 0 h 35"/>
                <a:gd name="T16" fmla="*/ 0 w 55"/>
                <a:gd name="T17" fmla="*/ 0 h 35"/>
                <a:gd name="T18" fmla="*/ 0 w 55"/>
                <a:gd name="T19" fmla="*/ 0 h 3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5"/>
                <a:gd name="T31" fmla="*/ 0 h 35"/>
                <a:gd name="T32" fmla="*/ 55 w 55"/>
                <a:gd name="T33" fmla="*/ 35 h 3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5" h="35">
                  <a:moveTo>
                    <a:pt x="20" y="0"/>
                  </a:moveTo>
                  <a:lnTo>
                    <a:pt x="20" y="3"/>
                  </a:lnTo>
                  <a:lnTo>
                    <a:pt x="20" y="5"/>
                  </a:lnTo>
                  <a:lnTo>
                    <a:pt x="28" y="8"/>
                  </a:lnTo>
                  <a:lnTo>
                    <a:pt x="39" y="8"/>
                  </a:lnTo>
                  <a:lnTo>
                    <a:pt x="46" y="5"/>
                  </a:lnTo>
                  <a:lnTo>
                    <a:pt x="55" y="5"/>
                  </a:lnTo>
                  <a:lnTo>
                    <a:pt x="0" y="35"/>
                  </a:lnTo>
                  <a:lnTo>
                    <a:pt x="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8E8E8E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8" name="Freeform 290">
              <a:extLst>
                <a:ext uri="{FF2B5EF4-FFF2-40B4-BE49-F238E27FC236}">
                  <a16:creationId xmlns:a16="http://schemas.microsoft.com/office/drawing/2014/main" id="{82AC4650-B0F8-364B-9B2A-CC59BAFF2AE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" y="2107"/>
              <a:ext cx="75" cy="178"/>
            </a:xfrm>
            <a:custGeom>
              <a:avLst/>
              <a:gdLst>
                <a:gd name="T0" fmla="*/ 0 w 300"/>
                <a:gd name="T1" fmla="*/ 0 h 712"/>
                <a:gd name="T2" fmla="*/ 0 w 300"/>
                <a:gd name="T3" fmla="*/ 0 h 712"/>
                <a:gd name="T4" fmla="*/ 0 w 300"/>
                <a:gd name="T5" fmla="*/ 0 h 712"/>
                <a:gd name="T6" fmla="*/ 0 w 300"/>
                <a:gd name="T7" fmla="*/ 0 h 712"/>
                <a:gd name="T8" fmla="*/ 0 w 300"/>
                <a:gd name="T9" fmla="*/ 0 h 712"/>
                <a:gd name="T10" fmla="*/ 0 w 300"/>
                <a:gd name="T11" fmla="*/ 0 h 712"/>
                <a:gd name="T12" fmla="*/ 0 w 300"/>
                <a:gd name="T13" fmla="*/ 0 h 712"/>
                <a:gd name="T14" fmla="*/ 0 w 300"/>
                <a:gd name="T15" fmla="*/ 0 h 712"/>
                <a:gd name="T16" fmla="*/ 0 w 300"/>
                <a:gd name="T17" fmla="*/ 0 h 712"/>
                <a:gd name="T18" fmla="*/ 0 w 300"/>
                <a:gd name="T19" fmla="*/ 0 h 712"/>
                <a:gd name="T20" fmla="*/ 0 w 300"/>
                <a:gd name="T21" fmla="*/ 0 h 712"/>
                <a:gd name="T22" fmla="*/ 0 w 300"/>
                <a:gd name="T23" fmla="*/ 0 h 712"/>
                <a:gd name="T24" fmla="*/ 0 w 300"/>
                <a:gd name="T25" fmla="*/ 0 h 712"/>
                <a:gd name="T26" fmla="*/ 0 w 300"/>
                <a:gd name="T27" fmla="*/ 0 h 712"/>
                <a:gd name="T28" fmla="*/ 0 w 300"/>
                <a:gd name="T29" fmla="*/ 0 h 712"/>
                <a:gd name="T30" fmla="*/ 0 w 300"/>
                <a:gd name="T31" fmla="*/ 0 h 712"/>
                <a:gd name="T32" fmla="*/ 0 w 300"/>
                <a:gd name="T33" fmla="*/ 0 h 712"/>
                <a:gd name="T34" fmla="*/ 0 w 300"/>
                <a:gd name="T35" fmla="*/ 0 h 712"/>
                <a:gd name="T36" fmla="*/ 0 w 300"/>
                <a:gd name="T37" fmla="*/ 0 h 712"/>
                <a:gd name="T38" fmla="*/ 0 w 300"/>
                <a:gd name="T39" fmla="*/ 0 h 712"/>
                <a:gd name="T40" fmla="*/ 0 w 300"/>
                <a:gd name="T41" fmla="*/ 0 h 712"/>
                <a:gd name="T42" fmla="*/ 0 w 300"/>
                <a:gd name="T43" fmla="*/ 0 h 712"/>
                <a:gd name="T44" fmla="*/ 0 w 300"/>
                <a:gd name="T45" fmla="*/ 0 h 712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300"/>
                <a:gd name="T70" fmla="*/ 0 h 712"/>
                <a:gd name="T71" fmla="*/ 300 w 300"/>
                <a:gd name="T72" fmla="*/ 712 h 712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300" h="712">
                  <a:moveTo>
                    <a:pt x="44" y="25"/>
                  </a:moveTo>
                  <a:lnTo>
                    <a:pt x="77" y="110"/>
                  </a:lnTo>
                  <a:lnTo>
                    <a:pt x="109" y="194"/>
                  </a:lnTo>
                  <a:lnTo>
                    <a:pt x="142" y="278"/>
                  </a:lnTo>
                  <a:lnTo>
                    <a:pt x="171" y="363"/>
                  </a:lnTo>
                  <a:lnTo>
                    <a:pt x="205" y="448"/>
                  </a:lnTo>
                  <a:lnTo>
                    <a:pt x="237" y="532"/>
                  </a:lnTo>
                  <a:lnTo>
                    <a:pt x="267" y="616"/>
                  </a:lnTo>
                  <a:lnTo>
                    <a:pt x="300" y="701"/>
                  </a:lnTo>
                  <a:lnTo>
                    <a:pt x="240" y="712"/>
                  </a:lnTo>
                  <a:lnTo>
                    <a:pt x="235" y="649"/>
                  </a:lnTo>
                  <a:lnTo>
                    <a:pt x="224" y="586"/>
                  </a:lnTo>
                  <a:lnTo>
                    <a:pt x="205" y="526"/>
                  </a:lnTo>
                  <a:lnTo>
                    <a:pt x="183" y="469"/>
                  </a:lnTo>
                  <a:lnTo>
                    <a:pt x="159" y="409"/>
                  </a:lnTo>
                  <a:lnTo>
                    <a:pt x="131" y="352"/>
                  </a:lnTo>
                  <a:lnTo>
                    <a:pt x="107" y="295"/>
                  </a:lnTo>
                  <a:lnTo>
                    <a:pt x="85" y="235"/>
                  </a:lnTo>
                  <a:lnTo>
                    <a:pt x="0" y="0"/>
                  </a:lnTo>
                  <a:lnTo>
                    <a:pt x="14" y="3"/>
                  </a:lnTo>
                  <a:lnTo>
                    <a:pt x="28" y="3"/>
                  </a:lnTo>
                  <a:lnTo>
                    <a:pt x="38" y="9"/>
                  </a:lnTo>
                  <a:lnTo>
                    <a:pt x="44" y="25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9" name="Freeform 291">
              <a:extLst>
                <a:ext uri="{FF2B5EF4-FFF2-40B4-BE49-F238E27FC236}">
                  <a16:creationId xmlns:a16="http://schemas.microsoft.com/office/drawing/2014/main" id="{5B0B1F6B-DF7F-3D4A-91D1-51032198A38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26" y="2116"/>
              <a:ext cx="117" cy="179"/>
            </a:xfrm>
            <a:custGeom>
              <a:avLst/>
              <a:gdLst>
                <a:gd name="T0" fmla="*/ 0 w 471"/>
                <a:gd name="T1" fmla="*/ 0 h 716"/>
                <a:gd name="T2" fmla="*/ 0 w 471"/>
                <a:gd name="T3" fmla="*/ 0 h 716"/>
                <a:gd name="T4" fmla="*/ 0 w 471"/>
                <a:gd name="T5" fmla="*/ 0 h 716"/>
                <a:gd name="T6" fmla="*/ 0 w 471"/>
                <a:gd name="T7" fmla="*/ 0 h 716"/>
                <a:gd name="T8" fmla="*/ 0 w 471"/>
                <a:gd name="T9" fmla="*/ 0 h 716"/>
                <a:gd name="T10" fmla="*/ 0 w 471"/>
                <a:gd name="T11" fmla="*/ 0 h 716"/>
                <a:gd name="T12" fmla="*/ 0 w 471"/>
                <a:gd name="T13" fmla="*/ 0 h 716"/>
                <a:gd name="T14" fmla="*/ 0 w 471"/>
                <a:gd name="T15" fmla="*/ 0 h 716"/>
                <a:gd name="T16" fmla="*/ 0 w 471"/>
                <a:gd name="T17" fmla="*/ 0 h 716"/>
                <a:gd name="T18" fmla="*/ 0 w 471"/>
                <a:gd name="T19" fmla="*/ 0 h 716"/>
                <a:gd name="T20" fmla="*/ 0 w 471"/>
                <a:gd name="T21" fmla="*/ 0 h 716"/>
                <a:gd name="T22" fmla="*/ 0 w 471"/>
                <a:gd name="T23" fmla="*/ 0 h 716"/>
                <a:gd name="T24" fmla="*/ 0 w 471"/>
                <a:gd name="T25" fmla="*/ 0 h 716"/>
                <a:gd name="T26" fmla="*/ 0 w 471"/>
                <a:gd name="T27" fmla="*/ 0 h 716"/>
                <a:gd name="T28" fmla="*/ 0 w 471"/>
                <a:gd name="T29" fmla="*/ 0 h 716"/>
                <a:gd name="T30" fmla="*/ 0 w 471"/>
                <a:gd name="T31" fmla="*/ 0 h 716"/>
                <a:gd name="T32" fmla="*/ 0 w 471"/>
                <a:gd name="T33" fmla="*/ 0 h 716"/>
                <a:gd name="T34" fmla="*/ 0 w 471"/>
                <a:gd name="T35" fmla="*/ 0 h 716"/>
                <a:gd name="T36" fmla="*/ 0 w 471"/>
                <a:gd name="T37" fmla="*/ 0 h 716"/>
                <a:gd name="T38" fmla="*/ 0 w 471"/>
                <a:gd name="T39" fmla="*/ 0 h 716"/>
                <a:gd name="T40" fmla="*/ 0 w 471"/>
                <a:gd name="T41" fmla="*/ 0 h 716"/>
                <a:gd name="T42" fmla="*/ 0 w 471"/>
                <a:gd name="T43" fmla="*/ 0 h 716"/>
                <a:gd name="T44" fmla="*/ 0 w 471"/>
                <a:gd name="T45" fmla="*/ 0 h 716"/>
                <a:gd name="T46" fmla="*/ 0 w 471"/>
                <a:gd name="T47" fmla="*/ 0 h 716"/>
                <a:gd name="T48" fmla="*/ 0 w 471"/>
                <a:gd name="T49" fmla="*/ 0 h 716"/>
                <a:gd name="T50" fmla="*/ 0 w 471"/>
                <a:gd name="T51" fmla="*/ 0 h 716"/>
                <a:gd name="T52" fmla="*/ 0 w 471"/>
                <a:gd name="T53" fmla="*/ 0 h 716"/>
                <a:gd name="T54" fmla="*/ 0 w 471"/>
                <a:gd name="T55" fmla="*/ 0 h 716"/>
                <a:gd name="T56" fmla="*/ 0 w 471"/>
                <a:gd name="T57" fmla="*/ 0 h 716"/>
                <a:gd name="T58" fmla="*/ 0 w 471"/>
                <a:gd name="T59" fmla="*/ 0 h 716"/>
                <a:gd name="T60" fmla="*/ 0 w 471"/>
                <a:gd name="T61" fmla="*/ 0 h 716"/>
                <a:gd name="T62" fmla="*/ 0 w 471"/>
                <a:gd name="T63" fmla="*/ 0 h 716"/>
                <a:gd name="T64" fmla="*/ 0 w 471"/>
                <a:gd name="T65" fmla="*/ 0 h 716"/>
                <a:gd name="T66" fmla="*/ 0 w 471"/>
                <a:gd name="T67" fmla="*/ 0 h 716"/>
                <a:gd name="T68" fmla="*/ 0 w 471"/>
                <a:gd name="T69" fmla="*/ 0 h 716"/>
                <a:gd name="T70" fmla="*/ 0 w 471"/>
                <a:gd name="T71" fmla="*/ 0 h 716"/>
                <a:gd name="T72" fmla="*/ 0 w 471"/>
                <a:gd name="T73" fmla="*/ 0 h 716"/>
                <a:gd name="T74" fmla="*/ 0 w 471"/>
                <a:gd name="T75" fmla="*/ 0 h 716"/>
                <a:gd name="T76" fmla="*/ 0 w 471"/>
                <a:gd name="T77" fmla="*/ 0 h 716"/>
                <a:gd name="T78" fmla="*/ 0 w 471"/>
                <a:gd name="T79" fmla="*/ 0 h 716"/>
                <a:gd name="T80" fmla="*/ 0 w 471"/>
                <a:gd name="T81" fmla="*/ 0 h 716"/>
                <a:gd name="T82" fmla="*/ 0 w 471"/>
                <a:gd name="T83" fmla="*/ 0 h 716"/>
                <a:gd name="T84" fmla="*/ 0 w 471"/>
                <a:gd name="T85" fmla="*/ 0 h 716"/>
                <a:gd name="T86" fmla="*/ 0 w 471"/>
                <a:gd name="T87" fmla="*/ 0 h 71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w 471"/>
                <a:gd name="T133" fmla="*/ 0 h 716"/>
                <a:gd name="T134" fmla="*/ 471 w 471"/>
                <a:gd name="T135" fmla="*/ 716 h 716"/>
              </a:gdLst>
              <a:ahLst/>
              <a:cxnLst>
                <a:cxn ang="T88">
                  <a:pos x="T0" y="T1"/>
                </a:cxn>
                <a:cxn ang="T89">
                  <a:pos x="T2" y="T3"/>
                </a:cxn>
                <a:cxn ang="T90">
                  <a:pos x="T4" y="T5"/>
                </a:cxn>
                <a:cxn ang="T91">
                  <a:pos x="T6" y="T7"/>
                </a:cxn>
                <a:cxn ang="T92">
                  <a:pos x="T8" y="T9"/>
                </a:cxn>
                <a:cxn ang="T93">
                  <a:pos x="T10" y="T11"/>
                </a:cxn>
                <a:cxn ang="T94">
                  <a:pos x="T12" y="T13"/>
                </a:cxn>
                <a:cxn ang="T95">
                  <a:pos x="T14" y="T15"/>
                </a:cxn>
                <a:cxn ang="T96">
                  <a:pos x="T16" y="T17"/>
                </a:cxn>
                <a:cxn ang="T97">
                  <a:pos x="T18" y="T19"/>
                </a:cxn>
                <a:cxn ang="T98">
                  <a:pos x="T20" y="T21"/>
                </a:cxn>
                <a:cxn ang="T99">
                  <a:pos x="T22" y="T23"/>
                </a:cxn>
                <a:cxn ang="T100">
                  <a:pos x="T24" y="T25"/>
                </a:cxn>
                <a:cxn ang="T101">
                  <a:pos x="T26" y="T27"/>
                </a:cxn>
                <a:cxn ang="T102">
                  <a:pos x="T28" y="T29"/>
                </a:cxn>
                <a:cxn ang="T103">
                  <a:pos x="T30" y="T31"/>
                </a:cxn>
                <a:cxn ang="T104">
                  <a:pos x="T32" y="T33"/>
                </a:cxn>
                <a:cxn ang="T105">
                  <a:pos x="T34" y="T35"/>
                </a:cxn>
                <a:cxn ang="T106">
                  <a:pos x="T36" y="T37"/>
                </a:cxn>
                <a:cxn ang="T107">
                  <a:pos x="T38" y="T39"/>
                </a:cxn>
                <a:cxn ang="T108">
                  <a:pos x="T40" y="T41"/>
                </a:cxn>
                <a:cxn ang="T109">
                  <a:pos x="T42" y="T43"/>
                </a:cxn>
                <a:cxn ang="T110">
                  <a:pos x="T44" y="T45"/>
                </a:cxn>
                <a:cxn ang="T111">
                  <a:pos x="T46" y="T47"/>
                </a:cxn>
                <a:cxn ang="T112">
                  <a:pos x="T48" y="T49"/>
                </a:cxn>
                <a:cxn ang="T113">
                  <a:pos x="T50" y="T51"/>
                </a:cxn>
                <a:cxn ang="T114">
                  <a:pos x="T52" y="T53"/>
                </a:cxn>
                <a:cxn ang="T115">
                  <a:pos x="T54" y="T55"/>
                </a:cxn>
                <a:cxn ang="T116">
                  <a:pos x="T56" y="T57"/>
                </a:cxn>
                <a:cxn ang="T117">
                  <a:pos x="T58" y="T59"/>
                </a:cxn>
                <a:cxn ang="T118">
                  <a:pos x="T60" y="T61"/>
                </a:cxn>
                <a:cxn ang="T119">
                  <a:pos x="T62" y="T63"/>
                </a:cxn>
                <a:cxn ang="T120">
                  <a:pos x="T64" y="T65"/>
                </a:cxn>
                <a:cxn ang="T121">
                  <a:pos x="T66" y="T67"/>
                </a:cxn>
                <a:cxn ang="T122">
                  <a:pos x="T68" y="T69"/>
                </a:cxn>
                <a:cxn ang="T123">
                  <a:pos x="T70" y="T71"/>
                </a:cxn>
                <a:cxn ang="T124">
                  <a:pos x="T72" y="T73"/>
                </a:cxn>
                <a:cxn ang="T125">
                  <a:pos x="T74" y="T75"/>
                </a:cxn>
                <a:cxn ang="T126">
                  <a:pos x="T76" y="T77"/>
                </a:cxn>
                <a:cxn ang="T127">
                  <a:pos x="T78" y="T79"/>
                </a:cxn>
                <a:cxn ang="T128">
                  <a:pos x="T80" y="T81"/>
                </a:cxn>
                <a:cxn ang="T129">
                  <a:pos x="T82" y="T83"/>
                </a:cxn>
                <a:cxn ang="T130">
                  <a:pos x="T84" y="T85"/>
                </a:cxn>
                <a:cxn ang="T131">
                  <a:pos x="T86" y="T87"/>
                </a:cxn>
              </a:cxnLst>
              <a:rect l="T132" t="T133" r="T134" b="T135"/>
              <a:pathLst>
                <a:path w="471" h="716">
                  <a:moveTo>
                    <a:pt x="269" y="164"/>
                  </a:moveTo>
                  <a:lnTo>
                    <a:pt x="471" y="689"/>
                  </a:lnTo>
                  <a:lnTo>
                    <a:pt x="450" y="695"/>
                  </a:lnTo>
                  <a:lnTo>
                    <a:pt x="428" y="697"/>
                  </a:lnTo>
                  <a:lnTo>
                    <a:pt x="406" y="703"/>
                  </a:lnTo>
                  <a:lnTo>
                    <a:pt x="386" y="706"/>
                  </a:lnTo>
                  <a:lnTo>
                    <a:pt x="365" y="711"/>
                  </a:lnTo>
                  <a:lnTo>
                    <a:pt x="345" y="714"/>
                  </a:lnTo>
                  <a:lnTo>
                    <a:pt x="324" y="716"/>
                  </a:lnTo>
                  <a:lnTo>
                    <a:pt x="305" y="716"/>
                  </a:lnTo>
                  <a:lnTo>
                    <a:pt x="269" y="689"/>
                  </a:lnTo>
                  <a:lnTo>
                    <a:pt x="237" y="659"/>
                  </a:lnTo>
                  <a:lnTo>
                    <a:pt x="207" y="633"/>
                  </a:lnTo>
                  <a:lnTo>
                    <a:pt x="179" y="603"/>
                  </a:lnTo>
                  <a:lnTo>
                    <a:pt x="152" y="569"/>
                  </a:lnTo>
                  <a:lnTo>
                    <a:pt x="128" y="537"/>
                  </a:lnTo>
                  <a:lnTo>
                    <a:pt x="106" y="504"/>
                  </a:lnTo>
                  <a:lnTo>
                    <a:pt x="84" y="466"/>
                  </a:lnTo>
                  <a:lnTo>
                    <a:pt x="98" y="454"/>
                  </a:lnTo>
                  <a:lnTo>
                    <a:pt x="114" y="452"/>
                  </a:lnTo>
                  <a:lnTo>
                    <a:pt x="133" y="449"/>
                  </a:lnTo>
                  <a:lnTo>
                    <a:pt x="149" y="447"/>
                  </a:lnTo>
                  <a:lnTo>
                    <a:pt x="166" y="447"/>
                  </a:lnTo>
                  <a:lnTo>
                    <a:pt x="179" y="438"/>
                  </a:lnTo>
                  <a:lnTo>
                    <a:pt x="188" y="428"/>
                  </a:lnTo>
                  <a:lnTo>
                    <a:pt x="191" y="406"/>
                  </a:lnTo>
                  <a:lnTo>
                    <a:pt x="177" y="371"/>
                  </a:lnTo>
                  <a:lnTo>
                    <a:pt x="163" y="335"/>
                  </a:lnTo>
                  <a:lnTo>
                    <a:pt x="152" y="297"/>
                  </a:lnTo>
                  <a:lnTo>
                    <a:pt x="138" y="256"/>
                  </a:lnTo>
                  <a:lnTo>
                    <a:pt x="122" y="247"/>
                  </a:lnTo>
                  <a:lnTo>
                    <a:pt x="106" y="245"/>
                  </a:lnTo>
                  <a:lnTo>
                    <a:pt x="90" y="245"/>
                  </a:lnTo>
                  <a:lnTo>
                    <a:pt x="73" y="247"/>
                  </a:lnTo>
                  <a:lnTo>
                    <a:pt x="55" y="251"/>
                  </a:lnTo>
                  <a:lnTo>
                    <a:pt x="37" y="253"/>
                  </a:lnTo>
                  <a:lnTo>
                    <a:pt x="21" y="256"/>
                  </a:lnTo>
                  <a:lnTo>
                    <a:pt x="5" y="259"/>
                  </a:lnTo>
                  <a:lnTo>
                    <a:pt x="0" y="199"/>
                  </a:lnTo>
                  <a:lnTo>
                    <a:pt x="11" y="144"/>
                  </a:lnTo>
                  <a:lnTo>
                    <a:pt x="25" y="88"/>
                  </a:lnTo>
                  <a:lnTo>
                    <a:pt x="41" y="24"/>
                  </a:lnTo>
                  <a:lnTo>
                    <a:pt x="207" y="0"/>
                  </a:lnTo>
                  <a:lnTo>
                    <a:pt x="269" y="164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0" name="Freeform 292">
              <a:extLst>
                <a:ext uri="{FF2B5EF4-FFF2-40B4-BE49-F238E27FC236}">
                  <a16:creationId xmlns:a16="http://schemas.microsoft.com/office/drawing/2014/main" id="{3BD894CC-4DDE-AE4E-8862-17EE7A4FE29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30" y="2120"/>
              <a:ext cx="27" cy="15"/>
            </a:xfrm>
            <a:custGeom>
              <a:avLst/>
              <a:gdLst>
                <a:gd name="T0" fmla="*/ 0 w 110"/>
                <a:gd name="T1" fmla="*/ 0 h 61"/>
                <a:gd name="T2" fmla="*/ 0 w 110"/>
                <a:gd name="T3" fmla="*/ 0 h 61"/>
                <a:gd name="T4" fmla="*/ 0 w 110"/>
                <a:gd name="T5" fmla="*/ 0 h 61"/>
                <a:gd name="T6" fmla="*/ 0 w 110"/>
                <a:gd name="T7" fmla="*/ 0 h 61"/>
                <a:gd name="T8" fmla="*/ 0 w 110"/>
                <a:gd name="T9" fmla="*/ 0 h 61"/>
                <a:gd name="T10" fmla="*/ 0 w 110"/>
                <a:gd name="T11" fmla="*/ 0 h 61"/>
                <a:gd name="T12" fmla="*/ 0 w 110"/>
                <a:gd name="T13" fmla="*/ 0 h 61"/>
                <a:gd name="T14" fmla="*/ 0 w 110"/>
                <a:gd name="T15" fmla="*/ 0 h 61"/>
                <a:gd name="T16" fmla="*/ 0 w 110"/>
                <a:gd name="T17" fmla="*/ 0 h 61"/>
                <a:gd name="T18" fmla="*/ 0 w 110"/>
                <a:gd name="T19" fmla="*/ 0 h 61"/>
                <a:gd name="T20" fmla="*/ 0 w 110"/>
                <a:gd name="T21" fmla="*/ 0 h 61"/>
                <a:gd name="T22" fmla="*/ 0 w 110"/>
                <a:gd name="T23" fmla="*/ 0 h 61"/>
                <a:gd name="T24" fmla="*/ 0 w 110"/>
                <a:gd name="T25" fmla="*/ 0 h 61"/>
                <a:gd name="T26" fmla="*/ 0 w 110"/>
                <a:gd name="T27" fmla="*/ 0 h 61"/>
                <a:gd name="T28" fmla="*/ 0 w 110"/>
                <a:gd name="T29" fmla="*/ 0 h 61"/>
                <a:gd name="T30" fmla="*/ 0 w 110"/>
                <a:gd name="T31" fmla="*/ 0 h 61"/>
                <a:gd name="T32" fmla="*/ 0 w 110"/>
                <a:gd name="T33" fmla="*/ 0 h 61"/>
                <a:gd name="T34" fmla="*/ 0 w 110"/>
                <a:gd name="T35" fmla="*/ 0 h 61"/>
                <a:gd name="T36" fmla="*/ 0 w 110"/>
                <a:gd name="T37" fmla="*/ 0 h 61"/>
                <a:gd name="T38" fmla="*/ 0 w 110"/>
                <a:gd name="T39" fmla="*/ 0 h 61"/>
                <a:gd name="T40" fmla="*/ 0 w 110"/>
                <a:gd name="T41" fmla="*/ 0 h 61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110"/>
                <a:gd name="T64" fmla="*/ 0 h 61"/>
                <a:gd name="T65" fmla="*/ 110 w 110"/>
                <a:gd name="T66" fmla="*/ 61 h 61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110" h="61">
                  <a:moveTo>
                    <a:pt x="96" y="11"/>
                  </a:moveTo>
                  <a:lnTo>
                    <a:pt x="99" y="20"/>
                  </a:lnTo>
                  <a:lnTo>
                    <a:pt x="104" y="27"/>
                  </a:lnTo>
                  <a:lnTo>
                    <a:pt x="110" y="36"/>
                  </a:lnTo>
                  <a:lnTo>
                    <a:pt x="107" y="47"/>
                  </a:lnTo>
                  <a:lnTo>
                    <a:pt x="94" y="57"/>
                  </a:lnTo>
                  <a:lnTo>
                    <a:pt x="77" y="61"/>
                  </a:lnTo>
                  <a:lnTo>
                    <a:pt x="58" y="61"/>
                  </a:lnTo>
                  <a:lnTo>
                    <a:pt x="39" y="61"/>
                  </a:lnTo>
                  <a:lnTo>
                    <a:pt x="28" y="57"/>
                  </a:lnTo>
                  <a:lnTo>
                    <a:pt x="14" y="55"/>
                  </a:lnTo>
                  <a:lnTo>
                    <a:pt x="4" y="50"/>
                  </a:lnTo>
                  <a:lnTo>
                    <a:pt x="0" y="36"/>
                  </a:lnTo>
                  <a:lnTo>
                    <a:pt x="4" y="25"/>
                  </a:lnTo>
                  <a:lnTo>
                    <a:pt x="9" y="17"/>
                  </a:lnTo>
                  <a:lnTo>
                    <a:pt x="18" y="11"/>
                  </a:lnTo>
                  <a:lnTo>
                    <a:pt x="25" y="6"/>
                  </a:lnTo>
                  <a:lnTo>
                    <a:pt x="41" y="4"/>
                  </a:lnTo>
                  <a:lnTo>
                    <a:pt x="64" y="0"/>
                  </a:lnTo>
                  <a:lnTo>
                    <a:pt x="82" y="4"/>
                  </a:lnTo>
                  <a:lnTo>
                    <a:pt x="96" y="1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1" name="Freeform 293">
              <a:extLst>
                <a:ext uri="{FF2B5EF4-FFF2-40B4-BE49-F238E27FC236}">
                  <a16:creationId xmlns:a16="http://schemas.microsoft.com/office/drawing/2014/main" id="{3738DE20-2A73-5545-9218-C261AFACF35D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9" y="2143"/>
              <a:ext cx="238" cy="71"/>
            </a:xfrm>
            <a:custGeom>
              <a:avLst/>
              <a:gdLst>
                <a:gd name="T0" fmla="*/ 0 w 954"/>
                <a:gd name="T1" fmla="*/ 0 h 280"/>
                <a:gd name="T2" fmla="*/ 0 w 954"/>
                <a:gd name="T3" fmla="*/ 0 h 280"/>
                <a:gd name="T4" fmla="*/ 0 w 954"/>
                <a:gd name="T5" fmla="*/ 0 h 280"/>
                <a:gd name="T6" fmla="*/ 0 w 954"/>
                <a:gd name="T7" fmla="*/ 0 h 280"/>
                <a:gd name="T8" fmla="*/ 0 w 954"/>
                <a:gd name="T9" fmla="*/ 0 h 280"/>
                <a:gd name="T10" fmla="*/ 0 w 954"/>
                <a:gd name="T11" fmla="*/ 0 h 280"/>
                <a:gd name="T12" fmla="*/ 0 w 954"/>
                <a:gd name="T13" fmla="*/ 0 h 280"/>
                <a:gd name="T14" fmla="*/ 0 w 954"/>
                <a:gd name="T15" fmla="*/ 0 h 280"/>
                <a:gd name="T16" fmla="*/ 0 w 954"/>
                <a:gd name="T17" fmla="*/ 0 h 280"/>
                <a:gd name="T18" fmla="*/ 0 w 954"/>
                <a:gd name="T19" fmla="*/ 0 h 280"/>
                <a:gd name="T20" fmla="*/ 0 w 954"/>
                <a:gd name="T21" fmla="*/ 0 h 280"/>
                <a:gd name="T22" fmla="*/ 0 w 954"/>
                <a:gd name="T23" fmla="*/ 0 h 280"/>
                <a:gd name="T24" fmla="*/ 0 w 954"/>
                <a:gd name="T25" fmla="*/ 0 h 280"/>
                <a:gd name="T26" fmla="*/ 0 w 954"/>
                <a:gd name="T27" fmla="*/ 0 h 280"/>
                <a:gd name="T28" fmla="*/ 0 w 954"/>
                <a:gd name="T29" fmla="*/ 0 h 280"/>
                <a:gd name="T30" fmla="*/ 0 w 954"/>
                <a:gd name="T31" fmla="*/ 0 h 280"/>
                <a:gd name="T32" fmla="*/ 0 w 954"/>
                <a:gd name="T33" fmla="*/ 0 h 280"/>
                <a:gd name="T34" fmla="*/ 0 w 954"/>
                <a:gd name="T35" fmla="*/ 0 h 280"/>
                <a:gd name="T36" fmla="*/ 0 w 954"/>
                <a:gd name="T37" fmla="*/ 0 h 280"/>
                <a:gd name="T38" fmla="*/ 0 w 954"/>
                <a:gd name="T39" fmla="*/ 0 h 280"/>
                <a:gd name="T40" fmla="*/ 0 w 954"/>
                <a:gd name="T41" fmla="*/ 0 h 280"/>
                <a:gd name="T42" fmla="*/ 0 w 954"/>
                <a:gd name="T43" fmla="*/ 0 h 280"/>
                <a:gd name="T44" fmla="*/ 0 w 954"/>
                <a:gd name="T45" fmla="*/ 0 h 280"/>
                <a:gd name="T46" fmla="*/ 0 w 954"/>
                <a:gd name="T47" fmla="*/ 0 h 280"/>
                <a:gd name="T48" fmla="*/ 0 w 954"/>
                <a:gd name="T49" fmla="*/ 0 h 280"/>
                <a:gd name="T50" fmla="*/ 0 w 954"/>
                <a:gd name="T51" fmla="*/ 0 h 280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954"/>
                <a:gd name="T79" fmla="*/ 0 h 280"/>
                <a:gd name="T80" fmla="*/ 954 w 954"/>
                <a:gd name="T81" fmla="*/ 280 h 280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954" h="280">
                  <a:moveTo>
                    <a:pt x="945" y="120"/>
                  </a:moveTo>
                  <a:lnTo>
                    <a:pt x="11" y="280"/>
                  </a:lnTo>
                  <a:lnTo>
                    <a:pt x="0" y="248"/>
                  </a:lnTo>
                  <a:lnTo>
                    <a:pt x="0" y="207"/>
                  </a:lnTo>
                  <a:lnTo>
                    <a:pt x="2" y="166"/>
                  </a:lnTo>
                  <a:lnTo>
                    <a:pt x="5" y="131"/>
                  </a:lnTo>
                  <a:lnTo>
                    <a:pt x="37" y="131"/>
                  </a:lnTo>
                  <a:lnTo>
                    <a:pt x="81" y="131"/>
                  </a:lnTo>
                  <a:lnTo>
                    <a:pt x="136" y="128"/>
                  </a:lnTo>
                  <a:lnTo>
                    <a:pt x="196" y="122"/>
                  </a:lnTo>
                  <a:lnTo>
                    <a:pt x="262" y="115"/>
                  </a:lnTo>
                  <a:lnTo>
                    <a:pt x="329" y="106"/>
                  </a:lnTo>
                  <a:lnTo>
                    <a:pt x="403" y="98"/>
                  </a:lnTo>
                  <a:lnTo>
                    <a:pt x="476" y="87"/>
                  </a:lnTo>
                  <a:lnTo>
                    <a:pt x="554" y="76"/>
                  </a:lnTo>
                  <a:lnTo>
                    <a:pt x="624" y="65"/>
                  </a:lnTo>
                  <a:lnTo>
                    <a:pt x="695" y="51"/>
                  </a:lnTo>
                  <a:lnTo>
                    <a:pt x="761" y="41"/>
                  </a:lnTo>
                  <a:lnTo>
                    <a:pt x="820" y="30"/>
                  </a:lnTo>
                  <a:lnTo>
                    <a:pt x="874" y="19"/>
                  </a:lnTo>
                  <a:lnTo>
                    <a:pt x="918" y="9"/>
                  </a:lnTo>
                  <a:lnTo>
                    <a:pt x="954" y="0"/>
                  </a:lnTo>
                  <a:lnTo>
                    <a:pt x="951" y="32"/>
                  </a:lnTo>
                  <a:lnTo>
                    <a:pt x="951" y="60"/>
                  </a:lnTo>
                  <a:lnTo>
                    <a:pt x="948" y="90"/>
                  </a:lnTo>
                  <a:lnTo>
                    <a:pt x="945" y="120"/>
                  </a:lnTo>
                  <a:close/>
                </a:path>
              </a:pathLst>
            </a:custGeom>
            <a:solidFill>
              <a:srgbClr val="AFAFA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2" name="Freeform 294">
              <a:extLst>
                <a:ext uri="{FF2B5EF4-FFF2-40B4-BE49-F238E27FC236}">
                  <a16:creationId xmlns:a16="http://schemas.microsoft.com/office/drawing/2014/main" id="{2BEE9CE6-7CD8-3C4C-8201-A986246788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65" y="2148"/>
              <a:ext cx="25" cy="68"/>
            </a:xfrm>
            <a:custGeom>
              <a:avLst/>
              <a:gdLst>
                <a:gd name="T0" fmla="*/ 0 w 101"/>
                <a:gd name="T1" fmla="*/ 0 h 276"/>
                <a:gd name="T2" fmla="*/ 0 w 101"/>
                <a:gd name="T3" fmla="*/ 0 h 276"/>
                <a:gd name="T4" fmla="*/ 0 w 101"/>
                <a:gd name="T5" fmla="*/ 0 h 276"/>
                <a:gd name="T6" fmla="*/ 0 w 101"/>
                <a:gd name="T7" fmla="*/ 0 h 276"/>
                <a:gd name="T8" fmla="*/ 0 w 101"/>
                <a:gd name="T9" fmla="*/ 0 h 276"/>
                <a:gd name="T10" fmla="*/ 0 w 101"/>
                <a:gd name="T11" fmla="*/ 0 h 276"/>
                <a:gd name="T12" fmla="*/ 0 w 101"/>
                <a:gd name="T13" fmla="*/ 0 h 276"/>
                <a:gd name="T14" fmla="*/ 0 w 101"/>
                <a:gd name="T15" fmla="*/ 0 h 276"/>
                <a:gd name="T16" fmla="*/ 0 w 101"/>
                <a:gd name="T17" fmla="*/ 0 h 276"/>
                <a:gd name="T18" fmla="*/ 0 w 101"/>
                <a:gd name="T19" fmla="*/ 0 h 276"/>
                <a:gd name="T20" fmla="*/ 0 w 101"/>
                <a:gd name="T21" fmla="*/ 0 h 276"/>
                <a:gd name="T22" fmla="*/ 0 w 101"/>
                <a:gd name="T23" fmla="*/ 0 h 276"/>
                <a:gd name="T24" fmla="*/ 0 w 101"/>
                <a:gd name="T25" fmla="*/ 0 h 276"/>
                <a:gd name="T26" fmla="*/ 0 w 101"/>
                <a:gd name="T27" fmla="*/ 0 h 276"/>
                <a:gd name="T28" fmla="*/ 0 w 101"/>
                <a:gd name="T29" fmla="*/ 0 h 276"/>
                <a:gd name="T30" fmla="*/ 0 w 101"/>
                <a:gd name="T31" fmla="*/ 0 h 276"/>
                <a:gd name="T32" fmla="*/ 0 w 101"/>
                <a:gd name="T33" fmla="*/ 0 h 276"/>
                <a:gd name="T34" fmla="*/ 0 w 101"/>
                <a:gd name="T35" fmla="*/ 0 h 276"/>
                <a:gd name="T36" fmla="*/ 0 w 101"/>
                <a:gd name="T37" fmla="*/ 0 h 276"/>
                <a:gd name="T38" fmla="*/ 0 w 101"/>
                <a:gd name="T39" fmla="*/ 0 h 276"/>
                <a:gd name="T40" fmla="*/ 0 w 101"/>
                <a:gd name="T41" fmla="*/ 0 h 276"/>
                <a:gd name="T42" fmla="*/ 0 w 101"/>
                <a:gd name="T43" fmla="*/ 0 h 276"/>
                <a:gd name="T44" fmla="*/ 0 w 101"/>
                <a:gd name="T45" fmla="*/ 0 h 276"/>
                <a:gd name="T46" fmla="*/ 0 w 101"/>
                <a:gd name="T47" fmla="*/ 0 h 276"/>
                <a:gd name="T48" fmla="*/ 0 w 101"/>
                <a:gd name="T49" fmla="*/ 0 h 27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101"/>
                <a:gd name="T76" fmla="*/ 0 h 276"/>
                <a:gd name="T77" fmla="*/ 101 w 101"/>
                <a:gd name="T78" fmla="*/ 276 h 276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101" h="276">
                  <a:moveTo>
                    <a:pt x="101" y="128"/>
                  </a:moveTo>
                  <a:lnTo>
                    <a:pt x="95" y="164"/>
                  </a:lnTo>
                  <a:lnTo>
                    <a:pt x="92" y="202"/>
                  </a:lnTo>
                  <a:lnTo>
                    <a:pt x="92" y="237"/>
                  </a:lnTo>
                  <a:lnTo>
                    <a:pt x="90" y="276"/>
                  </a:lnTo>
                  <a:lnTo>
                    <a:pt x="78" y="257"/>
                  </a:lnTo>
                  <a:lnTo>
                    <a:pt x="65" y="240"/>
                  </a:lnTo>
                  <a:lnTo>
                    <a:pt x="51" y="221"/>
                  </a:lnTo>
                  <a:lnTo>
                    <a:pt x="37" y="202"/>
                  </a:lnTo>
                  <a:lnTo>
                    <a:pt x="25" y="182"/>
                  </a:lnTo>
                  <a:lnTo>
                    <a:pt x="14" y="164"/>
                  </a:lnTo>
                  <a:lnTo>
                    <a:pt x="5" y="145"/>
                  </a:lnTo>
                  <a:lnTo>
                    <a:pt x="0" y="126"/>
                  </a:lnTo>
                  <a:lnTo>
                    <a:pt x="5" y="96"/>
                  </a:lnTo>
                  <a:lnTo>
                    <a:pt x="7" y="66"/>
                  </a:lnTo>
                  <a:lnTo>
                    <a:pt x="7" y="33"/>
                  </a:lnTo>
                  <a:lnTo>
                    <a:pt x="11" y="0"/>
                  </a:lnTo>
                  <a:lnTo>
                    <a:pt x="21" y="16"/>
                  </a:lnTo>
                  <a:lnTo>
                    <a:pt x="32" y="33"/>
                  </a:lnTo>
                  <a:lnTo>
                    <a:pt x="43" y="49"/>
                  </a:lnTo>
                  <a:lnTo>
                    <a:pt x="55" y="66"/>
                  </a:lnTo>
                  <a:lnTo>
                    <a:pt x="65" y="82"/>
                  </a:lnTo>
                  <a:lnTo>
                    <a:pt x="76" y="99"/>
                  </a:lnTo>
                  <a:lnTo>
                    <a:pt x="87" y="115"/>
                  </a:lnTo>
                  <a:lnTo>
                    <a:pt x="101" y="128"/>
                  </a:lnTo>
                  <a:close/>
                </a:path>
              </a:pathLst>
            </a:custGeom>
            <a:solidFill>
              <a:srgbClr val="ADE2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3" name="Freeform 295">
              <a:extLst>
                <a:ext uri="{FF2B5EF4-FFF2-40B4-BE49-F238E27FC236}">
                  <a16:creationId xmlns:a16="http://schemas.microsoft.com/office/drawing/2014/main" id="{E2D1F700-6C57-1B40-8C59-4CA205991D8C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0" y="2149"/>
              <a:ext cx="32" cy="18"/>
            </a:xfrm>
            <a:custGeom>
              <a:avLst/>
              <a:gdLst>
                <a:gd name="T0" fmla="*/ 0 w 125"/>
                <a:gd name="T1" fmla="*/ 0 h 74"/>
                <a:gd name="T2" fmla="*/ 0 w 125"/>
                <a:gd name="T3" fmla="*/ 0 h 74"/>
                <a:gd name="T4" fmla="*/ 0 w 125"/>
                <a:gd name="T5" fmla="*/ 0 h 74"/>
                <a:gd name="T6" fmla="*/ 0 w 125"/>
                <a:gd name="T7" fmla="*/ 0 h 74"/>
                <a:gd name="T8" fmla="*/ 0 w 125"/>
                <a:gd name="T9" fmla="*/ 0 h 74"/>
                <a:gd name="T10" fmla="*/ 0 w 125"/>
                <a:gd name="T11" fmla="*/ 0 h 74"/>
                <a:gd name="T12" fmla="*/ 0 w 125"/>
                <a:gd name="T13" fmla="*/ 0 h 74"/>
                <a:gd name="T14" fmla="*/ 0 w 125"/>
                <a:gd name="T15" fmla="*/ 0 h 74"/>
                <a:gd name="T16" fmla="*/ 0 w 125"/>
                <a:gd name="T17" fmla="*/ 0 h 74"/>
                <a:gd name="T18" fmla="*/ 0 w 125"/>
                <a:gd name="T19" fmla="*/ 0 h 74"/>
                <a:gd name="T20" fmla="*/ 0 w 125"/>
                <a:gd name="T21" fmla="*/ 0 h 74"/>
                <a:gd name="T22" fmla="*/ 0 w 125"/>
                <a:gd name="T23" fmla="*/ 0 h 74"/>
                <a:gd name="T24" fmla="*/ 0 w 125"/>
                <a:gd name="T25" fmla="*/ 0 h 74"/>
                <a:gd name="T26" fmla="*/ 0 w 125"/>
                <a:gd name="T27" fmla="*/ 0 h 74"/>
                <a:gd name="T28" fmla="*/ 0 w 125"/>
                <a:gd name="T29" fmla="*/ 0 h 74"/>
                <a:gd name="T30" fmla="*/ 0 w 125"/>
                <a:gd name="T31" fmla="*/ 0 h 74"/>
                <a:gd name="T32" fmla="*/ 0 w 125"/>
                <a:gd name="T33" fmla="*/ 0 h 74"/>
                <a:gd name="T34" fmla="*/ 0 w 125"/>
                <a:gd name="T35" fmla="*/ 0 h 74"/>
                <a:gd name="T36" fmla="*/ 0 w 125"/>
                <a:gd name="T37" fmla="*/ 0 h 74"/>
                <a:gd name="T38" fmla="*/ 0 w 125"/>
                <a:gd name="T39" fmla="*/ 0 h 74"/>
                <a:gd name="T40" fmla="*/ 0 w 125"/>
                <a:gd name="T41" fmla="*/ 0 h 74"/>
                <a:gd name="T42" fmla="*/ 0 w 125"/>
                <a:gd name="T43" fmla="*/ 0 h 74"/>
                <a:gd name="T44" fmla="*/ 0 w 125"/>
                <a:gd name="T45" fmla="*/ 0 h 74"/>
                <a:gd name="T46" fmla="*/ 0 w 125"/>
                <a:gd name="T47" fmla="*/ 0 h 74"/>
                <a:gd name="T48" fmla="*/ 0 w 125"/>
                <a:gd name="T49" fmla="*/ 0 h 74"/>
                <a:gd name="T50" fmla="*/ 0 w 125"/>
                <a:gd name="T51" fmla="*/ 0 h 74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25"/>
                <a:gd name="T79" fmla="*/ 0 h 74"/>
                <a:gd name="T80" fmla="*/ 125 w 125"/>
                <a:gd name="T81" fmla="*/ 74 h 74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25" h="74">
                  <a:moveTo>
                    <a:pt x="123" y="34"/>
                  </a:moveTo>
                  <a:lnTo>
                    <a:pt x="125" y="47"/>
                  </a:lnTo>
                  <a:lnTo>
                    <a:pt x="118" y="55"/>
                  </a:lnTo>
                  <a:lnTo>
                    <a:pt x="104" y="61"/>
                  </a:lnTo>
                  <a:lnTo>
                    <a:pt x="93" y="69"/>
                  </a:lnTo>
                  <a:lnTo>
                    <a:pt x="82" y="71"/>
                  </a:lnTo>
                  <a:lnTo>
                    <a:pt x="70" y="71"/>
                  </a:lnTo>
                  <a:lnTo>
                    <a:pt x="60" y="74"/>
                  </a:lnTo>
                  <a:lnTo>
                    <a:pt x="49" y="74"/>
                  </a:lnTo>
                  <a:lnTo>
                    <a:pt x="38" y="71"/>
                  </a:lnTo>
                  <a:lnTo>
                    <a:pt x="27" y="69"/>
                  </a:lnTo>
                  <a:lnTo>
                    <a:pt x="17" y="64"/>
                  </a:lnTo>
                  <a:lnTo>
                    <a:pt x="8" y="55"/>
                  </a:lnTo>
                  <a:lnTo>
                    <a:pt x="3" y="50"/>
                  </a:lnTo>
                  <a:lnTo>
                    <a:pt x="0" y="41"/>
                  </a:lnTo>
                  <a:lnTo>
                    <a:pt x="0" y="30"/>
                  </a:lnTo>
                  <a:lnTo>
                    <a:pt x="3" y="20"/>
                  </a:lnTo>
                  <a:lnTo>
                    <a:pt x="11" y="11"/>
                  </a:lnTo>
                  <a:lnTo>
                    <a:pt x="22" y="6"/>
                  </a:lnTo>
                  <a:lnTo>
                    <a:pt x="35" y="4"/>
                  </a:lnTo>
                  <a:lnTo>
                    <a:pt x="47" y="0"/>
                  </a:lnTo>
                  <a:lnTo>
                    <a:pt x="60" y="4"/>
                  </a:lnTo>
                  <a:lnTo>
                    <a:pt x="74" y="4"/>
                  </a:lnTo>
                  <a:lnTo>
                    <a:pt x="88" y="6"/>
                  </a:lnTo>
                  <a:lnTo>
                    <a:pt x="98" y="9"/>
                  </a:lnTo>
                  <a:lnTo>
                    <a:pt x="123" y="3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4" name="Freeform 296">
              <a:extLst>
                <a:ext uri="{FF2B5EF4-FFF2-40B4-BE49-F238E27FC236}">
                  <a16:creationId xmlns:a16="http://schemas.microsoft.com/office/drawing/2014/main" id="{26AFCF25-9C8E-CC40-84C7-2B06AE640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8" y="2154"/>
              <a:ext cx="7" cy="43"/>
            </a:xfrm>
            <a:custGeom>
              <a:avLst/>
              <a:gdLst>
                <a:gd name="T0" fmla="*/ 0 w 30"/>
                <a:gd name="T1" fmla="*/ 0 h 171"/>
                <a:gd name="T2" fmla="*/ 0 w 30"/>
                <a:gd name="T3" fmla="*/ 0 h 171"/>
                <a:gd name="T4" fmla="*/ 0 w 30"/>
                <a:gd name="T5" fmla="*/ 0 h 171"/>
                <a:gd name="T6" fmla="*/ 0 w 30"/>
                <a:gd name="T7" fmla="*/ 0 h 171"/>
                <a:gd name="T8" fmla="*/ 0 w 30"/>
                <a:gd name="T9" fmla="*/ 0 h 171"/>
                <a:gd name="T10" fmla="*/ 0 w 30"/>
                <a:gd name="T11" fmla="*/ 0 h 171"/>
                <a:gd name="T12" fmla="*/ 0 w 30"/>
                <a:gd name="T13" fmla="*/ 0 h 171"/>
                <a:gd name="T14" fmla="*/ 0 w 30"/>
                <a:gd name="T15" fmla="*/ 0 h 171"/>
                <a:gd name="T16" fmla="*/ 0 w 30"/>
                <a:gd name="T17" fmla="*/ 0 h 171"/>
                <a:gd name="T18" fmla="*/ 0 w 30"/>
                <a:gd name="T19" fmla="*/ 0 h 171"/>
                <a:gd name="T20" fmla="*/ 0 w 30"/>
                <a:gd name="T21" fmla="*/ 0 h 171"/>
                <a:gd name="T22" fmla="*/ 0 w 30"/>
                <a:gd name="T23" fmla="*/ 0 h 171"/>
                <a:gd name="T24" fmla="*/ 0 w 30"/>
                <a:gd name="T25" fmla="*/ 0 h 171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30"/>
                <a:gd name="T40" fmla="*/ 0 h 171"/>
                <a:gd name="T41" fmla="*/ 30 w 30"/>
                <a:gd name="T42" fmla="*/ 171 h 171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30" h="171">
                  <a:moveTo>
                    <a:pt x="27" y="168"/>
                  </a:moveTo>
                  <a:lnTo>
                    <a:pt x="22" y="168"/>
                  </a:lnTo>
                  <a:lnTo>
                    <a:pt x="16" y="171"/>
                  </a:lnTo>
                  <a:lnTo>
                    <a:pt x="8" y="171"/>
                  </a:lnTo>
                  <a:lnTo>
                    <a:pt x="0" y="171"/>
                  </a:lnTo>
                  <a:lnTo>
                    <a:pt x="6" y="127"/>
                  </a:lnTo>
                  <a:lnTo>
                    <a:pt x="16" y="87"/>
                  </a:lnTo>
                  <a:lnTo>
                    <a:pt x="25" y="44"/>
                  </a:lnTo>
                  <a:lnTo>
                    <a:pt x="27" y="0"/>
                  </a:lnTo>
                  <a:lnTo>
                    <a:pt x="30" y="44"/>
                  </a:lnTo>
                  <a:lnTo>
                    <a:pt x="30" y="87"/>
                  </a:lnTo>
                  <a:lnTo>
                    <a:pt x="27" y="127"/>
                  </a:lnTo>
                  <a:lnTo>
                    <a:pt x="27" y="168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5" name="Freeform 297">
              <a:extLst>
                <a:ext uri="{FF2B5EF4-FFF2-40B4-BE49-F238E27FC236}">
                  <a16:creationId xmlns:a16="http://schemas.microsoft.com/office/drawing/2014/main" id="{C58FC386-7A6B-CE43-BFB0-78105216CF6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2167"/>
              <a:ext cx="7" cy="36"/>
            </a:xfrm>
            <a:custGeom>
              <a:avLst/>
              <a:gdLst>
                <a:gd name="T0" fmla="*/ 0 w 27"/>
                <a:gd name="T1" fmla="*/ 0 h 142"/>
                <a:gd name="T2" fmla="*/ 0 w 27"/>
                <a:gd name="T3" fmla="*/ 0 h 142"/>
                <a:gd name="T4" fmla="*/ 0 w 27"/>
                <a:gd name="T5" fmla="*/ 0 h 142"/>
                <a:gd name="T6" fmla="*/ 0 w 27"/>
                <a:gd name="T7" fmla="*/ 0 h 142"/>
                <a:gd name="T8" fmla="*/ 0 w 27"/>
                <a:gd name="T9" fmla="*/ 0 h 142"/>
                <a:gd name="T10" fmla="*/ 0 w 27"/>
                <a:gd name="T11" fmla="*/ 0 h 142"/>
                <a:gd name="T12" fmla="*/ 0 w 27"/>
                <a:gd name="T13" fmla="*/ 0 h 142"/>
                <a:gd name="T14" fmla="*/ 0 w 27"/>
                <a:gd name="T15" fmla="*/ 0 h 142"/>
                <a:gd name="T16" fmla="*/ 0 w 27"/>
                <a:gd name="T17" fmla="*/ 0 h 142"/>
                <a:gd name="T18" fmla="*/ 0 w 27"/>
                <a:gd name="T19" fmla="*/ 0 h 14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142"/>
                <a:gd name="T32" fmla="*/ 27 w 27"/>
                <a:gd name="T33" fmla="*/ 142 h 14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142">
                  <a:moveTo>
                    <a:pt x="22" y="126"/>
                  </a:moveTo>
                  <a:lnTo>
                    <a:pt x="25" y="137"/>
                  </a:lnTo>
                  <a:lnTo>
                    <a:pt x="27" y="139"/>
                  </a:lnTo>
                  <a:lnTo>
                    <a:pt x="22" y="139"/>
                  </a:lnTo>
                  <a:lnTo>
                    <a:pt x="0" y="142"/>
                  </a:lnTo>
                  <a:lnTo>
                    <a:pt x="27" y="0"/>
                  </a:lnTo>
                  <a:lnTo>
                    <a:pt x="25" y="31"/>
                  </a:lnTo>
                  <a:lnTo>
                    <a:pt x="25" y="63"/>
                  </a:lnTo>
                  <a:lnTo>
                    <a:pt x="25" y="96"/>
                  </a:lnTo>
                  <a:lnTo>
                    <a:pt x="22" y="126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6" name="Freeform 298">
              <a:extLst>
                <a:ext uri="{FF2B5EF4-FFF2-40B4-BE49-F238E27FC236}">
                  <a16:creationId xmlns:a16="http://schemas.microsoft.com/office/drawing/2014/main" id="{5678912D-FE81-8847-BA6C-8DAC551CD3E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57" y="2171"/>
              <a:ext cx="8" cy="37"/>
            </a:xfrm>
            <a:custGeom>
              <a:avLst/>
              <a:gdLst>
                <a:gd name="T0" fmla="*/ 0 w 30"/>
                <a:gd name="T1" fmla="*/ 0 h 144"/>
                <a:gd name="T2" fmla="*/ 0 w 30"/>
                <a:gd name="T3" fmla="*/ 0 h 144"/>
                <a:gd name="T4" fmla="*/ 0 w 30"/>
                <a:gd name="T5" fmla="*/ 0 h 144"/>
                <a:gd name="T6" fmla="*/ 0 w 30"/>
                <a:gd name="T7" fmla="*/ 0 h 144"/>
                <a:gd name="T8" fmla="*/ 0 w 30"/>
                <a:gd name="T9" fmla="*/ 0 h 144"/>
                <a:gd name="T10" fmla="*/ 0 w 30"/>
                <a:gd name="T11" fmla="*/ 0 h 144"/>
                <a:gd name="T12" fmla="*/ 0 w 30"/>
                <a:gd name="T13" fmla="*/ 0 h 144"/>
                <a:gd name="T14" fmla="*/ 0 w 30"/>
                <a:gd name="T15" fmla="*/ 0 h 144"/>
                <a:gd name="T16" fmla="*/ 0 w 30"/>
                <a:gd name="T17" fmla="*/ 0 h 144"/>
                <a:gd name="T18" fmla="*/ 0 w 30"/>
                <a:gd name="T19" fmla="*/ 0 h 144"/>
                <a:gd name="T20" fmla="*/ 0 w 30"/>
                <a:gd name="T21" fmla="*/ 0 h 144"/>
                <a:gd name="T22" fmla="*/ 0 w 30"/>
                <a:gd name="T23" fmla="*/ 0 h 144"/>
                <a:gd name="T24" fmla="*/ 0 w 30"/>
                <a:gd name="T25" fmla="*/ 0 h 14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30"/>
                <a:gd name="T40" fmla="*/ 0 h 144"/>
                <a:gd name="T41" fmla="*/ 30 w 30"/>
                <a:gd name="T42" fmla="*/ 144 h 144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30" h="144">
                  <a:moveTo>
                    <a:pt x="23" y="139"/>
                  </a:moveTo>
                  <a:lnTo>
                    <a:pt x="23" y="141"/>
                  </a:lnTo>
                  <a:lnTo>
                    <a:pt x="16" y="144"/>
                  </a:lnTo>
                  <a:lnTo>
                    <a:pt x="9" y="144"/>
                  </a:lnTo>
                  <a:lnTo>
                    <a:pt x="0" y="144"/>
                  </a:lnTo>
                  <a:lnTo>
                    <a:pt x="6" y="109"/>
                  </a:lnTo>
                  <a:lnTo>
                    <a:pt x="11" y="74"/>
                  </a:lnTo>
                  <a:lnTo>
                    <a:pt x="19" y="35"/>
                  </a:lnTo>
                  <a:lnTo>
                    <a:pt x="28" y="0"/>
                  </a:lnTo>
                  <a:lnTo>
                    <a:pt x="30" y="35"/>
                  </a:lnTo>
                  <a:lnTo>
                    <a:pt x="30" y="70"/>
                  </a:lnTo>
                  <a:lnTo>
                    <a:pt x="28" y="106"/>
                  </a:lnTo>
                  <a:lnTo>
                    <a:pt x="23" y="139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7" name="Freeform 299">
              <a:extLst>
                <a:ext uri="{FF2B5EF4-FFF2-40B4-BE49-F238E27FC236}">
                  <a16:creationId xmlns:a16="http://schemas.microsoft.com/office/drawing/2014/main" id="{3C2D472A-0792-9445-969D-3BD2850AC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3205" y="2176"/>
              <a:ext cx="18" cy="25"/>
            </a:xfrm>
            <a:custGeom>
              <a:avLst/>
              <a:gdLst>
                <a:gd name="T0" fmla="*/ 0 w 71"/>
                <a:gd name="T1" fmla="*/ 0 h 101"/>
                <a:gd name="T2" fmla="*/ 0 w 71"/>
                <a:gd name="T3" fmla="*/ 0 h 101"/>
                <a:gd name="T4" fmla="*/ 0 w 71"/>
                <a:gd name="T5" fmla="*/ 0 h 101"/>
                <a:gd name="T6" fmla="*/ 0 w 71"/>
                <a:gd name="T7" fmla="*/ 0 h 101"/>
                <a:gd name="T8" fmla="*/ 0 w 71"/>
                <a:gd name="T9" fmla="*/ 0 h 101"/>
                <a:gd name="T10" fmla="*/ 0 w 71"/>
                <a:gd name="T11" fmla="*/ 0 h 101"/>
                <a:gd name="T12" fmla="*/ 0 w 71"/>
                <a:gd name="T13" fmla="*/ 0 h 10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1"/>
                <a:gd name="T22" fmla="*/ 0 h 101"/>
                <a:gd name="T23" fmla="*/ 71 w 71"/>
                <a:gd name="T24" fmla="*/ 101 h 10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1" h="101">
                  <a:moveTo>
                    <a:pt x="71" y="85"/>
                  </a:moveTo>
                  <a:lnTo>
                    <a:pt x="0" y="101"/>
                  </a:lnTo>
                  <a:lnTo>
                    <a:pt x="6" y="0"/>
                  </a:lnTo>
                  <a:lnTo>
                    <a:pt x="25" y="19"/>
                  </a:lnTo>
                  <a:lnTo>
                    <a:pt x="41" y="41"/>
                  </a:lnTo>
                  <a:lnTo>
                    <a:pt x="55" y="65"/>
                  </a:lnTo>
                  <a:lnTo>
                    <a:pt x="71" y="85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8" name="Freeform 300">
              <a:extLst>
                <a:ext uri="{FF2B5EF4-FFF2-40B4-BE49-F238E27FC236}">
                  <a16:creationId xmlns:a16="http://schemas.microsoft.com/office/drawing/2014/main" id="{BA5BBA0A-35BB-5641-B8E9-EDD2A8C1F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7" y="2179"/>
              <a:ext cx="20" cy="27"/>
            </a:xfrm>
            <a:custGeom>
              <a:avLst/>
              <a:gdLst>
                <a:gd name="T0" fmla="*/ 0 w 76"/>
                <a:gd name="T1" fmla="*/ 0 h 107"/>
                <a:gd name="T2" fmla="*/ 0 w 76"/>
                <a:gd name="T3" fmla="*/ 0 h 107"/>
                <a:gd name="T4" fmla="*/ 0 w 76"/>
                <a:gd name="T5" fmla="*/ 0 h 107"/>
                <a:gd name="T6" fmla="*/ 0 w 76"/>
                <a:gd name="T7" fmla="*/ 0 h 107"/>
                <a:gd name="T8" fmla="*/ 0 w 76"/>
                <a:gd name="T9" fmla="*/ 0 h 107"/>
                <a:gd name="T10" fmla="*/ 0 w 76"/>
                <a:gd name="T11" fmla="*/ 0 h 107"/>
                <a:gd name="T12" fmla="*/ 0 w 76"/>
                <a:gd name="T13" fmla="*/ 0 h 107"/>
                <a:gd name="T14" fmla="*/ 0 w 76"/>
                <a:gd name="T15" fmla="*/ 0 h 107"/>
                <a:gd name="T16" fmla="*/ 0 w 76"/>
                <a:gd name="T17" fmla="*/ 0 h 107"/>
                <a:gd name="T18" fmla="*/ 0 w 76"/>
                <a:gd name="T19" fmla="*/ 0 h 10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76"/>
                <a:gd name="T31" fmla="*/ 0 h 107"/>
                <a:gd name="T32" fmla="*/ 76 w 76"/>
                <a:gd name="T33" fmla="*/ 107 h 10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76" h="107">
                  <a:moveTo>
                    <a:pt x="76" y="95"/>
                  </a:moveTo>
                  <a:lnTo>
                    <a:pt x="0" y="107"/>
                  </a:lnTo>
                  <a:lnTo>
                    <a:pt x="3" y="82"/>
                  </a:lnTo>
                  <a:lnTo>
                    <a:pt x="5" y="58"/>
                  </a:lnTo>
                  <a:lnTo>
                    <a:pt x="5" y="30"/>
                  </a:lnTo>
                  <a:lnTo>
                    <a:pt x="5" y="0"/>
                  </a:lnTo>
                  <a:lnTo>
                    <a:pt x="25" y="24"/>
                  </a:lnTo>
                  <a:lnTo>
                    <a:pt x="41" y="49"/>
                  </a:lnTo>
                  <a:lnTo>
                    <a:pt x="60" y="74"/>
                  </a:lnTo>
                  <a:lnTo>
                    <a:pt x="76" y="95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49" name="Freeform 301">
              <a:extLst>
                <a:ext uri="{FF2B5EF4-FFF2-40B4-BE49-F238E27FC236}">
                  <a16:creationId xmlns:a16="http://schemas.microsoft.com/office/drawing/2014/main" id="{EB02D69C-65A8-274E-A82A-92B1F7B67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7" y="2182"/>
              <a:ext cx="6" cy="42"/>
            </a:xfrm>
            <a:custGeom>
              <a:avLst/>
              <a:gdLst>
                <a:gd name="T0" fmla="*/ 0 w 25"/>
                <a:gd name="T1" fmla="*/ 0 h 166"/>
                <a:gd name="T2" fmla="*/ 0 w 25"/>
                <a:gd name="T3" fmla="*/ 0 h 166"/>
                <a:gd name="T4" fmla="*/ 0 w 25"/>
                <a:gd name="T5" fmla="*/ 0 h 166"/>
                <a:gd name="T6" fmla="*/ 0 w 25"/>
                <a:gd name="T7" fmla="*/ 0 h 166"/>
                <a:gd name="T8" fmla="*/ 0 w 25"/>
                <a:gd name="T9" fmla="*/ 0 h 166"/>
                <a:gd name="T10" fmla="*/ 0 w 25"/>
                <a:gd name="T11" fmla="*/ 0 h 166"/>
                <a:gd name="T12" fmla="*/ 0 w 25"/>
                <a:gd name="T13" fmla="*/ 0 h 166"/>
                <a:gd name="T14" fmla="*/ 0 w 25"/>
                <a:gd name="T15" fmla="*/ 0 h 166"/>
                <a:gd name="T16" fmla="*/ 0 w 25"/>
                <a:gd name="T17" fmla="*/ 0 h 166"/>
                <a:gd name="T18" fmla="*/ 0 w 25"/>
                <a:gd name="T19" fmla="*/ 0 h 166"/>
                <a:gd name="T20" fmla="*/ 0 w 25"/>
                <a:gd name="T21" fmla="*/ 0 h 166"/>
                <a:gd name="T22" fmla="*/ 0 w 25"/>
                <a:gd name="T23" fmla="*/ 0 h 166"/>
                <a:gd name="T24" fmla="*/ 0 w 25"/>
                <a:gd name="T25" fmla="*/ 0 h 166"/>
                <a:gd name="T26" fmla="*/ 0 w 25"/>
                <a:gd name="T27" fmla="*/ 0 h 166"/>
                <a:gd name="T28" fmla="*/ 0 w 25"/>
                <a:gd name="T29" fmla="*/ 0 h 166"/>
                <a:gd name="T30" fmla="*/ 0 w 25"/>
                <a:gd name="T31" fmla="*/ 0 h 166"/>
                <a:gd name="T32" fmla="*/ 0 w 25"/>
                <a:gd name="T33" fmla="*/ 0 h 166"/>
                <a:gd name="T34" fmla="*/ 0 w 25"/>
                <a:gd name="T35" fmla="*/ 0 h 166"/>
                <a:gd name="T36" fmla="*/ 0 w 25"/>
                <a:gd name="T37" fmla="*/ 0 h 166"/>
                <a:gd name="T38" fmla="*/ 0 w 25"/>
                <a:gd name="T39" fmla="*/ 0 h 166"/>
                <a:gd name="T40" fmla="*/ 0 w 25"/>
                <a:gd name="T41" fmla="*/ 0 h 166"/>
                <a:gd name="T42" fmla="*/ 0 w 25"/>
                <a:gd name="T43" fmla="*/ 0 h 166"/>
                <a:gd name="T44" fmla="*/ 0 w 25"/>
                <a:gd name="T45" fmla="*/ 0 h 166"/>
                <a:gd name="T46" fmla="*/ 0 w 25"/>
                <a:gd name="T47" fmla="*/ 0 h 166"/>
                <a:gd name="T48" fmla="*/ 0 w 25"/>
                <a:gd name="T49" fmla="*/ 0 h 16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25"/>
                <a:gd name="T76" fmla="*/ 0 h 166"/>
                <a:gd name="T77" fmla="*/ 25 w 25"/>
                <a:gd name="T78" fmla="*/ 166 h 166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25" h="166">
                  <a:moveTo>
                    <a:pt x="16" y="0"/>
                  </a:moveTo>
                  <a:lnTo>
                    <a:pt x="14" y="37"/>
                  </a:lnTo>
                  <a:lnTo>
                    <a:pt x="16" y="76"/>
                  </a:lnTo>
                  <a:lnTo>
                    <a:pt x="19" y="113"/>
                  </a:lnTo>
                  <a:lnTo>
                    <a:pt x="16" y="154"/>
                  </a:lnTo>
                  <a:lnTo>
                    <a:pt x="19" y="157"/>
                  </a:lnTo>
                  <a:lnTo>
                    <a:pt x="21" y="159"/>
                  </a:lnTo>
                  <a:lnTo>
                    <a:pt x="25" y="159"/>
                  </a:lnTo>
                  <a:lnTo>
                    <a:pt x="19" y="159"/>
                  </a:lnTo>
                  <a:lnTo>
                    <a:pt x="14" y="163"/>
                  </a:lnTo>
                  <a:lnTo>
                    <a:pt x="11" y="166"/>
                  </a:lnTo>
                  <a:lnTo>
                    <a:pt x="5" y="166"/>
                  </a:lnTo>
                  <a:lnTo>
                    <a:pt x="8" y="157"/>
                  </a:lnTo>
                  <a:lnTo>
                    <a:pt x="8" y="149"/>
                  </a:lnTo>
                  <a:lnTo>
                    <a:pt x="2" y="143"/>
                  </a:lnTo>
                  <a:lnTo>
                    <a:pt x="0" y="136"/>
                  </a:lnTo>
                  <a:lnTo>
                    <a:pt x="0" y="106"/>
                  </a:lnTo>
                  <a:lnTo>
                    <a:pt x="2" y="73"/>
                  </a:lnTo>
                  <a:lnTo>
                    <a:pt x="8" y="40"/>
                  </a:lnTo>
                  <a:lnTo>
                    <a:pt x="11" y="10"/>
                  </a:lnTo>
                  <a:lnTo>
                    <a:pt x="5" y="5"/>
                  </a:lnTo>
                  <a:lnTo>
                    <a:pt x="8" y="2"/>
                  </a:lnTo>
                  <a:lnTo>
                    <a:pt x="11" y="0"/>
                  </a:lnTo>
                  <a:lnTo>
                    <a:pt x="14" y="0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0" name="Freeform 302">
              <a:extLst>
                <a:ext uri="{FF2B5EF4-FFF2-40B4-BE49-F238E27FC236}">
                  <a16:creationId xmlns:a16="http://schemas.microsoft.com/office/drawing/2014/main" id="{D04424DB-028C-D64A-8C66-C3FE550C00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091" y="2182"/>
              <a:ext cx="4" cy="37"/>
            </a:xfrm>
            <a:custGeom>
              <a:avLst/>
              <a:gdLst>
                <a:gd name="T0" fmla="*/ 0 w 14"/>
                <a:gd name="T1" fmla="*/ 0 h 147"/>
                <a:gd name="T2" fmla="*/ 0 w 14"/>
                <a:gd name="T3" fmla="*/ 0 h 147"/>
                <a:gd name="T4" fmla="*/ 0 w 14"/>
                <a:gd name="T5" fmla="*/ 0 h 147"/>
                <a:gd name="T6" fmla="*/ 0 w 14"/>
                <a:gd name="T7" fmla="*/ 0 h 147"/>
                <a:gd name="T8" fmla="*/ 0 w 14"/>
                <a:gd name="T9" fmla="*/ 0 h 147"/>
                <a:gd name="T10" fmla="*/ 0 w 14"/>
                <a:gd name="T11" fmla="*/ 0 h 147"/>
                <a:gd name="T12" fmla="*/ 0 w 14"/>
                <a:gd name="T13" fmla="*/ 0 h 147"/>
                <a:gd name="T14" fmla="*/ 0 w 14"/>
                <a:gd name="T15" fmla="*/ 0 h 147"/>
                <a:gd name="T16" fmla="*/ 0 w 14"/>
                <a:gd name="T17" fmla="*/ 0 h 147"/>
                <a:gd name="T18" fmla="*/ 0 w 14"/>
                <a:gd name="T19" fmla="*/ 0 h 147"/>
                <a:gd name="T20" fmla="*/ 0 w 14"/>
                <a:gd name="T21" fmla="*/ 0 h 147"/>
                <a:gd name="T22" fmla="*/ 0 w 14"/>
                <a:gd name="T23" fmla="*/ 0 h 147"/>
                <a:gd name="T24" fmla="*/ 0 w 14"/>
                <a:gd name="T25" fmla="*/ 0 h 147"/>
                <a:gd name="T26" fmla="*/ 0 w 14"/>
                <a:gd name="T27" fmla="*/ 0 h 147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14"/>
                <a:gd name="T43" fmla="*/ 0 h 147"/>
                <a:gd name="T44" fmla="*/ 14 w 14"/>
                <a:gd name="T45" fmla="*/ 147 h 147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14" h="147">
                  <a:moveTo>
                    <a:pt x="14" y="46"/>
                  </a:moveTo>
                  <a:lnTo>
                    <a:pt x="14" y="141"/>
                  </a:lnTo>
                  <a:lnTo>
                    <a:pt x="11" y="141"/>
                  </a:lnTo>
                  <a:lnTo>
                    <a:pt x="9" y="141"/>
                  </a:lnTo>
                  <a:lnTo>
                    <a:pt x="6" y="143"/>
                  </a:lnTo>
                  <a:lnTo>
                    <a:pt x="0" y="147"/>
                  </a:lnTo>
                  <a:lnTo>
                    <a:pt x="6" y="108"/>
                  </a:lnTo>
                  <a:lnTo>
                    <a:pt x="6" y="70"/>
                  </a:lnTo>
                  <a:lnTo>
                    <a:pt x="6" y="35"/>
                  </a:lnTo>
                  <a:lnTo>
                    <a:pt x="11" y="0"/>
                  </a:lnTo>
                  <a:lnTo>
                    <a:pt x="14" y="10"/>
                  </a:lnTo>
                  <a:lnTo>
                    <a:pt x="11" y="21"/>
                  </a:lnTo>
                  <a:lnTo>
                    <a:pt x="9" y="35"/>
                  </a:lnTo>
                  <a:lnTo>
                    <a:pt x="14" y="46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1" name="Freeform 303">
              <a:extLst>
                <a:ext uri="{FF2B5EF4-FFF2-40B4-BE49-F238E27FC236}">
                  <a16:creationId xmlns:a16="http://schemas.microsoft.com/office/drawing/2014/main" id="{7D86BDED-802E-F04A-8E62-06D4F83BC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6" y="2184"/>
              <a:ext cx="9" cy="27"/>
            </a:xfrm>
            <a:custGeom>
              <a:avLst/>
              <a:gdLst>
                <a:gd name="T0" fmla="*/ 0 w 35"/>
                <a:gd name="T1" fmla="*/ 0 h 108"/>
                <a:gd name="T2" fmla="*/ 0 w 35"/>
                <a:gd name="T3" fmla="*/ 0 h 108"/>
                <a:gd name="T4" fmla="*/ 0 w 35"/>
                <a:gd name="T5" fmla="*/ 0 h 108"/>
                <a:gd name="T6" fmla="*/ 0 w 35"/>
                <a:gd name="T7" fmla="*/ 0 h 108"/>
                <a:gd name="T8" fmla="*/ 0 w 35"/>
                <a:gd name="T9" fmla="*/ 0 h 108"/>
                <a:gd name="T10" fmla="*/ 0 w 35"/>
                <a:gd name="T11" fmla="*/ 0 h 108"/>
                <a:gd name="T12" fmla="*/ 0 w 35"/>
                <a:gd name="T13" fmla="*/ 0 h 108"/>
                <a:gd name="T14" fmla="*/ 0 w 35"/>
                <a:gd name="T15" fmla="*/ 0 h 108"/>
                <a:gd name="T16" fmla="*/ 0 w 35"/>
                <a:gd name="T17" fmla="*/ 0 h 108"/>
                <a:gd name="T18" fmla="*/ 0 w 35"/>
                <a:gd name="T19" fmla="*/ 0 h 108"/>
                <a:gd name="T20" fmla="*/ 0 w 35"/>
                <a:gd name="T21" fmla="*/ 0 h 108"/>
                <a:gd name="T22" fmla="*/ 0 w 35"/>
                <a:gd name="T23" fmla="*/ 0 h 108"/>
                <a:gd name="T24" fmla="*/ 0 w 35"/>
                <a:gd name="T25" fmla="*/ 0 h 108"/>
                <a:gd name="T26" fmla="*/ 0 w 35"/>
                <a:gd name="T27" fmla="*/ 0 h 108"/>
                <a:gd name="T28" fmla="*/ 0 w 35"/>
                <a:gd name="T29" fmla="*/ 0 h 108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w 35"/>
                <a:gd name="T46" fmla="*/ 0 h 108"/>
                <a:gd name="T47" fmla="*/ 35 w 35"/>
                <a:gd name="T48" fmla="*/ 108 h 108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T45" t="T46" r="T47" b="T48"/>
              <a:pathLst>
                <a:path w="35" h="108">
                  <a:moveTo>
                    <a:pt x="35" y="0"/>
                  </a:moveTo>
                  <a:lnTo>
                    <a:pt x="33" y="27"/>
                  </a:lnTo>
                  <a:lnTo>
                    <a:pt x="30" y="55"/>
                  </a:lnTo>
                  <a:lnTo>
                    <a:pt x="28" y="84"/>
                  </a:lnTo>
                  <a:lnTo>
                    <a:pt x="25" y="108"/>
                  </a:lnTo>
                  <a:lnTo>
                    <a:pt x="19" y="101"/>
                  </a:lnTo>
                  <a:lnTo>
                    <a:pt x="16" y="90"/>
                  </a:lnTo>
                  <a:lnTo>
                    <a:pt x="8" y="81"/>
                  </a:lnTo>
                  <a:lnTo>
                    <a:pt x="0" y="78"/>
                  </a:lnTo>
                  <a:lnTo>
                    <a:pt x="0" y="11"/>
                  </a:lnTo>
                  <a:lnTo>
                    <a:pt x="0" y="5"/>
                  </a:lnTo>
                  <a:lnTo>
                    <a:pt x="8" y="5"/>
                  </a:lnTo>
                  <a:lnTo>
                    <a:pt x="16" y="5"/>
                  </a:lnTo>
                  <a:lnTo>
                    <a:pt x="25" y="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2" name="Freeform 304">
              <a:extLst>
                <a:ext uri="{FF2B5EF4-FFF2-40B4-BE49-F238E27FC236}">
                  <a16:creationId xmlns:a16="http://schemas.microsoft.com/office/drawing/2014/main" id="{24C26666-6475-5D4C-8BDF-2552BD225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24" y="2186"/>
              <a:ext cx="15" cy="32"/>
            </a:xfrm>
            <a:custGeom>
              <a:avLst/>
              <a:gdLst>
                <a:gd name="T0" fmla="*/ 0 w 60"/>
                <a:gd name="T1" fmla="*/ 0 h 125"/>
                <a:gd name="T2" fmla="*/ 0 w 60"/>
                <a:gd name="T3" fmla="*/ 0 h 125"/>
                <a:gd name="T4" fmla="*/ 0 w 60"/>
                <a:gd name="T5" fmla="*/ 0 h 125"/>
                <a:gd name="T6" fmla="*/ 0 w 60"/>
                <a:gd name="T7" fmla="*/ 0 h 125"/>
                <a:gd name="T8" fmla="*/ 0 w 60"/>
                <a:gd name="T9" fmla="*/ 0 h 125"/>
                <a:gd name="T10" fmla="*/ 0 w 60"/>
                <a:gd name="T11" fmla="*/ 0 h 125"/>
                <a:gd name="T12" fmla="*/ 0 w 60"/>
                <a:gd name="T13" fmla="*/ 0 h 125"/>
                <a:gd name="T14" fmla="*/ 0 w 60"/>
                <a:gd name="T15" fmla="*/ 0 h 125"/>
                <a:gd name="T16" fmla="*/ 0 w 60"/>
                <a:gd name="T17" fmla="*/ 0 h 125"/>
                <a:gd name="T18" fmla="*/ 0 w 60"/>
                <a:gd name="T19" fmla="*/ 0 h 125"/>
                <a:gd name="T20" fmla="*/ 0 w 60"/>
                <a:gd name="T21" fmla="*/ 0 h 125"/>
                <a:gd name="T22" fmla="*/ 0 w 60"/>
                <a:gd name="T23" fmla="*/ 0 h 125"/>
                <a:gd name="T24" fmla="*/ 0 w 60"/>
                <a:gd name="T25" fmla="*/ 0 h 125"/>
                <a:gd name="T26" fmla="*/ 0 w 60"/>
                <a:gd name="T27" fmla="*/ 0 h 125"/>
                <a:gd name="T28" fmla="*/ 0 w 60"/>
                <a:gd name="T29" fmla="*/ 0 h 125"/>
                <a:gd name="T30" fmla="*/ 0 w 60"/>
                <a:gd name="T31" fmla="*/ 0 h 125"/>
                <a:gd name="T32" fmla="*/ 0 w 60"/>
                <a:gd name="T33" fmla="*/ 0 h 125"/>
                <a:gd name="T34" fmla="*/ 0 w 60"/>
                <a:gd name="T35" fmla="*/ 0 h 125"/>
                <a:gd name="T36" fmla="*/ 0 w 60"/>
                <a:gd name="T37" fmla="*/ 0 h 125"/>
                <a:gd name="T38" fmla="*/ 0 w 60"/>
                <a:gd name="T39" fmla="*/ 0 h 125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w 60"/>
                <a:gd name="T61" fmla="*/ 0 h 125"/>
                <a:gd name="T62" fmla="*/ 60 w 60"/>
                <a:gd name="T63" fmla="*/ 125 h 125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T60" t="T61" r="T62" b="T63"/>
              <a:pathLst>
                <a:path w="60" h="125">
                  <a:moveTo>
                    <a:pt x="60" y="0"/>
                  </a:moveTo>
                  <a:lnTo>
                    <a:pt x="52" y="30"/>
                  </a:lnTo>
                  <a:lnTo>
                    <a:pt x="49" y="62"/>
                  </a:lnTo>
                  <a:lnTo>
                    <a:pt x="47" y="92"/>
                  </a:lnTo>
                  <a:lnTo>
                    <a:pt x="44" y="125"/>
                  </a:lnTo>
                  <a:lnTo>
                    <a:pt x="33" y="111"/>
                  </a:lnTo>
                  <a:lnTo>
                    <a:pt x="22" y="95"/>
                  </a:lnTo>
                  <a:lnTo>
                    <a:pt x="14" y="81"/>
                  </a:lnTo>
                  <a:lnTo>
                    <a:pt x="8" y="67"/>
                  </a:lnTo>
                  <a:lnTo>
                    <a:pt x="3" y="57"/>
                  </a:lnTo>
                  <a:lnTo>
                    <a:pt x="0" y="40"/>
                  </a:lnTo>
                  <a:lnTo>
                    <a:pt x="3" y="26"/>
                  </a:lnTo>
                  <a:lnTo>
                    <a:pt x="3" y="14"/>
                  </a:lnTo>
                  <a:lnTo>
                    <a:pt x="3" y="10"/>
                  </a:lnTo>
                  <a:lnTo>
                    <a:pt x="3" y="8"/>
                  </a:lnTo>
                  <a:lnTo>
                    <a:pt x="0" y="8"/>
                  </a:lnTo>
                  <a:lnTo>
                    <a:pt x="11" y="5"/>
                  </a:lnTo>
                  <a:lnTo>
                    <a:pt x="28" y="2"/>
                  </a:lnTo>
                  <a:lnTo>
                    <a:pt x="44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3" name="Freeform 305">
              <a:extLst>
                <a:ext uri="{FF2B5EF4-FFF2-40B4-BE49-F238E27FC236}">
                  <a16:creationId xmlns:a16="http://schemas.microsoft.com/office/drawing/2014/main" id="{3B1CA7A9-690D-8F43-BCD9-EE6A6A81EB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7" y="2189"/>
              <a:ext cx="16" cy="31"/>
            </a:xfrm>
            <a:custGeom>
              <a:avLst/>
              <a:gdLst>
                <a:gd name="T0" fmla="*/ 0 w 65"/>
                <a:gd name="T1" fmla="*/ 0 h 125"/>
                <a:gd name="T2" fmla="*/ 0 w 65"/>
                <a:gd name="T3" fmla="*/ 0 h 125"/>
                <a:gd name="T4" fmla="*/ 0 w 65"/>
                <a:gd name="T5" fmla="*/ 0 h 125"/>
                <a:gd name="T6" fmla="*/ 0 w 65"/>
                <a:gd name="T7" fmla="*/ 0 h 125"/>
                <a:gd name="T8" fmla="*/ 0 w 65"/>
                <a:gd name="T9" fmla="*/ 0 h 125"/>
                <a:gd name="T10" fmla="*/ 0 w 65"/>
                <a:gd name="T11" fmla="*/ 0 h 125"/>
                <a:gd name="T12" fmla="*/ 0 w 65"/>
                <a:gd name="T13" fmla="*/ 0 h 125"/>
                <a:gd name="T14" fmla="*/ 0 w 65"/>
                <a:gd name="T15" fmla="*/ 0 h 125"/>
                <a:gd name="T16" fmla="*/ 0 w 65"/>
                <a:gd name="T17" fmla="*/ 0 h 125"/>
                <a:gd name="T18" fmla="*/ 0 w 65"/>
                <a:gd name="T19" fmla="*/ 0 h 125"/>
                <a:gd name="T20" fmla="*/ 0 w 65"/>
                <a:gd name="T21" fmla="*/ 0 h 125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65"/>
                <a:gd name="T34" fmla="*/ 0 h 125"/>
                <a:gd name="T35" fmla="*/ 65 w 65"/>
                <a:gd name="T36" fmla="*/ 125 h 125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65" h="125">
                  <a:moveTo>
                    <a:pt x="65" y="123"/>
                  </a:moveTo>
                  <a:lnTo>
                    <a:pt x="35" y="125"/>
                  </a:lnTo>
                  <a:lnTo>
                    <a:pt x="27" y="98"/>
                  </a:lnTo>
                  <a:lnTo>
                    <a:pt x="19" y="68"/>
                  </a:lnTo>
                  <a:lnTo>
                    <a:pt x="8" y="41"/>
                  </a:lnTo>
                  <a:lnTo>
                    <a:pt x="0" y="11"/>
                  </a:lnTo>
                  <a:lnTo>
                    <a:pt x="3" y="6"/>
                  </a:lnTo>
                  <a:lnTo>
                    <a:pt x="8" y="0"/>
                  </a:lnTo>
                  <a:lnTo>
                    <a:pt x="14" y="0"/>
                  </a:lnTo>
                  <a:lnTo>
                    <a:pt x="22" y="0"/>
                  </a:lnTo>
                  <a:lnTo>
                    <a:pt x="65" y="123"/>
                  </a:lnTo>
                  <a:close/>
                </a:path>
              </a:pathLst>
            </a:custGeom>
            <a:solidFill>
              <a:srgbClr val="3FFF3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4" name="Freeform 306">
              <a:extLst>
                <a:ext uri="{FF2B5EF4-FFF2-40B4-BE49-F238E27FC236}">
                  <a16:creationId xmlns:a16="http://schemas.microsoft.com/office/drawing/2014/main" id="{089CC40D-3730-624A-A854-699EE81E6D7B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8" y="2190"/>
              <a:ext cx="18" cy="31"/>
            </a:xfrm>
            <a:custGeom>
              <a:avLst/>
              <a:gdLst>
                <a:gd name="T0" fmla="*/ 0 w 73"/>
                <a:gd name="T1" fmla="*/ 0 h 124"/>
                <a:gd name="T2" fmla="*/ 0 w 73"/>
                <a:gd name="T3" fmla="*/ 0 h 124"/>
                <a:gd name="T4" fmla="*/ 0 w 73"/>
                <a:gd name="T5" fmla="*/ 0 h 124"/>
                <a:gd name="T6" fmla="*/ 0 w 73"/>
                <a:gd name="T7" fmla="*/ 0 h 124"/>
                <a:gd name="T8" fmla="*/ 0 w 73"/>
                <a:gd name="T9" fmla="*/ 0 h 124"/>
                <a:gd name="T10" fmla="*/ 0 w 73"/>
                <a:gd name="T11" fmla="*/ 0 h 124"/>
                <a:gd name="T12" fmla="*/ 0 w 73"/>
                <a:gd name="T13" fmla="*/ 0 h 124"/>
                <a:gd name="T14" fmla="*/ 0 w 73"/>
                <a:gd name="T15" fmla="*/ 0 h 124"/>
                <a:gd name="T16" fmla="*/ 0 w 73"/>
                <a:gd name="T17" fmla="*/ 0 h 124"/>
                <a:gd name="T18" fmla="*/ 0 w 73"/>
                <a:gd name="T19" fmla="*/ 0 h 124"/>
                <a:gd name="T20" fmla="*/ 0 w 73"/>
                <a:gd name="T21" fmla="*/ 0 h 124"/>
                <a:gd name="T22" fmla="*/ 0 w 73"/>
                <a:gd name="T23" fmla="*/ 0 h 124"/>
                <a:gd name="T24" fmla="*/ 0 w 73"/>
                <a:gd name="T25" fmla="*/ 0 h 12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73"/>
                <a:gd name="T40" fmla="*/ 0 h 124"/>
                <a:gd name="T41" fmla="*/ 73 w 73"/>
                <a:gd name="T42" fmla="*/ 124 h 124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73" h="124">
                  <a:moveTo>
                    <a:pt x="73" y="0"/>
                  </a:moveTo>
                  <a:lnTo>
                    <a:pt x="67" y="30"/>
                  </a:lnTo>
                  <a:lnTo>
                    <a:pt x="65" y="62"/>
                  </a:lnTo>
                  <a:lnTo>
                    <a:pt x="60" y="92"/>
                  </a:lnTo>
                  <a:lnTo>
                    <a:pt x="51" y="124"/>
                  </a:lnTo>
                  <a:lnTo>
                    <a:pt x="30" y="97"/>
                  </a:lnTo>
                  <a:lnTo>
                    <a:pt x="10" y="70"/>
                  </a:lnTo>
                  <a:lnTo>
                    <a:pt x="0" y="40"/>
                  </a:lnTo>
                  <a:lnTo>
                    <a:pt x="2" y="10"/>
                  </a:lnTo>
                  <a:lnTo>
                    <a:pt x="21" y="7"/>
                  </a:lnTo>
                  <a:lnTo>
                    <a:pt x="37" y="2"/>
                  </a:lnTo>
                  <a:lnTo>
                    <a:pt x="57" y="0"/>
                  </a:lnTo>
                  <a:lnTo>
                    <a:pt x="73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5" name="Freeform 307">
              <a:extLst>
                <a:ext uri="{FF2B5EF4-FFF2-40B4-BE49-F238E27FC236}">
                  <a16:creationId xmlns:a16="http://schemas.microsoft.com/office/drawing/2014/main" id="{2186B8E1-C989-4646-B9C3-C100A4B791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38" y="2190"/>
              <a:ext cx="5" cy="37"/>
            </a:xfrm>
            <a:custGeom>
              <a:avLst/>
              <a:gdLst>
                <a:gd name="T0" fmla="*/ 0 w 19"/>
                <a:gd name="T1" fmla="*/ 0 h 147"/>
                <a:gd name="T2" fmla="*/ 0 w 19"/>
                <a:gd name="T3" fmla="*/ 0 h 147"/>
                <a:gd name="T4" fmla="*/ 0 w 19"/>
                <a:gd name="T5" fmla="*/ 0 h 147"/>
                <a:gd name="T6" fmla="*/ 0 w 19"/>
                <a:gd name="T7" fmla="*/ 0 h 147"/>
                <a:gd name="T8" fmla="*/ 0 w 19"/>
                <a:gd name="T9" fmla="*/ 0 h 147"/>
                <a:gd name="T10" fmla="*/ 0 w 19"/>
                <a:gd name="T11" fmla="*/ 0 h 147"/>
                <a:gd name="T12" fmla="*/ 0 w 19"/>
                <a:gd name="T13" fmla="*/ 0 h 147"/>
                <a:gd name="T14" fmla="*/ 0 w 19"/>
                <a:gd name="T15" fmla="*/ 0 h 147"/>
                <a:gd name="T16" fmla="*/ 0 w 19"/>
                <a:gd name="T17" fmla="*/ 0 h 147"/>
                <a:gd name="T18" fmla="*/ 0 w 19"/>
                <a:gd name="T19" fmla="*/ 0 h 147"/>
                <a:gd name="T20" fmla="*/ 0 w 19"/>
                <a:gd name="T21" fmla="*/ 0 h 147"/>
                <a:gd name="T22" fmla="*/ 0 w 19"/>
                <a:gd name="T23" fmla="*/ 0 h 147"/>
                <a:gd name="T24" fmla="*/ 0 w 19"/>
                <a:gd name="T25" fmla="*/ 0 h 147"/>
                <a:gd name="T26" fmla="*/ 0 w 19"/>
                <a:gd name="T27" fmla="*/ 0 h 147"/>
                <a:gd name="T28" fmla="*/ 0 w 19"/>
                <a:gd name="T29" fmla="*/ 0 h 147"/>
                <a:gd name="T30" fmla="*/ 0 w 19"/>
                <a:gd name="T31" fmla="*/ 0 h 147"/>
                <a:gd name="T32" fmla="*/ 0 w 19"/>
                <a:gd name="T33" fmla="*/ 0 h 147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9"/>
                <a:gd name="T52" fmla="*/ 0 h 147"/>
                <a:gd name="T53" fmla="*/ 19 w 19"/>
                <a:gd name="T54" fmla="*/ 147 h 147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9" h="147">
                  <a:moveTo>
                    <a:pt x="10" y="141"/>
                  </a:moveTo>
                  <a:lnTo>
                    <a:pt x="16" y="147"/>
                  </a:lnTo>
                  <a:lnTo>
                    <a:pt x="13" y="147"/>
                  </a:lnTo>
                  <a:lnTo>
                    <a:pt x="7" y="147"/>
                  </a:lnTo>
                  <a:lnTo>
                    <a:pt x="5" y="147"/>
                  </a:lnTo>
                  <a:lnTo>
                    <a:pt x="0" y="122"/>
                  </a:lnTo>
                  <a:lnTo>
                    <a:pt x="0" y="97"/>
                  </a:lnTo>
                  <a:lnTo>
                    <a:pt x="2" y="73"/>
                  </a:lnTo>
                  <a:lnTo>
                    <a:pt x="5" y="46"/>
                  </a:lnTo>
                  <a:lnTo>
                    <a:pt x="5" y="35"/>
                  </a:lnTo>
                  <a:lnTo>
                    <a:pt x="7" y="21"/>
                  </a:lnTo>
                  <a:lnTo>
                    <a:pt x="13" y="10"/>
                  </a:lnTo>
                  <a:lnTo>
                    <a:pt x="16" y="0"/>
                  </a:lnTo>
                  <a:lnTo>
                    <a:pt x="16" y="35"/>
                  </a:lnTo>
                  <a:lnTo>
                    <a:pt x="19" y="70"/>
                  </a:lnTo>
                  <a:lnTo>
                    <a:pt x="16" y="106"/>
                  </a:lnTo>
                  <a:lnTo>
                    <a:pt x="10" y="141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6" name="Freeform 308">
              <a:extLst>
                <a:ext uri="{FF2B5EF4-FFF2-40B4-BE49-F238E27FC236}">
                  <a16:creationId xmlns:a16="http://schemas.microsoft.com/office/drawing/2014/main" id="{DFF709AB-A714-5346-A7D5-09165AFB23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65" y="2193"/>
              <a:ext cx="19" cy="29"/>
            </a:xfrm>
            <a:custGeom>
              <a:avLst/>
              <a:gdLst>
                <a:gd name="T0" fmla="*/ 0 w 76"/>
                <a:gd name="T1" fmla="*/ 0 h 119"/>
                <a:gd name="T2" fmla="*/ 0 w 76"/>
                <a:gd name="T3" fmla="*/ 0 h 119"/>
                <a:gd name="T4" fmla="*/ 0 w 76"/>
                <a:gd name="T5" fmla="*/ 0 h 119"/>
                <a:gd name="T6" fmla="*/ 0 w 76"/>
                <a:gd name="T7" fmla="*/ 0 h 119"/>
                <a:gd name="T8" fmla="*/ 0 w 76"/>
                <a:gd name="T9" fmla="*/ 0 h 119"/>
                <a:gd name="T10" fmla="*/ 0 w 76"/>
                <a:gd name="T11" fmla="*/ 0 h 119"/>
                <a:gd name="T12" fmla="*/ 0 w 76"/>
                <a:gd name="T13" fmla="*/ 0 h 119"/>
                <a:gd name="T14" fmla="*/ 0 w 76"/>
                <a:gd name="T15" fmla="*/ 0 h 11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76"/>
                <a:gd name="T25" fmla="*/ 0 h 119"/>
                <a:gd name="T26" fmla="*/ 76 w 76"/>
                <a:gd name="T27" fmla="*/ 119 h 11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76" h="119">
                  <a:moveTo>
                    <a:pt x="76" y="109"/>
                  </a:moveTo>
                  <a:lnTo>
                    <a:pt x="0" y="119"/>
                  </a:lnTo>
                  <a:lnTo>
                    <a:pt x="5" y="114"/>
                  </a:lnTo>
                  <a:lnTo>
                    <a:pt x="5" y="0"/>
                  </a:lnTo>
                  <a:lnTo>
                    <a:pt x="21" y="30"/>
                  </a:lnTo>
                  <a:lnTo>
                    <a:pt x="41" y="55"/>
                  </a:lnTo>
                  <a:lnTo>
                    <a:pt x="60" y="82"/>
                  </a:lnTo>
                  <a:lnTo>
                    <a:pt x="76" y="109"/>
                  </a:lnTo>
                  <a:close/>
                </a:path>
              </a:pathLst>
            </a:custGeom>
            <a:solidFill>
              <a:srgbClr val="E8E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7" name="Freeform 309">
              <a:extLst>
                <a:ext uri="{FF2B5EF4-FFF2-40B4-BE49-F238E27FC236}">
                  <a16:creationId xmlns:a16="http://schemas.microsoft.com/office/drawing/2014/main" id="{82334A88-DFA2-4C48-99C6-773766344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8" y="2194"/>
              <a:ext cx="22" cy="37"/>
            </a:xfrm>
            <a:custGeom>
              <a:avLst/>
              <a:gdLst>
                <a:gd name="T0" fmla="*/ 0 w 87"/>
                <a:gd name="T1" fmla="*/ 0 h 150"/>
                <a:gd name="T2" fmla="*/ 0 w 87"/>
                <a:gd name="T3" fmla="*/ 0 h 150"/>
                <a:gd name="T4" fmla="*/ 0 w 87"/>
                <a:gd name="T5" fmla="*/ 0 h 150"/>
                <a:gd name="T6" fmla="*/ 0 w 87"/>
                <a:gd name="T7" fmla="*/ 0 h 150"/>
                <a:gd name="T8" fmla="*/ 0 w 87"/>
                <a:gd name="T9" fmla="*/ 0 h 150"/>
                <a:gd name="T10" fmla="*/ 0 w 87"/>
                <a:gd name="T11" fmla="*/ 0 h 150"/>
                <a:gd name="T12" fmla="*/ 0 w 87"/>
                <a:gd name="T13" fmla="*/ 0 h 150"/>
                <a:gd name="T14" fmla="*/ 0 w 87"/>
                <a:gd name="T15" fmla="*/ 0 h 150"/>
                <a:gd name="T16" fmla="*/ 0 w 87"/>
                <a:gd name="T17" fmla="*/ 0 h 150"/>
                <a:gd name="T18" fmla="*/ 0 w 87"/>
                <a:gd name="T19" fmla="*/ 0 h 150"/>
                <a:gd name="T20" fmla="*/ 0 w 87"/>
                <a:gd name="T21" fmla="*/ 0 h 150"/>
                <a:gd name="T22" fmla="*/ 0 w 87"/>
                <a:gd name="T23" fmla="*/ 0 h 150"/>
                <a:gd name="T24" fmla="*/ 0 w 87"/>
                <a:gd name="T25" fmla="*/ 0 h 150"/>
                <a:gd name="T26" fmla="*/ 0 w 87"/>
                <a:gd name="T27" fmla="*/ 0 h 150"/>
                <a:gd name="T28" fmla="*/ 0 w 87"/>
                <a:gd name="T29" fmla="*/ 0 h 150"/>
                <a:gd name="T30" fmla="*/ 0 w 87"/>
                <a:gd name="T31" fmla="*/ 0 h 150"/>
                <a:gd name="T32" fmla="*/ 0 w 87"/>
                <a:gd name="T33" fmla="*/ 0 h 150"/>
                <a:gd name="T34" fmla="*/ 0 w 87"/>
                <a:gd name="T35" fmla="*/ 0 h 150"/>
                <a:gd name="T36" fmla="*/ 0 w 87"/>
                <a:gd name="T37" fmla="*/ 0 h 150"/>
                <a:gd name="T38" fmla="*/ 0 w 87"/>
                <a:gd name="T39" fmla="*/ 0 h 150"/>
                <a:gd name="T40" fmla="*/ 0 w 87"/>
                <a:gd name="T41" fmla="*/ 0 h 150"/>
                <a:gd name="T42" fmla="*/ 0 w 87"/>
                <a:gd name="T43" fmla="*/ 0 h 150"/>
                <a:gd name="T44" fmla="*/ 0 w 87"/>
                <a:gd name="T45" fmla="*/ 0 h 150"/>
                <a:gd name="T46" fmla="*/ 0 w 87"/>
                <a:gd name="T47" fmla="*/ 0 h 150"/>
                <a:gd name="T48" fmla="*/ 0 w 87"/>
                <a:gd name="T49" fmla="*/ 0 h 150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87"/>
                <a:gd name="T76" fmla="*/ 0 h 150"/>
                <a:gd name="T77" fmla="*/ 87 w 87"/>
                <a:gd name="T78" fmla="*/ 150 h 150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87" h="150">
                  <a:moveTo>
                    <a:pt x="87" y="0"/>
                  </a:moveTo>
                  <a:lnTo>
                    <a:pt x="87" y="30"/>
                  </a:lnTo>
                  <a:lnTo>
                    <a:pt x="85" y="57"/>
                  </a:lnTo>
                  <a:lnTo>
                    <a:pt x="80" y="87"/>
                  </a:lnTo>
                  <a:lnTo>
                    <a:pt x="77" y="113"/>
                  </a:lnTo>
                  <a:lnTo>
                    <a:pt x="75" y="122"/>
                  </a:lnTo>
                  <a:lnTo>
                    <a:pt x="75" y="131"/>
                  </a:lnTo>
                  <a:lnTo>
                    <a:pt x="71" y="138"/>
                  </a:lnTo>
                  <a:lnTo>
                    <a:pt x="71" y="150"/>
                  </a:lnTo>
                  <a:lnTo>
                    <a:pt x="55" y="125"/>
                  </a:lnTo>
                  <a:lnTo>
                    <a:pt x="39" y="97"/>
                  </a:lnTo>
                  <a:lnTo>
                    <a:pt x="20" y="73"/>
                  </a:lnTo>
                  <a:lnTo>
                    <a:pt x="4" y="49"/>
                  </a:lnTo>
                  <a:lnTo>
                    <a:pt x="6" y="37"/>
                  </a:lnTo>
                  <a:lnTo>
                    <a:pt x="4" y="30"/>
                  </a:lnTo>
                  <a:lnTo>
                    <a:pt x="0" y="21"/>
                  </a:lnTo>
                  <a:lnTo>
                    <a:pt x="4" y="14"/>
                  </a:lnTo>
                  <a:lnTo>
                    <a:pt x="14" y="10"/>
                  </a:lnTo>
                  <a:lnTo>
                    <a:pt x="25" y="7"/>
                  </a:lnTo>
                  <a:lnTo>
                    <a:pt x="36" y="7"/>
                  </a:lnTo>
                  <a:lnTo>
                    <a:pt x="47" y="5"/>
                  </a:lnTo>
                  <a:lnTo>
                    <a:pt x="55" y="2"/>
                  </a:lnTo>
                  <a:lnTo>
                    <a:pt x="66" y="0"/>
                  </a:lnTo>
                  <a:lnTo>
                    <a:pt x="77" y="0"/>
                  </a:lnTo>
                  <a:lnTo>
                    <a:pt x="87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8" name="Freeform 310">
              <a:extLst>
                <a:ext uri="{FF2B5EF4-FFF2-40B4-BE49-F238E27FC236}">
                  <a16:creationId xmlns:a16="http://schemas.microsoft.com/office/drawing/2014/main" id="{30283844-9452-4F43-9D68-CE7EF12A1B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014" y="2195"/>
              <a:ext cx="7" cy="36"/>
            </a:xfrm>
            <a:custGeom>
              <a:avLst/>
              <a:gdLst>
                <a:gd name="T0" fmla="*/ 0 w 27"/>
                <a:gd name="T1" fmla="*/ 0 h 145"/>
                <a:gd name="T2" fmla="*/ 0 w 27"/>
                <a:gd name="T3" fmla="*/ 0 h 145"/>
                <a:gd name="T4" fmla="*/ 0 w 27"/>
                <a:gd name="T5" fmla="*/ 0 h 145"/>
                <a:gd name="T6" fmla="*/ 0 w 27"/>
                <a:gd name="T7" fmla="*/ 0 h 145"/>
                <a:gd name="T8" fmla="*/ 0 w 27"/>
                <a:gd name="T9" fmla="*/ 0 h 145"/>
                <a:gd name="T10" fmla="*/ 0 w 27"/>
                <a:gd name="T11" fmla="*/ 0 h 145"/>
                <a:gd name="T12" fmla="*/ 0 w 27"/>
                <a:gd name="T13" fmla="*/ 0 h 145"/>
                <a:gd name="T14" fmla="*/ 0 w 27"/>
                <a:gd name="T15" fmla="*/ 0 h 145"/>
                <a:gd name="T16" fmla="*/ 0 w 27"/>
                <a:gd name="T17" fmla="*/ 0 h 145"/>
                <a:gd name="T18" fmla="*/ 0 w 27"/>
                <a:gd name="T19" fmla="*/ 0 h 145"/>
                <a:gd name="T20" fmla="*/ 0 w 27"/>
                <a:gd name="T21" fmla="*/ 0 h 145"/>
                <a:gd name="T22" fmla="*/ 0 w 27"/>
                <a:gd name="T23" fmla="*/ 0 h 145"/>
                <a:gd name="T24" fmla="*/ 0 w 27"/>
                <a:gd name="T25" fmla="*/ 0 h 145"/>
                <a:gd name="T26" fmla="*/ 0 w 27"/>
                <a:gd name="T27" fmla="*/ 0 h 145"/>
                <a:gd name="T28" fmla="*/ 0 w 27"/>
                <a:gd name="T29" fmla="*/ 0 h 145"/>
                <a:gd name="T30" fmla="*/ 0 w 27"/>
                <a:gd name="T31" fmla="*/ 0 h 145"/>
                <a:gd name="T32" fmla="*/ 0 w 27"/>
                <a:gd name="T33" fmla="*/ 0 h 14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27"/>
                <a:gd name="T52" fmla="*/ 0 h 145"/>
                <a:gd name="T53" fmla="*/ 27 w 27"/>
                <a:gd name="T54" fmla="*/ 145 h 14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27" h="145">
                  <a:moveTo>
                    <a:pt x="22" y="133"/>
                  </a:moveTo>
                  <a:lnTo>
                    <a:pt x="25" y="133"/>
                  </a:lnTo>
                  <a:lnTo>
                    <a:pt x="27" y="133"/>
                  </a:lnTo>
                  <a:lnTo>
                    <a:pt x="22" y="138"/>
                  </a:lnTo>
                  <a:lnTo>
                    <a:pt x="16" y="142"/>
                  </a:lnTo>
                  <a:lnTo>
                    <a:pt x="11" y="142"/>
                  </a:lnTo>
                  <a:lnTo>
                    <a:pt x="8" y="145"/>
                  </a:lnTo>
                  <a:lnTo>
                    <a:pt x="2" y="138"/>
                  </a:lnTo>
                  <a:lnTo>
                    <a:pt x="0" y="128"/>
                  </a:lnTo>
                  <a:lnTo>
                    <a:pt x="0" y="115"/>
                  </a:lnTo>
                  <a:lnTo>
                    <a:pt x="2" y="98"/>
                  </a:lnTo>
                  <a:lnTo>
                    <a:pt x="2" y="85"/>
                  </a:lnTo>
                  <a:lnTo>
                    <a:pt x="11" y="66"/>
                  </a:lnTo>
                  <a:lnTo>
                    <a:pt x="14" y="41"/>
                  </a:lnTo>
                  <a:lnTo>
                    <a:pt x="16" y="19"/>
                  </a:lnTo>
                  <a:lnTo>
                    <a:pt x="22" y="0"/>
                  </a:lnTo>
                  <a:lnTo>
                    <a:pt x="22" y="133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59" name="Freeform 311">
              <a:extLst>
                <a:ext uri="{FF2B5EF4-FFF2-40B4-BE49-F238E27FC236}">
                  <a16:creationId xmlns:a16="http://schemas.microsoft.com/office/drawing/2014/main" id="{1B4936E4-DF32-9B4E-92D9-80C780FB4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3" y="2199"/>
              <a:ext cx="18" cy="32"/>
            </a:xfrm>
            <a:custGeom>
              <a:avLst/>
              <a:gdLst>
                <a:gd name="T0" fmla="*/ 0 w 71"/>
                <a:gd name="T1" fmla="*/ 0 h 131"/>
                <a:gd name="T2" fmla="*/ 0 w 71"/>
                <a:gd name="T3" fmla="*/ 0 h 131"/>
                <a:gd name="T4" fmla="*/ 0 w 71"/>
                <a:gd name="T5" fmla="*/ 0 h 131"/>
                <a:gd name="T6" fmla="*/ 0 w 71"/>
                <a:gd name="T7" fmla="*/ 0 h 131"/>
                <a:gd name="T8" fmla="*/ 0 w 71"/>
                <a:gd name="T9" fmla="*/ 0 h 131"/>
                <a:gd name="T10" fmla="*/ 0 w 71"/>
                <a:gd name="T11" fmla="*/ 0 h 131"/>
                <a:gd name="T12" fmla="*/ 0 w 71"/>
                <a:gd name="T13" fmla="*/ 0 h 131"/>
                <a:gd name="T14" fmla="*/ 0 w 71"/>
                <a:gd name="T15" fmla="*/ 0 h 131"/>
                <a:gd name="T16" fmla="*/ 0 w 71"/>
                <a:gd name="T17" fmla="*/ 0 h 131"/>
                <a:gd name="T18" fmla="*/ 0 w 71"/>
                <a:gd name="T19" fmla="*/ 0 h 131"/>
                <a:gd name="T20" fmla="*/ 0 w 71"/>
                <a:gd name="T21" fmla="*/ 0 h 131"/>
                <a:gd name="T22" fmla="*/ 0 w 71"/>
                <a:gd name="T23" fmla="*/ 0 h 131"/>
                <a:gd name="T24" fmla="*/ 0 w 71"/>
                <a:gd name="T25" fmla="*/ 0 h 131"/>
                <a:gd name="T26" fmla="*/ 0 w 71"/>
                <a:gd name="T27" fmla="*/ 0 h 131"/>
                <a:gd name="T28" fmla="*/ 0 w 71"/>
                <a:gd name="T29" fmla="*/ 0 h 131"/>
                <a:gd name="T30" fmla="*/ 0 w 71"/>
                <a:gd name="T31" fmla="*/ 0 h 131"/>
                <a:gd name="T32" fmla="*/ 0 w 71"/>
                <a:gd name="T33" fmla="*/ 0 h 131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71"/>
                <a:gd name="T52" fmla="*/ 0 h 131"/>
                <a:gd name="T53" fmla="*/ 71 w 71"/>
                <a:gd name="T54" fmla="*/ 131 h 131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71" h="131">
                  <a:moveTo>
                    <a:pt x="71" y="0"/>
                  </a:moveTo>
                  <a:lnTo>
                    <a:pt x="65" y="35"/>
                  </a:lnTo>
                  <a:lnTo>
                    <a:pt x="62" y="68"/>
                  </a:lnTo>
                  <a:lnTo>
                    <a:pt x="60" y="101"/>
                  </a:lnTo>
                  <a:lnTo>
                    <a:pt x="55" y="131"/>
                  </a:lnTo>
                  <a:lnTo>
                    <a:pt x="43" y="108"/>
                  </a:lnTo>
                  <a:lnTo>
                    <a:pt x="32" y="87"/>
                  </a:lnTo>
                  <a:lnTo>
                    <a:pt x="18" y="65"/>
                  </a:lnTo>
                  <a:lnTo>
                    <a:pt x="5" y="46"/>
                  </a:lnTo>
                  <a:lnTo>
                    <a:pt x="5" y="38"/>
                  </a:lnTo>
                  <a:lnTo>
                    <a:pt x="2" y="27"/>
                  </a:lnTo>
                  <a:lnTo>
                    <a:pt x="0" y="18"/>
                  </a:lnTo>
                  <a:lnTo>
                    <a:pt x="0" y="11"/>
                  </a:lnTo>
                  <a:lnTo>
                    <a:pt x="18" y="11"/>
                  </a:lnTo>
                  <a:lnTo>
                    <a:pt x="35" y="8"/>
                  </a:lnTo>
                  <a:lnTo>
                    <a:pt x="55" y="2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0" name="Freeform 312">
              <a:extLst>
                <a:ext uri="{FF2B5EF4-FFF2-40B4-BE49-F238E27FC236}">
                  <a16:creationId xmlns:a16="http://schemas.microsoft.com/office/drawing/2014/main" id="{50B5E9EB-0B4F-AC46-B4CD-9A1CE33C736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0" y="2199"/>
              <a:ext cx="4" cy="36"/>
            </a:xfrm>
            <a:custGeom>
              <a:avLst/>
              <a:gdLst>
                <a:gd name="T0" fmla="*/ 0 w 20"/>
                <a:gd name="T1" fmla="*/ 0 h 144"/>
                <a:gd name="T2" fmla="*/ 0 w 20"/>
                <a:gd name="T3" fmla="*/ 0 h 144"/>
                <a:gd name="T4" fmla="*/ 0 w 20"/>
                <a:gd name="T5" fmla="*/ 0 h 144"/>
                <a:gd name="T6" fmla="*/ 0 w 20"/>
                <a:gd name="T7" fmla="*/ 0 h 144"/>
                <a:gd name="T8" fmla="*/ 0 w 20"/>
                <a:gd name="T9" fmla="*/ 0 h 144"/>
                <a:gd name="T10" fmla="*/ 0 w 20"/>
                <a:gd name="T11" fmla="*/ 0 h 144"/>
                <a:gd name="T12" fmla="*/ 0 w 20"/>
                <a:gd name="T13" fmla="*/ 0 h 144"/>
                <a:gd name="T14" fmla="*/ 0 w 20"/>
                <a:gd name="T15" fmla="*/ 0 h 144"/>
                <a:gd name="T16" fmla="*/ 0 w 20"/>
                <a:gd name="T17" fmla="*/ 0 h 144"/>
                <a:gd name="T18" fmla="*/ 0 w 20"/>
                <a:gd name="T19" fmla="*/ 0 h 144"/>
                <a:gd name="T20" fmla="*/ 0 w 20"/>
                <a:gd name="T21" fmla="*/ 0 h 144"/>
                <a:gd name="T22" fmla="*/ 0 w 20"/>
                <a:gd name="T23" fmla="*/ 0 h 144"/>
                <a:gd name="T24" fmla="*/ 0 w 20"/>
                <a:gd name="T25" fmla="*/ 0 h 144"/>
                <a:gd name="T26" fmla="*/ 0 w 20"/>
                <a:gd name="T27" fmla="*/ 0 h 144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20"/>
                <a:gd name="T43" fmla="*/ 0 h 144"/>
                <a:gd name="T44" fmla="*/ 20 w 20"/>
                <a:gd name="T45" fmla="*/ 144 h 144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20" h="144">
                  <a:moveTo>
                    <a:pt x="18" y="136"/>
                  </a:moveTo>
                  <a:lnTo>
                    <a:pt x="20" y="142"/>
                  </a:lnTo>
                  <a:lnTo>
                    <a:pt x="14" y="142"/>
                  </a:lnTo>
                  <a:lnTo>
                    <a:pt x="9" y="144"/>
                  </a:lnTo>
                  <a:lnTo>
                    <a:pt x="7" y="144"/>
                  </a:lnTo>
                  <a:lnTo>
                    <a:pt x="0" y="142"/>
                  </a:lnTo>
                  <a:lnTo>
                    <a:pt x="7" y="106"/>
                  </a:lnTo>
                  <a:lnTo>
                    <a:pt x="12" y="71"/>
                  </a:lnTo>
                  <a:lnTo>
                    <a:pt x="18" y="35"/>
                  </a:lnTo>
                  <a:lnTo>
                    <a:pt x="20" y="0"/>
                  </a:lnTo>
                  <a:lnTo>
                    <a:pt x="20" y="35"/>
                  </a:lnTo>
                  <a:lnTo>
                    <a:pt x="20" y="68"/>
                  </a:lnTo>
                  <a:lnTo>
                    <a:pt x="20" y="101"/>
                  </a:lnTo>
                  <a:lnTo>
                    <a:pt x="18" y="136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1" name="Freeform 313">
              <a:extLst>
                <a:ext uri="{FF2B5EF4-FFF2-40B4-BE49-F238E27FC236}">
                  <a16:creationId xmlns:a16="http://schemas.microsoft.com/office/drawing/2014/main" id="{BF044BB4-C5D1-8F40-9D20-21ABFAED157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22" y="2203"/>
              <a:ext cx="15" cy="33"/>
            </a:xfrm>
            <a:custGeom>
              <a:avLst/>
              <a:gdLst>
                <a:gd name="T0" fmla="*/ 0 w 60"/>
                <a:gd name="T1" fmla="*/ 0 h 133"/>
                <a:gd name="T2" fmla="*/ 0 w 60"/>
                <a:gd name="T3" fmla="*/ 0 h 133"/>
                <a:gd name="T4" fmla="*/ 0 w 60"/>
                <a:gd name="T5" fmla="*/ 0 h 133"/>
                <a:gd name="T6" fmla="*/ 0 w 60"/>
                <a:gd name="T7" fmla="*/ 0 h 133"/>
                <a:gd name="T8" fmla="*/ 0 w 60"/>
                <a:gd name="T9" fmla="*/ 0 h 133"/>
                <a:gd name="T10" fmla="*/ 0 w 60"/>
                <a:gd name="T11" fmla="*/ 0 h 133"/>
                <a:gd name="T12" fmla="*/ 0 w 60"/>
                <a:gd name="T13" fmla="*/ 0 h 133"/>
                <a:gd name="T14" fmla="*/ 0 w 60"/>
                <a:gd name="T15" fmla="*/ 0 h 133"/>
                <a:gd name="T16" fmla="*/ 0 w 60"/>
                <a:gd name="T17" fmla="*/ 0 h 133"/>
                <a:gd name="T18" fmla="*/ 0 w 60"/>
                <a:gd name="T19" fmla="*/ 0 h 133"/>
                <a:gd name="T20" fmla="*/ 0 w 60"/>
                <a:gd name="T21" fmla="*/ 0 h 133"/>
                <a:gd name="T22" fmla="*/ 0 w 60"/>
                <a:gd name="T23" fmla="*/ 0 h 133"/>
                <a:gd name="T24" fmla="*/ 0 w 60"/>
                <a:gd name="T25" fmla="*/ 0 h 133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60"/>
                <a:gd name="T40" fmla="*/ 0 h 133"/>
                <a:gd name="T41" fmla="*/ 60 w 60"/>
                <a:gd name="T42" fmla="*/ 133 h 133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60" h="133">
                  <a:moveTo>
                    <a:pt x="60" y="0"/>
                  </a:moveTo>
                  <a:lnTo>
                    <a:pt x="52" y="32"/>
                  </a:lnTo>
                  <a:lnTo>
                    <a:pt x="49" y="68"/>
                  </a:lnTo>
                  <a:lnTo>
                    <a:pt x="44" y="103"/>
                  </a:lnTo>
                  <a:lnTo>
                    <a:pt x="44" y="133"/>
                  </a:lnTo>
                  <a:lnTo>
                    <a:pt x="32" y="108"/>
                  </a:lnTo>
                  <a:lnTo>
                    <a:pt x="21" y="82"/>
                  </a:lnTo>
                  <a:lnTo>
                    <a:pt x="11" y="57"/>
                  </a:lnTo>
                  <a:lnTo>
                    <a:pt x="0" y="30"/>
                  </a:lnTo>
                  <a:lnTo>
                    <a:pt x="3" y="11"/>
                  </a:lnTo>
                  <a:lnTo>
                    <a:pt x="19" y="5"/>
                  </a:lnTo>
                  <a:lnTo>
                    <a:pt x="41" y="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2" name="Freeform 314">
              <a:extLst>
                <a:ext uri="{FF2B5EF4-FFF2-40B4-BE49-F238E27FC236}">
                  <a16:creationId xmlns:a16="http://schemas.microsoft.com/office/drawing/2014/main" id="{49316B69-B2BE-B549-984F-08E48EAE5D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1" y="2203"/>
              <a:ext cx="5" cy="36"/>
            </a:xfrm>
            <a:custGeom>
              <a:avLst/>
              <a:gdLst>
                <a:gd name="T0" fmla="*/ 0 w 19"/>
                <a:gd name="T1" fmla="*/ 0 h 142"/>
                <a:gd name="T2" fmla="*/ 0 w 19"/>
                <a:gd name="T3" fmla="*/ 0 h 142"/>
                <a:gd name="T4" fmla="*/ 0 w 19"/>
                <a:gd name="T5" fmla="*/ 0 h 142"/>
                <a:gd name="T6" fmla="*/ 0 w 19"/>
                <a:gd name="T7" fmla="*/ 0 h 142"/>
                <a:gd name="T8" fmla="*/ 0 w 19"/>
                <a:gd name="T9" fmla="*/ 0 h 142"/>
                <a:gd name="T10" fmla="*/ 0 w 19"/>
                <a:gd name="T11" fmla="*/ 0 h 142"/>
                <a:gd name="T12" fmla="*/ 0 w 19"/>
                <a:gd name="T13" fmla="*/ 0 h 142"/>
                <a:gd name="T14" fmla="*/ 0 w 19"/>
                <a:gd name="T15" fmla="*/ 0 h 142"/>
                <a:gd name="T16" fmla="*/ 0 w 19"/>
                <a:gd name="T17" fmla="*/ 0 h 142"/>
                <a:gd name="T18" fmla="*/ 0 w 19"/>
                <a:gd name="T19" fmla="*/ 0 h 14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"/>
                <a:gd name="T31" fmla="*/ 0 h 142"/>
                <a:gd name="T32" fmla="*/ 19 w 19"/>
                <a:gd name="T33" fmla="*/ 142 h 14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" h="142">
                  <a:moveTo>
                    <a:pt x="13" y="142"/>
                  </a:moveTo>
                  <a:lnTo>
                    <a:pt x="0" y="142"/>
                  </a:lnTo>
                  <a:lnTo>
                    <a:pt x="0" y="106"/>
                  </a:lnTo>
                  <a:lnTo>
                    <a:pt x="2" y="71"/>
                  </a:lnTo>
                  <a:lnTo>
                    <a:pt x="7" y="34"/>
                  </a:lnTo>
                  <a:lnTo>
                    <a:pt x="13" y="0"/>
                  </a:lnTo>
                  <a:lnTo>
                    <a:pt x="16" y="36"/>
                  </a:lnTo>
                  <a:lnTo>
                    <a:pt x="19" y="74"/>
                  </a:lnTo>
                  <a:lnTo>
                    <a:pt x="19" y="110"/>
                  </a:lnTo>
                  <a:lnTo>
                    <a:pt x="13" y="142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3" name="Freeform 315">
              <a:extLst>
                <a:ext uri="{FF2B5EF4-FFF2-40B4-BE49-F238E27FC236}">
                  <a16:creationId xmlns:a16="http://schemas.microsoft.com/office/drawing/2014/main" id="{6C3AE55D-B955-5143-A2A2-EA2A66E7F8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32" y="2204"/>
              <a:ext cx="269" cy="62"/>
            </a:xfrm>
            <a:custGeom>
              <a:avLst/>
              <a:gdLst>
                <a:gd name="T0" fmla="*/ 0 w 1074"/>
                <a:gd name="T1" fmla="*/ 0 h 246"/>
                <a:gd name="T2" fmla="*/ 0 w 1074"/>
                <a:gd name="T3" fmla="*/ 0 h 246"/>
                <a:gd name="T4" fmla="*/ 0 w 1074"/>
                <a:gd name="T5" fmla="*/ 0 h 246"/>
                <a:gd name="T6" fmla="*/ 0 w 1074"/>
                <a:gd name="T7" fmla="*/ 0 h 246"/>
                <a:gd name="T8" fmla="*/ 0 w 1074"/>
                <a:gd name="T9" fmla="*/ 0 h 246"/>
                <a:gd name="T10" fmla="*/ 0 w 1074"/>
                <a:gd name="T11" fmla="*/ 0 h 246"/>
                <a:gd name="T12" fmla="*/ 0 w 1074"/>
                <a:gd name="T13" fmla="*/ 0 h 246"/>
                <a:gd name="T14" fmla="*/ 0 w 1074"/>
                <a:gd name="T15" fmla="*/ 0 h 246"/>
                <a:gd name="T16" fmla="*/ 0 w 1074"/>
                <a:gd name="T17" fmla="*/ 0 h 246"/>
                <a:gd name="T18" fmla="*/ 0 w 1074"/>
                <a:gd name="T19" fmla="*/ 0 h 246"/>
                <a:gd name="T20" fmla="*/ 0 w 1074"/>
                <a:gd name="T21" fmla="*/ 0 h 246"/>
                <a:gd name="T22" fmla="*/ 0 w 1074"/>
                <a:gd name="T23" fmla="*/ 0 h 246"/>
                <a:gd name="T24" fmla="*/ 0 w 1074"/>
                <a:gd name="T25" fmla="*/ 0 h 246"/>
                <a:gd name="T26" fmla="*/ 0 w 1074"/>
                <a:gd name="T27" fmla="*/ 0 h 246"/>
                <a:gd name="T28" fmla="*/ 0 w 1074"/>
                <a:gd name="T29" fmla="*/ 0 h 246"/>
                <a:gd name="T30" fmla="*/ 0 w 1074"/>
                <a:gd name="T31" fmla="*/ 0 h 246"/>
                <a:gd name="T32" fmla="*/ 0 w 1074"/>
                <a:gd name="T33" fmla="*/ 0 h 246"/>
                <a:gd name="T34" fmla="*/ 0 w 1074"/>
                <a:gd name="T35" fmla="*/ 0 h 246"/>
                <a:gd name="T36" fmla="*/ 0 w 1074"/>
                <a:gd name="T37" fmla="*/ 0 h 246"/>
                <a:gd name="T38" fmla="*/ 0 w 1074"/>
                <a:gd name="T39" fmla="*/ 0 h 246"/>
                <a:gd name="T40" fmla="*/ 0 w 1074"/>
                <a:gd name="T41" fmla="*/ 0 h 246"/>
                <a:gd name="T42" fmla="*/ 0 w 1074"/>
                <a:gd name="T43" fmla="*/ 0 h 246"/>
                <a:gd name="T44" fmla="*/ 0 w 1074"/>
                <a:gd name="T45" fmla="*/ 0 h 246"/>
                <a:gd name="T46" fmla="*/ 0 w 1074"/>
                <a:gd name="T47" fmla="*/ 0 h 246"/>
                <a:gd name="T48" fmla="*/ 0 w 1074"/>
                <a:gd name="T49" fmla="*/ 0 h 246"/>
                <a:gd name="T50" fmla="*/ 0 w 1074"/>
                <a:gd name="T51" fmla="*/ 0 h 246"/>
                <a:gd name="T52" fmla="*/ 0 w 1074"/>
                <a:gd name="T53" fmla="*/ 0 h 246"/>
                <a:gd name="T54" fmla="*/ 0 w 1074"/>
                <a:gd name="T55" fmla="*/ 0 h 246"/>
                <a:gd name="T56" fmla="*/ 0 w 1074"/>
                <a:gd name="T57" fmla="*/ 0 h 246"/>
                <a:gd name="T58" fmla="*/ 0 w 1074"/>
                <a:gd name="T59" fmla="*/ 0 h 246"/>
                <a:gd name="T60" fmla="*/ 0 w 1074"/>
                <a:gd name="T61" fmla="*/ 0 h 246"/>
                <a:gd name="T62" fmla="*/ 0 w 1074"/>
                <a:gd name="T63" fmla="*/ 0 h 246"/>
                <a:gd name="T64" fmla="*/ 0 w 1074"/>
                <a:gd name="T65" fmla="*/ 0 h 246"/>
                <a:gd name="T66" fmla="*/ 0 w 1074"/>
                <a:gd name="T67" fmla="*/ 0 h 246"/>
                <a:gd name="T68" fmla="*/ 0 w 1074"/>
                <a:gd name="T69" fmla="*/ 0 h 246"/>
                <a:gd name="T70" fmla="*/ 0 w 1074"/>
                <a:gd name="T71" fmla="*/ 0 h 246"/>
                <a:gd name="T72" fmla="*/ 0 w 1074"/>
                <a:gd name="T73" fmla="*/ 0 h 246"/>
                <a:gd name="T74" fmla="*/ 0 w 1074"/>
                <a:gd name="T75" fmla="*/ 0 h 24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w 1074"/>
                <a:gd name="T115" fmla="*/ 0 h 246"/>
                <a:gd name="T116" fmla="*/ 1074 w 1074"/>
                <a:gd name="T117" fmla="*/ 246 h 24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T114" t="T115" r="T116" b="T117"/>
              <a:pathLst>
                <a:path w="1074" h="246">
                  <a:moveTo>
                    <a:pt x="1074" y="68"/>
                  </a:moveTo>
                  <a:lnTo>
                    <a:pt x="1009" y="80"/>
                  </a:lnTo>
                  <a:lnTo>
                    <a:pt x="943" y="91"/>
                  </a:lnTo>
                  <a:lnTo>
                    <a:pt x="875" y="101"/>
                  </a:lnTo>
                  <a:lnTo>
                    <a:pt x="809" y="112"/>
                  </a:lnTo>
                  <a:lnTo>
                    <a:pt x="744" y="123"/>
                  </a:lnTo>
                  <a:lnTo>
                    <a:pt x="676" y="134"/>
                  </a:lnTo>
                  <a:lnTo>
                    <a:pt x="611" y="145"/>
                  </a:lnTo>
                  <a:lnTo>
                    <a:pt x="545" y="156"/>
                  </a:lnTo>
                  <a:lnTo>
                    <a:pt x="476" y="167"/>
                  </a:lnTo>
                  <a:lnTo>
                    <a:pt x="411" y="178"/>
                  </a:lnTo>
                  <a:lnTo>
                    <a:pt x="346" y="188"/>
                  </a:lnTo>
                  <a:lnTo>
                    <a:pt x="278" y="202"/>
                  </a:lnTo>
                  <a:lnTo>
                    <a:pt x="212" y="213"/>
                  </a:lnTo>
                  <a:lnTo>
                    <a:pt x="145" y="224"/>
                  </a:lnTo>
                  <a:lnTo>
                    <a:pt x="79" y="234"/>
                  </a:lnTo>
                  <a:lnTo>
                    <a:pt x="11" y="246"/>
                  </a:lnTo>
                  <a:lnTo>
                    <a:pt x="9" y="243"/>
                  </a:lnTo>
                  <a:lnTo>
                    <a:pt x="2" y="238"/>
                  </a:lnTo>
                  <a:lnTo>
                    <a:pt x="0" y="234"/>
                  </a:lnTo>
                  <a:lnTo>
                    <a:pt x="0" y="229"/>
                  </a:lnTo>
                  <a:lnTo>
                    <a:pt x="11" y="227"/>
                  </a:lnTo>
                  <a:lnTo>
                    <a:pt x="21" y="224"/>
                  </a:lnTo>
                  <a:lnTo>
                    <a:pt x="35" y="224"/>
                  </a:lnTo>
                  <a:lnTo>
                    <a:pt x="46" y="224"/>
                  </a:lnTo>
                  <a:lnTo>
                    <a:pt x="57" y="221"/>
                  </a:lnTo>
                  <a:lnTo>
                    <a:pt x="68" y="218"/>
                  </a:lnTo>
                  <a:lnTo>
                    <a:pt x="76" y="210"/>
                  </a:lnTo>
                  <a:lnTo>
                    <a:pt x="82" y="199"/>
                  </a:lnTo>
                  <a:lnTo>
                    <a:pt x="85" y="186"/>
                  </a:lnTo>
                  <a:lnTo>
                    <a:pt x="82" y="174"/>
                  </a:lnTo>
                  <a:lnTo>
                    <a:pt x="79" y="164"/>
                  </a:lnTo>
                  <a:lnTo>
                    <a:pt x="82" y="151"/>
                  </a:lnTo>
                  <a:lnTo>
                    <a:pt x="1009" y="0"/>
                  </a:lnTo>
                  <a:lnTo>
                    <a:pt x="1025" y="17"/>
                  </a:lnTo>
                  <a:lnTo>
                    <a:pt x="1041" y="33"/>
                  </a:lnTo>
                  <a:lnTo>
                    <a:pt x="1057" y="50"/>
                  </a:lnTo>
                  <a:lnTo>
                    <a:pt x="1074" y="68"/>
                  </a:lnTo>
                  <a:close/>
                </a:path>
              </a:pathLst>
            </a:custGeom>
            <a:solidFill>
              <a:srgbClr val="3FFF3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4" name="Freeform 316">
              <a:extLst>
                <a:ext uri="{FF2B5EF4-FFF2-40B4-BE49-F238E27FC236}">
                  <a16:creationId xmlns:a16="http://schemas.microsoft.com/office/drawing/2014/main" id="{A5A9140E-75A1-9B4C-9D66-0DF42F06E57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4" y="2206"/>
              <a:ext cx="21" cy="30"/>
            </a:xfrm>
            <a:custGeom>
              <a:avLst/>
              <a:gdLst>
                <a:gd name="T0" fmla="*/ 0 w 82"/>
                <a:gd name="T1" fmla="*/ 0 h 119"/>
                <a:gd name="T2" fmla="*/ 0 w 82"/>
                <a:gd name="T3" fmla="*/ 0 h 119"/>
                <a:gd name="T4" fmla="*/ 0 w 82"/>
                <a:gd name="T5" fmla="*/ 0 h 119"/>
                <a:gd name="T6" fmla="*/ 0 w 82"/>
                <a:gd name="T7" fmla="*/ 0 h 119"/>
                <a:gd name="T8" fmla="*/ 0 w 82"/>
                <a:gd name="T9" fmla="*/ 0 h 119"/>
                <a:gd name="T10" fmla="*/ 0 w 82"/>
                <a:gd name="T11" fmla="*/ 0 h 119"/>
                <a:gd name="T12" fmla="*/ 0 w 82"/>
                <a:gd name="T13" fmla="*/ 0 h 119"/>
                <a:gd name="T14" fmla="*/ 0 w 82"/>
                <a:gd name="T15" fmla="*/ 0 h 119"/>
                <a:gd name="T16" fmla="*/ 0 w 82"/>
                <a:gd name="T17" fmla="*/ 0 h 119"/>
                <a:gd name="T18" fmla="*/ 0 w 82"/>
                <a:gd name="T19" fmla="*/ 0 h 119"/>
                <a:gd name="T20" fmla="*/ 0 w 82"/>
                <a:gd name="T21" fmla="*/ 0 h 119"/>
                <a:gd name="T22" fmla="*/ 0 w 82"/>
                <a:gd name="T23" fmla="*/ 0 h 119"/>
                <a:gd name="T24" fmla="*/ 0 w 82"/>
                <a:gd name="T25" fmla="*/ 0 h 119"/>
                <a:gd name="T26" fmla="*/ 0 w 82"/>
                <a:gd name="T27" fmla="*/ 0 h 119"/>
                <a:gd name="T28" fmla="*/ 0 w 82"/>
                <a:gd name="T29" fmla="*/ 0 h 119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w 82"/>
                <a:gd name="T46" fmla="*/ 0 h 119"/>
                <a:gd name="T47" fmla="*/ 82 w 82"/>
                <a:gd name="T48" fmla="*/ 119 h 119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T45" t="T46" r="T47" b="T48"/>
              <a:pathLst>
                <a:path w="82" h="119">
                  <a:moveTo>
                    <a:pt x="82" y="0"/>
                  </a:moveTo>
                  <a:lnTo>
                    <a:pt x="73" y="29"/>
                  </a:lnTo>
                  <a:lnTo>
                    <a:pt x="71" y="59"/>
                  </a:lnTo>
                  <a:lnTo>
                    <a:pt x="71" y="89"/>
                  </a:lnTo>
                  <a:lnTo>
                    <a:pt x="66" y="119"/>
                  </a:lnTo>
                  <a:lnTo>
                    <a:pt x="11" y="24"/>
                  </a:lnTo>
                  <a:lnTo>
                    <a:pt x="0" y="16"/>
                  </a:lnTo>
                  <a:lnTo>
                    <a:pt x="11" y="13"/>
                  </a:lnTo>
                  <a:lnTo>
                    <a:pt x="22" y="11"/>
                  </a:lnTo>
                  <a:lnTo>
                    <a:pt x="33" y="8"/>
                  </a:lnTo>
                  <a:lnTo>
                    <a:pt x="41" y="5"/>
                  </a:lnTo>
                  <a:lnTo>
                    <a:pt x="52" y="5"/>
                  </a:lnTo>
                  <a:lnTo>
                    <a:pt x="63" y="2"/>
                  </a:lnTo>
                  <a:lnTo>
                    <a:pt x="73" y="2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5" name="Freeform 317">
              <a:extLst>
                <a:ext uri="{FF2B5EF4-FFF2-40B4-BE49-F238E27FC236}">
                  <a16:creationId xmlns:a16="http://schemas.microsoft.com/office/drawing/2014/main" id="{E2D20DA2-77CC-C84B-A902-564F8D05AD7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37" y="2208"/>
              <a:ext cx="4" cy="35"/>
            </a:xfrm>
            <a:custGeom>
              <a:avLst/>
              <a:gdLst>
                <a:gd name="T0" fmla="*/ 0 w 14"/>
                <a:gd name="T1" fmla="*/ 0 h 142"/>
                <a:gd name="T2" fmla="*/ 0 w 14"/>
                <a:gd name="T3" fmla="*/ 0 h 142"/>
                <a:gd name="T4" fmla="*/ 0 w 14"/>
                <a:gd name="T5" fmla="*/ 0 h 142"/>
                <a:gd name="T6" fmla="*/ 0 w 14"/>
                <a:gd name="T7" fmla="*/ 0 h 142"/>
                <a:gd name="T8" fmla="*/ 0 w 14"/>
                <a:gd name="T9" fmla="*/ 0 h 142"/>
                <a:gd name="T10" fmla="*/ 0 w 14"/>
                <a:gd name="T11" fmla="*/ 0 h 142"/>
                <a:gd name="T12" fmla="*/ 0 w 14"/>
                <a:gd name="T13" fmla="*/ 0 h 142"/>
                <a:gd name="T14" fmla="*/ 0 w 14"/>
                <a:gd name="T15" fmla="*/ 0 h 142"/>
                <a:gd name="T16" fmla="*/ 0 w 14"/>
                <a:gd name="T17" fmla="*/ 0 h 142"/>
                <a:gd name="T18" fmla="*/ 0 w 14"/>
                <a:gd name="T19" fmla="*/ 0 h 14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4"/>
                <a:gd name="T31" fmla="*/ 0 h 142"/>
                <a:gd name="T32" fmla="*/ 14 w 14"/>
                <a:gd name="T33" fmla="*/ 142 h 14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4" h="142">
                  <a:moveTo>
                    <a:pt x="11" y="139"/>
                  </a:moveTo>
                  <a:lnTo>
                    <a:pt x="5" y="142"/>
                  </a:lnTo>
                  <a:lnTo>
                    <a:pt x="0" y="107"/>
                  </a:lnTo>
                  <a:lnTo>
                    <a:pt x="2" y="71"/>
                  </a:lnTo>
                  <a:lnTo>
                    <a:pt x="8" y="36"/>
                  </a:lnTo>
                  <a:lnTo>
                    <a:pt x="11" y="0"/>
                  </a:lnTo>
                  <a:lnTo>
                    <a:pt x="14" y="36"/>
                  </a:lnTo>
                  <a:lnTo>
                    <a:pt x="14" y="68"/>
                  </a:lnTo>
                  <a:lnTo>
                    <a:pt x="11" y="103"/>
                  </a:lnTo>
                  <a:lnTo>
                    <a:pt x="11" y="139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6" name="Freeform 318">
              <a:extLst>
                <a:ext uri="{FF2B5EF4-FFF2-40B4-BE49-F238E27FC236}">
                  <a16:creationId xmlns:a16="http://schemas.microsoft.com/office/drawing/2014/main" id="{F12EECBC-2F40-F14A-B1CF-57E62C10EC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24" y="2209"/>
              <a:ext cx="11" cy="20"/>
            </a:xfrm>
            <a:custGeom>
              <a:avLst/>
              <a:gdLst>
                <a:gd name="T0" fmla="*/ 0 w 44"/>
                <a:gd name="T1" fmla="*/ 0 h 78"/>
                <a:gd name="T2" fmla="*/ 0 w 44"/>
                <a:gd name="T3" fmla="*/ 0 h 78"/>
                <a:gd name="T4" fmla="*/ 0 w 44"/>
                <a:gd name="T5" fmla="*/ 0 h 78"/>
                <a:gd name="T6" fmla="*/ 0 w 44"/>
                <a:gd name="T7" fmla="*/ 0 h 78"/>
                <a:gd name="T8" fmla="*/ 0 w 44"/>
                <a:gd name="T9" fmla="*/ 0 h 78"/>
                <a:gd name="T10" fmla="*/ 0 w 44"/>
                <a:gd name="T11" fmla="*/ 0 h 78"/>
                <a:gd name="T12" fmla="*/ 0 w 44"/>
                <a:gd name="T13" fmla="*/ 0 h 78"/>
                <a:gd name="T14" fmla="*/ 0 w 44"/>
                <a:gd name="T15" fmla="*/ 0 h 78"/>
                <a:gd name="T16" fmla="*/ 0 w 44"/>
                <a:gd name="T17" fmla="*/ 0 h 78"/>
                <a:gd name="T18" fmla="*/ 0 w 44"/>
                <a:gd name="T19" fmla="*/ 0 h 78"/>
                <a:gd name="T20" fmla="*/ 0 w 44"/>
                <a:gd name="T21" fmla="*/ 0 h 78"/>
                <a:gd name="T22" fmla="*/ 0 w 44"/>
                <a:gd name="T23" fmla="*/ 0 h 78"/>
                <a:gd name="T24" fmla="*/ 0 w 44"/>
                <a:gd name="T25" fmla="*/ 0 h 78"/>
                <a:gd name="T26" fmla="*/ 0 w 44"/>
                <a:gd name="T27" fmla="*/ 0 h 7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44"/>
                <a:gd name="T43" fmla="*/ 0 h 78"/>
                <a:gd name="T44" fmla="*/ 44 w 44"/>
                <a:gd name="T45" fmla="*/ 78 h 7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44" h="78">
                  <a:moveTo>
                    <a:pt x="35" y="71"/>
                  </a:moveTo>
                  <a:lnTo>
                    <a:pt x="44" y="71"/>
                  </a:lnTo>
                  <a:lnTo>
                    <a:pt x="35" y="76"/>
                  </a:lnTo>
                  <a:lnTo>
                    <a:pt x="22" y="78"/>
                  </a:lnTo>
                  <a:lnTo>
                    <a:pt x="11" y="78"/>
                  </a:lnTo>
                  <a:lnTo>
                    <a:pt x="0" y="78"/>
                  </a:lnTo>
                  <a:lnTo>
                    <a:pt x="0" y="60"/>
                  </a:lnTo>
                  <a:lnTo>
                    <a:pt x="3" y="41"/>
                  </a:lnTo>
                  <a:lnTo>
                    <a:pt x="3" y="21"/>
                  </a:lnTo>
                  <a:lnTo>
                    <a:pt x="3" y="0"/>
                  </a:lnTo>
                  <a:lnTo>
                    <a:pt x="11" y="16"/>
                  </a:lnTo>
                  <a:lnTo>
                    <a:pt x="22" y="32"/>
                  </a:lnTo>
                  <a:lnTo>
                    <a:pt x="30" y="51"/>
                  </a:lnTo>
                  <a:lnTo>
                    <a:pt x="35" y="71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7" name="Freeform 319">
              <a:extLst>
                <a:ext uri="{FF2B5EF4-FFF2-40B4-BE49-F238E27FC236}">
                  <a16:creationId xmlns:a16="http://schemas.microsoft.com/office/drawing/2014/main" id="{BEBCFAD0-6B21-D84A-854C-DBB3062D2FA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6" y="2209"/>
              <a:ext cx="9" cy="16"/>
            </a:xfrm>
            <a:custGeom>
              <a:avLst/>
              <a:gdLst>
                <a:gd name="T0" fmla="*/ 0 w 35"/>
                <a:gd name="T1" fmla="*/ 0 h 65"/>
                <a:gd name="T2" fmla="*/ 0 w 35"/>
                <a:gd name="T3" fmla="*/ 0 h 65"/>
                <a:gd name="T4" fmla="*/ 0 w 35"/>
                <a:gd name="T5" fmla="*/ 0 h 65"/>
                <a:gd name="T6" fmla="*/ 0 w 35"/>
                <a:gd name="T7" fmla="*/ 0 h 65"/>
                <a:gd name="T8" fmla="*/ 0 w 35"/>
                <a:gd name="T9" fmla="*/ 0 h 65"/>
                <a:gd name="T10" fmla="*/ 0 w 35"/>
                <a:gd name="T11" fmla="*/ 0 h 65"/>
                <a:gd name="T12" fmla="*/ 0 w 35"/>
                <a:gd name="T13" fmla="*/ 0 h 65"/>
                <a:gd name="T14" fmla="*/ 0 w 35"/>
                <a:gd name="T15" fmla="*/ 0 h 65"/>
                <a:gd name="T16" fmla="*/ 0 w 35"/>
                <a:gd name="T17" fmla="*/ 0 h 65"/>
                <a:gd name="T18" fmla="*/ 0 w 35"/>
                <a:gd name="T19" fmla="*/ 0 h 6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35"/>
                <a:gd name="T31" fmla="*/ 0 h 65"/>
                <a:gd name="T32" fmla="*/ 35 w 35"/>
                <a:gd name="T33" fmla="*/ 65 h 6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35" h="65">
                  <a:moveTo>
                    <a:pt x="35" y="60"/>
                  </a:moveTo>
                  <a:lnTo>
                    <a:pt x="28" y="62"/>
                  </a:lnTo>
                  <a:lnTo>
                    <a:pt x="19" y="65"/>
                  </a:lnTo>
                  <a:lnTo>
                    <a:pt x="11" y="65"/>
                  </a:lnTo>
                  <a:lnTo>
                    <a:pt x="0" y="65"/>
                  </a:lnTo>
                  <a:lnTo>
                    <a:pt x="0" y="0"/>
                  </a:lnTo>
                  <a:lnTo>
                    <a:pt x="14" y="13"/>
                  </a:lnTo>
                  <a:lnTo>
                    <a:pt x="22" y="30"/>
                  </a:lnTo>
                  <a:lnTo>
                    <a:pt x="30" y="46"/>
                  </a:lnTo>
                  <a:lnTo>
                    <a:pt x="35" y="60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8" name="Freeform 320">
              <a:extLst>
                <a:ext uri="{FF2B5EF4-FFF2-40B4-BE49-F238E27FC236}">
                  <a16:creationId xmlns:a16="http://schemas.microsoft.com/office/drawing/2014/main" id="{604DC344-8BE9-3345-8A0B-85333D335A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0" y="2210"/>
              <a:ext cx="20" cy="33"/>
            </a:xfrm>
            <a:custGeom>
              <a:avLst/>
              <a:gdLst>
                <a:gd name="T0" fmla="*/ 0 w 79"/>
                <a:gd name="T1" fmla="*/ 0 h 131"/>
                <a:gd name="T2" fmla="*/ 0 w 79"/>
                <a:gd name="T3" fmla="*/ 0 h 131"/>
                <a:gd name="T4" fmla="*/ 0 w 79"/>
                <a:gd name="T5" fmla="*/ 0 h 131"/>
                <a:gd name="T6" fmla="*/ 0 w 79"/>
                <a:gd name="T7" fmla="*/ 0 h 131"/>
                <a:gd name="T8" fmla="*/ 0 w 79"/>
                <a:gd name="T9" fmla="*/ 0 h 131"/>
                <a:gd name="T10" fmla="*/ 0 w 79"/>
                <a:gd name="T11" fmla="*/ 0 h 131"/>
                <a:gd name="T12" fmla="*/ 0 w 79"/>
                <a:gd name="T13" fmla="*/ 0 h 131"/>
                <a:gd name="T14" fmla="*/ 0 w 79"/>
                <a:gd name="T15" fmla="*/ 0 h 131"/>
                <a:gd name="T16" fmla="*/ 0 w 79"/>
                <a:gd name="T17" fmla="*/ 0 h 131"/>
                <a:gd name="T18" fmla="*/ 0 w 79"/>
                <a:gd name="T19" fmla="*/ 0 h 131"/>
                <a:gd name="T20" fmla="*/ 0 w 79"/>
                <a:gd name="T21" fmla="*/ 0 h 131"/>
                <a:gd name="T22" fmla="*/ 0 w 79"/>
                <a:gd name="T23" fmla="*/ 0 h 131"/>
                <a:gd name="T24" fmla="*/ 0 w 79"/>
                <a:gd name="T25" fmla="*/ 0 h 131"/>
                <a:gd name="T26" fmla="*/ 0 w 79"/>
                <a:gd name="T27" fmla="*/ 0 h 131"/>
                <a:gd name="T28" fmla="*/ 0 w 79"/>
                <a:gd name="T29" fmla="*/ 0 h 131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w 79"/>
                <a:gd name="T46" fmla="*/ 0 h 131"/>
                <a:gd name="T47" fmla="*/ 79 w 79"/>
                <a:gd name="T48" fmla="*/ 131 h 131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T45" t="T46" r="T47" b="T48"/>
              <a:pathLst>
                <a:path w="79" h="131">
                  <a:moveTo>
                    <a:pt x="79" y="0"/>
                  </a:moveTo>
                  <a:lnTo>
                    <a:pt x="74" y="32"/>
                  </a:lnTo>
                  <a:lnTo>
                    <a:pt x="71" y="66"/>
                  </a:lnTo>
                  <a:lnTo>
                    <a:pt x="65" y="98"/>
                  </a:lnTo>
                  <a:lnTo>
                    <a:pt x="60" y="131"/>
                  </a:lnTo>
                  <a:lnTo>
                    <a:pt x="49" y="106"/>
                  </a:lnTo>
                  <a:lnTo>
                    <a:pt x="38" y="78"/>
                  </a:lnTo>
                  <a:lnTo>
                    <a:pt x="28" y="55"/>
                  </a:lnTo>
                  <a:lnTo>
                    <a:pt x="17" y="30"/>
                  </a:lnTo>
                  <a:lnTo>
                    <a:pt x="0" y="30"/>
                  </a:lnTo>
                  <a:lnTo>
                    <a:pt x="0" y="13"/>
                  </a:lnTo>
                  <a:lnTo>
                    <a:pt x="19" y="11"/>
                  </a:lnTo>
                  <a:lnTo>
                    <a:pt x="42" y="8"/>
                  </a:lnTo>
                  <a:lnTo>
                    <a:pt x="60" y="6"/>
                  </a:lnTo>
                  <a:lnTo>
                    <a:pt x="79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69" name="Freeform 321">
              <a:extLst>
                <a:ext uri="{FF2B5EF4-FFF2-40B4-BE49-F238E27FC236}">
                  <a16:creationId xmlns:a16="http://schemas.microsoft.com/office/drawing/2014/main" id="{7774066E-9BCF-8345-B9AF-9B21B9D33E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3" y="2211"/>
              <a:ext cx="6" cy="35"/>
            </a:xfrm>
            <a:custGeom>
              <a:avLst/>
              <a:gdLst>
                <a:gd name="T0" fmla="*/ 0 w 21"/>
                <a:gd name="T1" fmla="*/ 0 h 142"/>
                <a:gd name="T2" fmla="*/ 0 w 21"/>
                <a:gd name="T3" fmla="*/ 0 h 142"/>
                <a:gd name="T4" fmla="*/ 0 w 21"/>
                <a:gd name="T5" fmla="*/ 0 h 142"/>
                <a:gd name="T6" fmla="*/ 0 w 21"/>
                <a:gd name="T7" fmla="*/ 0 h 142"/>
                <a:gd name="T8" fmla="*/ 0 w 21"/>
                <a:gd name="T9" fmla="*/ 0 h 142"/>
                <a:gd name="T10" fmla="*/ 0 w 21"/>
                <a:gd name="T11" fmla="*/ 0 h 142"/>
                <a:gd name="T12" fmla="*/ 0 w 21"/>
                <a:gd name="T13" fmla="*/ 0 h 142"/>
                <a:gd name="T14" fmla="*/ 0 w 21"/>
                <a:gd name="T15" fmla="*/ 0 h 142"/>
                <a:gd name="T16" fmla="*/ 0 w 21"/>
                <a:gd name="T17" fmla="*/ 0 h 142"/>
                <a:gd name="T18" fmla="*/ 0 w 21"/>
                <a:gd name="T19" fmla="*/ 0 h 142"/>
                <a:gd name="T20" fmla="*/ 0 w 21"/>
                <a:gd name="T21" fmla="*/ 0 h 142"/>
                <a:gd name="T22" fmla="*/ 0 w 21"/>
                <a:gd name="T23" fmla="*/ 0 h 142"/>
                <a:gd name="T24" fmla="*/ 0 w 21"/>
                <a:gd name="T25" fmla="*/ 0 h 142"/>
                <a:gd name="T26" fmla="*/ 0 w 21"/>
                <a:gd name="T27" fmla="*/ 0 h 142"/>
                <a:gd name="T28" fmla="*/ 0 w 21"/>
                <a:gd name="T29" fmla="*/ 0 h 142"/>
                <a:gd name="T30" fmla="*/ 0 w 21"/>
                <a:gd name="T31" fmla="*/ 0 h 142"/>
                <a:gd name="T32" fmla="*/ 0 w 21"/>
                <a:gd name="T33" fmla="*/ 0 h 142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21"/>
                <a:gd name="T52" fmla="*/ 0 h 142"/>
                <a:gd name="T53" fmla="*/ 21 w 21"/>
                <a:gd name="T54" fmla="*/ 142 h 142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21" h="142">
                  <a:moveTo>
                    <a:pt x="16" y="137"/>
                  </a:moveTo>
                  <a:lnTo>
                    <a:pt x="14" y="140"/>
                  </a:lnTo>
                  <a:lnTo>
                    <a:pt x="8" y="142"/>
                  </a:lnTo>
                  <a:lnTo>
                    <a:pt x="5" y="142"/>
                  </a:lnTo>
                  <a:lnTo>
                    <a:pt x="0" y="142"/>
                  </a:lnTo>
                  <a:lnTo>
                    <a:pt x="2" y="137"/>
                  </a:lnTo>
                  <a:lnTo>
                    <a:pt x="5" y="131"/>
                  </a:lnTo>
                  <a:lnTo>
                    <a:pt x="5" y="129"/>
                  </a:lnTo>
                  <a:lnTo>
                    <a:pt x="0" y="126"/>
                  </a:lnTo>
                  <a:lnTo>
                    <a:pt x="2" y="94"/>
                  </a:lnTo>
                  <a:lnTo>
                    <a:pt x="5" y="64"/>
                  </a:lnTo>
                  <a:lnTo>
                    <a:pt x="8" y="30"/>
                  </a:lnTo>
                  <a:lnTo>
                    <a:pt x="14" y="0"/>
                  </a:lnTo>
                  <a:lnTo>
                    <a:pt x="21" y="36"/>
                  </a:lnTo>
                  <a:lnTo>
                    <a:pt x="21" y="71"/>
                  </a:lnTo>
                  <a:lnTo>
                    <a:pt x="19" y="107"/>
                  </a:lnTo>
                  <a:lnTo>
                    <a:pt x="16" y="137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0" name="Freeform 322">
              <a:extLst>
                <a:ext uri="{FF2B5EF4-FFF2-40B4-BE49-F238E27FC236}">
                  <a16:creationId xmlns:a16="http://schemas.microsoft.com/office/drawing/2014/main" id="{740AAE19-020B-EE4C-A190-1B43526BE9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8" y="2212"/>
              <a:ext cx="11" cy="21"/>
            </a:xfrm>
            <a:custGeom>
              <a:avLst/>
              <a:gdLst>
                <a:gd name="T0" fmla="*/ 0 w 46"/>
                <a:gd name="T1" fmla="*/ 0 h 82"/>
                <a:gd name="T2" fmla="*/ 0 w 46"/>
                <a:gd name="T3" fmla="*/ 0 h 82"/>
                <a:gd name="T4" fmla="*/ 0 w 46"/>
                <a:gd name="T5" fmla="*/ 0 h 82"/>
                <a:gd name="T6" fmla="*/ 0 w 46"/>
                <a:gd name="T7" fmla="*/ 0 h 82"/>
                <a:gd name="T8" fmla="*/ 0 w 46"/>
                <a:gd name="T9" fmla="*/ 0 h 82"/>
                <a:gd name="T10" fmla="*/ 0 w 46"/>
                <a:gd name="T11" fmla="*/ 0 h 82"/>
                <a:gd name="T12" fmla="*/ 0 w 46"/>
                <a:gd name="T13" fmla="*/ 0 h 82"/>
                <a:gd name="T14" fmla="*/ 0 w 46"/>
                <a:gd name="T15" fmla="*/ 0 h 82"/>
                <a:gd name="T16" fmla="*/ 0 w 46"/>
                <a:gd name="T17" fmla="*/ 0 h 82"/>
                <a:gd name="T18" fmla="*/ 0 w 46"/>
                <a:gd name="T19" fmla="*/ 0 h 8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6"/>
                <a:gd name="T31" fmla="*/ 0 h 82"/>
                <a:gd name="T32" fmla="*/ 46 w 46"/>
                <a:gd name="T33" fmla="*/ 82 h 8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6" h="82">
                  <a:moveTo>
                    <a:pt x="46" y="77"/>
                  </a:moveTo>
                  <a:lnTo>
                    <a:pt x="2" y="82"/>
                  </a:lnTo>
                  <a:lnTo>
                    <a:pt x="5" y="63"/>
                  </a:lnTo>
                  <a:lnTo>
                    <a:pt x="2" y="40"/>
                  </a:lnTo>
                  <a:lnTo>
                    <a:pt x="0" y="19"/>
                  </a:lnTo>
                  <a:lnTo>
                    <a:pt x="2" y="0"/>
                  </a:lnTo>
                  <a:lnTo>
                    <a:pt x="16" y="17"/>
                  </a:lnTo>
                  <a:lnTo>
                    <a:pt x="30" y="35"/>
                  </a:lnTo>
                  <a:lnTo>
                    <a:pt x="40" y="54"/>
                  </a:lnTo>
                  <a:lnTo>
                    <a:pt x="46" y="77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1" name="Freeform 323">
              <a:extLst>
                <a:ext uri="{FF2B5EF4-FFF2-40B4-BE49-F238E27FC236}">
                  <a16:creationId xmlns:a16="http://schemas.microsoft.com/office/drawing/2014/main" id="{518A806D-EC90-F443-B81F-D662AC7529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9" y="2214"/>
              <a:ext cx="13" cy="23"/>
            </a:xfrm>
            <a:custGeom>
              <a:avLst/>
              <a:gdLst>
                <a:gd name="T0" fmla="*/ 0 w 53"/>
                <a:gd name="T1" fmla="*/ 0 h 96"/>
                <a:gd name="T2" fmla="*/ 0 w 53"/>
                <a:gd name="T3" fmla="*/ 0 h 96"/>
                <a:gd name="T4" fmla="*/ 0 w 53"/>
                <a:gd name="T5" fmla="*/ 0 h 96"/>
                <a:gd name="T6" fmla="*/ 0 w 53"/>
                <a:gd name="T7" fmla="*/ 0 h 96"/>
                <a:gd name="T8" fmla="*/ 0 w 53"/>
                <a:gd name="T9" fmla="*/ 0 h 96"/>
                <a:gd name="T10" fmla="*/ 0 w 53"/>
                <a:gd name="T11" fmla="*/ 0 h 96"/>
                <a:gd name="T12" fmla="*/ 0 w 53"/>
                <a:gd name="T13" fmla="*/ 0 h 9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53"/>
                <a:gd name="T22" fmla="*/ 0 h 96"/>
                <a:gd name="T23" fmla="*/ 53 w 53"/>
                <a:gd name="T24" fmla="*/ 96 h 9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53" h="96">
                  <a:moveTo>
                    <a:pt x="53" y="88"/>
                  </a:moveTo>
                  <a:lnTo>
                    <a:pt x="5" y="96"/>
                  </a:lnTo>
                  <a:lnTo>
                    <a:pt x="0" y="0"/>
                  </a:lnTo>
                  <a:lnTo>
                    <a:pt x="16" y="23"/>
                  </a:lnTo>
                  <a:lnTo>
                    <a:pt x="30" y="42"/>
                  </a:lnTo>
                  <a:lnTo>
                    <a:pt x="43" y="63"/>
                  </a:lnTo>
                  <a:lnTo>
                    <a:pt x="53" y="88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2" name="Freeform 324">
              <a:extLst>
                <a:ext uri="{FF2B5EF4-FFF2-40B4-BE49-F238E27FC236}">
                  <a16:creationId xmlns:a16="http://schemas.microsoft.com/office/drawing/2014/main" id="{E251496E-95A6-0246-AADA-EEAFA38AA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5" y="2215"/>
              <a:ext cx="19" cy="30"/>
            </a:xfrm>
            <a:custGeom>
              <a:avLst/>
              <a:gdLst>
                <a:gd name="T0" fmla="*/ 0 w 74"/>
                <a:gd name="T1" fmla="*/ 0 h 120"/>
                <a:gd name="T2" fmla="*/ 0 w 74"/>
                <a:gd name="T3" fmla="*/ 0 h 120"/>
                <a:gd name="T4" fmla="*/ 0 w 74"/>
                <a:gd name="T5" fmla="*/ 0 h 120"/>
                <a:gd name="T6" fmla="*/ 0 w 74"/>
                <a:gd name="T7" fmla="*/ 0 h 120"/>
                <a:gd name="T8" fmla="*/ 0 w 74"/>
                <a:gd name="T9" fmla="*/ 0 h 120"/>
                <a:gd name="T10" fmla="*/ 0 w 74"/>
                <a:gd name="T11" fmla="*/ 0 h 120"/>
                <a:gd name="T12" fmla="*/ 0 w 74"/>
                <a:gd name="T13" fmla="*/ 0 h 120"/>
                <a:gd name="T14" fmla="*/ 0 w 74"/>
                <a:gd name="T15" fmla="*/ 0 h 120"/>
                <a:gd name="T16" fmla="*/ 0 w 74"/>
                <a:gd name="T17" fmla="*/ 0 h 120"/>
                <a:gd name="T18" fmla="*/ 0 w 74"/>
                <a:gd name="T19" fmla="*/ 0 h 120"/>
                <a:gd name="T20" fmla="*/ 0 w 74"/>
                <a:gd name="T21" fmla="*/ 0 h 120"/>
                <a:gd name="T22" fmla="*/ 0 w 74"/>
                <a:gd name="T23" fmla="*/ 0 h 120"/>
                <a:gd name="T24" fmla="*/ 0 w 74"/>
                <a:gd name="T25" fmla="*/ 0 h 120"/>
                <a:gd name="T26" fmla="*/ 0 w 74"/>
                <a:gd name="T27" fmla="*/ 0 h 120"/>
                <a:gd name="T28" fmla="*/ 0 w 74"/>
                <a:gd name="T29" fmla="*/ 0 h 120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w 74"/>
                <a:gd name="T46" fmla="*/ 0 h 120"/>
                <a:gd name="T47" fmla="*/ 74 w 74"/>
                <a:gd name="T48" fmla="*/ 120 h 120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T45" t="T46" r="T47" b="T48"/>
              <a:pathLst>
                <a:path w="74" h="120">
                  <a:moveTo>
                    <a:pt x="74" y="0"/>
                  </a:moveTo>
                  <a:lnTo>
                    <a:pt x="68" y="29"/>
                  </a:lnTo>
                  <a:lnTo>
                    <a:pt x="68" y="59"/>
                  </a:lnTo>
                  <a:lnTo>
                    <a:pt x="65" y="90"/>
                  </a:lnTo>
                  <a:lnTo>
                    <a:pt x="60" y="120"/>
                  </a:lnTo>
                  <a:lnTo>
                    <a:pt x="14" y="24"/>
                  </a:lnTo>
                  <a:lnTo>
                    <a:pt x="0" y="24"/>
                  </a:lnTo>
                  <a:lnTo>
                    <a:pt x="0" y="19"/>
                  </a:lnTo>
                  <a:lnTo>
                    <a:pt x="3" y="13"/>
                  </a:lnTo>
                  <a:lnTo>
                    <a:pt x="9" y="11"/>
                  </a:lnTo>
                  <a:lnTo>
                    <a:pt x="14" y="11"/>
                  </a:lnTo>
                  <a:lnTo>
                    <a:pt x="30" y="8"/>
                  </a:lnTo>
                  <a:lnTo>
                    <a:pt x="46" y="6"/>
                  </a:lnTo>
                  <a:lnTo>
                    <a:pt x="60" y="3"/>
                  </a:lnTo>
                  <a:lnTo>
                    <a:pt x="74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3" name="Freeform 325">
              <a:extLst>
                <a:ext uri="{FF2B5EF4-FFF2-40B4-BE49-F238E27FC236}">
                  <a16:creationId xmlns:a16="http://schemas.microsoft.com/office/drawing/2014/main" id="{9E201F42-03D4-884A-BB5F-47F6A75474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3" y="2218"/>
              <a:ext cx="5" cy="36"/>
            </a:xfrm>
            <a:custGeom>
              <a:avLst/>
              <a:gdLst>
                <a:gd name="T0" fmla="*/ 0 w 19"/>
                <a:gd name="T1" fmla="*/ 0 h 144"/>
                <a:gd name="T2" fmla="*/ 0 w 19"/>
                <a:gd name="T3" fmla="*/ 0 h 144"/>
                <a:gd name="T4" fmla="*/ 0 w 19"/>
                <a:gd name="T5" fmla="*/ 0 h 144"/>
                <a:gd name="T6" fmla="*/ 0 w 19"/>
                <a:gd name="T7" fmla="*/ 0 h 144"/>
                <a:gd name="T8" fmla="*/ 0 w 19"/>
                <a:gd name="T9" fmla="*/ 0 h 144"/>
                <a:gd name="T10" fmla="*/ 0 w 19"/>
                <a:gd name="T11" fmla="*/ 0 h 144"/>
                <a:gd name="T12" fmla="*/ 0 w 19"/>
                <a:gd name="T13" fmla="*/ 0 h 144"/>
                <a:gd name="T14" fmla="*/ 0 w 19"/>
                <a:gd name="T15" fmla="*/ 0 h 144"/>
                <a:gd name="T16" fmla="*/ 0 w 19"/>
                <a:gd name="T17" fmla="*/ 0 h 144"/>
                <a:gd name="T18" fmla="*/ 0 w 19"/>
                <a:gd name="T19" fmla="*/ 0 h 144"/>
                <a:gd name="T20" fmla="*/ 0 w 19"/>
                <a:gd name="T21" fmla="*/ 0 h 144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"/>
                <a:gd name="T34" fmla="*/ 0 h 144"/>
                <a:gd name="T35" fmla="*/ 19 w 19"/>
                <a:gd name="T36" fmla="*/ 144 h 144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" h="144">
                  <a:moveTo>
                    <a:pt x="19" y="144"/>
                  </a:moveTo>
                  <a:lnTo>
                    <a:pt x="14" y="144"/>
                  </a:lnTo>
                  <a:lnTo>
                    <a:pt x="3" y="133"/>
                  </a:lnTo>
                  <a:lnTo>
                    <a:pt x="0" y="119"/>
                  </a:lnTo>
                  <a:lnTo>
                    <a:pt x="3" y="109"/>
                  </a:lnTo>
                  <a:lnTo>
                    <a:pt x="3" y="98"/>
                  </a:lnTo>
                  <a:lnTo>
                    <a:pt x="8" y="73"/>
                  </a:lnTo>
                  <a:lnTo>
                    <a:pt x="11" y="48"/>
                  </a:lnTo>
                  <a:lnTo>
                    <a:pt x="16" y="25"/>
                  </a:lnTo>
                  <a:lnTo>
                    <a:pt x="19" y="0"/>
                  </a:lnTo>
                  <a:lnTo>
                    <a:pt x="19" y="144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4" name="Freeform 326">
              <a:extLst>
                <a:ext uri="{FF2B5EF4-FFF2-40B4-BE49-F238E27FC236}">
                  <a16:creationId xmlns:a16="http://schemas.microsoft.com/office/drawing/2014/main" id="{D3E9FB22-1AF3-B24F-BD36-3538185DDB02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6" y="2218"/>
              <a:ext cx="13" cy="31"/>
            </a:xfrm>
            <a:custGeom>
              <a:avLst/>
              <a:gdLst>
                <a:gd name="T0" fmla="*/ 0 w 55"/>
                <a:gd name="T1" fmla="*/ 0 h 126"/>
                <a:gd name="T2" fmla="*/ 0 w 55"/>
                <a:gd name="T3" fmla="*/ 0 h 126"/>
                <a:gd name="T4" fmla="*/ 0 w 55"/>
                <a:gd name="T5" fmla="*/ 0 h 126"/>
                <a:gd name="T6" fmla="*/ 0 w 55"/>
                <a:gd name="T7" fmla="*/ 0 h 126"/>
                <a:gd name="T8" fmla="*/ 0 w 55"/>
                <a:gd name="T9" fmla="*/ 0 h 126"/>
                <a:gd name="T10" fmla="*/ 0 w 55"/>
                <a:gd name="T11" fmla="*/ 0 h 126"/>
                <a:gd name="T12" fmla="*/ 0 w 55"/>
                <a:gd name="T13" fmla="*/ 0 h 126"/>
                <a:gd name="T14" fmla="*/ 0 w 55"/>
                <a:gd name="T15" fmla="*/ 0 h 126"/>
                <a:gd name="T16" fmla="*/ 0 w 55"/>
                <a:gd name="T17" fmla="*/ 0 h 126"/>
                <a:gd name="T18" fmla="*/ 0 w 55"/>
                <a:gd name="T19" fmla="*/ 0 h 126"/>
                <a:gd name="T20" fmla="*/ 0 w 55"/>
                <a:gd name="T21" fmla="*/ 0 h 12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5"/>
                <a:gd name="T34" fmla="*/ 0 h 126"/>
                <a:gd name="T35" fmla="*/ 55 w 55"/>
                <a:gd name="T36" fmla="*/ 126 h 12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5" h="126">
                  <a:moveTo>
                    <a:pt x="55" y="109"/>
                  </a:moveTo>
                  <a:lnTo>
                    <a:pt x="55" y="114"/>
                  </a:lnTo>
                  <a:lnTo>
                    <a:pt x="5" y="126"/>
                  </a:lnTo>
                  <a:lnTo>
                    <a:pt x="5" y="96"/>
                  </a:lnTo>
                  <a:lnTo>
                    <a:pt x="2" y="62"/>
                  </a:lnTo>
                  <a:lnTo>
                    <a:pt x="0" y="32"/>
                  </a:lnTo>
                  <a:lnTo>
                    <a:pt x="0" y="0"/>
                  </a:lnTo>
                  <a:lnTo>
                    <a:pt x="16" y="25"/>
                  </a:lnTo>
                  <a:lnTo>
                    <a:pt x="27" y="52"/>
                  </a:lnTo>
                  <a:lnTo>
                    <a:pt x="41" y="82"/>
                  </a:lnTo>
                  <a:lnTo>
                    <a:pt x="55" y="109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5" name="Freeform 327">
              <a:extLst>
                <a:ext uri="{FF2B5EF4-FFF2-40B4-BE49-F238E27FC236}">
                  <a16:creationId xmlns:a16="http://schemas.microsoft.com/office/drawing/2014/main" id="{8626697F-721A-C745-A379-4FE9E3C33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5" y="2218"/>
              <a:ext cx="11" cy="24"/>
            </a:xfrm>
            <a:custGeom>
              <a:avLst/>
              <a:gdLst>
                <a:gd name="T0" fmla="*/ 0 w 43"/>
                <a:gd name="T1" fmla="*/ 0 h 96"/>
                <a:gd name="T2" fmla="*/ 0 w 43"/>
                <a:gd name="T3" fmla="*/ 0 h 96"/>
                <a:gd name="T4" fmla="*/ 0 w 43"/>
                <a:gd name="T5" fmla="*/ 0 h 96"/>
                <a:gd name="T6" fmla="*/ 0 w 43"/>
                <a:gd name="T7" fmla="*/ 0 h 96"/>
                <a:gd name="T8" fmla="*/ 0 w 43"/>
                <a:gd name="T9" fmla="*/ 0 h 96"/>
                <a:gd name="T10" fmla="*/ 0 w 43"/>
                <a:gd name="T11" fmla="*/ 0 h 96"/>
                <a:gd name="T12" fmla="*/ 0 w 43"/>
                <a:gd name="T13" fmla="*/ 0 h 9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43"/>
                <a:gd name="T22" fmla="*/ 0 h 96"/>
                <a:gd name="T23" fmla="*/ 43 w 43"/>
                <a:gd name="T24" fmla="*/ 96 h 9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43" h="96">
                  <a:moveTo>
                    <a:pt x="43" y="90"/>
                  </a:moveTo>
                  <a:lnTo>
                    <a:pt x="0" y="96"/>
                  </a:lnTo>
                  <a:lnTo>
                    <a:pt x="0" y="0"/>
                  </a:lnTo>
                  <a:lnTo>
                    <a:pt x="11" y="22"/>
                  </a:lnTo>
                  <a:lnTo>
                    <a:pt x="25" y="43"/>
                  </a:lnTo>
                  <a:lnTo>
                    <a:pt x="36" y="66"/>
                  </a:lnTo>
                  <a:lnTo>
                    <a:pt x="43" y="90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6" name="Freeform 328">
              <a:extLst>
                <a:ext uri="{FF2B5EF4-FFF2-40B4-BE49-F238E27FC236}">
                  <a16:creationId xmlns:a16="http://schemas.microsoft.com/office/drawing/2014/main" id="{FF6B3646-B192-6144-AF62-4EC3C29BC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7" y="2219"/>
              <a:ext cx="21" cy="33"/>
            </a:xfrm>
            <a:custGeom>
              <a:avLst/>
              <a:gdLst>
                <a:gd name="T0" fmla="*/ 0 w 85"/>
                <a:gd name="T1" fmla="*/ 0 h 133"/>
                <a:gd name="T2" fmla="*/ 0 w 85"/>
                <a:gd name="T3" fmla="*/ 0 h 133"/>
                <a:gd name="T4" fmla="*/ 0 w 85"/>
                <a:gd name="T5" fmla="*/ 0 h 133"/>
                <a:gd name="T6" fmla="*/ 0 w 85"/>
                <a:gd name="T7" fmla="*/ 0 h 133"/>
                <a:gd name="T8" fmla="*/ 0 w 85"/>
                <a:gd name="T9" fmla="*/ 0 h 133"/>
                <a:gd name="T10" fmla="*/ 0 w 85"/>
                <a:gd name="T11" fmla="*/ 0 h 133"/>
                <a:gd name="T12" fmla="*/ 0 w 85"/>
                <a:gd name="T13" fmla="*/ 0 h 133"/>
                <a:gd name="T14" fmla="*/ 0 w 85"/>
                <a:gd name="T15" fmla="*/ 0 h 133"/>
                <a:gd name="T16" fmla="*/ 0 w 85"/>
                <a:gd name="T17" fmla="*/ 0 h 133"/>
                <a:gd name="T18" fmla="*/ 0 w 85"/>
                <a:gd name="T19" fmla="*/ 0 h 133"/>
                <a:gd name="T20" fmla="*/ 0 w 85"/>
                <a:gd name="T21" fmla="*/ 0 h 133"/>
                <a:gd name="T22" fmla="*/ 0 w 85"/>
                <a:gd name="T23" fmla="*/ 0 h 133"/>
                <a:gd name="T24" fmla="*/ 0 w 85"/>
                <a:gd name="T25" fmla="*/ 0 h 133"/>
                <a:gd name="T26" fmla="*/ 0 w 85"/>
                <a:gd name="T27" fmla="*/ 0 h 133"/>
                <a:gd name="T28" fmla="*/ 0 w 85"/>
                <a:gd name="T29" fmla="*/ 0 h 133"/>
                <a:gd name="T30" fmla="*/ 0 w 85"/>
                <a:gd name="T31" fmla="*/ 0 h 133"/>
                <a:gd name="T32" fmla="*/ 0 w 85"/>
                <a:gd name="T33" fmla="*/ 0 h 133"/>
                <a:gd name="T34" fmla="*/ 0 w 85"/>
                <a:gd name="T35" fmla="*/ 0 h 133"/>
                <a:gd name="T36" fmla="*/ 0 w 85"/>
                <a:gd name="T37" fmla="*/ 0 h 133"/>
                <a:gd name="T38" fmla="*/ 0 w 85"/>
                <a:gd name="T39" fmla="*/ 0 h 133"/>
                <a:gd name="T40" fmla="*/ 0 w 85"/>
                <a:gd name="T41" fmla="*/ 0 h 133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85"/>
                <a:gd name="T64" fmla="*/ 0 h 133"/>
                <a:gd name="T65" fmla="*/ 85 w 85"/>
                <a:gd name="T66" fmla="*/ 133 h 133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85" h="133">
                  <a:moveTo>
                    <a:pt x="85" y="0"/>
                  </a:moveTo>
                  <a:lnTo>
                    <a:pt x="76" y="32"/>
                  </a:lnTo>
                  <a:lnTo>
                    <a:pt x="71" y="65"/>
                  </a:lnTo>
                  <a:lnTo>
                    <a:pt x="69" y="100"/>
                  </a:lnTo>
                  <a:lnTo>
                    <a:pt x="66" y="133"/>
                  </a:lnTo>
                  <a:lnTo>
                    <a:pt x="53" y="108"/>
                  </a:lnTo>
                  <a:lnTo>
                    <a:pt x="41" y="86"/>
                  </a:lnTo>
                  <a:lnTo>
                    <a:pt x="25" y="62"/>
                  </a:lnTo>
                  <a:lnTo>
                    <a:pt x="9" y="42"/>
                  </a:lnTo>
                  <a:lnTo>
                    <a:pt x="3" y="37"/>
                  </a:lnTo>
                  <a:lnTo>
                    <a:pt x="0" y="30"/>
                  </a:lnTo>
                  <a:lnTo>
                    <a:pt x="0" y="21"/>
                  </a:lnTo>
                  <a:lnTo>
                    <a:pt x="0" y="12"/>
                  </a:lnTo>
                  <a:lnTo>
                    <a:pt x="9" y="12"/>
                  </a:lnTo>
                  <a:lnTo>
                    <a:pt x="20" y="10"/>
                  </a:lnTo>
                  <a:lnTo>
                    <a:pt x="30" y="10"/>
                  </a:lnTo>
                  <a:lnTo>
                    <a:pt x="41" y="7"/>
                  </a:lnTo>
                  <a:lnTo>
                    <a:pt x="53" y="5"/>
                  </a:lnTo>
                  <a:lnTo>
                    <a:pt x="64" y="2"/>
                  </a:lnTo>
                  <a:lnTo>
                    <a:pt x="74" y="2"/>
                  </a:lnTo>
                  <a:lnTo>
                    <a:pt x="85" y="0"/>
                  </a:lnTo>
                  <a:close/>
                </a:path>
              </a:pathLst>
            </a:custGeom>
            <a:solidFill>
              <a:srgbClr val="89D6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7" name="Freeform 329">
              <a:extLst>
                <a:ext uri="{FF2B5EF4-FFF2-40B4-BE49-F238E27FC236}">
                  <a16:creationId xmlns:a16="http://schemas.microsoft.com/office/drawing/2014/main" id="{E5106AAB-3588-6743-8FB5-5605055D8DBB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6" y="2220"/>
              <a:ext cx="6" cy="39"/>
            </a:xfrm>
            <a:custGeom>
              <a:avLst/>
              <a:gdLst>
                <a:gd name="T0" fmla="*/ 0 w 21"/>
                <a:gd name="T1" fmla="*/ 0 h 155"/>
                <a:gd name="T2" fmla="*/ 0 w 21"/>
                <a:gd name="T3" fmla="*/ 0 h 155"/>
                <a:gd name="T4" fmla="*/ 0 w 21"/>
                <a:gd name="T5" fmla="*/ 0 h 155"/>
                <a:gd name="T6" fmla="*/ 0 w 21"/>
                <a:gd name="T7" fmla="*/ 0 h 155"/>
                <a:gd name="T8" fmla="*/ 0 w 21"/>
                <a:gd name="T9" fmla="*/ 0 h 155"/>
                <a:gd name="T10" fmla="*/ 0 w 21"/>
                <a:gd name="T11" fmla="*/ 0 h 155"/>
                <a:gd name="T12" fmla="*/ 0 w 21"/>
                <a:gd name="T13" fmla="*/ 0 h 155"/>
                <a:gd name="T14" fmla="*/ 0 w 21"/>
                <a:gd name="T15" fmla="*/ 0 h 155"/>
                <a:gd name="T16" fmla="*/ 0 w 21"/>
                <a:gd name="T17" fmla="*/ 0 h 155"/>
                <a:gd name="T18" fmla="*/ 0 w 21"/>
                <a:gd name="T19" fmla="*/ 0 h 155"/>
                <a:gd name="T20" fmla="*/ 0 w 21"/>
                <a:gd name="T21" fmla="*/ 0 h 155"/>
                <a:gd name="T22" fmla="*/ 0 w 21"/>
                <a:gd name="T23" fmla="*/ 0 h 155"/>
                <a:gd name="T24" fmla="*/ 0 w 21"/>
                <a:gd name="T25" fmla="*/ 0 h 15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21"/>
                <a:gd name="T40" fmla="*/ 0 h 155"/>
                <a:gd name="T41" fmla="*/ 21 w 21"/>
                <a:gd name="T42" fmla="*/ 155 h 155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21" h="155">
                  <a:moveTo>
                    <a:pt x="19" y="155"/>
                  </a:moveTo>
                  <a:lnTo>
                    <a:pt x="8" y="153"/>
                  </a:lnTo>
                  <a:lnTo>
                    <a:pt x="5" y="145"/>
                  </a:lnTo>
                  <a:lnTo>
                    <a:pt x="5" y="134"/>
                  </a:lnTo>
                  <a:lnTo>
                    <a:pt x="0" y="125"/>
                  </a:lnTo>
                  <a:lnTo>
                    <a:pt x="2" y="95"/>
                  </a:lnTo>
                  <a:lnTo>
                    <a:pt x="5" y="63"/>
                  </a:lnTo>
                  <a:lnTo>
                    <a:pt x="10" y="33"/>
                  </a:lnTo>
                  <a:lnTo>
                    <a:pt x="19" y="0"/>
                  </a:lnTo>
                  <a:lnTo>
                    <a:pt x="21" y="40"/>
                  </a:lnTo>
                  <a:lnTo>
                    <a:pt x="21" y="79"/>
                  </a:lnTo>
                  <a:lnTo>
                    <a:pt x="19" y="118"/>
                  </a:lnTo>
                  <a:lnTo>
                    <a:pt x="19" y="155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8" name="Freeform 330">
              <a:extLst>
                <a:ext uri="{FF2B5EF4-FFF2-40B4-BE49-F238E27FC236}">
                  <a16:creationId xmlns:a16="http://schemas.microsoft.com/office/drawing/2014/main" id="{9DDAF590-F63A-2041-A5B9-C02FD49C73C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22" y="2220"/>
              <a:ext cx="9" cy="25"/>
            </a:xfrm>
            <a:custGeom>
              <a:avLst/>
              <a:gdLst>
                <a:gd name="T0" fmla="*/ 0 w 35"/>
                <a:gd name="T1" fmla="*/ 0 h 101"/>
                <a:gd name="T2" fmla="*/ 0 w 35"/>
                <a:gd name="T3" fmla="*/ 0 h 101"/>
                <a:gd name="T4" fmla="*/ 0 w 35"/>
                <a:gd name="T5" fmla="*/ 0 h 101"/>
                <a:gd name="T6" fmla="*/ 0 w 35"/>
                <a:gd name="T7" fmla="*/ 0 h 101"/>
                <a:gd name="T8" fmla="*/ 0 w 35"/>
                <a:gd name="T9" fmla="*/ 0 h 101"/>
                <a:gd name="T10" fmla="*/ 0 w 35"/>
                <a:gd name="T11" fmla="*/ 0 h 101"/>
                <a:gd name="T12" fmla="*/ 0 w 35"/>
                <a:gd name="T13" fmla="*/ 0 h 10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35"/>
                <a:gd name="T22" fmla="*/ 0 h 101"/>
                <a:gd name="T23" fmla="*/ 35 w 35"/>
                <a:gd name="T24" fmla="*/ 101 h 10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35" h="101">
                  <a:moveTo>
                    <a:pt x="35" y="93"/>
                  </a:moveTo>
                  <a:lnTo>
                    <a:pt x="0" y="101"/>
                  </a:lnTo>
                  <a:lnTo>
                    <a:pt x="0" y="0"/>
                  </a:lnTo>
                  <a:lnTo>
                    <a:pt x="11" y="24"/>
                  </a:lnTo>
                  <a:lnTo>
                    <a:pt x="19" y="49"/>
                  </a:lnTo>
                  <a:lnTo>
                    <a:pt x="27" y="71"/>
                  </a:lnTo>
                  <a:lnTo>
                    <a:pt x="35" y="93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79" name="Freeform 331">
              <a:extLst>
                <a:ext uri="{FF2B5EF4-FFF2-40B4-BE49-F238E27FC236}">
                  <a16:creationId xmlns:a16="http://schemas.microsoft.com/office/drawing/2014/main" id="{64DBC58E-769F-2345-A20B-CB77F49F15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0" y="2221"/>
              <a:ext cx="4" cy="29"/>
            </a:xfrm>
            <a:custGeom>
              <a:avLst/>
              <a:gdLst>
                <a:gd name="T0" fmla="*/ 0 w 16"/>
                <a:gd name="T1" fmla="*/ 0 h 115"/>
                <a:gd name="T2" fmla="*/ 0 w 16"/>
                <a:gd name="T3" fmla="*/ 0 h 115"/>
                <a:gd name="T4" fmla="*/ 0 w 16"/>
                <a:gd name="T5" fmla="*/ 0 h 115"/>
                <a:gd name="T6" fmla="*/ 0 w 16"/>
                <a:gd name="T7" fmla="*/ 0 h 115"/>
                <a:gd name="T8" fmla="*/ 0 w 16"/>
                <a:gd name="T9" fmla="*/ 0 h 115"/>
                <a:gd name="T10" fmla="*/ 0 w 16"/>
                <a:gd name="T11" fmla="*/ 0 h 115"/>
                <a:gd name="T12" fmla="*/ 0 w 16"/>
                <a:gd name="T13" fmla="*/ 0 h 115"/>
                <a:gd name="T14" fmla="*/ 0 w 16"/>
                <a:gd name="T15" fmla="*/ 0 h 115"/>
                <a:gd name="T16" fmla="*/ 0 w 16"/>
                <a:gd name="T17" fmla="*/ 0 h 115"/>
                <a:gd name="T18" fmla="*/ 0 w 16"/>
                <a:gd name="T19" fmla="*/ 0 h 115"/>
                <a:gd name="T20" fmla="*/ 0 w 16"/>
                <a:gd name="T21" fmla="*/ 0 h 115"/>
                <a:gd name="T22" fmla="*/ 0 w 16"/>
                <a:gd name="T23" fmla="*/ 0 h 115"/>
                <a:gd name="T24" fmla="*/ 0 w 16"/>
                <a:gd name="T25" fmla="*/ 0 h 11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6"/>
                <a:gd name="T40" fmla="*/ 0 h 115"/>
                <a:gd name="T41" fmla="*/ 16 w 16"/>
                <a:gd name="T42" fmla="*/ 115 h 115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6" h="115">
                  <a:moveTo>
                    <a:pt x="16" y="113"/>
                  </a:moveTo>
                  <a:lnTo>
                    <a:pt x="14" y="113"/>
                  </a:lnTo>
                  <a:lnTo>
                    <a:pt x="9" y="115"/>
                  </a:lnTo>
                  <a:lnTo>
                    <a:pt x="5" y="115"/>
                  </a:lnTo>
                  <a:lnTo>
                    <a:pt x="0" y="113"/>
                  </a:lnTo>
                  <a:lnTo>
                    <a:pt x="0" y="85"/>
                  </a:lnTo>
                  <a:lnTo>
                    <a:pt x="3" y="58"/>
                  </a:lnTo>
                  <a:lnTo>
                    <a:pt x="5" y="30"/>
                  </a:lnTo>
                  <a:lnTo>
                    <a:pt x="11" y="0"/>
                  </a:lnTo>
                  <a:lnTo>
                    <a:pt x="14" y="30"/>
                  </a:lnTo>
                  <a:lnTo>
                    <a:pt x="14" y="58"/>
                  </a:lnTo>
                  <a:lnTo>
                    <a:pt x="11" y="85"/>
                  </a:lnTo>
                  <a:lnTo>
                    <a:pt x="16" y="113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0" name="Freeform 332">
              <a:extLst>
                <a:ext uri="{FF2B5EF4-FFF2-40B4-BE49-F238E27FC236}">
                  <a16:creationId xmlns:a16="http://schemas.microsoft.com/office/drawing/2014/main" id="{C1516F7F-3C53-6444-8BD8-7EB2B8F12EB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1" y="2224"/>
              <a:ext cx="5" cy="38"/>
            </a:xfrm>
            <a:custGeom>
              <a:avLst/>
              <a:gdLst>
                <a:gd name="T0" fmla="*/ 0 w 19"/>
                <a:gd name="T1" fmla="*/ 0 h 152"/>
                <a:gd name="T2" fmla="*/ 0 w 19"/>
                <a:gd name="T3" fmla="*/ 0 h 152"/>
                <a:gd name="T4" fmla="*/ 0 w 19"/>
                <a:gd name="T5" fmla="*/ 0 h 152"/>
                <a:gd name="T6" fmla="*/ 0 w 19"/>
                <a:gd name="T7" fmla="*/ 0 h 152"/>
                <a:gd name="T8" fmla="*/ 0 w 19"/>
                <a:gd name="T9" fmla="*/ 0 h 152"/>
                <a:gd name="T10" fmla="*/ 0 w 19"/>
                <a:gd name="T11" fmla="*/ 0 h 152"/>
                <a:gd name="T12" fmla="*/ 0 w 19"/>
                <a:gd name="T13" fmla="*/ 0 h 152"/>
                <a:gd name="T14" fmla="*/ 0 w 19"/>
                <a:gd name="T15" fmla="*/ 0 h 152"/>
                <a:gd name="T16" fmla="*/ 0 w 19"/>
                <a:gd name="T17" fmla="*/ 0 h 152"/>
                <a:gd name="T18" fmla="*/ 0 w 19"/>
                <a:gd name="T19" fmla="*/ 0 h 152"/>
                <a:gd name="T20" fmla="*/ 0 w 19"/>
                <a:gd name="T21" fmla="*/ 0 h 152"/>
                <a:gd name="T22" fmla="*/ 0 w 19"/>
                <a:gd name="T23" fmla="*/ 0 h 152"/>
                <a:gd name="T24" fmla="*/ 0 w 19"/>
                <a:gd name="T25" fmla="*/ 0 h 152"/>
                <a:gd name="T26" fmla="*/ 0 w 19"/>
                <a:gd name="T27" fmla="*/ 0 h 152"/>
                <a:gd name="T28" fmla="*/ 0 w 19"/>
                <a:gd name="T29" fmla="*/ 0 h 152"/>
                <a:gd name="T30" fmla="*/ 0 w 19"/>
                <a:gd name="T31" fmla="*/ 0 h 152"/>
                <a:gd name="T32" fmla="*/ 0 w 19"/>
                <a:gd name="T33" fmla="*/ 0 h 152"/>
                <a:gd name="T34" fmla="*/ 0 w 19"/>
                <a:gd name="T35" fmla="*/ 0 h 152"/>
                <a:gd name="T36" fmla="*/ 0 w 19"/>
                <a:gd name="T37" fmla="*/ 0 h 152"/>
                <a:gd name="T38" fmla="*/ 0 w 19"/>
                <a:gd name="T39" fmla="*/ 0 h 152"/>
                <a:gd name="T40" fmla="*/ 0 w 19"/>
                <a:gd name="T41" fmla="*/ 0 h 152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19"/>
                <a:gd name="T64" fmla="*/ 0 h 152"/>
                <a:gd name="T65" fmla="*/ 19 w 19"/>
                <a:gd name="T66" fmla="*/ 152 h 152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19" h="152">
                  <a:moveTo>
                    <a:pt x="10" y="138"/>
                  </a:moveTo>
                  <a:lnTo>
                    <a:pt x="14" y="138"/>
                  </a:lnTo>
                  <a:lnTo>
                    <a:pt x="16" y="141"/>
                  </a:lnTo>
                  <a:lnTo>
                    <a:pt x="19" y="147"/>
                  </a:lnTo>
                  <a:lnTo>
                    <a:pt x="19" y="149"/>
                  </a:lnTo>
                  <a:lnTo>
                    <a:pt x="16" y="152"/>
                  </a:lnTo>
                  <a:lnTo>
                    <a:pt x="14" y="152"/>
                  </a:lnTo>
                  <a:lnTo>
                    <a:pt x="8" y="149"/>
                  </a:lnTo>
                  <a:lnTo>
                    <a:pt x="5" y="149"/>
                  </a:lnTo>
                  <a:lnTo>
                    <a:pt x="5" y="141"/>
                  </a:lnTo>
                  <a:lnTo>
                    <a:pt x="5" y="128"/>
                  </a:lnTo>
                  <a:lnTo>
                    <a:pt x="3" y="117"/>
                  </a:lnTo>
                  <a:lnTo>
                    <a:pt x="0" y="108"/>
                  </a:lnTo>
                  <a:lnTo>
                    <a:pt x="3" y="81"/>
                  </a:lnTo>
                  <a:lnTo>
                    <a:pt x="0" y="54"/>
                  </a:lnTo>
                  <a:lnTo>
                    <a:pt x="0" y="27"/>
                  </a:lnTo>
                  <a:lnTo>
                    <a:pt x="5" y="0"/>
                  </a:lnTo>
                  <a:lnTo>
                    <a:pt x="10" y="35"/>
                  </a:lnTo>
                  <a:lnTo>
                    <a:pt x="14" y="71"/>
                  </a:lnTo>
                  <a:lnTo>
                    <a:pt x="10" y="106"/>
                  </a:lnTo>
                  <a:lnTo>
                    <a:pt x="10" y="138"/>
                  </a:lnTo>
                  <a:close/>
                </a:path>
              </a:pathLst>
            </a:custGeom>
            <a:solidFill>
              <a:srgbClr val="BFD1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1" name="Freeform 333">
              <a:extLst>
                <a:ext uri="{FF2B5EF4-FFF2-40B4-BE49-F238E27FC236}">
                  <a16:creationId xmlns:a16="http://schemas.microsoft.com/office/drawing/2014/main" id="{6CCD7633-855E-B742-854D-16C1A390AF17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0" y="2224"/>
              <a:ext cx="15" cy="28"/>
            </a:xfrm>
            <a:custGeom>
              <a:avLst/>
              <a:gdLst>
                <a:gd name="T0" fmla="*/ 0 w 57"/>
                <a:gd name="T1" fmla="*/ 0 h 114"/>
                <a:gd name="T2" fmla="*/ 0 w 57"/>
                <a:gd name="T3" fmla="*/ 0 h 114"/>
                <a:gd name="T4" fmla="*/ 0 w 57"/>
                <a:gd name="T5" fmla="*/ 0 h 114"/>
                <a:gd name="T6" fmla="*/ 0 w 57"/>
                <a:gd name="T7" fmla="*/ 0 h 114"/>
                <a:gd name="T8" fmla="*/ 0 w 57"/>
                <a:gd name="T9" fmla="*/ 0 h 114"/>
                <a:gd name="T10" fmla="*/ 0 w 57"/>
                <a:gd name="T11" fmla="*/ 0 h 114"/>
                <a:gd name="T12" fmla="*/ 0 w 57"/>
                <a:gd name="T13" fmla="*/ 0 h 114"/>
                <a:gd name="T14" fmla="*/ 0 w 57"/>
                <a:gd name="T15" fmla="*/ 0 h 114"/>
                <a:gd name="T16" fmla="*/ 0 w 57"/>
                <a:gd name="T17" fmla="*/ 0 h 114"/>
                <a:gd name="T18" fmla="*/ 0 w 57"/>
                <a:gd name="T19" fmla="*/ 0 h 114"/>
                <a:gd name="T20" fmla="*/ 0 w 57"/>
                <a:gd name="T21" fmla="*/ 0 h 114"/>
                <a:gd name="T22" fmla="*/ 0 w 57"/>
                <a:gd name="T23" fmla="*/ 0 h 114"/>
                <a:gd name="T24" fmla="*/ 0 w 57"/>
                <a:gd name="T25" fmla="*/ 0 h 11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57"/>
                <a:gd name="T40" fmla="*/ 0 h 114"/>
                <a:gd name="T41" fmla="*/ 57 w 57"/>
                <a:gd name="T42" fmla="*/ 114 h 114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57" h="114">
                  <a:moveTo>
                    <a:pt x="57" y="106"/>
                  </a:moveTo>
                  <a:lnTo>
                    <a:pt x="46" y="111"/>
                  </a:lnTo>
                  <a:lnTo>
                    <a:pt x="35" y="114"/>
                  </a:lnTo>
                  <a:lnTo>
                    <a:pt x="21" y="114"/>
                  </a:lnTo>
                  <a:lnTo>
                    <a:pt x="8" y="114"/>
                  </a:lnTo>
                  <a:lnTo>
                    <a:pt x="5" y="84"/>
                  </a:lnTo>
                  <a:lnTo>
                    <a:pt x="2" y="57"/>
                  </a:lnTo>
                  <a:lnTo>
                    <a:pt x="0" y="30"/>
                  </a:lnTo>
                  <a:lnTo>
                    <a:pt x="2" y="0"/>
                  </a:lnTo>
                  <a:lnTo>
                    <a:pt x="19" y="23"/>
                  </a:lnTo>
                  <a:lnTo>
                    <a:pt x="30" y="51"/>
                  </a:lnTo>
                  <a:lnTo>
                    <a:pt x="41" y="81"/>
                  </a:lnTo>
                  <a:lnTo>
                    <a:pt x="57" y="106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2" name="Freeform 334">
              <a:extLst>
                <a:ext uri="{FF2B5EF4-FFF2-40B4-BE49-F238E27FC236}">
                  <a16:creationId xmlns:a16="http://schemas.microsoft.com/office/drawing/2014/main" id="{004E40A3-30CA-B749-A22A-9CC42C4E80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37" y="2225"/>
              <a:ext cx="289" cy="68"/>
            </a:xfrm>
            <a:custGeom>
              <a:avLst/>
              <a:gdLst>
                <a:gd name="T0" fmla="*/ 0 w 1156"/>
                <a:gd name="T1" fmla="*/ 0 h 270"/>
                <a:gd name="T2" fmla="*/ 0 w 1156"/>
                <a:gd name="T3" fmla="*/ 0 h 270"/>
                <a:gd name="T4" fmla="*/ 0 w 1156"/>
                <a:gd name="T5" fmla="*/ 0 h 270"/>
                <a:gd name="T6" fmla="*/ 0 w 1156"/>
                <a:gd name="T7" fmla="*/ 0 h 270"/>
                <a:gd name="T8" fmla="*/ 0 w 1156"/>
                <a:gd name="T9" fmla="*/ 0 h 270"/>
                <a:gd name="T10" fmla="*/ 0 w 1156"/>
                <a:gd name="T11" fmla="*/ 0 h 270"/>
                <a:gd name="T12" fmla="*/ 0 w 1156"/>
                <a:gd name="T13" fmla="*/ 0 h 270"/>
                <a:gd name="T14" fmla="*/ 0 w 1156"/>
                <a:gd name="T15" fmla="*/ 0 h 270"/>
                <a:gd name="T16" fmla="*/ 0 w 1156"/>
                <a:gd name="T17" fmla="*/ 0 h 270"/>
                <a:gd name="T18" fmla="*/ 0 w 1156"/>
                <a:gd name="T19" fmla="*/ 0 h 270"/>
                <a:gd name="T20" fmla="*/ 0 w 1156"/>
                <a:gd name="T21" fmla="*/ 0 h 27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156"/>
                <a:gd name="T34" fmla="*/ 0 h 270"/>
                <a:gd name="T35" fmla="*/ 1156 w 1156"/>
                <a:gd name="T36" fmla="*/ 270 h 270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156" h="270">
                  <a:moveTo>
                    <a:pt x="1156" y="89"/>
                  </a:moveTo>
                  <a:lnTo>
                    <a:pt x="355" y="229"/>
                  </a:lnTo>
                  <a:lnTo>
                    <a:pt x="336" y="223"/>
                  </a:lnTo>
                  <a:lnTo>
                    <a:pt x="66" y="270"/>
                  </a:lnTo>
                  <a:lnTo>
                    <a:pt x="47" y="248"/>
                  </a:lnTo>
                  <a:lnTo>
                    <a:pt x="34" y="223"/>
                  </a:lnTo>
                  <a:lnTo>
                    <a:pt x="20" y="199"/>
                  </a:lnTo>
                  <a:lnTo>
                    <a:pt x="0" y="174"/>
                  </a:lnTo>
                  <a:lnTo>
                    <a:pt x="1059" y="0"/>
                  </a:lnTo>
                  <a:lnTo>
                    <a:pt x="1071" y="0"/>
                  </a:lnTo>
                  <a:lnTo>
                    <a:pt x="1156" y="89"/>
                  </a:lnTo>
                  <a:close/>
                </a:path>
              </a:pathLst>
            </a:custGeom>
            <a:solidFill>
              <a:srgbClr val="FFBF3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3" name="Freeform 335">
              <a:extLst>
                <a:ext uri="{FF2B5EF4-FFF2-40B4-BE49-F238E27FC236}">
                  <a16:creationId xmlns:a16="http://schemas.microsoft.com/office/drawing/2014/main" id="{28F7C49C-0D70-C64D-9164-BA10952AB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5" y="2227"/>
              <a:ext cx="15" cy="29"/>
            </a:xfrm>
            <a:custGeom>
              <a:avLst/>
              <a:gdLst>
                <a:gd name="T0" fmla="*/ 0 w 60"/>
                <a:gd name="T1" fmla="*/ 0 h 119"/>
                <a:gd name="T2" fmla="*/ 0 w 60"/>
                <a:gd name="T3" fmla="*/ 0 h 119"/>
                <a:gd name="T4" fmla="*/ 0 w 60"/>
                <a:gd name="T5" fmla="*/ 0 h 119"/>
                <a:gd name="T6" fmla="*/ 0 w 60"/>
                <a:gd name="T7" fmla="*/ 0 h 119"/>
                <a:gd name="T8" fmla="*/ 0 w 60"/>
                <a:gd name="T9" fmla="*/ 0 h 119"/>
                <a:gd name="T10" fmla="*/ 0 w 60"/>
                <a:gd name="T11" fmla="*/ 0 h 119"/>
                <a:gd name="T12" fmla="*/ 0 w 60"/>
                <a:gd name="T13" fmla="*/ 0 h 119"/>
                <a:gd name="T14" fmla="*/ 0 w 60"/>
                <a:gd name="T15" fmla="*/ 0 h 119"/>
                <a:gd name="T16" fmla="*/ 0 w 60"/>
                <a:gd name="T17" fmla="*/ 0 h 119"/>
                <a:gd name="T18" fmla="*/ 0 w 60"/>
                <a:gd name="T19" fmla="*/ 0 h 119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60"/>
                <a:gd name="T31" fmla="*/ 0 h 119"/>
                <a:gd name="T32" fmla="*/ 60 w 60"/>
                <a:gd name="T33" fmla="*/ 119 h 119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60" h="119">
                  <a:moveTo>
                    <a:pt x="60" y="113"/>
                  </a:moveTo>
                  <a:lnTo>
                    <a:pt x="0" y="119"/>
                  </a:lnTo>
                  <a:lnTo>
                    <a:pt x="0" y="90"/>
                  </a:lnTo>
                  <a:lnTo>
                    <a:pt x="0" y="56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4" y="26"/>
                  </a:lnTo>
                  <a:lnTo>
                    <a:pt x="30" y="56"/>
                  </a:lnTo>
                  <a:lnTo>
                    <a:pt x="44" y="87"/>
                  </a:lnTo>
                  <a:lnTo>
                    <a:pt x="60" y="113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4" name="Freeform 336">
              <a:extLst>
                <a:ext uri="{FF2B5EF4-FFF2-40B4-BE49-F238E27FC236}">
                  <a16:creationId xmlns:a16="http://schemas.microsoft.com/office/drawing/2014/main" id="{251BC230-2BDF-AA44-BC38-947D132F5E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9" y="2231"/>
              <a:ext cx="15" cy="35"/>
            </a:xfrm>
            <a:custGeom>
              <a:avLst/>
              <a:gdLst>
                <a:gd name="T0" fmla="*/ 0 w 60"/>
                <a:gd name="T1" fmla="*/ 0 h 136"/>
                <a:gd name="T2" fmla="*/ 0 w 60"/>
                <a:gd name="T3" fmla="*/ 0 h 136"/>
                <a:gd name="T4" fmla="*/ 0 w 60"/>
                <a:gd name="T5" fmla="*/ 0 h 136"/>
                <a:gd name="T6" fmla="*/ 0 w 60"/>
                <a:gd name="T7" fmla="*/ 0 h 136"/>
                <a:gd name="T8" fmla="*/ 0 w 60"/>
                <a:gd name="T9" fmla="*/ 0 h 136"/>
                <a:gd name="T10" fmla="*/ 0 w 60"/>
                <a:gd name="T11" fmla="*/ 0 h 136"/>
                <a:gd name="T12" fmla="*/ 0 w 60"/>
                <a:gd name="T13" fmla="*/ 0 h 136"/>
                <a:gd name="T14" fmla="*/ 0 w 60"/>
                <a:gd name="T15" fmla="*/ 0 h 136"/>
                <a:gd name="T16" fmla="*/ 0 w 60"/>
                <a:gd name="T17" fmla="*/ 0 h 136"/>
                <a:gd name="T18" fmla="*/ 0 w 60"/>
                <a:gd name="T19" fmla="*/ 0 h 1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60"/>
                <a:gd name="T31" fmla="*/ 0 h 136"/>
                <a:gd name="T32" fmla="*/ 60 w 60"/>
                <a:gd name="T33" fmla="*/ 136 h 136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60" h="136">
                  <a:moveTo>
                    <a:pt x="60" y="124"/>
                  </a:moveTo>
                  <a:lnTo>
                    <a:pt x="5" y="136"/>
                  </a:lnTo>
                  <a:lnTo>
                    <a:pt x="5" y="100"/>
                  </a:lnTo>
                  <a:lnTo>
                    <a:pt x="3" y="68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9" y="29"/>
                  </a:lnTo>
                  <a:lnTo>
                    <a:pt x="35" y="59"/>
                  </a:lnTo>
                  <a:lnTo>
                    <a:pt x="49" y="92"/>
                  </a:lnTo>
                  <a:lnTo>
                    <a:pt x="60" y="124"/>
                  </a:lnTo>
                  <a:close/>
                </a:path>
              </a:pathLst>
            </a:custGeom>
            <a:solidFill>
              <a:srgbClr val="E0F4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5" name="Freeform 337">
              <a:extLst>
                <a:ext uri="{FF2B5EF4-FFF2-40B4-BE49-F238E27FC236}">
                  <a16:creationId xmlns:a16="http://schemas.microsoft.com/office/drawing/2014/main" id="{2D49BDF8-F0FA-E540-8348-8843C80FDD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8" y="2236"/>
              <a:ext cx="12" cy="25"/>
            </a:xfrm>
            <a:custGeom>
              <a:avLst/>
              <a:gdLst>
                <a:gd name="T0" fmla="*/ 0 w 49"/>
                <a:gd name="T1" fmla="*/ 0 h 101"/>
                <a:gd name="T2" fmla="*/ 0 w 49"/>
                <a:gd name="T3" fmla="*/ 0 h 101"/>
                <a:gd name="T4" fmla="*/ 0 w 49"/>
                <a:gd name="T5" fmla="*/ 0 h 101"/>
                <a:gd name="T6" fmla="*/ 0 w 49"/>
                <a:gd name="T7" fmla="*/ 0 h 101"/>
                <a:gd name="T8" fmla="*/ 0 w 49"/>
                <a:gd name="T9" fmla="*/ 0 h 101"/>
                <a:gd name="T10" fmla="*/ 0 w 49"/>
                <a:gd name="T11" fmla="*/ 0 h 101"/>
                <a:gd name="T12" fmla="*/ 0 w 49"/>
                <a:gd name="T13" fmla="*/ 0 h 101"/>
                <a:gd name="T14" fmla="*/ 0 w 49"/>
                <a:gd name="T15" fmla="*/ 0 h 101"/>
                <a:gd name="T16" fmla="*/ 0 w 49"/>
                <a:gd name="T17" fmla="*/ 0 h 101"/>
                <a:gd name="T18" fmla="*/ 0 w 49"/>
                <a:gd name="T19" fmla="*/ 0 h 10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9"/>
                <a:gd name="T31" fmla="*/ 0 h 101"/>
                <a:gd name="T32" fmla="*/ 49 w 49"/>
                <a:gd name="T33" fmla="*/ 101 h 10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9" h="101">
                  <a:moveTo>
                    <a:pt x="49" y="90"/>
                  </a:moveTo>
                  <a:lnTo>
                    <a:pt x="3" y="101"/>
                  </a:lnTo>
                  <a:lnTo>
                    <a:pt x="5" y="76"/>
                  </a:lnTo>
                  <a:lnTo>
                    <a:pt x="3" y="53"/>
                  </a:lnTo>
                  <a:lnTo>
                    <a:pt x="0" y="28"/>
                  </a:lnTo>
                  <a:lnTo>
                    <a:pt x="3" y="0"/>
                  </a:lnTo>
                  <a:lnTo>
                    <a:pt x="19" y="23"/>
                  </a:lnTo>
                  <a:lnTo>
                    <a:pt x="30" y="44"/>
                  </a:lnTo>
                  <a:lnTo>
                    <a:pt x="40" y="69"/>
                  </a:lnTo>
                  <a:lnTo>
                    <a:pt x="49" y="90"/>
                  </a:lnTo>
                  <a:close/>
                </a:path>
              </a:pathLst>
            </a:custGeom>
            <a:solidFill>
              <a:srgbClr val="BFE8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6" name="Freeform 338">
              <a:extLst>
                <a:ext uri="{FF2B5EF4-FFF2-40B4-BE49-F238E27FC236}">
                  <a16:creationId xmlns:a16="http://schemas.microsoft.com/office/drawing/2014/main" id="{2A5548F8-72CE-134B-BDFD-6C1B1DA3D47C}"/>
                </a:ext>
              </a:extLst>
            </p:cNvPr>
            <p:cNvSpPr>
              <a:spLocks/>
            </p:cNvSpPr>
            <p:nvPr/>
          </p:nvSpPr>
          <p:spPr bwMode="auto">
            <a:xfrm>
              <a:off x="2720" y="2239"/>
              <a:ext cx="5" cy="32"/>
            </a:xfrm>
            <a:custGeom>
              <a:avLst/>
              <a:gdLst>
                <a:gd name="T0" fmla="*/ 0 w 18"/>
                <a:gd name="T1" fmla="*/ 0 h 129"/>
                <a:gd name="T2" fmla="*/ 0 w 18"/>
                <a:gd name="T3" fmla="*/ 0 h 129"/>
                <a:gd name="T4" fmla="*/ 0 w 18"/>
                <a:gd name="T5" fmla="*/ 0 h 129"/>
                <a:gd name="T6" fmla="*/ 0 w 18"/>
                <a:gd name="T7" fmla="*/ 0 h 129"/>
                <a:gd name="T8" fmla="*/ 0 w 18"/>
                <a:gd name="T9" fmla="*/ 0 h 129"/>
                <a:gd name="T10" fmla="*/ 0 w 18"/>
                <a:gd name="T11" fmla="*/ 0 h 129"/>
                <a:gd name="T12" fmla="*/ 0 w 18"/>
                <a:gd name="T13" fmla="*/ 0 h 129"/>
                <a:gd name="T14" fmla="*/ 0 w 18"/>
                <a:gd name="T15" fmla="*/ 0 h 129"/>
                <a:gd name="T16" fmla="*/ 0 w 18"/>
                <a:gd name="T17" fmla="*/ 0 h 129"/>
                <a:gd name="T18" fmla="*/ 0 w 18"/>
                <a:gd name="T19" fmla="*/ 0 h 129"/>
                <a:gd name="T20" fmla="*/ 0 w 18"/>
                <a:gd name="T21" fmla="*/ 0 h 129"/>
                <a:gd name="T22" fmla="*/ 0 w 18"/>
                <a:gd name="T23" fmla="*/ 0 h 129"/>
                <a:gd name="T24" fmla="*/ 0 w 18"/>
                <a:gd name="T25" fmla="*/ 0 h 129"/>
                <a:gd name="T26" fmla="*/ 0 w 18"/>
                <a:gd name="T27" fmla="*/ 0 h 129"/>
                <a:gd name="T28" fmla="*/ 0 w 18"/>
                <a:gd name="T29" fmla="*/ 0 h 129"/>
                <a:gd name="T30" fmla="*/ 0 w 18"/>
                <a:gd name="T31" fmla="*/ 0 h 129"/>
                <a:gd name="T32" fmla="*/ 0 w 18"/>
                <a:gd name="T33" fmla="*/ 0 h 129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8"/>
                <a:gd name="T52" fmla="*/ 0 h 129"/>
                <a:gd name="T53" fmla="*/ 18 w 18"/>
                <a:gd name="T54" fmla="*/ 129 h 129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8" h="129">
                  <a:moveTo>
                    <a:pt x="16" y="25"/>
                  </a:moveTo>
                  <a:lnTo>
                    <a:pt x="16" y="49"/>
                  </a:lnTo>
                  <a:lnTo>
                    <a:pt x="16" y="74"/>
                  </a:lnTo>
                  <a:lnTo>
                    <a:pt x="16" y="101"/>
                  </a:lnTo>
                  <a:lnTo>
                    <a:pt x="16" y="125"/>
                  </a:lnTo>
                  <a:lnTo>
                    <a:pt x="13" y="125"/>
                  </a:lnTo>
                  <a:lnTo>
                    <a:pt x="7" y="129"/>
                  </a:lnTo>
                  <a:lnTo>
                    <a:pt x="5" y="129"/>
                  </a:lnTo>
                  <a:lnTo>
                    <a:pt x="0" y="125"/>
                  </a:lnTo>
                  <a:lnTo>
                    <a:pt x="2" y="93"/>
                  </a:lnTo>
                  <a:lnTo>
                    <a:pt x="5" y="63"/>
                  </a:lnTo>
                  <a:lnTo>
                    <a:pt x="5" y="30"/>
                  </a:lnTo>
                  <a:lnTo>
                    <a:pt x="5" y="0"/>
                  </a:lnTo>
                  <a:lnTo>
                    <a:pt x="16" y="3"/>
                  </a:lnTo>
                  <a:lnTo>
                    <a:pt x="18" y="8"/>
                  </a:lnTo>
                  <a:lnTo>
                    <a:pt x="16" y="17"/>
                  </a:lnTo>
                  <a:lnTo>
                    <a:pt x="16" y="2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7" name="Freeform 339">
              <a:extLst>
                <a:ext uri="{FF2B5EF4-FFF2-40B4-BE49-F238E27FC236}">
                  <a16:creationId xmlns:a16="http://schemas.microsoft.com/office/drawing/2014/main" id="{59EFB8E0-16E7-4E41-B79A-D5A3733268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820" y="2242"/>
              <a:ext cx="226" cy="44"/>
            </a:xfrm>
            <a:custGeom>
              <a:avLst/>
              <a:gdLst>
                <a:gd name="T0" fmla="*/ 0 w 905"/>
                <a:gd name="T1" fmla="*/ 0 h 177"/>
                <a:gd name="T2" fmla="*/ 0 w 905"/>
                <a:gd name="T3" fmla="*/ 0 h 177"/>
                <a:gd name="T4" fmla="*/ 0 w 905"/>
                <a:gd name="T5" fmla="*/ 0 h 177"/>
                <a:gd name="T6" fmla="*/ 0 w 905"/>
                <a:gd name="T7" fmla="*/ 0 h 177"/>
                <a:gd name="T8" fmla="*/ 0 w 905"/>
                <a:gd name="T9" fmla="*/ 0 h 177"/>
                <a:gd name="T10" fmla="*/ 0 w 905"/>
                <a:gd name="T11" fmla="*/ 0 h 177"/>
                <a:gd name="T12" fmla="*/ 0 w 905"/>
                <a:gd name="T13" fmla="*/ 0 h 177"/>
                <a:gd name="T14" fmla="*/ 0 w 905"/>
                <a:gd name="T15" fmla="*/ 0 h 177"/>
                <a:gd name="T16" fmla="*/ 0 w 905"/>
                <a:gd name="T17" fmla="*/ 0 h 177"/>
                <a:gd name="T18" fmla="*/ 0 w 905"/>
                <a:gd name="T19" fmla="*/ 0 h 177"/>
                <a:gd name="T20" fmla="*/ 0 w 905"/>
                <a:gd name="T21" fmla="*/ 0 h 177"/>
                <a:gd name="T22" fmla="*/ 0 w 905"/>
                <a:gd name="T23" fmla="*/ 0 h 177"/>
                <a:gd name="T24" fmla="*/ 0 w 905"/>
                <a:gd name="T25" fmla="*/ 0 h 177"/>
                <a:gd name="T26" fmla="*/ 0 w 905"/>
                <a:gd name="T27" fmla="*/ 0 h 177"/>
                <a:gd name="T28" fmla="*/ 0 w 905"/>
                <a:gd name="T29" fmla="*/ 0 h 177"/>
                <a:gd name="T30" fmla="*/ 0 w 905"/>
                <a:gd name="T31" fmla="*/ 0 h 177"/>
                <a:gd name="T32" fmla="*/ 0 w 905"/>
                <a:gd name="T33" fmla="*/ 0 h 177"/>
                <a:gd name="T34" fmla="*/ 0 w 905"/>
                <a:gd name="T35" fmla="*/ 0 h 177"/>
                <a:gd name="T36" fmla="*/ 0 w 905"/>
                <a:gd name="T37" fmla="*/ 0 h 177"/>
                <a:gd name="T38" fmla="*/ 0 w 905"/>
                <a:gd name="T39" fmla="*/ 0 h 177"/>
                <a:gd name="T40" fmla="*/ 0 w 905"/>
                <a:gd name="T41" fmla="*/ 0 h 177"/>
                <a:gd name="T42" fmla="*/ 0 w 905"/>
                <a:gd name="T43" fmla="*/ 0 h 177"/>
                <a:gd name="T44" fmla="*/ 0 w 905"/>
                <a:gd name="T45" fmla="*/ 0 h 177"/>
                <a:gd name="T46" fmla="*/ 0 w 905"/>
                <a:gd name="T47" fmla="*/ 0 h 177"/>
                <a:gd name="T48" fmla="*/ 0 w 905"/>
                <a:gd name="T49" fmla="*/ 0 h 177"/>
                <a:gd name="T50" fmla="*/ 0 w 905"/>
                <a:gd name="T51" fmla="*/ 0 h 177"/>
                <a:gd name="T52" fmla="*/ 0 w 905"/>
                <a:gd name="T53" fmla="*/ 0 h 177"/>
                <a:gd name="T54" fmla="*/ 0 w 905"/>
                <a:gd name="T55" fmla="*/ 0 h 177"/>
                <a:gd name="T56" fmla="*/ 0 w 905"/>
                <a:gd name="T57" fmla="*/ 0 h 177"/>
                <a:gd name="T58" fmla="*/ 0 w 905"/>
                <a:gd name="T59" fmla="*/ 0 h 177"/>
                <a:gd name="T60" fmla="*/ 0 w 905"/>
                <a:gd name="T61" fmla="*/ 0 h 177"/>
                <a:gd name="T62" fmla="*/ 0 w 905"/>
                <a:gd name="T63" fmla="*/ 0 h 177"/>
                <a:gd name="T64" fmla="*/ 0 w 905"/>
                <a:gd name="T65" fmla="*/ 0 h 177"/>
                <a:gd name="T66" fmla="*/ 0 w 905"/>
                <a:gd name="T67" fmla="*/ 0 h 177"/>
                <a:gd name="T68" fmla="*/ 0 w 905"/>
                <a:gd name="T69" fmla="*/ 0 h 17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905"/>
                <a:gd name="T106" fmla="*/ 0 h 177"/>
                <a:gd name="T107" fmla="*/ 905 w 905"/>
                <a:gd name="T108" fmla="*/ 177 h 17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905" h="177">
                  <a:moveTo>
                    <a:pt x="905" y="33"/>
                  </a:moveTo>
                  <a:lnTo>
                    <a:pt x="892" y="35"/>
                  </a:lnTo>
                  <a:lnTo>
                    <a:pt x="878" y="38"/>
                  </a:lnTo>
                  <a:lnTo>
                    <a:pt x="864" y="41"/>
                  </a:lnTo>
                  <a:lnTo>
                    <a:pt x="850" y="44"/>
                  </a:lnTo>
                  <a:lnTo>
                    <a:pt x="834" y="44"/>
                  </a:lnTo>
                  <a:lnTo>
                    <a:pt x="821" y="46"/>
                  </a:lnTo>
                  <a:lnTo>
                    <a:pt x="807" y="46"/>
                  </a:lnTo>
                  <a:lnTo>
                    <a:pt x="793" y="46"/>
                  </a:lnTo>
                  <a:lnTo>
                    <a:pt x="788" y="46"/>
                  </a:lnTo>
                  <a:lnTo>
                    <a:pt x="779" y="49"/>
                  </a:lnTo>
                  <a:lnTo>
                    <a:pt x="772" y="55"/>
                  </a:lnTo>
                  <a:lnTo>
                    <a:pt x="763" y="57"/>
                  </a:lnTo>
                  <a:lnTo>
                    <a:pt x="0" y="177"/>
                  </a:lnTo>
                  <a:lnTo>
                    <a:pt x="0" y="169"/>
                  </a:lnTo>
                  <a:lnTo>
                    <a:pt x="0" y="161"/>
                  </a:lnTo>
                  <a:lnTo>
                    <a:pt x="0" y="152"/>
                  </a:lnTo>
                  <a:lnTo>
                    <a:pt x="0" y="141"/>
                  </a:lnTo>
                  <a:lnTo>
                    <a:pt x="55" y="134"/>
                  </a:lnTo>
                  <a:lnTo>
                    <a:pt x="112" y="122"/>
                  </a:lnTo>
                  <a:lnTo>
                    <a:pt x="169" y="115"/>
                  </a:lnTo>
                  <a:lnTo>
                    <a:pt x="223" y="106"/>
                  </a:lnTo>
                  <a:lnTo>
                    <a:pt x="281" y="95"/>
                  </a:lnTo>
                  <a:lnTo>
                    <a:pt x="335" y="87"/>
                  </a:lnTo>
                  <a:lnTo>
                    <a:pt x="393" y="79"/>
                  </a:lnTo>
                  <a:lnTo>
                    <a:pt x="450" y="71"/>
                  </a:lnTo>
                  <a:lnTo>
                    <a:pt x="507" y="60"/>
                  </a:lnTo>
                  <a:lnTo>
                    <a:pt x="561" y="51"/>
                  </a:lnTo>
                  <a:lnTo>
                    <a:pt x="619" y="44"/>
                  </a:lnTo>
                  <a:lnTo>
                    <a:pt x="676" y="35"/>
                  </a:lnTo>
                  <a:lnTo>
                    <a:pt x="733" y="28"/>
                  </a:lnTo>
                  <a:lnTo>
                    <a:pt x="791" y="16"/>
                  </a:lnTo>
                  <a:lnTo>
                    <a:pt x="848" y="8"/>
                  </a:lnTo>
                  <a:lnTo>
                    <a:pt x="905" y="0"/>
                  </a:lnTo>
                  <a:lnTo>
                    <a:pt x="905" y="33"/>
                  </a:lnTo>
                  <a:close/>
                </a:path>
              </a:pathLst>
            </a:custGeom>
            <a:solidFill>
              <a:srgbClr val="FF3FB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8" name="Freeform 340">
              <a:extLst>
                <a:ext uri="{FF2B5EF4-FFF2-40B4-BE49-F238E27FC236}">
                  <a16:creationId xmlns:a16="http://schemas.microsoft.com/office/drawing/2014/main" id="{CAF85192-8620-064B-AFDB-D77BBE609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2684" y="2244"/>
              <a:ext cx="6" cy="32"/>
            </a:xfrm>
            <a:custGeom>
              <a:avLst/>
              <a:gdLst>
                <a:gd name="T0" fmla="*/ 0 w 27"/>
                <a:gd name="T1" fmla="*/ 0 h 128"/>
                <a:gd name="T2" fmla="*/ 0 w 27"/>
                <a:gd name="T3" fmla="*/ 0 h 128"/>
                <a:gd name="T4" fmla="*/ 0 w 27"/>
                <a:gd name="T5" fmla="*/ 0 h 128"/>
                <a:gd name="T6" fmla="*/ 0 w 27"/>
                <a:gd name="T7" fmla="*/ 0 h 128"/>
                <a:gd name="T8" fmla="*/ 0 w 27"/>
                <a:gd name="T9" fmla="*/ 0 h 128"/>
                <a:gd name="T10" fmla="*/ 0 w 27"/>
                <a:gd name="T11" fmla="*/ 0 h 128"/>
                <a:gd name="T12" fmla="*/ 0 w 27"/>
                <a:gd name="T13" fmla="*/ 0 h 128"/>
                <a:gd name="T14" fmla="*/ 0 w 27"/>
                <a:gd name="T15" fmla="*/ 0 h 128"/>
                <a:gd name="T16" fmla="*/ 0 w 27"/>
                <a:gd name="T17" fmla="*/ 0 h 128"/>
                <a:gd name="T18" fmla="*/ 0 w 27"/>
                <a:gd name="T19" fmla="*/ 0 h 128"/>
                <a:gd name="T20" fmla="*/ 0 w 27"/>
                <a:gd name="T21" fmla="*/ 0 h 128"/>
                <a:gd name="T22" fmla="*/ 0 w 27"/>
                <a:gd name="T23" fmla="*/ 0 h 128"/>
                <a:gd name="T24" fmla="*/ 0 w 27"/>
                <a:gd name="T25" fmla="*/ 0 h 128"/>
                <a:gd name="T26" fmla="*/ 0 w 27"/>
                <a:gd name="T27" fmla="*/ 0 h 128"/>
                <a:gd name="T28" fmla="*/ 0 w 27"/>
                <a:gd name="T29" fmla="*/ 0 h 128"/>
                <a:gd name="T30" fmla="*/ 0 w 27"/>
                <a:gd name="T31" fmla="*/ 0 h 128"/>
                <a:gd name="T32" fmla="*/ 0 w 27"/>
                <a:gd name="T33" fmla="*/ 0 h 128"/>
                <a:gd name="T34" fmla="*/ 0 w 27"/>
                <a:gd name="T35" fmla="*/ 0 h 128"/>
                <a:gd name="T36" fmla="*/ 0 w 27"/>
                <a:gd name="T37" fmla="*/ 0 h 128"/>
                <a:gd name="T38" fmla="*/ 0 w 27"/>
                <a:gd name="T39" fmla="*/ 0 h 128"/>
                <a:gd name="T40" fmla="*/ 0 w 27"/>
                <a:gd name="T41" fmla="*/ 0 h 128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27"/>
                <a:gd name="T64" fmla="*/ 0 h 128"/>
                <a:gd name="T65" fmla="*/ 27 w 27"/>
                <a:gd name="T66" fmla="*/ 128 h 128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27" h="128">
                  <a:moveTo>
                    <a:pt x="19" y="8"/>
                  </a:moveTo>
                  <a:lnTo>
                    <a:pt x="16" y="36"/>
                  </a:lnTo>
                  <a:lnTo>
                    <a:pt x="19" y="60"/>
                  </a:lnTo>
                  <a:lnTo>
                    <a:pt x="21" y="87"/>
                  </a:lnTo>
                  <a:lnTo>
                    <a:pt x="19" y="114"/>
                  </a:lnTo>
                  <a:lnTo>
                    <a:pt x="21" y="114"/>
                  </a:lnTo>
                  <a:lnTo>
                    <a:pt x="25" y="117"/>
                  </a:lnTo>
                  <a:lnTo>
                    <a:pt x="27" y="123"/>
                  </a:lnTo>
                  <a:lnTo>
                    <a:pt x="25" y="128"/>
                  </a:lnTo>
                  <a:lnTo>
                    <a:pt x="19" y="128"/>
                  </a:lnTo>
                  <a:lnTo>
                    <a:pt x="14" y="128"/>
                  </a:lnTo>
                  <a:lnTo>
                    <a:pt x="9" y="126"/>
                  </a:lnTo>
                  <a:lnTo>
                    <a:pt x="3" y="123"/>
                  </a:lnTo>
                  <a:lnTo>
                    <a:pt x="3" y="93"/>
                  </a:lnTo>
                  <a:lnTo>
                    <a:pt x="3" y="66"/>
                  </a:lnTo>
                  <a:lnTo>
                    <a:pt x="3" y="38"/>
                  </a:lnTo>
                  <a:lnTo>
                    <a:pt x="0" y="8"/>
                  </a:lnTo>
                  <a:lnTo>
                    <a:pt x="3" y="3"/>
                  </a:lnTo>
                  <a:lnTo>
                    <a:pt x="9" y="0"/>
                  </a:lnTo>
                  <a:lnTo>
                    <a:pt x="14" y="3"/>
                  </a:lnTo>
                  <a:lnTo>
                    <a:pt x="19" y="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9" name="Freeform 341">
              <a:extLst>
                <a:ext uri="{FF2B5EF4-FFF2-40B4-BE49-F238E27FC236}">
                  <a16:creationId xmlns:a16="http://schemas.microsoft.com/office/drawing/2014/main" id="{AE82EF22-B029-E946-BA4C-3C91030199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1" y="2265"/>
              <a:ext cx="430" cy="73"/>
            </a:xfrm>
            <a:custGeom>
              <a:avLst/>
              <a:gdLst>
                <a:gd name="T0" fmla="*/ 0 w 1720"/>
                <a:gd name="T1" fmla="*/ 0 h 292"/>
                <a:gd name="T2" fmla="*/ 0 w 1720"/>
                <a:gd name="T3" fmla="*/ 0 h 292"/>
                <a:gd name="T4" fmla="*/ 0 w 1720"/>
                <a:gd name="T5" fmla="*/ 0 h 292"/>
                <a:gd name="T6" fmla="*/ 0 w 1720"/>
                <a:gd name="T7" fmla="*/ 0 h 292"/>
                <a:gd name="T8" fmla="*/ 0 w 1720"/>
                <a:gd name="T9" fmla="*/ 0 h 292"/>
                <a:gd name="T10" fmla="*/ 0 w 1720"/>
                <a:gd name="T11" fmla="*/ 0 h 292"/>
                <a:gd name="T12" fmla="*/ 0 w 1720"/>
                <a:gd name="T13" fmla="*/ 0 h 292"/>
                <a:gd name="T14" fmla="*/ 0 w 1720"/>
                <a:gd name="T15" fmla="*/ 0 h 292"/>
                <a:gd name="T16" fmla="*/ 0 w 1720"/>
                <a:gd name="T17" fmla="*/ 0 h 292"/>
                <a:gd name="T18" fmla="*/ 0 w 1720"/>
                <a:gd name="T19" fmla="*/ 0 h 292"/>
                <a:gd name="T20" fmla="*/ 0 w 1720"/>
                <a:gd name="T21" fmla="*/ 0 h 292"/>
                <a:gd name="T22" fmla="*/ 0 w 1720"/>
                <a:gd name="T23" fmla="*/ 0 h 292"/>
                <a:gd name="T24" fmla="*/ 0 w 1720"/>
                <a:gd name="T25" fmla="*/ 0 h 292"/>
                <a:gd name="T26" fmla="*/ 0 w 1720"/>
                <a:gd name="T27" fmla="*/ 0 h 292"/>
                <a:gd name="T28" fmla="*/ 0 w 1720"/>
                <a:gd name="T29" fmla="*/ 0 h 292"/>
                <a:gd name="T30" fmla="*/ 0 w 1720"/>
                <a:gd name="T31" fmla="*/ 0 h 292"/>
                <a:gd name="T32" fmla="*/ 0 w 1720"/>
                <a:gd name="T33" fmla="*/ 0 h 292"/>
                <a:gd name="T34" fmla="*/ 0 w 1720"/>
                <a:gd name="T35" fmla="*/ 0 h 292"/>
                <a:gd name="T36" fmla="*/ 0 w 1720"/>
                <a:gd name="T37" fmla="*/ 0 h 292"/>
                <a:gd name="T38" fmla="*/ 0 w 1720"/>
                <a:gd name="T39" fmla="*/ 0 h 292"/>
                <a:gd name="T40" fmla="*/ 0 w 1720"/>
                <a:gd name="T41" fmla="*/ 0 h 292"/>
                <a:gd name="T42" fmla="*/ 0 w 1720"/>
                <a:gd name="T43" fmla="*/ 0 h 292"/>
                <a:gd name="T44" fmla="*/ 0 w 1720"/>
                <a:gd name="T45" fmla="*/ 0 h 292"/>
                <a:gd name="T46" fmla="*/ 0 w 1720"/>
                <a:gd name="T47" fmla="*/ 0 h 292"/>
                <a:gd name="T48" fmla="*/ 0 w 1720"/>
                <a:gd name="T49" fmla="*/ 0 h 292"/>
                <a:gd name="T50" fmla="*/ 0 w 1720"/>
                <a:gd name="T51" fmla="*/ 0 h 292"/>
                <a:gd name="T52" fmla="*/ 0 w 1720"/>
                <a:gd name="T53" fmla="*/ 0 h 292"/>
                <a:gd name="T54" fmla="*/ 0 w 1720"/>
                <a:gd name="T55" fmla="*/ 0 h 292"/>
                <a:gd name="T56" fmla="*/ 0 w 1720"/>
                <a:gd name="T57" fmla="*/ 0 h 292"/>
                <a:gd name="T58" fmla="*/ 0 w 1720"/>
                <a:gd name="T59" fmla="*/ 0 h 292"/>
                <a:gd name="T60" fmla="*/ 0 w 1720"/>
                <a:gd name="T61" fmla="*/ 0 h 292"/>
                <a:gd name="T62" fmla="*/ 0 w 1720"/>
                <a:gd name="T63" fmla="*/ 0 h 292"/>
                <a:gd name="T64" fmla="*/ 0 w 1720"/>
                <a:gd name="T65" fmla="*/ 0 h 292"/>
                <a:gd name="T66" fmla="*/ 0 w 1720"/>
                <a:gd name="T67" fmla="*/ 0 h 292"/>
                <a:gd name="T68" fmla="*/ 0 w 1720"/>
                <a:gd name="T69" fmla="*/ 0 h 292"/>
                <a:gd name="T70" fmla="*/ 0 w 1720"/>
                <a:gd name="T71" fmla="*/ 0 h 292"/>
                <a:gd name="T72" fmla="*/ 0 w 1720"/>
                <a:gd name="T73" fmla="*/ 0 h 292"/>
                <a:gd name="T74" fmla="*/ 0 w 1720"/>
                <a:gd name="T75" fmla="*/ 0 h 292"/>
                <a:gd name="T76" fmla="*/ 0 w 1720"/>
                <a:gd name="T77" fmla="*/ 0 h 292"/>
                <a:gd name="T78" fmla="*/ 0 w 1720"/>
                <a:gd name="T79" fmla="*/ 0 h 292"/>
                <a:gd name="T80" fmla="*/ 0 w 1720"/>
                <a:gd name="T81" fmla="*/ 0 h 292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w 1720"/>
                <a:gd name="T124" fmla="*/ 0 h 292"/>
                <a:gd name="T125" fmla="*/ 1720 w 1720"/>
                <a:gd name="T126" fmla="*/ 292 h 292"/>
              </a:gdLst>
              <a:ahLst/>
              <a:cxnLst>
                <a:cxn ang="T82">
                  <a:pos x="T0" y="T1"/>
                </a:cxn>
                <a:cxn ang="T83">
                  <a:pos x="T2" y="T3"/>
                </a:cxn>
                <a:cxn ang="T84">
                  <a:pos x="T4" y="T5"/>
                </a:cxn>
                <a:cxn ang="T85">
                  <a:pos x="T6" y="T7"/>
                </a:cxn>
                <a:cxn ang="T86">
                  <a:pos x="T8" y="T9"/>
                </a:cxn>
                <a:cxn ang="T87">
                  <a:pos x="T10" y="T11"/>
                </a:cxn>
                <a:cxn ang="T88">
                  <a:pos x="T12" y="T13"/>
                </a:cxn>
                <a:cxn ang="T89">
                  <a:pos x="T14" y="T15"/>
                </a:cxn>
                <a:cxn ang="T90">
                  <a:pos x="T16" y="T17"/>
                </a:cxn>
                <a:cxn ang="T91">
                  <a:pos x="T18" y="T19"/>
                </a:cxn>
                <a:cxn ang="T92">
                  <a:pos x="T20" y="T21"/>
                </a:cxn>
                <a:cxn ang="T93">
                  <a:pos x="T22" y="T23"/>
                </a:cxn>
                <a:cxn ang="T94">
                  <a:pos x="T24" y="T25"/>
                </a:cxn>
                <a:cxn ang="T95">
                  <a:pos x="T26" y="T27"/>
                </a:cxn>
                <a:cxn ang="T96">
                  <a:pos x="T28" y="T29"/>
                </a:cxn>
                <a:cxn ang="T97">
                  <a:pos x="T30" y="T31"/>
                </a:cxn>
                <a:cxn ang="T98">
                  <a:pos x="T32" y="T33"/>
                </a:cxn>
                <a:cxn ang="T99">
                  <a:pos x="T34" y="T35"/>
                </a:cxn>
                <a:cxn ang="T100">
                  <a:pos x="T36" y="T37"/>
                </a:cxn>
                <a:cxn ang="T101">
                  <a:pos x="T38" y="T39"/>
                </a:cxn>
                <a:cxn ang="T102">
                  <a:pos x="T40" y="T41"/>
                </a:cxn>
                <a:cxn ang="T103">
                  <a:pos x="T42" y="T43"/>
                </a:cxn>
                <a:cxn ang="T104">
                  <a:pos x="T44" y="T45"/>
                </a:cxn>
                <a:cxn ang="T105">
                  <a:pos x="T46" y="T47"/>
                </a:cxn>
                <a:cxn ang="T106">
                  <a:pos x="T48" y="T49"/>
                </a:cxn>
                <a:cxn ang="T107">
                  <a:pos x="T50" y="T51"/>
                </a:cxn>
                <a:cxn ang="T108">
                  <a:pos x="T52" y="T53"/>
                </a:cxn>
                <a:cxn ang="T109">
                  <a:pos x="T54" y="T55"/>
                </a:cxn>
                <a:cxn ang="T110">
                  <a:pos x="T56" y="T57"/>
                </a:cxn>
                <a:cxn ang="T111">
                  <a:pos x="T58" y="T59"/>
                </a:cxn>
                <a:cxn ang="T112">
                  <a:pos x="T60" y="T61"/>
                </a:cxn>
                <a:cxn ang="T113">
                  <a:pos x="T62" y="T63"/>
                </a:cxn>
                <a:cxn ang="T114">
                  <a:pos x="T64" y="T65"/>
                </a:cxn>
                <a:cxn ang="T115">
                  <a:pos x="T66" y="T67"/>
                </a:cxn>
                <a:cxn ang="T116">
                  <a:pos x="T68" y="T69"/>
                </a:cxn>
                <a:cxn ang="T117">
                  <a:pos x="T70" y="T71"/>
                </a:cxn>
                <a:cxn ang="T118">
                  <a:pos x="T72" y="T73"/>
                </a:cxn>
                <a:cxn ang="T119">
                  <a:pos x="T74" y="T75"/>
                </a:cxn>
                <a:cxn ang="T120">
                  <a:pos x="T76" y="T77"/>
                </a:cxn>
                <a:cxn ang="T121">
                  <a:pos x="T78" y="T79"/>
                </a:cxn>
                <a:cxn ang="T122">
                  <a:pos x="T80" y="T81"/>
                </a:cxn>
              </a:cxnLst>
              <a:rect l="T123" t="T124" r="T125" b="T126"/>
              <a:pathLst>
                <a:path w="1720" h="292">
                  <a:moveTo>
                    <a:pt x="1720" y="16"/>
                  </a:moveTo>
                  <a:lnTo>
                    <a:pt x="1665" y="27"/>
                  </a:lnTo>
                  <a:lnTo>
                    <a:pt x="1614" y="35"/>
                  </a:lnTo>
                  <a:lnTo>
                    <a:pt x="1559" y="44"/>
                  </a:lnTo>
                  <a:lnTo>
                    <a:pt x="1508" y="51"/>
                  </a:lnTo>
                  <a:lnTo>
                    <a:pt x="1453" y="62"/>
                  </a:lnTo>
                  <a:lnTo>
                    <a:pt x="1401" y="71"/>
                  </a:lnTo>
                  <a:lnTo>
                    <a:pt x="1347" y="79"/>
                  </a:lnTo>
                  <a:lnTo>
                    <a:pt x="1295" y="87"/>
                  </a:lnTo>
                  <a:lnTo>
                    <a:pt x="1240" y="95"/>
                  </a:lnTo>
                  <a:lnTo>
                    <a:pt x="1186" y="103"/>
                  </a:lnTo>
                  <a:lnTo>
                    <a:pt x="1134" y="115"/>
                  </a:lnTo>
                  <a:lnTo>
                    <a:pt x="1079" y="122"/>
                  </a:lnTo>
                  <a:lnTo>
                    <a:pt x="1028" y="131"/>
                  </a:lnTo>
                  <a:lnTo>
                    <a:pt x="973" y="142"/>
                  </a:lnTo>
                  <a:lnTo>
                    <a:pt x="922" y="150"/>
                  </a:lnTo>
                  <a:lnTo>
                    <a:pt x="867" y="161"/>
                  </a:lnTo>
                  <a:lnTo>
                    <a:pt x="818" y="168"/>
                  </a:lnTo>
                  <a:lnTo>
                    <a:pt x="766" y="177"/>
                  </a:lnTo>
                  <a:lnTo>
                    <a:pt x="717" y="186"/>
                  </a:lnTo>
                  <a:lnTo>
                    <a:pt x="665" y="193"/>
                  </a:lnTo>
                  <a:lnTo>
                    <a:pt x="616" y="202"/>
                  </a:lnTo>
                  <a:lnTo>
                    <a:pt x="564" y="210"/>
                  </a:lnTo>
                  <a:lnTo>
                    <a:pt x="516" y="218"/>
                  </a:lnTo>
                  <a:lnTo>
                    <a:pt x="463" y="226"/>
                  </a:lnTo>
                  <a:lnTo>
                    <a:pt x="415" y="234"/>
                  </a:lnTo>
                  <a:lnTo>
                    <a:pt x="363" y="242"/>
                  </a:lnTo>
                  <a:lnTo>
                    <a:pt x="314" y="251"/>
                  </a:lnTo>
                  <a:lnTo>
                    <a:pt x="262" y="259"/>
                  </a:lnTo>
                  <a:lnTo>
                    <a:pt x="213" y="267"/>
                  </a:lnTo>
                  <a:lnTo>
                    <a:pt x="161" y="275"/>
                  </a:lnTo>
                  <a:lnTo>
                    <a:pt x="113" y="283"/>
                  </a:lnTo>
                  <a:lnTo>
                    <a:pt x="60" y="292"/>
                  </a:lnTo>
                  <a:lnTo>
                    <a:pt x="47" y="246"/>
                  </a:lnTo>
                  <a:lnTo>
                    <a:pt x="30" y="202"/>
                  </a:lnTo>
                  <a:lnTo>
                    <a:pt x="14" y="156"/>
                  </a:lnTo>
                  <a:lnTo>
                    <a:pt x="0" y="112"/>
                  </a:lnTo>
                  <a:lnTo>
                    <a:pt x="60" y="172"/>
                  </a:lnTo>
                  <a:lnTo>
                    <a:pt x="72" y="172"/>
                  </a:lnTo>
                  <a:lnTo>
                    <a:pt x="82" y="177"/>
                  </a:lnTo>
                  <a:lnTo>
                    <a:pt x="90" y="188"/>
                  </a:lnTo>
                  <a:lnTo>
                    <a:pt x="104" y="193"/>
                  </a:lnTo>
                  <a:lnTo>
                    <a:pt x="235" y="166"/>
                  </a:lnTo>
                  <a:lnTo>
                    <a:pt x="279" y="161"/>
                  </a:lnTo>
                  <a:lnTo>
                    <a:pt x="320" y="152"/>
                  </a:lnTo>
                  <a:lnTo>
                    <a:pt x="363" y="147"/>
                  </a:lnTo>
                  <a:lnTo>
                    <a:pt x="403" y="138"/>
                  </a:lnTo>
                  <a:lnTo>
                    <a:pt x="444" y="133"/>
                  </a:lnTo>
                  <a:lnTo>
                    <a:pt x="488" y="125"/>
                  </a:lnTo>
                  <a:lnTo>
                    <a:pt x="529" y="120"/>
                  </a:lnTo>
                  <a:lnTo>
                    <a:pt x="573" y="115"/>
                  </a:lnTo>
                  <a:lnTo>
                    <a:pt x="614" y="106"/>
                  </a:lnTo>
                  <a:lnTo>
                    <a:pt x="655" y="101"/>
                  </a:lnTo>
                  <a:lnTo>
                    <a:pt x="699" y="95"/>
                  </a:lnTo>
                  <a:lnTo>
                    <a:pt x="739" y="87"/>
                  </a:lnTo>
                  <a:lnTo>
                    <a:pt x="780" y="82"/>
                  </a:lnTo>
                  <a:lnTo>
                    <a:pt x="824" y="76"/>
                  </a:lnTo>
                  <a:lnTo>
                    <a:pt x="865" y="68"/>
                  </a:lnTo>
                  <a:lnTo>
                    <a:pt x="908" y="62"/>
                  </a:lnTo>
                  <a:lnTo>
                    <a:pt x="913" y="79"/>
                  </a:lnTo>
                  <a:lnTo>
                    <a:pt x="922" y="92"/>
                  </a:lnTo>
                  <a:lnTo>
                    <a:pt x="930" y="106"/>
                  </a:lnTo>
                  <a:lnTo>
                    <a:pt x="941" y="117"/>
                  </a:lnTo>
                  <a:lnTo>
                    <a:pt x="987" y="109"/>
                  </a:lnTo>
                  <a:lnTo>
                    <a:pt x="1033" y="101"/>
                  </a:lnTo>
                  <a:lnTo>
                    <a:pt x="1079" y="92"/>
                  </a:lnTo>
                  <a:lnTo>
                    <a:pt x="1126" y="85"/>
                  </a:lnTo>
                  <a:lnTo>
                    <a:pt x="1175" y="79"/>
                  </a:lnTo>
                  <a:lnTo>
                    <a:pt x="1221" y="71"/>
                  </a:lnTo>
                  <a:lnTo>
                    <a:pt x="1268" y="62"/>
                  </a:lnTo>
                  <a:lnTo>
                    <a:pt x="1315" y="57"/>
                  </a:lnTo>
                  <a:lnTo>
                    <a:pt x="1361" y="49"/>
                  </a:lnTo>
                  <a:lnTo>
                    <a:pt x="1410" y="44"/>
                  </a:lnTo>
                  <a:lnTo>
                    <a:pt x="1456" y="39"/>
                  </a:lnTo>
                  <a:lnTo>
                    <a:pt x="1502" y="30"/>
                  </a:lnTo>
                  <a:lnTo>
                    <a:pt x="1548" y="25"/>
                  </a:lnTo>
                  <a:lnTo>
                    <a:pt x="1598" y="16"/>
                  </a:lnTo>
                  <a:lnTo>
                    <a:pt x="1644" y="11"/>
                  </a:lnTo>
                  <a:lnTo>
                    <a:pt x="1690" y="3"/>
                  </a:lnTo>
                  <a:lnTo>
                    <a:pt x="1701" y="0"/>
                  </a:lnTo>
                  <a:lnTo>
                    <a:pt x="1709" y="3"/>
                  </a:lnTo>
                  <a:lnTo>
                    <a:pt x="1715" y="9"/>
                  </a:lnTo>
                  <a:lnTo>
                    <a:pt x="1720" y="16"/>
                  </a:lnTo>
                  <a:close/>
                </a:path>
              </a:pathLst>
            </a:custGeom>
            <a:solidFill>
              <a:srgbClr val="3FFF3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0" name="Freeform 342">
              <a:extLst>
                <a:ext uri="{FF2B5EF4-FFF2-40B4-BE49-F238E27FC236}">
                  <a16:creationId xmlns:a16="http://schemas.microsoft.com/office/drawing/2014/main" id="{A816D52A-C095-6E44-818A-5AA4B668C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7" y="2273"/>
              <a:ext cx="427" cy="96"/>
            </a:xfrm>
            <a:custGeom>
              <a:avLst/>
              <a:gdLst>
                <a:gd name="T0" fmla="*/ 0 w 1710"/>
                <a:gd name="T1" fmla="*/ 0 h 385"/>
                <a:gd name="T2" fmla="*/ 0 w 1710"/>
                <a:gd name="T3" fmla="*/ 0 h 385"/>
                <a:gd name="T4" fmla="*/ 0 w 1710"/>
                <a:gd name="T5" fmla="*/ 0 h 385"/>
                <a:gd name="T6" fmla="*/ 0 w 1710"/>
                <a:gd name="T7" fmla="*/ 0 h 385"/>
                <a:gd name="T8" fmla="*/ 0 w 1710"/>
                <a:gd name="T9" fmla="*/ 0 h 385"/>
                <a:gd name="T10" fmla="*/ 0 w 1710"/>
                <a:gd name="T11" fmla="*/ 0 h 385"/>
                <a:gd name="T12" fmla="*/ 0 w 1710"/>
                <a:gd name="T13" fmla="*/ 0 h 385"/>
                <a:gd name="T14" fmla="*/ 0 w 1710"/>
                <a:gd name="T15" fmla="*/ 0 h 385"/>
                <a:gd name="T16" fmla="*/ 0 w 1710"/>
                <a:gd name="T17" fmla="*/ 0 h 385"/>
                <a:gd name="T18" fmla="*/ 0 w 1710"/>
                <a:gd name="T19" fmla="*/ 0 h 385"/>
                <a:gd name="T20" fmla="*/ 0 w 1710"/>
                <a:gd name="T21" fmla="*/ 0 h 385"/>
                <a:gd name="T22" fmla="*/ 0 w 1710"/>
                <a:gd name="T23" fmla="*/ 0 h 385"/>
                <a:gd name="T24" fmla="*/ 0 w 1710"/>
                <a:gd name="T25" fmla="*/ 0 h 385"/>
                <a:gd name="T26" fmla="*/ 0 w 1710"/>
                <a:gd name="T27" fmla="*/ 0 h 385"/>
                <a:gd name="T28" fmla="*/ 0 w 1710"/>
                <a:gd name="T29" fmla="*/ 0 h 385"/>
                <a:gd name="T30" fmla="*/ 0 w 1710"/>
                <a:gd name="T31" fmla="*/ 0 h 385"/>
                <a:gd name="T32" fmla="*/ 0 w 1710"/>
                <a:gd name="T33" fmla="*/ 0 h 385"/>
                <a:gd name="T34" fmla="*/ 0 w 1710"/>
                <a:gd name="T35" fmla="*/ 0 h 385"/>
                <a:gd name="T36" fmla="*/ 0 w 1710"/>
                <a:gd name="T37" fmla="*/ 0 h 385"/>
                <a:gd name="T38" fmla="*/ 0 w 1710"/>
                <a:gd name="T39" fmla="*/ 0 h 385"/>
                <a:gd name="T40" fmla="*/ 0 w 1710"/>
                <a:gd name="T41" fmla="*/ 0 h 385"/>
                <a:gd name="T42" fmla="*/ 0 w 1710"/>
                <a:gd name="T43" fmla="*/ 0 h 385"/>
                <a:gd name="T44" fmla="*/ 0 w 1710"/>
                <a:gd name="T45" fmla="*/ 0 h 385"/>
                <a:gd name="T46" fmla="*/ 0 w 1710"/>
                <a:gd name="T47" fmla="*/ 0 h 385"/>
                <a:gd name="T48" fmla="*/ 0 w 1710"/>
                <a:gd name="T49" fmla="*/ 0 h 385"/>
                <a:gd name="T50" fmla="*/ 0 w 1710"/>
                <a:gd name="T51" fmla="*/ 0 h 385"/>
                <a:gd name="T52" fmla="*/ 0 w 1710"/>
                <a:gd name="T53" fmla="*/ 0 h 385"/>
                <a:gd name="T54" fmla="*/ 0 w 1710"/>
                <a:gd name="T55" fmla="*/ 0 h 385"/>
                <a:gd name="T56" fmla="*/ 0 w 1710"/>
                <a:gd name="T57" fmla="*/ 0 h 385"/>
                <a:gd name="T58" fmla="*/ 0 w 1710"/>
                <a:gd name="T59" fmla="*/ 0 h 385"/>
                <a:gd name="T60" fmla="*/ 0 w 1710"/>
                <a:gd name="T61" fmla="*/ 0 h 385"/>
                <a:gd name="T62" fmla="*/ 0 w 1710"/>
                <a:gd name="T63" fmla="*/ 0 h 385"/>
                <a:gd name="T64" fmla="*/ 0 w 1710"/>
                <a:gd name="T65" fmla="*/ 0 h 385"/>
                <a:gd name="T66" fmla="*/ 0 w 1710"/>
                <a:gd name="T67" fmla="*/ 0 h 385"/>
                <a:gd name="T68" fmla="*/ 0 w 1710"/>
                <a:gd name="T69" fmla="*/ 0 h 385"/>
                <a:gd name="T70" fmla="*/ 0 w 1710"/>
                <a:gd name="T71" fmla="*/ 0 h 385"/>
                <a:gd name="T72" fmla="*/ 0 w 1710"/>
                <a:gd name="T73" fmla="*/ 0 h 385"/>
                <a:gd name="T74" fmla="*/ 0 w 1710"/>
                <a:gd name="T75" fmla="*/ 0 h 385"/>
                <a:gd name="T76" fmla="*/ 0 w 1710"/>
                <a:gd name="T77" fmla="*/ 0 h 385"/>
                <a:gd name="T78" fmla="*/ 0 w 1710"/>
                <a:gd name="T79" fmla="*/ 0 h 385"/>
                <a:gd name="T80" fmla="*/ 0 w 1710"/>
                <a:gd name="T81" fmla="*/ 0 h 385"/>
                <a:gd name="T82" fmla="*/ 0 w 1710"/>
                <a:gd name="T83" fmla="*/ 0 h 385"/>
                <a:gd name="T84" fmla="*/ 0 w 1710"/>
                <a:gd name="T85" fmla="*/ 0 h 38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w 1710"/>
                <a:gd name="T130" fmla="*/ 0 h 385"/>
                <a:gd name="T131" fmla="*/ 1710 w 1710"/>
                <a:gd name="T132" fmla="*/ 385 h 385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T129" t="T130" r="T131" b="T132"/>
              <a:pathLst>
                <a:path w="1710" h="385">
                  <a:moveTo>
                    <a:pt x="1666" y="14"/>
                  </a:moveTo>
                  <a:lnTo>
                    <a:pt x="1680" y="33"/>
                  </a:lnTo>
                  <a:lnTo>
                    <a:pt x="1694" y="55"/>
                  </a:lnTo>
                  <a:lnTo>
                    <a:pt x="1705" y="77"/>
                  </a:lnTo>
                  <a:lnTo>
                    <a:pt x="1710" y="104"/>
                  </a:lnTo>
                  <a:lnTo>
                    <a:pt x="1606" y="124"/>
                  </a:lnTo>
                  <a:lnTo>
                    <a:pt x="1503" y="140"/>
                  </a:lnTo>
                  <a:lnTo>
                    <a:pt x="1399" y="159"/>
                  </a:lnTo>
                  <a:lnTo>
                    <a:pt x="1296" y="175"/>
                  </a:lnTo>
                  <a:lnTo>
                    <a:pt x="1192" y="194"/>
                  </a:lnTo>
                  <a:lnTo>
                    <a:pt x="1089" y="210"/>
                  </a:lnTo>
                  <a:lnTo>
                    <a:pt x="984" y="230"/>
                  </a:lnTo>
                  <a:lnTo>
                    <a:pt x="881" y="246"/>
                  </a:lnTo>
                  <a:lnTo>
                    <a:pt x="777" y="265"/>
                  </a:lnTo>
                  <a:lnTo>
                    <a:pt x="674" y="281"/>
                  </a:lnTo>
                  <a:lnTo>
                    <a:pt x="570" y="301"/>
                  </a:lnTo>
                  <a:lnTo>
                    <a:pt x="467" y="317"/>
                  </a:lnTo>
                  <a:lnTo>
                    <a:pt x="363" y="333"/>
                  </a:lnTo>
                  <a:lnTo>
                    <a:pt x="257" y="352"/>
                  </a:lnTo>
                  <a:lnTo>
                    <a:pt x="154" y="368"/>
                  </a:lnTo>
                  <a:lnTo>
                    <a:pt x="50" y="385"/>
                  </a:lnTo>
                  <a:lnTo>
                    <a:pt x="48" y="385"/>
                  </a:lnTo>
                  <a:lnTo>
                    <a:pt x="44" y="382"/>
                  </a:lnTo>
                  <a:lnTo>
                    <a:pt x="42" y="379"/>
                  </a:lnTo>
                  <a:lnTo>
                    <a:pt x="39" y="374"/>
                  </a:lnTo>
                  <a:lnTo>
                    <a:pt x="0" y="276"/>
                  </a:lnTo>
                  <a:lnTo>
                    <a:pt x="104" y="257"/>
                  </a:lnTo>
                  <a:lnTo>
                    <a:pt x="207" y="240"/>
                  </a:lnTo>
                  <a:lnTo>
                    <a:pt x="315" y="224"/>
                  </a:lnTo>
                  <a:lnTo>
                    <a:pt x="418" y="205"/>
                  </a:lnTo>
                  <a:lnTo>
                    <a:pt x="522" y="189"/>
                  </a:lnTo>
                  <a:lnTo>
                    <a:pt x="625" y="170"/>
                  </a:lnTo>
                  <a:lnTo>
                    <a:pt x="729" y="154"/>
                  </a:lnTo>
                  <a:lnTo>
                    <a:pt x="832" y="136"/>
                  </a:lnTo>
                  <a:lnTo>
                    <a:pt x="936" y="118"/>
                  </a:lnTo>
                  <a:lnTo>
                    <a:pt x="1039" y="101"/>
                  </a:lnTo>
                  <a:lnTo>
                    <a:pt x="1143" y="85"/>
                  </a:lnTo>
                  <a:lnTo>
                    <a:pt x="1246" y="69"/>
                  </a:lnTo>
                  <a:lnTo>
                    <a:pt x="1350" y="53"/>
                  </a:lnTo>
                  <a:lnTo>
                    <a:pt x="1453" y="33"/>
                  </a:lnTo>
                  <a:lnTo>
                    <a:pt x="1558" y="17"/>
                  </a:lnTo>
                  <a:lnTo>
                    <a:pt x="1661" y="0"/>
                  </a:lnTo>
                  <a:lnTo>
                    <a:pt x="1666" y="14"/>
                  </a:lnTo>
                  <a:close/>
                </a:path>
              </a:pathLst>
            </a:custGeom>
            <a:solidFill>
              <a:srgbClr val="FFBF3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1" name="Freeform 343">
              <a:extLst>
                <a:ext uri="{FF2B5EF4-FFF2-40B4-BE49-F238E27FC236}">
                  <a16:creationId xmlns:a16="http://schemas.microsoft.com/office/drawing/2014/main" id="{ACE5A67C-1533-2E4B-90D5-37E7999B55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6" y="2082"/>
              <a:ext cx="65" cy="169"/>
            </a:xfrm>
            <a:custGeom>
              <a:avLst/>
              <a:gdLst>
                <a:gd name="T0" fmla="*/ 0 w 262"/>
                <a:gd name="T1" fmla="*/ 0 h 676"/>
                <a:gd name="T2" fmla="*/ 0 w 262"/>
                <a:gd name="T3" fmla="*/ 0 h 676"/>
                <a:gd name="T4" fmla="*/ 0 w 262"/>
                <a:gd name="T5" fmla="*/ 0 h 676"/>
                <a:gd name="T6" fmla="*/ 0 w 262"/>
                <a:gd name="T7" fmla="*/ 0 h 676"/>
                <a:gd name="T8" fmla="*/ 0 w 262"/>
                <a:gd name="T9" fmla="*/ 0 h 67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676"/>
                <a:gd name="T17" fmla="*/ 262 w 262"/>
                <a:gd name="T18" fmla="*/ 676 h 67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676">
                  <a:moveTo>
                    <a:pt x="11" y="0"/>
                  </a:moveTo>
                  <a:lnTo>
                    <a:pt x="262" y="669"/>
                  </a:lnTo>
                  <a:lnTo>
                    <a:pt x="251" y="676"/>
                  </a:lnTo>
                  <a:lnTo>
                    <a:pt x="0" y="11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2" name="Freeform 344">
              <a:extLst>
                <a:ext uri="{FF2B5EF4-FFF2-40B4-BE49-F238E27FC236}">
                  <a16:creationId xmlns:a16="http://schemas.microsoft.com/office/drawing/2014/main" id="{2E96A203-BD3A-BC4B-8DDB-5B78C384D5E0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1" y="2078"/>
              <a:ext cx="65" cy="168"/>
            </a:xfrm>
            <a:custGeom>
              <a:avLst/>
              <a:gdLst>
                <a:gd name="T0" fmla="*/ 0 w 260"/>
                <a:gd name="T1" fmla="*/ 0 h 675"/>
                <a:gd name="T2" fmla="*/ 0 w 260"/>
                <a:gd name="T3" fmla="*/ 0 h 675"/>
                <a:gd name="T4" fmla="*/ 0 w 260"/>
                <a:gd name="T5" fmla="*/ 0 h 675"/>
                <a:gd name="T6" fmla="*/ 0 w 260"/>
                <a:gd name="T7" fmla="*/ 0 h 675"/>
                <a:gd name="T8" fmla="*/ 0 w 260"/>
                <a:gd name="T9" fmla="*/ 0 h 67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0"/>
                <a:gd name="T16" fmla="*/ 0 h 675"/>
                <a:gd name="T17" fmla="*/ 260 w 260"/>
                <a:gd name="T18" fmla="*/ 675 h 67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0" h="675">
                  <a:moveTo>
                    <a:pt x="8" y="0"/>
                  </a:moveTo>
                  <a:lnTo>
                    <a:pt x="260" y="670"/>
                  </a:lnTo>
                  <a:lnTo>
                    <a:pt x="246" y="675"/>
                  </a:lnTo>
                  <a:lnTo>
                    <a:pt x="0" y="13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3" name="Freeform 345">
              <a:extLst>
                <a:ext uri="{FF2B5EF4-FFF2-40B4-BE49-F238E27FC236}">
                  <a16:creationId xmlns:a16="http://schemas.microsoft.com/office/drawing/2014/main" id="{3617F09C-9662-1C41-BEEA-377F16D243E4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2071"/>
              <a:ext cx="69" cy="168"/>
            </a:xfrm>
            <a:custGeom>
              <a:avLst/>
              <a:gdLst>
                <a:gd name="T0" fmla="*/ 0 w 276"/>
                <a:gd name="T1" fmla="*/ 0 h 670"/>
                <a:gd name="T2" fmla="*/ 0 w 276"/>
                <a:gd name="T3" fmla="*/ 0 h 670"/>
                <a:gd name="T4" fmla="*/ 0 w 276"/>
                <a:gd name="T5" fmla="*/ 0 h 670"/>
                <a:gd name="T6" fmla="*/ 0 w 276"/>
                <a:gd name="T7" fmla="*/ 0 h 670"/>
                <a:gd name="T8" fmla="*/ 0 w 276"/>
                <a:gd name="T9" fmla="*/ 0 h 6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6"/>
                <a:gd name="T16" fmla="*/ 0 h 670"/>
                <a:gd name="T17" fmla="*/ 276 w 276"/>
                <a:gd name="T18" fmla="*/ 670 h 67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6" h="670">
                  <a:moveTo>
                    <a:pt x="9" y="0"/>
                  </a:moveTo>
                  <a:lnTo>
                    <a:pt x="276" y="665"/>
                  </a:lnTo>
                  <a:lnTo>
                    <a:pt x="265" y="670"/>
                  </a:lnTo>
                  <a:lnTo>
                    <a:pt x="0" y="13"/>
                  </a:lnTo>
                  <a:lnTo>
                    <a:pt x="9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4" name="Freeform 346">
              <a:extLst>
                <a:ext uri="{FF2B5EF4-FFF2-40B4-BE49-F238E27FC236}">
                  <a16:creationId xmlns:a16="http://schemas.microsoft.com/office/drawing/2014/main" id="{4BAF9EB5-A62A-0E41-920E-CA8645699BA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5" y="2066"/>
              <a:ext cx="75" cy="158"/>
            </a:xfrm>
            <a:custGeom>
              <a:avLst/>
              <a:gdLst>
                <a:gd name="T0" fmla="*/ 0 w 299"/>
                <a:gd name="T1" fmla="*/ 0 h 633"/>
                <a:gd name="T2" fmla="*/ 0 w 299"/>
                <a:gd name="T3" fmla="*/ 0 h 633"/>
                <a:gd name="T4" fmla="*/ 0 w 299"/>
                <a:gd name="T5" fmla="*/ 0 h 633"/>
                <a:gd name="T6" fmla="*/ 0 w 299"/>
                <a:gd name="T7" fmla="*/ 0 h 633"/>
                <a:gd name="T8" fmla="*/ 0 w 299"/>
                <a:gd name="T9" fmla="*/ 0 h 63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9"/>
                <a:gd name="T16" fmla="*/ 0 h 633"/>
                <a:gd name="T17" fmla="*/ 299 w 299"/>
                <a:gd name="T18" fmla="*/ 633 h 63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9" h="633">
                  <a:moveTo>
                    <a:pt x="10" y="0"/>
                  </a:moveTo>
                  <a:lnTo>
                    <a:pt x="299" y="626"/>
                  </a:lnTo>
                  <a:lnTo>
                    <a:pt x="285" y="633"/>
                  </a:lnTo>
                  <a:lnTo>
                    <a:pt x="0" y="17"/>
                  </a:lnTo>
                  <a:lnTo>
                    <a:pt x="10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5" name="Freeform 347">
              <a:extLst>
                <a:ext uri="{FF2B5EF4-FFF2-40B4-BE49-F238E27FC236}">
                  <a16:creationId xmlns:a16="http://schemas.microsoft.com/office/drawing/2014/main" id="{4624B4EC-A1AF-334F-9E22-CC5F5ADCF0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5" y="2028"/>
              <a:ext cx="105" cy="143"/>
            </a:xfrm>
            <a:custGeom>
              <a:avLst/>
              <a:gdLst>
                <a:gd name="T0" fmla="*/ 0 w 420"/>
                <a:gd name="T1" fmla="*/ 0 h 572"/>
                <a:gd name="T2" fmla="*/ 0 w 420"/>
                <a:gd name="T3" fmla="*/ 0 h 572"/>
                <a:gd name="T4" fmla="*/ 0 w 420"/>
                <a:gd name="T5" fmla="*/ 0 h 572"/>
                <a:gd name="T6" fmla="*/ 0 w 420"/>
                <a:gd name="T7" fmla="*/ 0 h 572"/>
                <a:gd name="T8" fmla="*/ 0 w 420"/>
                <a:gd name="T9" fmla="*/ 0 h 572"/>
                <a:gd name="T10" fmla="*/ 0 w 420"/>
                <a:gd name="T11" fmla="*/ 0 h 572"/>
                <a:gd name="T12" fmla="*/ 0 w 420"/>
                <a:gd name="T13" fmla="*/ 0 h 572"/>
                <a:gd name="T14" fmla="*/ 0 w 420"/>
                <a:gd name="T15" fmla="*/ 0 h 572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420"/>
                <a:gd name="T25" fmla="*/ 0 h 572"/>
                <a:gd name="T26" fmla="*/ 420 w 420"/>
                <a:gd name="T27" fmla="*/ 572 h 572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420" h="572">
                  <a:moveTo>
                    <a:pt x="0" y="0"/>
                  </a:moveTo>
                  <a:lnTo>
                    <a:pt x="420" y="561"/>
                  </a:lnTo>
                  <a:lnTo>
                    <a:pt x="409" y="572"/>
                  </a:lnTo>
                  <a:lnTo>
                    <a:pt x="0" y="18"/>
                  </a:lnTo>
                  <a:lnTo>
                    <a:pt x="0" y="16"/>
                  </a:lnTo>
                  <a:lnTo>
                    <a:pt x="0" y="7"/>
                  </a:lnTo>
                  <a:lnTo>
                    <a:pt x="0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6" name="Freeform 348">
              <a:extLst>
                <a:ext uri="{FF2B5EF4-FFF2-40B4-BE49-F238E27FC236}">
                  <a16:creationId xmlns:a16="http://schemas.microsoft.com/office/drawing/2014/main" id="{C6CB487E-5028-BD43-8B7C-A6206B6FC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87" y="2026"/>
              <a:ext cx="111" cy="140"/>
            </a:xfrm>
            <a:custGeom>
              <a:avLst/>
              <a:gdLst>
                <a:gd name="T0" fmla="*/ 0 w 441"/>
                <a:gd name="T1" fmla="*/ 0 h 561"/>
                <a:gd name="T2" fmla="*/ 0 w 441"/>
                <a:gd name="T3" fmla="*/ 0 h 561"/>
                <a:gd name="T4" fmla="*/ 0 w 441"/>
                <a:gd name="T5" fmla="*/ 0 h 561"/>
                <a:gd name="T6" fmla="*/ 0 w 441"/>
                <a:gd name="T7" fmla="*/ 0 h 561"/>
                <a:gd name="T8" fmla="*/ 0 w 441"/>
                <a:gd name="T9" fmla="*/ 0 h 5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41"/>
                <a:gd name="T16" fmla="*/ 0 h 561"/>
                <a:gd name="T17" fmla="*/ 441 w 441"/>
                <a:gd name="T18" fmla="*/ 561 h 56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41" h="561">
                  <a:moveTo>
                    <a:pt x="0" y="0"/>
                  </a:moveTo>
                  <a:lnTo>
                    <a:pt x="441" y="547"/>
                  </a:lnTo>
                  <a:lnTo>
                    <a:pt x="430" y="561"/>
                  </a:lnTo>
                  <a:lnTo>
                    <a:pt x="0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97" name="Freeform 349">
              <a:extLst>
                <a:ext uri="{FF2B5EF4-FFF2-40B4-BE49-F238E27FC236}">
                  <a16:creationId xmlns:a16="http://schemas.microsoft.com/office/drawing/2014/main" id="{61A03ACC-8B7D-3C40-8E6A-0BC4DCBC1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20" y="2020"/>
              <a:ext cx="110" cy="134"/>
            </a:xfrm>
            <a:custGeom>
              <a:avLst/>
              <a:gdLst>
                <a:gd name="T0" fmla="*/ 0 w 441"/>
                <a:gd name="T1" fmla="*/ 0 h 537"/>
                <a:gd name="T2" fmla="*/ 0 w 441"/>
                <a:gd name="T3" fmla="*/ 0 h 537"/>
                <a:gd name="T4" fmla="*/ 0 w 441"/>
                <a:gd name="T5" fmla="*/ 0 h 537"/>
                <a:gd name="T6" fmla="*/ 0 w 441"/>
                <a:gd name="T7" fmla="*/ 0 h 537"/>
                <a:gd name="T8" fmla="*/ 0 w 441"/>
                <a:gd name="T9" fmla="*/ 0 h 53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41"/>
                <a:gd name="T16" fmla="*/ 0 h 537"/>
                <a:gd name="T17" fmla="*/ 441 w 441"/>
                <a:gd name="T18" fmla="*/ 537 h 53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41" h="537">
                  <a:moveTo>
                    <a:pt x="0" y="0"/>
                  </a:moveTo>
                  <a:lnTo>
                    <a:pt x="441" y="517"/>
                  </a:lnTo>
                  <a:lnTo>
                    <a:pt x="430" y="537"/>
                  </a:lnTo>
                  <a:lnTo>
                    <a:pt x="0" y="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60D29B4-C1ED-6346-81C3-418C775FFB3A}"/>
              </a:ext>
            </a:extLst>
          </p:cNvPr>
          <p:cNvGrpSpPr/>
          <p:nvPr/>
        </p:nvGrpSpPr>
        <p:grpSpPr>
          <a:xfrm>
            <a:off x="6285630" y="3135668"/>
            <a:ext cx="468768" cy="507832"/>
            <a:chOff x="4480144" y="2633787"/>
            <a:chExt cx="686323" cy="743518"/>
          </a:xfrm>
        </p:grpSpPr>
        <p:sp>
          <p:nvSpPr>
            <p:cNvPr id="99" name="Rectangle 351">
              <a:extLst>
                <a:ext uri="{FF2B5EF4-FFF2-40B4-BE49-F238E27FC236}">
                  <a16:creationId xmlns:a16="http://schemas.microsoft.com/office/drawing/2014/main" id="{BEFD14D7-EB16-0C46-86E1-A454495C76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37336" y="2805369"/>
              <a:ext cx="571937" cy="2859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/>
            <a:lstStyle/>
            <a:p>
              <a:pPr algn="ctr"/>
              <a:endParaRPr lang="en-US" sz="16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grpSp>
          <p:nvGrpSpPr>
            <p:cNvPr id="100" name="Group 96">
              <a:extLst>
                <a:ext uri="{FF2B5EF4-FFF2-40B4-BE49-F238E27FC236}">
                  <a16:creationId xmlns:a16="http://schemas.microsoft.com/office/drawing/2014/main" id="{B388A267-E32C-1648-A671-F5839DA7F799}"/>
                </a:ext>
              </a:extLst>
            </p:cNvPr>
            <p:cNvGrpSpPr>
              <a:grpSpLocks/>
            </p:cNvGrpSpPr>
            <p:nvPr/>
          </p:nvGrpSpPr>
          <p:grpSpPr bwMode="auto">
            <a:xfrm rot="18385562">
              <a:off x="4565933" y="2605191"/>
              <a:ext cx="571937" cy="629130"/>
              <a:chOff x="3481" y="3030"/>
              <a:chExt cx="1115" cy="1118"/>
            </a:xfrm>
          </p:grpSpPr>
          <p:sp>
            <p:nvSpPr>
              <p:cNvPr id="225" name="Freeform 19">
                <a:extLst>
                  <a:ext uri="{FF2B5EF4-FFF2-40B4-BE49-F238E27FC236}">
                    <a16:creationId xmlns:a16="http://schemas.microsoft.com/office/drawing/2014/main" id="{E445EAA5-34A9-864A-8DB4-E10A92B100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02" y="3068"/>
                <a:ext cx="1045" cy="1051"/>
              </a:xfrm>
              <a:custGeom>
                <a:avLst/>
                <a:gdLst>
                  <a:gd name="T0" fmla="*/ 0 w 4179"/>
                  <a:gd name="T1" fmla="*/ 0 h 4201"/>
                  <a:gd name="T2" fmla="*/ 0 w 4179"/>
                  <a:gd name="T3" fmla="*/ 0 h 4201"/>
                  <a:gd name="T4" fmla="*/ 0 w 4179"/>
                  <a:gd name="T5" fmla="*/ 0 h 4201"/>
                  <a:gd name="T6" fmla="*/ 0 w 4179"/>
                  <a:gd name="T7" fmla="*/ 0 h 4201"/>
                  <a:gd name="T8" fmla="*/ 0 w 4179"/>
                  <a:gd name="T9" fmla="*/ 0 h 4201"/>
                  <a:gd name="T10" fmla="*/ 0 w 4179"/>
                  <a:gd name="T11" fmla="*/ 0 h 4201"/>
                  <a:gd name="T12" fmla="*/ 0 w 4179"/>
                  <a:gd name="T13" fmla="*/ 0 h 4201"/>
                  <a:gd name="T14" fmla="*/ 0 w 4179"/>
                  <a:gd name="T15" fmla="*/ 0 h 4201"/>
                  <a:gd name="T16" fmla="*/ 0 w 4179"/>
                  <a:gd name="T17" fmla="*/ 0 h 4201"/>
                  <a:gd name="T18" fmla="*/ 0 w 4179"/>
                  <a:gd name="T19" fmla="*/ 0 h 4201"/>
                  <a:gd name="T20" fmla="*/ 0 w 4179"/>
                  <a:gd name="T21" fmla="*/ 0 h 4201"/>
                  <a:gd name="T22" fmla="*/ 0 w 4179"/>
                  <a:gd name="T23" fmla="*/ 0 h 4201"/>
                  <a:gd name="T24" fmla="*/ 0 w 4179"/>
                  <a:gd name="T25" fmla="*/ 0 h 4201"/>
                  <a:gd name="T26" fmla="*/ 0 w 4179"/>
                  <a:gd name="T27" fmla="*/ 0 h 4201"/>
                  <a:gd name="T28" fmla="*/ 0 w 4179"/>
                  <a:gd name="T29" fmla="*/ 0 h 4201"/>
                  <a:gd name="T30" fmla="*/ 0 w 4179"/>
                  <a:gd name="T31" fmla="*/ 0 h 4201"/>
                  <a:gd name="T32" fmla="*/ 0 w 4179"/>
                  <a:gd name="T33" fmla="*/ 0 h 4201"/>
                  <a:gd name="T34" fmla="*/ 0 w 4179"/>
                  <a:gd name="T35" fmla="*/ 0 h 4201"/>
                  <a:gd name="T36" fmla="*/ 0 w 4179"/>
                  <a:gd name="T37" fmla="*/ 0 h 4201"/>
                  <a:gd name="T38" fmla="*/ 0 w 4179"/>
                  <a:gd name="T39" fmla="*/ 0 h 4201"/>
                  <a:gd name="T40" fmla="*/ 0 w 4179"/>
                  <a:gd name="T41" fmla="*/ 0 h 4201"/>
                  <a:gd name="T42" fmla="*/ 0 w 4179"/>
                  <a:gd name="T43" fmla="*/ 0 h 4201"/>
                  <a:gd name="T44" fmla="*/ 0 w 4179"/>
                  <a:gd name="T45" fmla="*/ 0 h 4201"/>
                  <a:gd name="T46" fmla="*/ 0 w 4179"/>
                  <a:gd name="T47" fmla="*/ 0 h 4201"/>
                  <a:gd name="T48" fmla="*/ 0 w 4179"/>
                  <a:gd name="T49" fmla="*/ 0 h 4201"/>
                  <a:gd name="T50" fmla="*/ 0 w 4179"/>
                  <a:gd name="T51" fmla="*/ 0 h 4201"/>
                  <a:gd name="T52" fmla="*/ 0 w 4179"/>
                  <a:gd name="T53" fmla="*/ 0 h 4201"/>
                  <a:gd name="T54" fmla="*/ 0 w 4179"/>
                  <a:gd name="T55" fmla="*/ 0 h 4201"/>
                  <a:gd name="T56" fmla="*/ 0 w 4179"/>
                  <a:gd name="T57" fmla="*/ 0 h 4201"/>
                  <a:gd name="T58" fmla="*/ 0 w 4179"/>
                  <a:gd name="T59" fmla="*/ 0 h 4201"/>
                  <a:gd name="T60" fmla="*/ 0 w 4179"/>
                  <a:gd name="T61" fmla="*/ 0 h 4201"/>
                  <a:gd name="T62" fmla="*/ 0 w 4179"/>
                  <a:gd name="T63" fmla="*/ 0 h 4201"/>
                  <a:gd name="T64" fmla="*/ 0 w 4179"/>
                  <a:gd name="T65" fmla="*/ 0 h 4201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4179"/>
                  <a:gd name="T100" fmla="*/ 0 h 4201"/>
                  <a:gd name="T101" fmla="*/ 4179 w 4179"/>
                  <a:gd name="T102" fmla="*/ 4201 h 4201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4179" h="4201">
                    <a:moveTo>
                      <a:pt x="3876" y="3410"/>
                    </a:moveTo>
                    <a:lnTo>
                      <a:pt x="3181" y="3544"/>
                    </a:lnTo>
                    <a:lnTo>
                      <a:pt x="2895" y="3172"/>
                    </a:lnTo>
                    <a:lnTo>
                      <a:pt x="3061" y="3147"/>
                    </a:lnTo>
                    <a:lnTo>
                      <a:pt x="3045" y="3126"/>
                    </a:lnTo>
                    <a:lnTo>
                      <a:pt x="3617" y="3068"/>
                    </a:lnTo>
                    <a:lnTo>
                      <a:pt x="3213" y="2534"/>
                    </a:lnTo>
                    <a:lnTo>
                      <a:pt x="3197" y="2534"/>
                    </a:lnTo>
                    <a:lnTo>
                      <a:pt x="3269" y="2634"/>
                    </a:lnTo>
                    <a:lnTo>
                      <a:pt x="2567" y="2767"/>
                    </a:lnTo>
                    <a:lnTo>
                      <a:pt x="2287" y="2395"/>
                    </a:lnTo>
                    <a:lnTo>
                      <a:pt x="2449" y="2371"/>
                    </a:lnTo>
                    <a:lnTo>
                      <a:pt x="2433" y="2349"/>
                    </a:lnTo>
                    <a:lnTo>
                      <a:pt x="3015" y="2289"/>
                    </a:lnTo>
                    <a:lnTo>
                      <a:pt x="3068" y="2343"/>
                    </a:lnTo>
                    <a:lnTo>
                      <a:pt x="2724" y="1890"/>
                    </a:lnTo>
                    <a:lnTo>
                      <a:pt x="2689" y="1893"/>
                    </a:lnTo>
                    <a:lnTo>
                      <a:pt x="2762" y="1991"/>
                    </a:lnTo>
                    <a:lnTo>
                      <a:pt x="2061" y="2126"/>
                    </a:lnTo>
                    <a:lnTo>
                      <a:pt x="1779" y="1751"/>
                    </a:lnTo>
                    <a:lnTo>
                      <a:pt x="1945" y="1730"/>
                    </a:lnTo>
                    <a:lnTo>
                      <a:pt x="1929" y="1708"/>
                    </a:lnTo>
                    <a:lnTo>
                      <a:pt x="2507" y="1651"/>
                    </a:lnTo>
                    <a:lnTo>
                      <a:pt x="2654" y="1793"/>
                    </a:lnTo>
                    <a:lnTo>
                      <a:pt x="2246" y="1252"/>
                    </a:lnTo>
                    <a:lnTo>
                      <a:pt x="2243" y="1252"/>
                    </a:lnTo>
                    <a:lnTo>
                      <a:pt x="2317" y="1352"/>
                    </a:lnTo>
                    <a:lnTo>
                      <a:pt x="1613" y="1486"/>
                    </a:lnTo>
                    <a:lnTo>
                      <a:pt x="1331" y="1114"/>
                    </a:lnTo>
                    <a:lnTo>
                      <a:pt x="1497" y="1090"/>
                    </a:lnTo>
                    <a:lnTo>
                      <a:pt x="1481" y="1067"/>
                    </a:lnTo>
                    <a:lnTo>
                      <a:pt x="2061" y="1010"/>
                    </a:lnTo>
                    <a:lnTo>
                      <a:pt x="1846" y="728"/>
                    </a:lnTo>
                    <a:lnTo>
                      <a:pt x="1168" y="859"/>
                    </a:lnTo>
                    <a:lnTo>
                      <a:pt x="885" y="483"/>
                    </a:lnTo>
                    <a:lnTo>
                      <a:pt x="1049" y="462"/>
                    </a:lnTo>
                    <a:lnTo>
                      <a:pt x="1035" y="441"/>
                    </a:lnTo>
                    <a:lnTo>
                      <a:pt x="1586" y="383"/>
                    </a:lnTo>
                    <a:lnTo>
                      <a:pt x="1405" y="141"/>
                    </a:lnTo>
                    <a:lnTo>
                      <a:pt x="1347" y="147"/>
                    </a:lnTo>
                    <a:lnTo>
                      <a:pt x="1421" y="247"/>
                    </a:lnTo>
                    <a:lnTo>
                      <a:pt x="717" y="381"/>
                    </a:lnTo>
                    <a:lnTo>
                      <a:pt x="435" y="9"/>
                    </a:lnTo>
                    <a:lnTo>
                      <a:pt x="475" y="4"/>
                    </a:lnTo>
                    <a:lnTo>
                      <a:pt x="459" y="0"/>
                    </a:lnTo>
                    <a:lnTo>
                      <a:pt x="437" y="0"/>
                    </a:lnTo>
                    <a:lnTo>
                      <a:pt x="407" y="4"/>
                    </a:lnTo>
                    <a:lnTo>
                      <a:pt x="375" y="9"/>
                    </a:lnTo>
                    <a:lnTo>
                      <a:pt x="336" y="14"/>
                    </a:lnTo>
                    <a:lnTo>
                      <a:pt x="299" y="20"/>
                    </a:lnTo>
                    <a:lnTo>
                      <a:pt x="255" y="27"/>
                    </a:lnTo>
                    <a:lnTo>
                      <a:pt x="215" y="36"/>
                    </a:lnTo>
                    <a:lnTo>
                      <a:pt x="174" y="44"/>
                    </a:lnTo>
                    <a:lnTo>
                      <a:pt x="133" y="52"/>
                    </a:lnTo>
                    <a:lnTo>
                      <a:pt x="98" y="60"/>
                    </a:lnTo>
                    <a:lnTo>
                      <a:pt x="65" y="66"/>
                    </a:lnTo>
                    <a:lnTo>
                      <a:pt x="38" y="74"/>
                    </a:lnTo>
                    <a:lnTo>
                      <a:pt x="19" y="76"/>
                    </a:lnTo>
                    <a:lnTo>
                      <a:pt x="6" y="82"/>
                    </a:lnTo>
                    <a:lnTo>
                      <a:pt x="0" y="82"/>
                    </a:lnTo>
                    <a:lnTo>
                      <a:pt x="913" y="1442"/>
                    </a:lnTo>
                    <a:lnTo>
                      <a:pt x="1151" y="1456"/>
                    </a:lnTo>
                    <a:lnTo>
                      <a:pt x="2211" y="2826"/>
                    </a:lnTo>
                    <a:lnTo>
                      <a:pt x="2017" y="2976"/>
                    </a:lnTo>
                    <a:lnTo>
                      <a:pt x="2925" y="4201"/>
                    </a:lnTo>
                    <a:lnTo>
                      <a:pt x="4179" y="3812"/>
                    </a:lnTo>
                    <a:lnTo>
                      <a:pt x="3876" y="3410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6" name="Freeform 23">
                <a:extLst>
                  <a:ext uri="{FF2B5EF4-FFF2-40B4-BE49-F238E27FC236}">
                    <a16:creationId xmlns:a16="http://schemas.microsoft.com/office/drawing/2014/main" id="{A3526DA2-702D-114D-A5C6-B0C73A76CD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1" y="3064"/>
                <a:ext cx="33" cy="5"/>
              </a:xfrm>
              <a:custGeom>
                <a:avLst/>
                <a:gdLst>
                  <a:gd name="T0" fmla="*/ 0 w 133"/>
                  <a:gd name="T1" fmla="*/ 0 h 20"/>
                  <a:gd name="T2" fmla="*/ 0 w 133"/>
                  <a:gd name="T3" fmla="*/ 0 h 20"/>
                  <a:gd name="T4" fmla="*/ 0 w 133"/>
                  <a:gd name="T5" fmla="*/ 0 h 20"/>
                  <a:gd name="T6" fmla="*/ 0 w 133"/>
                  <a:gd name="T7" fmla="*/ 0 h 20"/>
                  <a:gd name="T8" fmla="*/ 0 w 133"/>
                  <a:gd name="T9" fmla="*/ 0 h 20"/>
                  <a:gd name="T10" fmla="*/ 0 w 133"/>
                  <a:gd name="T11" fmla="*/ 0 h 2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33"/>
                  <a:gd name="T19" fmla="*/ 0 h 20"/>
                  <a:gd name="T20" fmla="*/ 133 w 133"/>
                  <a:gd name="T21" fmla="*/ 20 h 2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33" h="20">
                    <a:moveTo>
                      <a:pt x="133" y="11"/>
                    </a:moveTo>
                    <a:lnTo>
                      <a:pt x="126" y="0"/>
                    </a:lnTo>
                    <a:lnTo>
                      <a:pt x="0" y="20"/>
                    </a:lnTo>
                    <a:lnTo>
                      <a:pt x="3" y="20"/>
                    </a:lnTo>
                    <a:lnTo>
                      <a:pt x="6" y="20"/>
                    </a:lnTo>
                    <a:lnTo>
                      <a:pt x="133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7" name="Freeform 24">
                <a:extLst>
                  <a:ext uri="{FF2B5EF4-FFF2-40B4-BE49-F238E27FC236}">
                    <a16:creationId xmlns:a16="http://schemas.microsoft.com/office/drawing/2014/main" id="{880FEF33-0EC4-7A4D-998B-85F2305F64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1" y="3067"/>
                <a:ext cx="246" cy="96"/>
              </a:xfrm>
              <a:custGeom>
                <a:avLst/>
                <a:gdLst>
                  <a:gd name="T0" fmla="*/ 0 w 986"/>
                  <a:gd name="T1" fmla="*/ 0 h 386"/>
                  <a:gd name="T2" fmla="*/ 0 w 986"/>
                  <a:gd name="T3" fmla="*/ 0 h 386"/>
                  <a:gd name="T4" fmla="*/ 0 w 986"/>
                  <a:gd name="T5" fmla="*/ 0 h 386"/>
                  <a:gd name="T6" fmla="*/ 0 w 986"/>
                  <a:gd name="T7" fmla="*/ 0 h 386"/>
                  <a:gd name="T8" fmla="*/ 0 w 986"/>
                  <a:gd name="T9" fmla="*/ 0 h 386"/>
                  <a:gd name="T10" fmla="*/ 0 w 986"/>
                  <a:gd name="T11" fmla="*/ 0 h 386"/>
                  <a:gd name="T12" fmla="*/ 0 w 986"/>
                  <a:gd name="T13" fmla="*/ 0 h 386"/>
                  <a:gd name="T14" fmla="*/ 0 w 986"/>
                  <a:gd name="T15" fmla="*/ 0 h 386"/>
                  <a:gd name="T16" fmla="*/ 0 w 986"/>
                  <a:gd name="T17" fmla="*/ 0 h 386"/>
                  <a:gd name="T18" fmla="*/ 0 w 986"/>
                  <a:gd name="T19" fmla="*/ 0 h 38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86"/>
                  <a:gd name="T31" fmla="*/ 0 h 386"/>
                  <a:gd name="T32" fmla="*/ 986 w 986"/>
                  <a:gd name="T33" fmla="*/ 386 h 38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86" h="386">
                    <a:moveTo>
                      <a:pt x="282" y="386"/>
                    </a:moveTo>
                    <a:lnTo>
                      <a:pt x="986" y="252"/>
                    </a:lnTo>
                    <a:lnTo>
                      <a:pt x="912" y="152"/>
                    </a:lnTo>
                    <a:lnTo>
                      <a:pt x="328" y="206"/>
                    </a:lnTo>
                    <a:lnTo>
                      <a:pt x="173" y="0"/>
                    </a:lnTo>
                    <a:lnTo>
                      <a:pt x="46" y="9"/>
                    </a:lnTo>
                    <a:lnTo>
                      <a:pt x="43" y="9"/>
                    </a:lnTo>
                    <a:lnTo>
                      <a:pt x="40" y="9"/>
                    </a:lnTo>
                    <a:lnTo>
                      <a:pt x="0" y="14"/>
                    </a:lnTo>
                    <a:lnTo>
                      <a:pt x="282" y="386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8" name="Freeform 25">
                <a:extLst>
                  <a:ext uri="{FF2B5EF4-FFF2-40B4-BE49-F238E27FC236}">
                    <a16:creationId xmlns:a16="http://schemas.microsoft.com/office/drawing/2014/main" id="{B58E42AF-41B7-B84C-B38B-E8C3B443AC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8" y="3044"/>
                <a:ext cx="146" cy="20"/>
              </a:xfrm>
              <a:custGeom>
                <a:avLst/>
                <a:gdLst>
                  <a:gd name="T0" fmla="*/ 0 w 580"/>
                  <a:gd name="T1" fmla="*/ 0 h 81"/>
                  <a:gd name="T2" fmla="*/ 0 w 580"/>
                  <a:gd name="T3" fmla="*/ 0 h 81"/>
                  <a:gd name="T4" fmla="*/ 0 w 580"/>
                  <a:gd name="T5" fmla="*/ 0 h 81"/>
                  <a:gd name="T6" fmla="*/ 0 w 580"/>
                  <a:gd name="T7" fmla="*/ 0 h 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1"/>
                  <a:gd name="T14" fmla="*/ 580 w 580"/>
                  <a:gd name="T15" fmla="*/ 81 h 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1">
                    <a:moveTo>
                      <a:pt x="0" y="60"/>
                    </a:moveTo>
                    <a:lnTo>
                      <a:pt x="16" y="81"/>
                    </a:lnTo>
                    <a:lnTo>
                      <a:pt x="580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9" name="Freeform 26">
                <a:extLst>
                  <a:ext uri="{FF2B5EF4-FFF2-40B4-BE49-F238E27FC236}">
                    <a16:creationId xmlns:a16="http://schemas.microsoft.com/office/drawing/2014/main" id="{A326FF1F-185D-4946-9C7B-10272FB384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4" y="3044"/>
                <a:ext cx="59" cy="60"/>
              </a:xfrm>
              <a:custGeom>
                <a:avLst/>
                <a:gdLst>
                  <a:gd name="T0" fmla="*/ 0 w 240"/>
                  <a:gd name="T1" fmla="*/ 0 h 238"/>
                  <a:gd name="T2" fmla="*/ 0 w 240"/>
                  <a:gd name="T3" fmla="*/ 0 h 238"/>
                  <a:gd name="T4" fmla="*/ 0 w 240"/>
                  <a:gd name="T5" fmla="*/ 0 h 238"/>
                  <a:gd name="T6" fmla="*/ 0 w 240"/>
                  <a:gd name="T7" fmla="*/ 0 h 23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40"/>
                  <a:gd name="T13" fmla="*/ 0 h 238"/>
                  <a:gd name="T14" fmla="*/ 240 w 240"/>
                  <a:gd name="T15" fmla="*/ 238 h 23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40" h="238">
                    <a:moveTo>
                      <a:pt x="240" y="238"/>
                    </a:moveTo>
                    <a:lnTo>
                      <a:pt x="0" y="0"/>
                    </a:lnTo>
                    <a:lnTo>
                      <a:pt x="117" y="157"/>
                    </a:lnTo>
                    <a:lnTo>
                      <a:pt x="240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0" name="Freeform 27">
                <a:extLst>
                  <a:ext uri="{FF2B5EF4-FFF2-40B4-BE49-F238E27FC236}">
                    <a16:creationId xmlns:a16="http://schemas.microsoft.com/office/drawing/2014/main" id="{8FB746FA-F206-994F-8B25-693B9F4576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3" y="3083"/>
                <a:ext cx="30" cy="22"/>
              </a:xfrm>
              <a:custGeom>
                <a:avLst/>
                <a:gdLst>
                  <a:gd name="T0" fmla="*/ 0 w 123"/>
                  <a:gd name="T1" fmla="*/ 0 h 87"/>
                  <a:gd name="T2" fmla="*/ 0 w 123"/>
                  <a:gd name="T3" fmla="*/ 0 h 87"/>
                  <a:gd name="T4" fmla="*/ 0 w 123"/>
                  <a:gd name="T5" fmla="*/ 0 h 87"/>
                  <a:gd name="T6" fmla="*/ 0 w 123"/>
                  <a:gd name="T7" fmla="*/ 0 h 8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3"/>
                  <a:gd name="T13" fmla="*/ 0 h 87"/>
                  <a:gd name="T14" fmla="*/ 123 w 123"/>
                  <a:gd name="T15" fmla="*/ 87 h 8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3" h="87">
                    <a:moveTo>
                      <a:pt x="65" y="87"/>
                    </a:moveTo>
                    <a:lnTo>
                      <a:pt x="123" y="81"/>
                    </a:lnTo>
                    <a:lnTo>
                      <a:pt x="0" y="0"/>
                    </a:lnTo>
                    <a:lnTo>
                      <a:pt x="65" y="8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1" name="Freeform 28">
                <a:extLst>
                  <a:ext uri="{FF2B5EF4-FFF2-40B4-BE49-F238E27FC236}">
                    <a16:creationId xmlns:a16="http://schemas.microsoft.com/office/drawing/2014/main" id="{9DA2B85C-008E-C448-A370-F9645D3897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2" y="3044"/>
                <a:ext cx="171" cy="39"/>
              </a:xfrm>
              <a:custGeom>
                <a:avLst/>
                <a:gdLst>
                  <a:gd name="T0" fmla="*/ 0 w 681"/>
                  <a:gd name="T1" fmla="*/ 0 h 157"/>
                  <a:gd name="T2" fmla="*/ 0 w 681"/>
                  <a:gd name="T3" fmla="*/ 0 h 157"/>
                  <a:gd name="T4" fmla="*/ 0 w 681"/>
                  <a:gd name="T5" fmla="*/ 0 h 157"/>
                  <a:gd name="T6" fmla="*/ 0 w 681"/>
                  <a:gd name="T7" fmla="*/ 0 h 157"/>
                  <a:gd name="T8" fmla="*/ 0 w 681"/>
                  <a:gd name="T9" fmla="*/ 0 h 157"/>
                  <a:gd name="T10" fmla="*/ 0 w 681"/>
                  <a:gd name="T11" fmla="*/ 0 h 15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81"/>
                  <a:gd name="T19" fmla="*/ 0 h 157"/>
                  <a:gd name="T20" fmla="*/ 681 w 681"/>
                  <a:gd name="T21" fmla="*/ 157 h 15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81" h="157">
                    <a:moveTo>
                      <a:pt x="534" y="60"/>
                    </a:moveTo>
                    <a:lnTo>
                      <a:pt x="681" y="157"/>
                    </a:lnTo>
                    <a:lnTo>
                      <a:pt x="564" y="0"/>
                    </a:lnTo>
                    <a:lnTo>
                      <a:pt x="0" y="81"/>
                    </a:lnTo>
                    <a:lnTo>
                      <a:pt x="7" y="92"/>
                    </a:lnTo>
                    <a:lnTo>
                      <a:pt x="534" y="60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2" name="Freeform 29">
                <a:extLst>
                  <a:ext uri="{FF2B5EF4-FFF2-40B4-BE49-F238E27FC236}">
                    <a16:creationId xmlns:a16="http://schemas.microsoft.com/office/drawing/2014/main" id="{8CA7FF03-D843-1946-B1D5-C45E7A5C1B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4" y="3059"/>
                <a:ext cx="185" cy="60"/>
              </a:xfrm>
              <a:custGeom>
                <a:avLst/>
                <a:gdLst>
                  <a:gd name="T0" fmla="*/ 0 w 739"/>
                  <a:gd name="T1" fmla="*/ 0 h 238"/>
                  <a:gd name="T2" fmla="*/ 0 w 739"/>
                  <a:gd name="T3" fmla="*/ 0 h 238"/>
                  <a:gd name="T4" fmla="*/ 0 w 739"/>
                  <a:gd name="T5" fmla="*/ 0 h 238"/>
                  <a:gd name="T6" fmla="*/ 0 w 739"/>
                  <a:gd name="T7" fmla="*/ 0 h 238"/>
                  <a:gd name="T8" fmla="*/ 0 w 739"/>
                  <a:gd name="T9" fmla="*/ 0 h 238"/>
                  <a:gd name="T10" fmla="*/ 0 w 739"/>
                  <a:gd name="T11" fmla="*/ 0 h 238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39"/>
                  <a:gd name="T19" fmla="*/ 0 h 238"/>
                  <a:gd name="T20" fmla="*/ 739 w 739"/>
                  <a:gd name="T21" fmla="*/ 238 h 238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39" h="238">
                    <a:moveTo>
                      <a:pt x="527" y="0"/>
                    </a:moveTo>
                    <a:lnTo>
                      <a:pt x="0" y="32"/>
                    </a:lnTo>
                    <a:lnTo>
                      <a:pt x="155" y="238"/>
                    </a:lnTo>
                    <a:lnTo>
                      <a:pt x="739" y="184"/>
                    </a:lnTo>
                    <a:lnTo>
                      <a:pt x="674" y="97"/>
                    </a:lnTo>
                    <a:lnTo>
                      <a:pt x="527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3" name="Freeform 30">
                <a:extLst>
                  <a:ext uri="{FF2B5EF4-FFF2-40B4-BE49-F238E27FC236}">
                    <a16:creationId xmlns:a16="http://schemas.microsoft.com/office/drawing/2014/main" id="{CE1C5BE4-B557-B14B-8BBD-F44A4CFC95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5" y="3224"/>
                <a:ext cx="25" cy="26"/>
              </a:xfrm>
              <a:custGeom>
                <a:avLst/>
                <a:gdLst>
                  <a:gd name="T0" fmla="*/ 0 w 101"/>
                  <a:gd name="T1" fmla="*/ 0 h 103"/>
                  <a:gd name="T2" fmla="*/ 0 w 101"/>
                  <a:gd name="T3" fmla="*/ 0 h 103"/>
                  <a:gd name="T4" fmla="*/ 0 w 101"/>
                  <a:gd name="T5" fmla="*/ 0 h 103"/>
                  <a:gd name="T6" fmla="*/ 0 w 101"/>
                  <a:gd name="T7" fmla="*/ 0 h 103"/>
                  <a:gd name="T8" fmla="*/ 0 w 101"/>
                  <a:gd name="T9" fmla="*/ 0 h 10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1"/>
                  <a:gd name="T16" fmla="*/ 0 h 103"/>
                  <a:gd name="T17" fmla="*/ 101 w 101"/>
                  <a:gd name="T18" fmla="*/ 103 h 10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1" h="103">
                    <a:moveTo>
                      <a:pt x="76" y="103"/>
                    </a:moveTo>
                    <a:lnTo>
                      <a:pt x="101" y="98"/>
                    </a:lnTo>
                    <a:lnTo>
                      <a:pt x="28" y="0"/>
                    </a:lnTo>
                    <a:lnTo>
                      <a:pt x="0" y="3"/>
                    </a:lnTo>
                    <a:lnTo>
                      <a:pt x="76" y="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4" name="Freeform 31">
                <a:extLst>
                  <a:ext uri="{FF2B5EF4-FFF2-40B4-BE49-F238E27FC236}">
                    <a16:creationId xmlns:a16="http://schemas.microsoft.com/office/drawing/2014/main" id="{0601DBEA-F35C-9B4A-9D91-B29FF78B19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24" y="3184"/>
                <a:ext cx="240" cy="99"/>
              </a:xfrm>
              <a:custGeom>
                <a:avLst/>
                <a:gdLst>
                  <a:gd name="T0" fmla="*/ 0 w 961"/>
                  <a:gd name="T1" fmla="*/ 0 h 397"/>
                  <a:gd name="T2" fmla="*/ 0 w 961"/>
                  <a:gd name="T3" fmla="*/ 0 h 397"/>
                  <a:gd name="T4" fmla="*/ 0 w 961"/>
                  <a:gd name="T5" fmla="*/ 0 h 397"/>
                  <a:gd name="T6" fmla="*/ 0 w 961"/>
                  <a:gd name="T7" fmla="*/ 0 h 397"/>
                  <a:gd name="T8" fmla="*/ 0 w 961"/>
                  <a:gd name="T9" fmla="*/ 0 h 397"/>
                  <a:gd name="T10" fmla="*/ 0 w 961"/>
                  <a:gd name="T11" fmla="*/ 0 h 397"/>
                  <a:gd name="T12" fmla="*/ 0 w 96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61"/>
                  <a:gd name="T22" fmla="*/ 0 h 397"/>
                  <a:gd name="T23" fmla="*/ 961 w 96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61" h="397">
                    <a:moveTo>
                      <a:pt x="329" y="217"/>
                    </a:moveTo>
                    <a:lnTo>
                      <a:pt x="164" y="0"/>
                    </a:lnTo>
                    <a:lnTo>
                      <a:pt x="0" y="21"/>
                    </a:lnTo>
                    <a:lnTo>
                      <a:pt x="283" y="397"/>
                    </a:lnTo>
                    <a:lnTo>
                      <a:pt x="961" y="266"/>
                    </a:lnTo>
                    <a:lnTo>
                      <a:pt x="885" y="166"/>
                    </a:lnTo>
                    <a:lnTo>
                      <a:pt x="329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5" name="Freeform 32">
                <a:extLst>
                  <a:ext uri="{FF2B5EF4-FFF2-40B4-BE49-F238E27FC236}">
                    <a16:creationId xmlns:a16="http://schemas.microsoft.com/office/drawing/2014/main" id="{C367AEFA-1DCC-E941-98B1-1E8624AE84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7" cy="1"/>
              </a:xfrm>
              <a:custGeom>
                <a:avLst/>
                <a:gdLst>
                  <a:gd name="T0" fmla="*/ 0 w 30"/>
                  <a:gd name="T1" fmla="*/ 0 h 2"/>
                  <a:gd name="T2" fmla="*/ 0 w 30"/>
                  <a:gd name="T3" fmla="*/ 1 h 2"/>
                  <a:gd name="T4" fmla="*/ 0 w 30"/>
                  <a:gd name="T5" fmla="*/ 1 h 2"/>
                  <a:gd name="T6" fmla="*/ 0 w 30"/>
                  <a:gd name="T7" fmla="*/ 0 h 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0"/>
                  <a:gd name="T13" fmla="*/ 0 h 2"/>
                  <a:gd name="T14" fmla="*/ 30 w 30"/>
                  <a:gd name="T15" fmla="*/ 2 h 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0" h="2">
                    <a:moveTo>
                      <a:pt x="30" y="0"/>
                    </a:moveTo>
                    <a:lnTo>
                      <a:pt x="0" y="2"/>
                    </a:lnTo>
                    <a:lnTo>
                      <a:pt x="3" y="2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6" name="Freeform 33">
                <a:extLst>
                  <a:ext uri="{FF2B5EF4-FFF2-40B4-BE49-F238E27FC236}">
                    <a16:creationId xmlns:a16="http://schemas.microsoft.com/office/drawing/2014/main" id="{36318BCF-7FAB-3E47-B5AD-1E04CBAC3C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6" y="3163"/>
                <a:ext cx="60" cy="61"/>
              </a:xfrm>
              <a:custGeom>
                <a:avLst/>
                <a:gdLst>
                  <a:gd name="T0" fmla="*/ 0 w 239"/>
                  <a:gd name="T1" fmla="*/ 0 h 244"/>
                  <a:gd name="T2" fmla="*/ 0 w 239"/>
                  <a:gd name="T3" fmla="*/ 0 h 244"/>
                  <a:gd name="T4" fmla="*/ 0 w 239"/>
                  <a:gd name="T5" fmla="*/ 0 h 244"/>
                  <a:gd name="T6" fmla="*/ 0 w 239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9"/>
                  <a:gd name="T13" fmla="*/ 0 h 244"/>
                  <a:gd name="T14" fmla="*/ 239 w 239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9" h="244">
                    <a:moveTo>
                      <a:pt x="239" y="238"/>
                    </a:moveTo>
                    <a:lnTo>
                      <a:pt x="0" y="0"/>
                    </a:lnTo>
                    <a:lnTo>
                      <a:pt x="182" y="244"/>
                    </a:lnTo>
                    <a:lnTo>
                      <a:pt x="239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7" name="Freeform 34">
                <a:extLst>
                  <a:ext uri="{FF2B5EF4-FFF2-40B4-BE49-F238E27FC236}">
                    <a16:creationId xmlns:a16="http://schemas.microsoft.com/office/drawing/2014/main" id="{6E5815CF-BF35-B54E-8AFA-B1552A1C5C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1" y="3164"/>
                <a:ext cx="138" cy="20"/>
              </a:xfrm>
              <a:custGeom>
                <a:avLst/>
                <a:gdLst>
                  <a:gd name="T0" fmla="*/ 0 w 554"/>
                  <a:gd name="T1" fmla="*/ 0 h 79"/>
                  <a:gd name="T2" fmla="*/ 0 w 554"/>
                  <a:gd name="T3" fmla="*/ 0 h 79"/>
                  <a:gd name="T4" fmla="*/ 0 w 554"/>
                  <a:gd name="T5" fmla="*/ 0 h 79"/>
                  <a:gd name="T6" fmla="*/ 0 w 554"/>
                  <a:gd name="T7" fmla="*/ 0 h 79"/>
                  <a:gd name="T8" fmla="*/ 0 w 554"/>
                  <a:gd name="T9" fmla="*/ 0 h 7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54"/>
                  <a:gd name="T16" fmla="*/ 0 h 79"/>
                  <a:gd name="T17" fmla="*/ 554 w 554"/>
                  <a:gd name="T18" fmla="*/ 79 h 7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54" h="79">
                    <a:moveTo>
                      <a:pt x="14" y="79"/>
                    </a:moveTo>
                    <a:lnTo>
                      <a:pt x="554" y="0"/>
                    </a:lnTo>
                    <a:lnTo>
                      <a:pt x="551" y="0"/>
                    </a:lnTo>
                    <a:lnTo>
                      <a:pt x="0" y="58"/>
                    </a:lnTo>
                    <a:lnTo>
                      <a:pt x="14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8" name="Freeform 35">
                <a:extLst>
                  <a:ext uri="{FF2B5EF4-FFF2-40B4-BE49-F238E27FC236}">
                    <a16:creationId xmlns:a16="http://schemas.microsoft.com/office/drawing/2014/main" id="{C11A6788-7DDF-3346-9D01-86A36327EE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53" cy="62"/>
              </a:xfrm>
              <a:custGeom>
                <a:avLst/>
                <a:gdLst>
                  <a:gd name="T0" fmla="*/ 0 w 209"/>
                  <a:gd name="T1" fmla="*/ 0 h 247"/>
                  <a:gd name="T2" fmla="*/ 0 w 209"/>
                  <a:gd name="T3" fmla="*/ 0 h 247"/>
                  <a:gd name="T4" fmla="*/ 0 w 209"/>
                  <a:gd name="T5" fmla="*/ 0 h 247"/>
                  <a:gd name="T6" fmla="*/ 0 w 209"/>
                  <a:gd name="T7" fmla="*/ 0 h 247"/>
                  <a:gd name="T8" fmla="*/ 0 w 209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9"/>
                  <a:gd name="T16" fmla="*/ 0 h 247"/>
                  <a:gd name="T17" fmla="*/ 209 w 209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9" h="247">
                    <a:moveTo>
                      <a:pt x="181" y="247"/>
                    </a:moveTo>
                    <a:lnTo>
                      <a:pt x="209" y="244"/>
                    </a:lnTo>
                    <a:lnTo>
                      <a:pt x="27" y="0"/>
                    </a:lnTo>
                    <a:lnTo>
                      <a:pt x="0" y="2"/>
                    </a:lnTo>
                    <a:lnTo>
                      <a:pt x="181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9" name="Freeform 36">
                <a:extLst>
                  <a:ext uri="{FF2B5EF4-FFF2-40B4-BE49-F238E27FC236}">
                    <a16:creationId xmlns:a16="http://schemas.microsoft.com/office/drawing/2014/main" id="{98DAA436-07FC-0A4D-93EF-069E91381E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4" y="3164"/>
                <a:ext cx="181" cy="74"/>
              </a:xfrm>
              <a:custGeom>
                <a:avLst/>
                <a:gdLst>
                  <a:gd name="T0" fmla="*/ 0 w 721"/>
                  <a:gd name="T1" fmla="*/ 0 h 296"/>
                  <a:gd name="T2" fmla="*/ 0 w 721"/>
                  <a:gd name="T3" fmla="*/ 0 h 296"/>
                  <a:gd name="T4" fmla="*/ 0 w 721"/>
                  <a:gd name="T5" fmla="*/ 0 h 296"/>
                  <a:gd name="T6" fmla="*/ 0 w 721"/>
                  <a:gd name="T7" fmla="*/ 0 h 296"/>
                  <a:gd name="T8" fmla="*/ 0 w 72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296"/>
                  <a:gd name="T17" fmla="*/ 721 w 72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296">
                    <a:moveTo>
                      <a:pt x="721" y="245"/>
                    </a:moveTo>
                    <a:lnTo>
                      <a:pt x="540" y="0"/>
                    </a:lnTo>
                    <a:lnTo>
                      <a:pt x="0" y="79"/>
                    </a:lnTo>
                    <a:lnTo>
                      <a:pt x="165" y="296"/>
                    </a:lnTo>
                    <a:lnTo>
                      <a:pt x="72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0" name="Freeform 37">
                <a:extLst>
                  <a:ext uri="{FF2B5EF4-FFF2-40B4-BE49-F238E27FC236}">
                    <a16:creationId xmlns:a16="http://schemas.microsoft.com/office/drawing/2014/main" id="{2A2548C3-BDA1-2A47-B4D3-6D59B791B5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35" y="3341"/>
                <a:ext cx="246" cy="99"/>
              </a:xfrm>
              <a:custGeom>
                <a:avLst/>
                <a:gdLst>
                  <a:gd name="T0" fmla="*/ 0 w 986"/>
                  <a:gd name="T1" fmla="*/ 0 h 396"/>
                  <a:gd name="T2" fmla="*/ 0 w 986"/>
                  <a:gd name="T3" fmla="*/ 0 h 396"/>
                  <a:gd name="T4" fmla="*/ 0 w 986"/>
                  <a:gd name="T5" fmla="*/ 0 h 396"/>
                  <a:gd name="T6" fmla="*/ 0 w 986"/>
                  <a:gd name="T7" fmla="*/ 0 h 396"/>
                  <a:gd name="T8" fmla="*/ 0 w 986"/>
                  <a:gd name="T9" fmla="*/ 0 h 396"/>
                  <a:gd name="T10" fmla="*/ 0 w 986"/>
                  <a:gd name="T11" fmla="*/ 0 h 396"/>
                  <a:gd name="T12" fmla="*/ 0 w 986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6"/>
                  <a:gd name="T22" fmla="*/ 0 h 396"/>
                  <a:gd name="T23" fmla="*/ 986 w 986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6" h="396">
                    <a:moveTo>
                      <a:pt x="166" y="0"/>
                    </a:moveTo>
                    <a:lnTo>
                      <a:pt x="0" y="24"/>
                    </a:lnTo>
                    <a:lnTo>
                      <a:pt x="282" y="396"/>
                    </a:lnTo>
                    <a:lnTo>
                      <a:pt x="986" y="262"/>
                    </a:lnTo>
                    <a:lnTo>
                      <a:pt x="912" y="162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1" name="Freeform 38">
                <a:extLst>
                  <a:ext uri="{FF2B5EF4-FFF2-40B4-BE49-F238E27FC236}">
                    <a16:creationId xmlns:a16="http://schemas.microsoft.com/office/drawing/2014/main" id="{B67FF749-2ED6-8C47-9570-3116F4C4E9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1" cy="1"/>
              </a:xfrm>
              <a:custGeom>
                <a:avLst/>
                <a:gdLst>
                  <a:gd name="T0" fmla="*/ 0 w 1"/>
                  <a:gd name="T1" fmla="*/ 0 h 3"/>
                  <a:gd name="T2" fmla="*/ 0 w 1"/>
                  <a:gd name="T3" fmla="*/ 0 h 3"/>
                  <a:gd name="T4" fmla="*/ 0 w 1"/>
                  <a:gd name="T5" fmla="*/ 0 h 3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3"/>
                  <a:gd name="T11" fmla="*/ 1 w 1"/>
                  <a:gd name="T12" fmla="*/ 3 h 3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3">
                    <a:moveTo>
                      <a:pt x="0" y="0"/>
                    </a:move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2" name="Freeform 39">
                <a:extLst>
                  <a:ext uri="{FF2B5EF4-FFF2-40B4-BE49-F238E27FC236}">
                    <a16:creationId xmlns:a16="http://schemas.microsoft.com/office/drawing/2014/main" id="{2747F536-A4D4-DB47-A582-13E27735F1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59" cy="61"/>
              </a:xfrm>
              <a:custGeom>
                <a:avLst/>
                <a:gdLst>
                  <a:gd name="T0" fmla="*/ 0 w 240"/>
                  <a:gd name="T1" fmla="*/ 0 h 245"/>
                  <a:gd name="T2" fmla="*/ 0 w 240"/>
                  <a:gd name="T3" fmla="*/ 0 h 245"/>
                  <a:gd name="T4" fmla="*/ 0 w 240"/>
                  <a:gd name="T5" fmla="*/ 0 h 245"/>
                  <a:gd name="T6" fmla="*/ 0 w 240"/>
                  <a:gd name="T7" fmla="*/ 0 h 245"/>
                  <a:gd name="T8" fmla="*/ 0 w 240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0"/>
                  <a:gd name="T16" fmla="*/ 0 h 245"/>
                  <a:gd name="T17" fmla="*/ 240 w 240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0" h="245">
                    <a:moveTo>
                      <a:pt x="185" y="245"/>
                    </a:moveTo>
                    <a:lnTo>
                      <a:pt x="240" y="240"/>
                    </a:lnTo>
                    <a:lnTo>
                      <a:pt x="0" y="0"/>
                    </a:lnTo>
                    <a:lnTo>
                      <a:pt x="95" y="131"/>
                    </a:lnTo>
                    <a:lnTo>
                      <a:pt x="185" y="24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3" name="Freeform 40">
                <a:extLst>
                  <a:ext uri="{FF2B5EF4-FFF2-40B4-BE49-F238E27FC236}">
                    <a16:creationId xmlns:a16="http://schemas.microsoft.com/office/drawing/2014/main" id="{FAB081B2-C607-9449-BFC9-6E87608651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3321"/>
                <a:ext cx="146" cy="20"/>
              </a:xfrm>
              <a:custGeom>
                <a:avLst/>
                <a:gdLst>
                  <a:gd name="T0" fmla="*/ 0 w 580"/>
                  <a:gd name="T1" fmla="*/ 0 h 80"/>
                  <a:gd name="T2" fmla="*/ 0 w 580"/>
                  <a:gd name="T3" fmla="*/ 0 h 80"/>
                  <a:gd name="T4" fmla="*/ 0 w 580"/>
                  <a:gd name="T5" fmla="*/ 0 h 80"/>
                  <a:gd name="T6" fmla="*/ 0 w 580"/>
                  <a:gd name="T7" fmla="*/ 0 h 8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0"/>
                  <a:gd name="T14" fmla="*/ 580 w 580"/>
                  <a:gd name="T15" fmla="*/ 80 h 8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0">
                    <a:moveTo>
                      <a:pt x="16" y="80"/>
                    </a:moveTo>
                    <a:lnTo>
                      <a:pt x="580" y="0"/>
                    </a:lnTo>
                    <a:lnTo>
                      <a:pt x="0" y="57"/>
                    </a:lnTo>
                    <a:lnTo>
                      <a:pt x="16" y="8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4" name="Freeform 41">
                <a:extLst>
                  <a:ext uri="{FF2B5EF4-FFF2-40B4-BE49-F238E27FC236}">
                    <a16:creationId xmlns:a16="http://schemas.microsoft.com/office/drawing/2014/main" id="{8855D637-39C3-1741-A25C-780FDAD99C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41" y="3353"/>
                <a:ext cx="23" cy="28"/>
              </a:xfrm>
              <a:custGeom>
                <a:avLst/>
                <a:gdLst>
                  <a:gd name="T0" fmla="*/ 0 w 90"/>
                  <a:gd name="T1" fmla="*/ 0 h 114"/>
                  <a:gd name="T2" fmla="*/ 0 w 90"/>
                  <a:gd name="T3" fmla="*/ 0 h 114"/>
                  <a:gd name="T4" fmla="*/ 0 w 90"/>
                  <a:gd name="T5" fmla="*/ 0 h 114"/>
                  <a:gd name="T6" fmla="*/ 0 w 90"/>
                  <a:gd name="T7" fmla="*/ 0 h 11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0"/>
                  <a:gd name="T13" fmla="*/ 0 h 114"/>
                  <a:gd name="T14" fmla="*/ 90 w 90"/>
                  <a:gd name="T15" fmla="*/ 114 h 11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0" h="114">
                    <a:moveTo>
                      <a:pt x="87" y="114"/>
                    </a:moveTo>
                    <a:lnTo>
                      <a:pt x="90" y="114"/>
                    </a:lnTo>
                    <a:lnTo>
                      <a:pt x="0" y="0"/>
                    </a:lnTo>
                    <a:lnTo>
                      <a:pt x="87" y="114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5" name="Freeform 42">
                <a:extLst>
                  <a:ext uri="{FF2B5EF4-FFF2-40B4-BE49-F238E27FC236}">
                    <a16:creationId xmlns:a16="http://schemas.microsoft.com/office/drawing/2014/main" id="{E9C09B5F-FBC3-0E43-A5DA-CB906A1D14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23" cy="33"/>
              </a:xfrm>
              <a:custGeom>
                <a:avLst/>
                <a:gdLst>
                  <a:gd name="T0" fmla="*/ 0 w 95"/>
                  <a:gd name="T1" fmla="*/ 0 h 131"/>
                  <a:gd name="T2" fmla="*/ 0 w 95"/>
                  <a:gd name="T3" fmla="*/ 0 h 131"/>
                  <a:gd name="T4" fmla="*/ 0 w 95"/>
                  <a:gd name="T5" fmla="*/ 0 h 131"/>
                  <a:gd name="T6" fmla="*/ 0 w 95"/>
                  <a:gd name="T7" fmla="*/ 0 h 13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5"/>
                  <a:gd name="T13" fmla="*/ 0 h 131"/>
                  <a:gd name="T14" fmla="*/ 95 w 95"/>
                  <a:gd name="T15" fmla="*/ 131 h 13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5" h="131">
                    <a:moveTo>
                      <a:pt x="95" y="131"/>
                    </a:moveTo>
                    <a:lnTo>
                      <a:pt x="0" y="0"/>
                    </a:lnTo>
                    <a:lnTo>
                      <a:pt x="0" y="3"/>
                    </a:lnTo>
                    <a:lnTo>
                      <a:pt x="95" y="131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6" name="Freeform 43">
                <a:extLst>
                  <a:ext uri="{FF2B5EF4-FFF2-40B4-BE49-F238E27FC236}">
                    <a16:creationId xmlns:a16="http://schemas.microsoft.com/office/drawing/2014/main" id="{B921424D-C963-9248-BBB4-9EA3454BD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6" y="3321"/>
                <a:ext cx="187" cy="74"/>
              </a:xfrm>
              <a:custGeom>
                <a:avLst/>
                <a:gdLst>
                  <a:gd name="T0" fmla="*/ 0 w 746"/>
                  <a:gd name="T1" fmla="*/ 0 h 297"/>
                  <a:gd name="T2" fmla="*/ 0 w 746"/>
                  <a:gd name="T3" fmla="*/ 0 h 297"/>
                  <a:gd name="T4" fmla="*/ 0 w 746"/>
                  <a:gd name="T5" fmla="*/ 0 h 297"/>
                  <a:gd name="T6" fmla="*/ 0 w 746"/>
                  <a:gd name="T7" fmla="*/ 0 h 297"/>
                  <a:gd name="T8" fmla="*/ 0 w 746"/>
                  <a:gd name="T9" fmla="*/ 0 h 297"/>
                  <a:gd name="T10" fmla="*/ 0 w 746"/>
                  <a:gd name="T11" fmla="*/ 0 h 2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46"/>
                  <a:gd name="T19" fmla="*/ 0 h 297"/>
                  <a:gd name="T20" fmla="*/ 746 w 746"/>
                  <a:gd name="T21" fmla="*/ 297 h 2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46" h="297">
                    <a:moveTo>
                      <a:pt x="564" y="0"/>
                    </a:moveTo>
                    <a:lnTo>
                      <a:pt x="0" y="80"/>
                    </a:lnTo>
                    <a:lnTo>
                      <a:pt x="162" y="297"/>
                    </a:lnTo>
                    <a:lnTo>
                      <a:pt x="746" y="242"/>
                    </a:lnTo>
                    <a:lnTo>
                      <a:pt x="659" y="128"/>
                    </a:lnTo>
                    <a:lnTo>
                      <a:pt x="564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7" name="Freeform 44">
                <a:extLst>
                  <a:ext uri="{FF2B5EF4-FFF2-40B4-BE49-F238E27FC236}">
                    <a16:creationId xmlns:a16="http://schemas.microsoft.com/office/drawing/2014/main" id="{71A75BAF-0768-DA49-A0F0-78F830E6B9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7" y="3501"/>
                <a:ext cx="246" cy="99"/>
              </a:xfrm>
              <a:custGeom>
                <a:avLst/>
                <a:gdLst>
                  <a:gd name="T0" fmla="*/ 0 w 983"/>
                  <a:gd name="T1" fmla="*/ 0 h 396"/>
                  <a:gd name="T2" fmla="*/ 0 w 983"/>
                  <a:gd name="T3" fmla="*/ 0 h 396"/>
                  <a:gd name="T4" fmla="*/ 0 w 983"/>
                  <a:gd name="T5" fmla="*/ 0 h 396"/>
                  <a:gd name="T6" fmla="*/ 0 w 983"/>
                  <a:gd name="T7" fmla="*/ 0 h 396"/>
                  <a:gd name="T8" fmla="*/ 0 w 983"/>
                  <a:gd name="T9" fmla="*/ 0 h 396"/>
                  <a:gd name="T10" fmla="*/ 0 w 983"/>
                  <a:gd name="T11" fmla="*/ 0 h 396"/>
                  <a:gd name="T12" fmla="*/ 0 w 983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3"/>
                  <a:gd name="T22" fmla="*/ 0 h 396"/>
                  <a:gd name="T23" fmla="*/ 983 w 983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3" h="396">
                    <a:moveTo>
                      <a:pt x="166" y="0"/>
                    </a:moveTo>
                    <a:lnTo>
                      <a:pt x="0" y="21"/>
                    </a:lnTo>
                    <a:lnTo>
                      <a:pt x="282" y="396"/>
                    </a:lnTo>
                    <a:lnTo>
                      <a:pt x="983" y="261"/>
                    </a:lnTo>
                    <a:lnTo>
                      <a:pt x="910" y="163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8" name="Freeform 45">
                <a:extLst>
                  <a:ext uri="{FF2B5EF4-FFF2-40B4-BE49-F238E27FC236}">
                    <a16:creationId xmlns:a16="http://schemas.microsoft.com/office/drawing/2014/main" id="{C67C522B-6F85-5348-A0E4-C7501DDCC3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6" y="3516"/>
                <a:ext cx="23" cy="25"/>
              </a:xfrm>
              <a:custGeom>
                <a:avLst/>
                <a:gdLst>
                  <a:gd name="T0" fmla="*/ 0 w 91"/>
                  <a:gd name="T1" fmla="*/ 0 h 97"/>
                  <a:gd name="T2" fmla="*/ 0 w 91"/>
                  <a:gd name="T3" fmla="*/ 0 h 97"/>
                  <a:gd name="T4" fmla="*/ 0 w 91"/>
                  <a:gd name="T5" fmla="*/ 0 h 97"/>
                  <a:gd name="T6" fmla="*/ 0 w 91"/>
                  <a:gd name="T7" fmla="*/ 0 h 9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1"/>
                  <a:gd name="T13" fmla="*/ 0 h 97"/>
                  <a:gd name="T14" fmla="*/ 91 w 91"/>
                  <a:gd name="T15" fmla="*/ 97 h 9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1" h="97">
                    <a:moveTo>
                      <a:pt x="91" y="94"/>
                    </a:moveTo>
                    <a:lnTo>
                      <a:pt x="0" y="0"/>
                    </a:lnTo>
                    <a:lnTo>
                      <a:pt x="70" y="97"/>
                    </a:lnTo>
                    <a:lnTo>
                      <a:pt x="91" y="94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49" name="Freeform 46">
                <a:extLst>
                  <a:ext uri="{FF2B5EF4-FFF2-40B4-BE49-F238E27FC236}">
                    <a16:creationId xmlns:a16="http://schemas.microsoft.com/office/drawing/2014/main" id="{EDF0115E-8E7A-5E44-9296-BC67813882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3481"/>
                <a:ext cx="145" cy="20"/>
              </a:xfrm>
              <a:custGeom>
                <a:avLst/>
                <a:gdLst>
                  <a:gd name="T0" fmla="*/ 0 w 578"/>
                  <a:gd name="T1" fmla="*/ 0 h 79"/>
                  <a:gd name="T2" fmla="*/ 0 w 578"/>
                  <a:gd name="T3" fmla="*/ 0 h 79"/>
                  <a:gd name="T4" fmla="*/ 0 w 578"/>
                  <a:gd name="T5" fmla="*/ 0 h 79"/>
                  <a:gd name="T6" fmla="*/ 0 w 578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8"/>
                  <a:gd name="T13" fmla="*/ 0 h 79"/>
                  <a:gd name="T14" fmla="*/ 578 w 578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8" h="79">
                    <a:moveTo>
                      <a:pt x="0" y="57"/>
                    </a:moveTo>
                    <a:lnTo>
                      <a:pt x="16" y="79"/>
                    </a:lnTo>
                    <a:lnTo>
                      <a:pt x="578" y="0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0" name="Freeform 47">
                <a:extLst>
                  <a:ext uri="{FF2B5EF4-FFF2-40B4-BE49-F238E27FC236}">
                    <a16:creationId xmlns:a16="http://schemas.microsoft.com/office/drawing/2014/main" id="{5A25D25F-0152-7E4D-978B-456C063A27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29" y="3481"/>
                <a:ext cx="54" cy="61"/>
              </a:xfrm>
              <a:custGeom>
                <a:avLst/>
                <a:gdLst>
                  <a:gd name="T0" fmla="*/ 0 w 217"/>
                  <a:gd name="T1" fmla="*/ 0 h 242"/>
                  <a:gd name="T2" fmla="*/ 0 w 217"/>
                  <a:gd name="T3" fmla="*/ 0 h 242"/>
                  <a:gd name="T4" fmla="*/ 0 w 217"/>
                  <a:gd name="T5" fmla="*/ 0 h 242"/>
                  <a:gd name="T6" fmla="*/ 0 w 217"/>
                  <a:gd name="T7" fmla="*/ 0 h 242"/>
                  <a:gd name="T8" fmla="*/ 0 w 217"/>
                  <a:gd name="T9" fmla="*/ 0 h 2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7"/>
                  <a:gd name="T16" fmla="*/ 0 h 242"/>
                  <a:gd name="T17" fmla="*/ 217 w 217"/>
                  <a:gd name="T18" fmla="*/ 242 h 2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7" h="242">
                    <a:moveTo>
                      <a:pt x="182" y="242"/>
                    </a:moveTo>
                    <a:lnTo>
                      <a:pt x="217" y="239"/>
                    </a:lnTo>
                    <a:lnTo>
                      <a:pt x="147" y="142"/>
                    </a:lnTo>
                    <a:lnTo>
                      <a:pt x="0" y="0"/>
                    </a:lnTo>
                    <a:lnTo>
                      <a:pt x="182" y="242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1" name="Freeform 48">
                <a:extLst>
                  <a:ext uri="{FF2B5EF4-FFF2-40B4-BE49-F238E27FC236}">
                    <a16:creationId xmlns:a16="http://schemas.microsoft.com/office/drawing/2014/main" id="{7005D086-40D0-4D48-A12E-EE6C997D97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8" y="3481"/>
                <a:ext cx="186" cy="74"/>
              </a:xfrm>
              <a:custGeom>
                <a:avLst/>
                <a:gdLst>
                  <a:gd name="T0" fmla="*/ 0 w 744"/>
                  <a:gd name="T1" fmla="*/ 0 h 296"/>
                  <a:gd name="T2" fmla="*/ 0 w 744"/>
                  <a:gd name="T3" fmla="*/ 0 h 296"/>
                  <a:gd name="T4" fmla="*/ 0 w 744"/>
                  <a:gd name="T5" fmla="*/ 0 h 296"/>
                  <a:gd name="T6" fmla="*/ 0 w 744"/>
                  <a:gd name="T7" fmla="*/ 0 h 296"/>
                  <a:gd name="T8" fmla="*/ 0 w 744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4"/>
                  <a:gd name="T16" fmla="*/ 0 h 296"/>
                  <a:gd name="T17" fmla="*/ 744 w 744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4" h="296">
                    <a:moveTo>
                      <a:pt x="0" y="79"/>
                    </a:moveTo>
                    <a:lnTo>
                      <a:pt x="162" y="296"/>
                    </a:lnTo>
                    <a:lnTo>
                      <a:pt x="744" y="242"/>
                    </a:lnTo>
                    <a:lnTo>
                      <a:pt x="562" y="0"/>
                    </a:lnTo>
                    <a:lnTo>
                      <a:pt x="0" y="79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2" name="Freeform 49">
                <a:extLst>
                  <a:ext uri="{FF2B5EF4-FFF2-40B4-BE49-F238E27FC236}">
                    <a16:creationId xmlns:a16="http://schemas.microsoft.com/office/drawing/2014/main" id="{0CDA82AE-19AC-A24F-A098-836782E26B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4" y="3661"/>
                <a:ext cx="246" cy="99"/>
              </a:xfrm>
              <a:custGeom>
                <a:avLst/>
                <a:gdLst>
                  <a:gd name="T0" fmla="*/ 0 w 982"/>
                  <a:gd name="T1" fmla="*/ 0 h 396"/>
                  <a:gd name="T2" fmla="*/ 0 w 982"/>
                  <a:gd name="T3" fmla="*/ 0 h 396"/>
                  <a:gd name="T4" fmla="*/ 0 w 982"/>
                  <a:gd name="T5" fmla="*/ 0 h 396"/>
                  <a:gd name="T6" fmla="*/ 0 w 982"/>
                  <a:gd name="T7" fmla="*/ 0 h 396"/>
                  <a:gd name="T8" fmla="*/ 0 w 982"/>
                  <a:gd name="T9" fmla="*/ 0 h 396"/>
                  <a:gd name="T10" fmla="*/ 0 w 982"/>
                  <a:gd name="T11" fmla="*/ 0 h 396"/>
                  <a:gd name="T12" fmla="*/ 0 w 982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2"/>
                  <a:gd name="T22" fmla="*/ 0 h 396"/>
                  <a:gd name="T23" fmla="*/ 982 w 982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2" h="396">
                    <a:moveTo>
                      <a:pt x="162" y="0"/>
                    </a:moveTo>
                    <a:lnTo>
                      <a:pt x="0" y="24"/>
                    </a:lnTo>
                    <a:lnTo>
                      <a:pt x="280" y="396"/>
                    </a:lnTo>
                    <a:lnTo>
                      <a:pt x="982" y="263"/>
                    </a:lnTo>
                    <a:lnTo>
                      <a:pt x="910" y="163"/>
                    </a:lnTo>
                    <a:lnTo>
                      <a:pt x="326" y="217"/>
                    </a:lnTo>
                    <a:lnTo>
                      <a:pt x="162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3" name="Freeform 50">
                <a:extLst>
                  <a:ext uri="{FF2B5EF4-FFF2-40B4-BE49-F238E27FC236}">
                    <a16:creationId xmlns:a16="http://schemas.microsoft.com/office/drawing/2014/main" id="{2A72D13A-A9EB-EC4C-9F9F-F3FF66A478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9" y="3654"/>
                <a:ext cx="47" cy="48"/>
              </a:xfrm>
              <a:custGeom>
                <a:avLst/>
                <a:gdLst>
                  <a:gd name="T0" fmla="*/ 0 w 185"/>
                  <a:gd name="T1" fmla="*/ 0 h 191"/>
                  <a:gd name="T2" fmla="*/ 0 w 185"/>
                  <a:gd name="T3" fmla="*/ 0 h 191"/>
                  <a:gd name="T4" fmla="*/ 0 w 185"/>
                  <a:gd name="T5" fmla="*/ 0 h 191"/>
                  <a:gd name="T6" fmla="*/ 0 w 185"/>
                  <a:gd name="T7" fmla="*/ 0 h 19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85"/>
                  <a:gd name="T13" fmla="*/ 0 h 191"/>
                  <a:gd name="T14" fmla="*/ 185 w 185"/>
                  <a:gd name="T15" fmla="*/ 191 h 19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85" h="191">
                    <a:moveTo>
                      <a:pt x="185" y="185"/>
                    </a:moveTo>
                    <a:lnTo>
                      <a:pt x="0" y="0"/>
                    </a:lnTo>
                    <a:lnTo>
                      <a:pt x="145" y="191"/>
                    </a:lnTo>
                    <a:lnTo>
                      <a:pt x="185" y="18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4" name="Freeform 51">
                <a:extLst>
                  <a:ext uri="{FF2B5EF4-FFF2-40B4-BE49-F238E27FC236}">
                    <a16:creationId xmlns:a16="http://schemas.microsoft.com/office/drawing/2014/main" id="{DAA380ED-D4E1-5843-871C-90F6D70544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1" y="3640"/>
                <a:ext cx="145" cy="21"/>
              </a:xfrm>
              <a:custGeom>
                <a:avLst/>
                <a:gdLst>
                  <a:gd name="T0" fmla="*/ 0 w 582"/>
                  <a:gd name="T1" fmla="*/ 0 h 82"/>
                  <a:gd name="T2" fmla="*/ 0 w 582"/>
                  <a:gd name="T3" fmla="*/ 0 h 82"/>
                  <a:gd name="T4" fmla="*/ 0 w 582"/>
                  <a:gd name="T5" fmla="*/ 0 h 82"/>
                  <a:gd name="T6" fmla="*/ 0 w 582"/>
                  <a:gd name="T7" fmla="*/ 0 h 8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2"/>
                  <a:gd name="T13" fmla="*/ 0 h 82"/>
                  <a:gd name="T14" fmla="*/ 582 w 582"/>
                  <a:gd name="T15" fmla="*/ 82 h 8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2" h="82">
                    <a:moveTo>
                      <a:pt x="0" y="60"/>
                    </a:moveTo>
                    <a:lnTo>
                      <a:pt x="16" y="82"/>
                    </a:lnTo>
                    <a:lnTo>
                      <a:pt x="582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5" name="Freeform 52">
                <a:extLst>
                  <a:ext uri="{FF2B5EF4-FFF2-40B4-BE49-F238E27FC236}">
                    <a16:creationId xmlns:a16="http://schemas.microsoft.com/office/drawing/2014/main" id="{CBE63FE7-6C2C-674C-9F13-61A663B547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56" y="3640"/>
                <a:ext cx="49" cy="62"/>
              </a:xfrm>
              <a:custGeom>
                <a:avLst/>
                <a:gdLst>
                  <a:gd name="T0" fmla="*/ 0 w 198"/>
                  <a:gd name="T1" fmla="*/ 0 h 245"/>
                  <a:gd name="T2" fmla="*/ 0 w 198"/>
                  <a:gd name="T3" fmla="*/ 0 h 245"/>
                  <a:gd name="T4" fmla="*/ 0 w 198"/>
                  <a:gd name="T5" fmla="*/ 0 h 245"/>
                  <a:gd name="T6" fmla="*/ 0 w 198"/>
                  <a:gd name="T7" fmla="*/ 0 h 245"/>
                  <a:gd name="T8" fmla="*/ 0 w 198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8"/>
                  <a:gd name="T16" fmla="*/ 0 h 245"/>
                  <a:gd name="T17" fmla="*/ 198 w 198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8" h="245">
                    <a:moveTo>
                      <a:pt x="182" y="245"/>
                    </a:moveTo>
                    <a:lnTo>
                      <a:pt x="198" y="245"/>
                    </a:lnTo>
                    <a:lnTo>
                      <a:pt x="53" y="54"/>
                    </a:lnTo>
                    <a:lnTo>
                      <a:pt x="0" y="0"/>
                    </a:lnTo>
                    <a:lnTo>
                      <a:pt x="182" y="245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6" name="Freeform 53">
                <a:extLst>
                  <a:ext uri="{FF2B5EF4-FFF2-40B4-BE49-F238E27FC236}">
                    <a16:creationId xmlns:a16="http://schemas.microsoft.com/office/drawing/2014/main" id="{2AF25842-6DDD-E741-9EC0-DCF03F0EF0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5" y="3640"/>
                <a:ext cx="186" cy="75"/>
              </a:xfrm>
              <a:custGeom>
                <a:avLst/>
                <a:gdLst>
                  <a:gd name="T0" fmla="*/ 0 w 748"/>
                  <a:gd name="T1" fmla="*/ 0 h 299"/>
                  <a:gd name="T2" fmla="*/ 0 w 748"/>
                  <a:gd name="T3" fmla="*/ 0 h 299"/>
                  <a:gd name="T4" fmla="*/ 0 w 748"/>
                  <a:gd name="T5" fmla="*/ 0 h 299"/>
                  <a:gd name="T6" fmla="*/ 0 w 748"/>
                  <a:gd name="T7" fmla="*/ 0 h 299"/>
                  <a:gd name="T8" fmla="*/ 0 w 748"/>
                  <a:gd name="T9" fmla="*/ 0 h 2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8"/>
                  <a:gd name="T16" fmla="*/ 0 h 299"/>
                  <a:gd name="T17" fmla="*/ 748 w 748"/>
                  <a:gd name="T18" fmla="*/ 299 h 2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8" h="299">
                    <a:moveTo>
                      <a:pt x="0" y="82"/>
                    </a:moveTo>
                    <a:lnTo>
                      <a:pt x="164" y="299"/>
                    </a:lnTo>
                    <a:lnTo>
                      <a:pt x="748" y="245"/>
                    </a:lnTo>
                    <a:lnTo>
                      <a:pt x="566" y="0"/>
                    </a:ln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7" name="Freeform 54">
                <a:extLst>
                  <a:ext uri="{FF2B5EF4-FFF2-40B4-BE49-F238E27FC236}">
                    <a16:creationId xmlns:a16="http://schemas.microsoft.com/office/drawing/2014/main" id="{9E5AD014-0697-EC40-B294-53AAE26EE2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53" y="3896"/>
                <a:ext cx="20" cy="25"/>
              </a:xfrm>
              <a:custGeom>
                <a:avLst/>
                <a:gdLst>
                  <a:gd name="T0" fmla="*/ 0 w 79"/>
                  <a:gd name="T1" fmla="*/ 0 h 100"/>
                  <a:gd name="T2" fmla="*/ 0 w 79"/>
                  <a:gd name="T3" fmla="*/ 0 h 100"/>
                  <a:gd name="T4" fmla="*/ 0 w 79"/>
                  <a:gd name="T5" fmla="*/ 0 h 100"/>
                  <a:gd name="T6" fmla="*/ 0 w 79"/>
                  <a:gd name="T7" fmla="*/ 0 h 100"/>
                  <a:gd name="T8" fmla="*/ 0 w 79"/>
                  <a:gd name="T9" fmla="*/ 0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100"/>
                  <a:gd name="T17" fmla="*/ 79 w 7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100">
                    <a:moveTo>
                      <a:pt x="74" y="100"/>
                    </a:moveTo>
                    <a:lnTo>
                      <a:pt x="79" y="100"/>
                    </a:lnTo>
                    <a:lnTo>
                      <a:pt x="5" y="0"/>
                    </a:lnTo>
                    <a:lnTo>
                      <a:pt x="0" y="3"/>
                    </a:lnTo>
                    <a:lnTo>
                      <a:pt x="74" y="10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8" name="Freeform 55">
                <a:extLst>
                  <a:ext uri="{FF2B5EF4-FFF2-40B4-BE49-F238E27FC236}">
                    <a16:creationId xmlns:a16="http://schemas.microsoft.com/office/drawing/2014/main" id="{6D333B84-63DD-074E-AFC1-E519DFC65D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26" y="3855"/>
                <a:ext cx="245" cy="99"/>
              </a:xfrm>
              <a:custGeom>
                <a:avLst/>
                <a:gdLst>
                  <a:gd name="T0" fmla="*/ 0 w 981"/>
                  <a:gd name="T1" fmla="*/ 0 h 397"/>
                  <a:gd name="T2" fmla="*/ 0 w 981"/>
                  <a:gd name="T3" fmla="*/ 0 h 397"/>
                  <a:gd name="T4" fmla="*/ 0 w 981"/>
                  <a:gd name="T5" fmla="*/ 0 h 397"/>
                  <a:gd name="T6" fmla="*/ 0 w 981"/>
                  <a:gd name="T7" fmla="*/ 0 h 397"/>
                  <a:gd name="T8" fmla="*/ 0 w 981"/>
                  <a:gd name="T9" fmla="*/ 0 h 397"/>
                  <a:gd name="T10" fmla="*/ 0 w 981"/>
                  <a:gd name="T11" fmla="*/ 0 h 397"/>
                  <a:gd name="T12" fmla="*/ 0 w 98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1"/>
                  <a:gd name="T22" fmla="*/ 0 h 397"/>
                  <a:gd name="T23" fmla="*/ 981 w 98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1" h="397">
                    <a:moveTo>
                      <a:pt x="328" y="217"/>
                    </a:moveTo>
                    <a:lnTo>
                      <a:pt x="166" y="0"/>
                    </a:lnTo>
                    <a:lnTo>
                      <a:pt x="0" y="25"/>
                    </a:lnTo>
                    <a:lnTo>
                      <a:pt x="286" y="397"/>
                    </a:lnTo>
                    <a:lnTo>
                      <a:pt x="981" y="263"/>
                    </a:lnTo>
                    <a:lnTo>
                      <a:pt x="907" y="166"/>
                    </a:lnTo>
                    <a:lnTo>
                      <a:pt x="328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9" name="Freeform 56">
                <a:extLst>
                  <a:ext uri="{FF2B5EF4-FFF2-40B4-BE49-F238E27FC236}">
                    <a16:creationId xmlns:a16="http://schemas.microsoft.com/office/drawing/2014/main" id="{E062041B-78EC-0043-9805-7F62AC6779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9" y="3835"/>
                <a:ext cx="60" cy="61"/>
              </a:xfrm>
              <a:custGeom>
                <a:avLst/>
                <a:gdLst>
                  <a:gd name="T0" fmla="*/ 0 w 238"/>
                  <a:gd name="T1" fmla="*/ 0 h 244"/>
                  <a:gd name="T2" fmla="*/ 0 w 238"/>
                  <a:gd name="T3" fmla="*/ 0 h 244"/>
                  <a:gd name="T4" fmla="*/ 0 w 238"/>
                  <a:gd name="T5" fmla="*/ 0 h 244"/>
                  <a:gd name="T6" fmla="*/ 0 w 238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8"/>
                  <a:gd name="T13" fmla="*/ 0 h 244"/>
                  <a:gd name="T14" fmla="*/ 238 w 238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8" h="244">
                    <a:moveTo>
                      <a:pt x="238" y="238"/>
                    </a:moveTo>
                    <a:lnTo>
                      <a:pt x="0" y="0"/>
                    </a:lnTo>
                    <a:lnTo>
                      <a:pt x="178" y="244"/>
                    </a:lnTo>
                    <a:lnTo>
                      <a:pt x="238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0" name="Freeform 57">
                <a:extLst>
                  <a:ext uri="{FF2B5EF4-FFF2-40B4-BE49-F238E27FC236}">
                    <a16:creationId xmlns:a16="http://schemas.microsoft.com/office/drawing/2014/main" id="{3E488C13-9C81-224F-8CD8-FED289B44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3" cy="1"/>
              </a:xfrm>
              <a:custGeom>
                <a:avLst/>
                <a:gdLst>
                  <a:gd name="T0" fmla="*/ 0 w 12"/>
                  <a:gd name="T1" fmla="*/ 0 h 2"/>
                  <a:gd name="T2" fmla="*/ 0 w 12"/>
                  <a:gd name="T3" fmla="*/ 1 h 2"/>
                  <a:gd name="T4" fmla="*/ 0 w 12"/>
                  <a:gd name="T5" fmla="*/ 0 h 2"/>
                  <a:gd name="T6" fmla="*/ 0 60000 65536"/>
                  <a:gd name="T7" fmla="*/ 0 60000 65536"/>
                  <a:gd name="T8" fmla="*/ 0 60000 65536"/>
                  <a:gd name="T9" fmla="*/ 0 w 12"/>
                  <a:gd name="T10" fmla="*/ 0 h 2"/>
                  <a:gd name="T11" fmla="*/ 12 w 12"/>
                  <a:gd name="T12" fmla="*/ 2 h 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" h="2">
                    <a:moveTo>
                      <a:pt x="12" y="0"/>
                    </a:moveTo>
                    <a:lnTo>
                      <a:pt x="0" y="2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1" name="Freeform 58">
                <a:extLst>
                  <a:ext uri="{FF2B5EF4-FFF2-40B4-BE49-F238E27FC236}">
                    <a16:creationId xmlns:a16="http://schemas.microsoft.com/office/drawing/2014/main" id="{F752A971-C9C3-6E43-AD49-B1FE54E674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3" y="3835"/>
                <a:ext cx="143" cy="20"/>
              </a:xfrm>
              <a:custGeom>
                <a:avLst/>
                <a:gdLst>
                  <a:gd name="T0" fmla="*/ 0 w 572"/>
                  <a:gd name="T1" fmla="*/ 0 h 79"/>
                  <a:gd name="T2" fmla="*/ 0 w 572"/>
                  <a:gd name="T3" fmla="*/ 0 h 79"/>
                  <a:gd name="T4" fmla="*/ 0 w 572"/>
                  <a:gd name="T5" fmla="*/ 0 h 79"/>
                  <a:gd name="T6" fmla="*/ 0 w 572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2"/>
                  <a:gd name="T13" fmla="*/ 0 h 79"/>
                  <a:gd name="T14" fmla="*/ 572 w 572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2" h="79">
                    <a:moveTo>
                      <a:pt x="16" y="79"/>
                    </a:moveTo>
                    <a:lnTo>
                      <a:pt x="572" y="0"/>
                    </a:lnTo>
                    <a:lnTo>
                      <a:pt x="0" y="58"/>
                    </a:lnTo>
                    <a:lnTo>
                      <a:pt x="16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2" name="Freeform 59">
                <a:extLst>
                  <a:ext uri="{FF2B5EF4-FFF2-40B4-BE49-F238E27FC236}">
                    <a16:creationId xmlns:a16="http://schemas.microsoft.com/office/drawing/2014/main" id="{AB3F5280-70A7-3642-809D-34A0DA37FB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48" cy="61"/>
              </a:xfrm>
              <a:custGeom>
                <a:avLst/>
                <a:gdLst>
                  <a:gd name="T0" fmla="*/ 0 w 190"/>
                  <a:gd name="T1" fmla="*/ 0 h 247"/>
                  <a:gd name="T2" fmla="*/ 0 w 190"/>
                  <a:gd name="T3" fmla="*/ 0 h 247"/>
                  <a:gd name="T4" fmla="*/ 0 w 190"/>
                  <a:gd name="T5" fmla="*/ 0 h 247"/>
                  <a:gd name="T6" fmla="*/ 0 w 190"/>
                  <a:gd name="T7" fmla="*/ 0 h 247"/>
                  <a:gd name="T8" fmla="*/ 0 w 190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0"/>
                  <a:gd name="T16" fmla="*/ 0 h 247"/>
                  <a:gd name="T17" fmla="*/ 190 w 190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0" h="247">
                    <a:moveTo>
                      <a:pt x="185" y="247"/>
                    </a:moveTo>
                    <a:lnTo>
                      <a:pt x="190" y="244"/>
                    </a:lnTo>
                    <a:lnTo>
                      <a:pt x="12" y="0"/>
                    </a:lnTo>
                    <a:lnTo>
                      <a:pt x="0" y="2"/>
                    </a:lnTo>
                    <a:lnTo>
                      <a:pt x="185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3" name="Freeform 60">
                <a:extLst>
                  <a:ext uri="{FF2B5EF4-FFF2-40B4-BE49-F238E27FC236}">
                    <a16:creationId xmlns:a16="http://schemas.microsoft.com/office/drawing/2014/main" id="{906B871F-4FCD-4C46-805A-8714C61DC7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7" y="3835"/>
                <a:ext cx="186" cy="74"/>
              </a:xfrm>
              <a:custGeom>
                <a:avLst/>
                <a:gdLst>
                  <a:gd name="T0" fmla="*/ 0 w 741"/>
                  <a:gd name="T1" fmla="*/ 0 h 296"/>
                  <a:gd name="T2" fmla="*/ 0 w 741"/>
                  <a:gd name="T3" fmla="*/ 0 h 296"/>
                  <a:gd name="T4" fmla="*/ 0 w 741"/>
                  <a:gd name="T5" fmla="*/ 0 h 296"/>
                  <a:gd name="T6" fmla="*/ 0 w 741"/>
                  <a:gd name="T7" fmla="*/ 0 h 296"/>
                  <a:gd name="T8" fmla="*/ 0 w 74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1"/>
                  <a:gd name="T16" fmla="*/ 0 h 296"/>
                  <a:gd name="T17" fmla="*/ 741 w 74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1" h="296">
                    <a:moveTo>
                      <a:pt x="741" y="245"/>
                    </a:moveTo>
                    <a:lnTo>
                      <a:pt x="556" y="0"/>
                    </a:lnTo>
                    <a:lnTo>
                      <a:pt x="0" y="79"/>
                    </a:lnTo>
                    <a:lnTo>
                      <a:pt x="162" y="296"/>
                    </a:lnTo>
                    <a:lnTo>
                      <a:pt x="74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4" name="Freeform 65">
                <a:extLst>
                  <a:ext uri="{FF2B5EF4-FFF2-40B4-BE49-F238E27FC236}">
                    <a16:creationId xmlns:a16="http://schemas.microsoft.com/office/drawing/2014/main" id="{87A6A702-D737-5049-92A3-7FAE843DE8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6" y="3085"/>
                <a:ext cx="247" cy="383"/>
              </a:xfrm>
              <a:custGeom>
                <a:avLst/>
                <a:gdLst>
                  <a:gd name="T0" fmla="*/ 0 w 986"/>
                  <a:gd name="T1" fmla="*/ 0 h 1530"/>
                  <a:gd name="T2" fmla="*/ 0 w 986"/>
                  <a:gd name="T3" fmla="*/ 0 h 1530"/>
                  <a:gd name="T4" fmla="*/ 0 w 986"/>
                  <a:gd name="T5" fmla="*/ 0 h 1530"/>
                  <a:gd name="T6" fmla="*/ 0 w 986"/>
                  <a:gd name="T7" fmla="*/ 0 h 1530"/>
                  <a:gd name="T8" fmla="*/ 0 w 986"/>
                  <a:gd name="T9" fmla="*/ 0 h 1530"/>
                  <a:gd name="T10" fmla="*/ 0 w 986"/>
                  <a:gd name="T11" fmla="*/ 0 h 1530"/>
                  <a:gd name="T12" fmla="*/ 0 w 986"/>
                  <a:gd name="T13" fmla="*/ 0 h 1530"/>
                  <a:gd name="T14" fmla="*/ 0 w 986"/>
                  <a:gd name="T15" fmla="*/ 0 h 1530"/>
                  <a:gd name="T16" fmla="*/ 0 w 986"/>
                  <a:gd name="T17" fmla="*/ 0 h 1530"/>
                  <a:gd name="T18" fmla="*/ 0 w 986"/>
                  <a:gd name="T19" fmla="*/ 0 h 1530"/>
                  <a:gd name="T20" fmla="*/ 0 w 986"/>
                  <a:gd name="T21" fmla="*/ 0 h 1530"/>
                  <a:gd name="T22" fmla="*/ 0 w 986"/>
                  <a:gd name="T23" fmla="*/ 0 h 1530"/>
                  <a:gd name="T24" fmla="*/ 0 w 986"/>
                  <a:gd name="T25" fmla="*/ 0 h 1530"/>
                  <a:gd name="T26" fmla="*/ 0 w 986"/>
                  <a:gd name="T27" fmla="*/ 0 h 1530"/>
                  <a:gd name="T28" fmla="*/ 0 w 986"/>
                  <a:gd name="T29" fmla="*/ 0 h 1530"/>
                  <a:gd name="T30" fmla="*/ 0 w 986"/>
                  <a:gd name="T31" fmla="*/ 0 h 1530"/>
                  <a:gd name="T32" fmla="*/ 0 w 986"/>
                  <a:gd name="T33" fmla="*/ 0 h 1530"/>
                  <a:gd name="T34" fmla="*/ 0 w 986"/>
                  <a:gd name="T35" fmla="*/ 0 h 1530"/>
                  <a:gd name="T36" fmla="*/ 0 w 986"/>
                  <a:gd name="T37" fmla="*/ 0 h 1530"/>
                  <a:gd name="T38" fmla="*/ 0 w 986"/>
                  <a:gd name="T39" fmla="*/ 0 h 1530"/>
                  <a:gd name="T40" fmla="*/ 0 w 986"/>
                  <a:gd name="T41" fmla="*/ 0 h 1530"/>
                  <a:gd name="T42" fmla="*/ 0 w 986"/>
                  <a:gd name="T43" fmla="*/ 0 h 1530"/>
                  <a:gd name="T44" fmla="*/ 0 w 986"/>
                  <a:gd name="T45" fmla="*/ 0 h 1530"/>
                  <a:gd name="T46" fmla="*/ 0 w 986"/>
                  <a:gd name="T47" fmla="*/ 0 h 1530"/>
                  <a:gd name="T48" fmla="*/ 0 w 986"/>
                  <a:gd name="T49" fmla="*/ 0 h 1530"/>
                  <a:gd name="T50" fmla="*/ 0 w 986"/>
                  <a:gd name="T51" fmla="*/ 0 h 1530"/>
                  <a:gd name="T52" fmla="*/ 0 w 986"/>
                  <a:gd name="T53" fmla="*/ 0 h 1530"/>
                  <a:gd name="T54" fmla="*/ 0 w 986"/>
                  <a:gd name="T55" fmla="*/ 0 h 1530"/>
                  <a:gd name="T56" fmla="*/ 0 w 986"/>
                  <a:gd name="T57" fmla="*/ 0 h 1530"/>
                  <a:gd name="T58" fmla="*/ 0 w 986"/>
                  <a:gd name="T59" fmla="*/ 0 h 1530"/>
                  <a:gd name="T60" fmla="*/ 0 w 986"/>
                  <a:gd name="T61" fmla="*/ 0 h 1530"/>
                  <a:gd name="T62" fmla="*/ 0 w 986"/>
                  <a:gd name="T63" fmla="*/ 0 h 1530"/>
                  <a:gd name="T64" fmla="*/ 0 w 986"/>
                  <a:gd name="T65" fmla="*/ 0 h 1530"/>
                  <a:gd name="T66" fmla="*/ 0 w 986"/>
                  <a:gd name="T67" fmla="*/ 0 h 1530"/>
                  <a:gd name="T68" fmla="*/ 0 w 986"/>
                  <a:gd name="T69" fmla="*/ 0 h 1530"/>
                  <a:gd name="T70" fmla="*/ 0 w 986"/>
                  <a:gd name="T71" fmla="*/ 0 h 1530"/>
                  <a:gd name="T72" fmla="*/ 0 w 986"/>
                  <a:gd name="T73" fmla="*/ 0 h 1530"/>
                  <a:gd name="T74" fmla="*/ 0 w 986"/>
                  <a:gd name="T75" fmla="*/ 0 h 1530"/>
                  <a:gd name="T76" fmla="*/ 0 w 986"/>
                  <a:gd name="T77" fmla="*/ 0 h 1530"/>
                  <a:gd name="T78" fmla="*/ 0 w 986"/>
                  <a:gd name="T79" fmla="*/ 0 h 1530"/>
                  <a:gd name="T80" fmla="*/ 0 w 986"/>
                  <a:gd name="T81" fmla="*/ 0 h 1530"/>
                  <a:gd name="T82" fmla="*/ 0 w 986"/>
                  <a:gd name="T83" fmla="*/ 0 h 1530"/>
                  <a:gd name="T84" fmla="*/ 0 w 986"/>
                  <a:gd name="T85" fmla="*/ 0 h 1530"/>
                  <a:gd name="T86" fmla="*/ 0 w 986"/>
                  <a:gd name="T87" fmla="*/ 0 h 1530"/>
                  <a:gd name="T88" fmla="*/ 0 w 986"/>
                  <a:gd name="T89" fmla="*/ 0 h 1530"/>
                  <a:gd name="T90" fmla="*/ 0 w 986"/>
                  <a:gd name="T91" fmla="*/ 0 h 1530"/>
                  <a:gd name="T92" fmla="*/ 0 w 986"/>
                  <a:gd name="T93" fmla="*/ 0 h 1530"/>
                  <a:gd name="T94" fmla="*/ 0 w 986"/>
                  <a:gd name="T95" fmla="*/ 0 h 1530"/>
                  <a:gd name="T96" fmla="*/ 0 w 986"/>
                  <a:gd name="T97" fmla="*/ 0 h 1530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986"/>
                  <a:gd name="T148" fmla="*/ 0 h 1530"/>
                  <a:gd name="T149" fmla="*/ 986 w 986"/>
                  <a:gd name="T150" fmla="*/ 1530 h 1530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986" h="1530">
                    <a:moveTo>
                      <a:pt x="6" y="65"/>
                    </a:moveTo>
                    <a:lnTo>
                      <a:pt x="58" y="157"/>
                    </a:lnTo>
                    <a:lnTo>
                      <a:pt x="111" y="249"/>
                    </a:lnTo>
                    <a:lnTo>
                      <a:pt x="166" y="342"/>
                    </a:lnTo>
                    <a:lnTo>
                      <a:pt x="220" y="430"/>
                    </a:lnTo>
                    <a:lnTo>
                      <a:pt x="277" y="520"/>
                    </a:lnTo>
                    <a:lnTo>
                      <a:pt x="332" y="613"/>
                    </a:lnTo>
                    <a:lnTo>
                      <a:pt x="388" y="702"/>
                    </a:lnTo>
                    <a:lnTo>
                      <a:pt x="446" y="792"/>
                    </a:lnTo>
                    <a:lnTo>
                      <a:pt x="503" y="882"/>
                    </a:lnTo>
                    <a:lnTo>
                      <a:pt x="559" y="971"/>
                    </a:lnTo>
                    <a:lnTo>
                      <a:pt x="619" y="1061"/>
                    </a:lnTo>
                    <a:lnTo>
                      <a:pt x="677" y="1151"/>
                    </a:lnTo>
                    <a:lnTo>
                      <a:pt x="734" y="1240"/>
                    </a:lnTo>
                    <a:lnTo>
                      <a:pt x="790" y="1329"/>
                    </a:lnTo>
                    <a:lnTo>
                      <a:pt x="848" y="1419"/>
                    </a:lnTo>
                    <a:lnTo>
                      <a:pt x="905" y="1509"/>
                    </a:lnTo>
                    <a:lnTo>
                      <a:pt x="916" y="1523"/>
                    </a:lnTo>
                    <a:lnTo>
                      <a:pt x="932" y="1530"/>
                    </a:lnTo>
                    <a:lnTo>
                      <a:pt x="949" y="1530"/>
                    </a:lnTo>
                    <a:lnTo>
                      <a:pt x="965" y="1525"/>
                    </a:lnTo>
                    <a:lnTo>
                      <a:pt x="979" y="1511"/>
                    </a:lnTo>
                    <a:lnTo>
                      <a:pt x="986" y="1498"/>
                    </a:lnTo>
                    <a:lnTo>
                      <a:pt x="986" y="1479"/>
                    </a:lnTo>
                    <a:lnTo>
                      <a:pt x="981" y="1463"/>
                    </a:lnTo>
                    <a:lnTo>
                      <a:pt x="924" y="1373"/>
                    </a:lnTo>
                    <a:lnTo>
                      <a:pt x="866" y="1283"/>
                    </a:lnTo>
                    <a:lnTo>
                      <a:pt x="813" y="1194"/>
                    </a:lnTo>
                    <a:lnTo>
                      <a:pt x="755" y="1104"/>
                    </a:lnTo>
                    <a:lnTo>
                      <a:pt x="695" y="1017"/>
                    </a:lnTo>
                    <a:lnTo>
                      <a:pt x="639" y="928"/>
                    </a:lnTo>
                    <a:lnTo>
                      <a:pt x="582" y="838"/>
                    </a:lnTo>
                    <a:lnTo>
                      <a:pt x="524" y="749"/>
                    </a:lnTo>
                    <a:lnTo>
                      <a:pt x="467" y="659"/>
                    </a:lnTo>
                    <a:lnTo>
                      <a:pt x="413" y="569"/>
                    </a:lnTo>
                    <a:lnTo>
                      <a:pt x="356" y="480"/>
                    </a:lnTo>
                    <a:lnTo>
                      <a:pt x="302" y="388"/>
                    </a:lnTo>
                    <a:lnTo>
                      <a:pt x="245" y="298"/>
                    </a:lnTo>
                    <a:lnTo>
                      <a:pt x="191" y="208"/>
                    </a:lnTo>
                    <a:lnTo>
                      <a:pt x="136" y="116"/>
                    </a:lnTo>
                    <a:lnTo>
                      <a:pt x="85" y="23"/>
                    </a:lnTo>
                    <a:lnTo>
                      <a:pt x="74" y="10"/>
                    </a:lnTo>
                    <a:lnTo>
                      <a:pt x="60" y="2"/>
                    </a:lnTo>
                    <a:lnTo>
                      <a:pt x="41" y="0"/>
                    </a:lnTo>
                    <a:lnTo>
                      <a:pt x="25" y="5"/>
                    </a:lnTo>
                    <a:lnTo>
                      <a:pt x="11" y="16"/>
                    </a:lnTo>
                    <a:lnTo>
                      <a:pt x="3" y="30"/>
                    </a:lnTo>
                    <a:lnTo>
                      <a:pt x="0" y="48"/>
                    </a:lnTo>
                    <a:lnTo>
                      <a:pt x="6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5" name="Freeform 66">
                <a:extLst>
                  <a:ext uri="{FF2B5EF4-FFF2-40B4-BE49-F238E27FC236}">
                    <a16:creationId xmlns:a16="http://schemas.microsoft.com/office/drawing/2014/main" id="{0B88823F-6D6A-0F4E-9A54-9B11189674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2" y="3453"/>
                <a:ext cx="281" cy="353"/>
              </a:xfrm>
              <a:custGeom>
                <a:avLst/>
                <a:gdLst>
                  <a:gd name="T0" fmla="*/ 0 w 1122"/>
                  <a:gd name="T1" fmla="*/ 0 h 1409"/>
                  <a:gd name="T2" fmla="*/ 0 w 1122"/>
                  <a:gd name="T3" fmla="*/ 0 h 1409"/>
                  <a:gd name="T4" fmla="*/ 0 w 1122"/>
                  <a:gd name="T5" fmla="*/ 0 h 1409"/>
                  <a:gd name="T6" fmla="*/ 0 w 1122"/>
                  <a:gd name="T7" fmla="*/ 0 h 1409"/>
                  <a:gd name="T8" fmla="*/ 0 w 1122"/>
                  <a:gd name="T9" fmla="*/ 0 h 1409"/>
                  <a:gd name="T10" fmla="*/ 0 w 1122"/>
                  <a:gd name="T11" fmla="*/ 0 h 1409"/>
                  <a:gd name="T12" fmla="*/ 0 w 1122"/>
                  <a:gd name="T13" fmla="*/ 0 h 1409"/>
                  <a:gd name="T14" fmla="*/ 0 w 1122"/>
                  <a:gd name="T15" fmla="*/ 0 h 1409"/>
                  <a:gd name="T16" fmla="*/ 0 w 1122"/>
                  <a:gd name="T17" fmla="*/ 0 h 1409"/>
                  <a:gd name="T18" fmla="*/ 0 w 1122"/>
                  <a:gd name="T19" fmla="*/ 0 h 1409"/>
                  <a:gd name="T20" fmla="*/ 0 w 1122"/>
                  <a:gd name="T21" fmla="*/ 0 h 1409"/>
                  <a:gd name="T22" fmla="*/ 0 w 1122"/>
                  <a:gd name="T23" fmla="*/ 0 h 1409"/>
                  <a:gd name="T24" fmla="*/ 0 w 1122"/>
                  <a:gd name="T25" fmla="*/ 0 h 1409"/>
                  <a:gd name="T26" fmla="*/ 0 w 1122"/>
                  <a:gd name="T27" fmla="*/ 0 h 1409"/>
                  <a:gd name="T28" fmla="*/ 0 w 1122"/>
                  <a:gd name="T29" fmla="*/ 0 h 1409"/>
                  <a:gd name="T30" fmla="*/ 0 w 1122"/>
                  <a:gd name="T31" fmla="*/ 0 h 1409"/>
                  <a:gd name="T32" fmla="*/ 0 w 1122"/>
                  <a:gd name="T33" fmla="*/ 0 h 1409"/>
                  <a:gd name="T34" fmla="*/ 0 w 1122"/>
                  <a:gd name="T35" fmla="*/ 0 h 1409"/>
                  <a:gd name="T36" fmla="*/ 0 w 1122"/>
                  <a:gd name="T37" fmla="*/ 0 h 1409"/>
                  <a:gd name="T38" fmla="*/ 0 w 1122"/>
                  <a:gd name="T39" fmla="*/ 0 h 1409"/>
                  <a:gd name="T40" fmla="*/ 0 w 1122"/>
                  <a:gd name="T41" fmla="*/ 0 h 1409"/>
                  <a:gd name="T42" fmla="*/ 0 w 1122"/>
                  <a:gd name="T43" fmla="*/ 0 h 1409"/>
                  <a:gd name="T44" fmla="*/ 0 w 1122"/>
                  <a:gd name="T45" fmla="*/ 0 h 1409"/>
                  <a:gd name="T46" fmla="*/ 0 w 1122"/>
                  <a:gd name="T47" fmla="*/ 0 h 1409"/>
                  <a:gd name="T48" fmla="*/ 0 w 1122"/>
                  <a:gd name="T49" fmla="*/ 0 h 1409"/>
                  <a:gd name="T50" fmla="*/ 0 w 1122"/>
                  <a:gd name="T51" fmla="*/ 0 h 1409"/>
                  <a:gd name="T52" fmla="*/ 0 w 1122"/>
                  <a:gd name="T53" fmla="*/ 0 h 1409"/>
                  <a:gd name="T54" fmla="*/ 0 w 1122"/>
                  <a:gd name="T55" fmla="*/ 0 h 1409"/>
                  <a:gd name="T56" fmla="*/ 0 w 1122"/>
                  <a:gd name="T57" fmla="*/ 0 h 1409"/>
                  <a:gd name="T58" fmla="*/ 0 w 1122"/>
                  <a:gd name="T59" fmla="*/ 0 h 1409"/>
                  <a:gd name="T60" fmla="*/ 0 w 1122"/>
                  <a:gd name="T61" fmla="*/ 0 h 1409"/>
                  <a:gd name="T62" fmla="*/ 0 w 1122"/>
                  <a:gd name="T63" fmla="*/ 0 h 1409"/>
                  <a:gd name="T64" fmla="*/ 0 w 1122"/>
                  <a:gd name="T65" fmla="*/ 0 h 1409"/>
                  <a:gd name="T66" fmla="*/ 0 w 1122"/>
                  <a:gd name="T67" fmla="*/ 0 h 1409"/>
                  <a:gd name="T68" fmla="*/ 0 w 1122"/>
                  <a:gd name="T69" fmla="*/ 0 h 1409"/>
                  <a:gd name="T70" fmla="*/ 0 w 1122"/>
                  <a:gd name="T71" fmla="*/ 0 h 1409"/>
                  <a:gd name="T72" fmla="*/ 0 w 1122"/>
                  <a:gd name="T73" fmla="*/ 0 h 1409"/>
                  <a:gd name="T74" fmla="*/ 0 w 1122"/>
                  <a:gd name="T75" fmla="*/ 0 h 1409"/>
                  <a:gd name="T76" fmla="*/ 0 w 1122"/>
                  <a:gd name="T77" fmla="*/ 0 h 1409"/>
                  <a:gd name="T78" fmla="*/ 0 w 1122"/>
                  <a:gd name="T79" fmla="*/ 0 h 1409"/>
                  <a:gd name="T80" fmla="*/ 0 w 1122"/>
                  <a:gd name="T81" fmla="*/ 0 h 1409"/>
                  <a:gd name="T82" fmla="*/ 0 w 1122"/>
                  <a:gd name="T83" fmla="*/ 0 h 1409"/>
                  <a:gd name="T84" fmla="*/ 0 w 1122"/>
                  <a:gd name="T85" fmla="*/ 0 h 1409"/>
                  <a:gd name="T86" fmla="*/ 0 w 1122"/>
                  <a:gd name="T87" fmla="*/ 0 h 1409"/>
                  <a:gd name="T88" fmla="*/ 0 w 1122"/>
                  <a:gd name="T89" fmla="*/ 0 h 1409"/>
                  <a:gd name="T90" fmla="*/ 0 w 1122"/>
                  <a:gd name="T91" fmla="*/ 0 h 1409"/>
                  <a:gd name="T92" fmla="*/ 0 w 1122"/>
                  <a:gd name="T93" fmla="*/ 0 h 1409"/>
                  <a:gd name="T94" fmla="*/ 0 w 1122"/>
                  <a:gd name="T95" fmla="*/ 0 h 1409"/>
                  <a:gd name="T96" fmla="*/ 0 w 1122"/>
                  <a:gd name="T97" fmla="*/ 0 h 1409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1122"/>
                  <a:gd name="T148" fmla="*/ 0 h 1409"/>
                  <a:gd name="T149" fmla="*/ 1122 w 1122"/>
                  <a:gd name="T150" fmla="*/ 1409 h 1409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1122" h="1409">
                    <a:moveTo>
                      <a:pt x="9" y="73"/>
                    </a:moveTo>
                    <a:lnTo>
                      <a:pt x="76" y="152"/>
                    </a:lnTo>
                    <a:lnTo>
                      <a:pt x="145" y="234"/>
                    </a:lnTo>
                    <a:lnTo>
                      <a:pt x="210" y="312"/>
                    </a:lnTo>
                    <a:lnTo>
                      <a:pt x="277" y="394"/>
                    </a:lnTo>
                    <a:lnTo>
                      <a:pt x="343" y="477"/>
                    </a:lnTo>
                    <a:lnTo>
                      <a:pt x="408" y="560"/>
                    </a:lnTo>
                    <a:lnTo>
                      <a:pt x="470" y="641"/>
                    </a:lnTo>
                    <a:lnTo>
                      <a:pt x="535" y="725"/>
                    </a:lnTo>
                    <a:lnTo>
                      <a:pt x="598" y="809"/>
                    </a:lnTo>
                    <a:lnTo>
                      <a:pt x="663" y="890"/>
                    </a:lnTo>
                    <a:lnTo>
                      <a:pt x="725" y="974"/>
                    </a:lnTo>
                    <a:lnTo>
                      <a:pt x="788" y="1059"/>
                    </a:lnTo>
                    <a:lnTo>
                      <a:pt x="854" y="1143"/>
                    </a:lnTo>
                    <a:lnTo>
                      <a:pt x="916" y="1227"/>
                    </a:lnTo>
                    <a:lnTo>
                      <a:pt x="978" y="1309"/>
                    </a:lnTo>
                    <a:lnTo>
                      <a:pt x="1043" y="1392"/>
                    </a:lnTo>
                    <a:lnTo>
                      <a:pt x="1057" y="1404"/>
                    </a:lnTo>
                    <a:lnTo>
                      <a:pt x="1076" y="1409"/>
                    </a:lnTo>
                    <a:lnTo>
                      <a:pt x="1092" y="1406"/>
                    </a:lnTo>
                    <a:lnTo>
                      <a:pt x="1108" y="1398"/>
                    </a:lnTo>
                    <a:lnTo>
                      <a:pt x="1119" y="1385"/>
                    </a:lnTo>
                    <a:lnTo>
                      <a:pt x="1122" y="1366"/>
                    </a:lnTo>
                    <a:lnTo>
                      <a:pt x="1119" y="1350"/>
                    </a:lnTo>
                    <a:lnTo>
                      <a:pt x="1111" y="1332"/>
                    </a:lnTo>
                    <a:lnTo>
                      <a:pt x="1046" y="1251"/>
                    </a:lnTo>
                    <a:lnTo>
                      <a:pt x="983" y="1168"/>
                    </a:lnTo>
                    <a:lnTo>
                      <a:pt x="921" y="1083"/>
                    </a:lnTo>
                    <a:lnTo>
                      <a:pt x="856" y="1002"/>
                    </a:lnTo>
                    <a:lnTo>
                      <a:pt x="794" y="918"/>
                    </a:lnTo>
                    <a:lnTo>
                      <a:pt x="731" y="836"/>
                    </a:lnTo>
                    <a:lnTo>
                      <a:pt x="669" y="752"/>
                    </a:lnTo>
                    <a:lnTo>
                      <a:pt x="603" y="668"/>
                    </a:lnTo>
                    <a:lnTo>
                      <a:pt x="540" y="586"/>
                    </a:lnTo>
                    <a:lnTo>
                      <a:pt x="475" y="505"/>
                    </a:lnTo>
                    <a:lnTo>
                      <a:pt x="413" y="421"/>
                    </a:lnTo>
                    <a:lnTo>
                      <a:pt x="348" y="339"/>
                    </a:lnTo>
                    <a:lnTo>
                      <a:pt x="281" y="258"/>
                    </a:lnTo>
                    <a:lnTo>
                      <a:pt x="215" y="179"/>
                    </a:lnTo>
                    <a:lnTo>
                      <a:pt x="147" y="98"/>
                    </a:lnTo>
                    <a:lnTo>
                      <a:pt x="80" y="19"/>
                    </a:lnTo>
                    <a:lnTo>
                      <a:pt x="66" y="5"/>
                    </a:lnTo>
                    <a:lnTo>
                      <a:pt x="50" y="0"/>
                    </a:lnTo>
                    <a:lnTo>
                      <a:pt x="34" y="3"/>
                    </a:lnTo>
                    <a:lnTo>
                      <a:pt x="16" y="10"/>
                    </a:lnTo>
                    <a:lnTo>
                      <a:pt x="6" y="24"/>
                    </a:lnTo>
                    <a:lnTo>
                      <a:pt x="0" y="40"/>
                    </a:lnTo>
                    <a:lnTo>
                      <a:pt x="0" y="57"/>
                    </a:lnTo>
                    <a:lnTo>
                      <a:pt x="9" y="73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6" name="Freeform 67">
                <a:extLst>
                  <a:ext uri="{FF2B5EF4-FFF2-40B4-BE49-F238E27FC236}">
                    <a16:creationId xmlns:a16="http://schemas.microsoft.com/office/drawing/2014/main" id="{341C8CC4-E74B-5740-AF4D-CBCF018252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3847"/>
                <a:ext cx="189" cy="254"/>
              </a:xfrm>
              <a:custGeom>
                <a:avLst/>
                <a:gdLst>
                  <a:gd name="T0" fmla="*/ 0 w 755"/>
                  <a:gd name="T1" fmla="*/ 0 h 1016"/>
                  <a:gd name="T2" fmla="*/ 0 w 755"/>
                  <a:gd name="T3" fmla="*/ 0 h 1016"/>
                  <a:gd name="T4" fmla="*/ 0 w 755"/>
                  <a:gd name="T5" fmla="*/ 0 h 1016"/>
                  <a:gd name="T6" fmla="*/ 0 w 755"/>
                  <a:gd name="T7" fmla="*/ 0 h 1016"/>
                  <a:gd name="T8" fmla="*/ 0 w 755"/>
                  <a:gd name="T9" fmla="*/ 0 h 1016"/>
                  <a:gd name="T10" fmla="*/ 0 w 755"/>
                  <a:gd name="T11" fmla="*/ 0 h 1016"/>
                  <a:gd name="T12" fmla="*/ 0 w 755"/>
                  <a:gd name="T13" fmla="*/ 0 h 1016"/>
                  <a:gd name="T14" fmla="*/ 0 w 755"/>
                  <a:gd name="T15" fmla="*/ 0 h 1016"/>
                  <a:gd name="T16" fmla="*/ 0 w 755"/>
                  <a:gd name="T17" fmla="*/ 0 h 1016"/>
                  <a:gd name="T18" fmla="*/ 0 w 755"/>
                  <a:gd name="T19" fmla="*/ 0 h 1016"/>
                  <a:gd name="T20" fmla="*/ 0 w 755"/>
                  <a:gd name="T21" fmla="*/ 0 h 1016"/>
                  <a:gd name="T22" fmla="*/ 0 w 755"/>
                  <a:gd name="T23" fmla="*/ 0 h 1016"/>
                  <a:gd name="T24" fmla="*/ 0 w 755"/>
                  <a:gd name="T25" fmla="*/ 0 h 1016"/>
                  <a:gd name="T26" fmla="*/ 0 w 755"/>
                  <a:gd name="T27" fmla="*/ 0 h 1016"/>
                  <a:gd name="T28" fmla="*/ 0 w 755"/>
                  <a:gd name="T29" fmla="*/ 0 h 1016"/>
                  <a:gd name="T30" fmla="*/ 0 w 755"/>
                  <a:gd name="T31" fmla="*/ 0 h 1016"/>
                  <a:gd name="T32" fmla="*/ 0 w 755"/>
                  <a:gd name="T33" fmla="*/ 0 h 1016"/>
                  <a:gd name="T34" fmla="*/ 0 w 755"/>
                  <a:gd name="T35" fmla="*/ 0 h 1016"/>
                  <a:gd name="T36" fmla="*/ 0 w 755"/>
                  <a:gd name="T37" fmla="*/ 0 h 1016"/>
                  <a:gd name="T38" fmla="*/ 0 w 755"/>
                  <a:gd name="T39" fmla="*/ 0 h 1016"/>
                  <a:gd name="T40" fmla="*/ 0 w 755"/>
                  <a:gd name="T41" fmla="*/ 0 h 1016"/>
                  <a:gd name="T42" fmla="*/ 0 w 755"/>
                  <a:gd name="T43" fmla="*/ 0 h 1016"/>
                  <a:gd name="T44" fmla="*/ 0 w 755"/>
                  <a:gd name="T45" fmla="*/ 0 h 1016"/>
                  <a:gd name="T46" fmla="*/ 0 w 755"/>
                  <a:gd name="T47" fmla="*/ 0 h 1016"/>
                  <a:gd name="T48" fmla="*/ 0 w 755"/>
                  <a:gd name="T49" fmla="*/ 0 h 1016"/>
                  <a:gd name="T50" fmla="*/ 0 w 755"/>
                  <a:gd name="T51" fmla="*/ 0 h 1016"/>
                  <a:gd name="T52" fmla="*/ 0 w 755"/>
                  <a:gd name="T53" fmla="*/ 0 h 1016"/>
                  <a:gd name="T54" fmla="*/ 0 w 755"/>
                  <a:gd name="T55" fmla="*/ 0 h 1016"/>
                  <a:gd name="T56" fmla="*/ 0 w 755"/>
                  <a:gd name="T57" fmla="*/ 0 h 1016"/>
                  <a:gd name="T58" fmla="*/ 0 w 755"/>
                  <a:gd name="T59" fmla="*/ 0 h 1016"/>
                  <a:gd name="T60" fmla="*/ 0 w 755"/>
                  <a:gd name="T61" fmla="*/ 0 h 1016"/>
                  <a:gd name="T62" fmla="*/ 0 w 755"/>
                  <a:gd name="T63" fmla="*/ 0 h 1016"/>
                  <a:gd name="T64" fmla="*/ 0 w 755"/>
                  <a:gd name="T65" fmla="*/ 0 h 1016"/>
                  <a:gd name="T66" fmla="*/ 0 w 755"/>
                  <a:gd name="T67" fmla="*/ 0 h 1016"/>
                  <a:gd name="T68" fmla="*/ 0 w 755"/>
                  <a:gd name="T69" fmla="*/ 0 h 1016"/>
                  <a:gd name="T70" fmla="*/ 0 w 755"/>
                  <a:gd name="T71" fmla="*/ 0 h 1016"/>
                  <a:gd name="T72" fmla="*/ 0 w 755"/>
                  <a:gd name="T73" fmla="*/ 0 h 1016"/>
                  <a:gd name="T74" fmla="*/ 0 w 755"/>
                  <a:gd name="T75" fmla="*/ 0 h 1016"/>
                  <a:gd name="T76" fmla="*/ 0 w 755"/>
                  <a:gd name="T77" fmla="*/ 0 h 1016"/>
                  <a:gd name="T78" fmla="*/ 0 w 755"/>
                  <a:gd name="T79" fmla="*/ 0 h 1016"/>
                  <a:gd name="T80" fmla="*/ 0 w 755"/>
                  <a:gd name="T81" fmla="*/ 0 h 1016"/>
                  <a:gd name="T82" fmla="*/ 0 w 755"/>
                  <a:gd name="T83" fmla="*/ 0 h 1016"/>
                  <a:gd name="T84" fmla="*/ 0 w 755"/>
                  <a:gd name="T85" fmla="*/ 0 h 1016"/>
                  <a:gd name="T86" fmla="*/ 0 w 755"/>
                  <a:gd name="T87" fmla="*/ 0 h 1016"/>
                  <a:gd name="T88" fmla="*/ 0 w 755"/>
                  <a:gd name="T89" fmla="*/ 0 h 1016"/>
                  <a:gd name="T90" fmla="*/ 0 w 755"/>
                  <a:gd name="T91" fmla="*/ 0 h 1016"/>
                  <a:gd name="T92" fmla="*/ 0 w 755"/>
                  <a:gd name="T93" fmla="*/ 0 h 1016"/>
                  <a:gd name="T94" fmla="*/ 0 w 755"/>
                  <a:gd name="T95" fmla="*/ 0 h 1016"/>
                  <a:gd name="T96" fmla="*/ 0 w 755"/>
                  <a:gd name="T97" fmla="*/ 0 h 101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755"/>
                  <a:gd name="T148" fmla="*/ 0 h 1016"/>
                  <a:gd name="T149" fmla="*/ 755 w 755"/>
                  <a:gd name="T150" fmla="*/ 1016 h 1016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755" h="1016">
                    <a:moveTo>
                      <a:pt x="5" y="65"/>
                    </a:moveTo>
                    <a:lnTo>
                      <a:pt x="47" y="124"/>
                    </a:lnTo>
                    <a:lnTo>
                      <a:pt x="84" y="184"/>
                    </a:lnTo>
                    <a:lnTo>
                      <a:pt x="125" y="244"/>
                    </a:lnTo>
                    <a:lnTo>
                      <a:pt x="165" y="304"/>
                    </a:lnTo>
                    <a:lnTo>
                      <a:pt x="206" y="363"/>
                    </a:lnTo>
                    <a:lnTo>
                      <a:pt x="248" y="423"/>
                    </a:lnTo>
                    <a:lnTo>
                      <a:pt x="288" y="480"/>
                    </a:lnTo>
                    <a:lnTo>
                      <a:pt x="331" y="540"/>
                    </a:lnTo>
                    <a:lnTo>
                      <a:pt x="372" y="600"/>
                    </a:lnTo>
                    <a:lnTo>
                      <a:pt x="416" y="656"/>
                    </a:lnTo>
                    <a:lnTo>
                      <a:pt x="456" y="714"/>
                    </a:lnTo>
                    <a:lnTo>
                      <a:pt x="500" y="771"/>
                    </a:lnTo>
                    <a:lnTo>
                      <a:pt x="543" y="831"/>
                    </a:lnTo>
                    <a:lnTo>
                      <a:pt x="587" y="885"/>
                    </a:lnTo>
                    <a:lnTo>
                      <a:pt x="633" y="942"/>
                    </a:lnTo>
                    <a:lnTo>
                      <a:pt x="676" y="998"/>
                    </a:lnTo>
                    <a:lnTo>
                      <a:pt x="689" y="1009"/>
                    </a:lnTo>
                    <a:lnTo>
                      <a:pt x="709" y="1016"/>
                    </a:lnTo>
                    <a:lnTo>
                      <a:pt x="726" y="1012"/>
                    </a:lnTo>
                    <a:lnTo>
                      <a:pt x="742" y="1004"/>
                    </a:lnTo>
                    <a:lnTo>
                      <a:pt x="752" y="991"/>
                    </a:lnTo>
                    <a:lnTo>
                      <a:pt x="755" y="972"/>
                    </a:lnTo>
                    <a:lnTo>
                      <a:pt x="752" y="956"/>
                    </a:lnTo>
                    <a:lnTo>
                      <a:pt x="744" y="939"/>
                    </a:lnTo>
                    <a:lnTo>
                      <a:pt x="701" y="885"/>
                    </a:lnTo>
                    <a:lnTo>
                      <a:pt x="657" y="827"/>
                    </a:lnTo>
                    <a:lnTo>
                      <a:pt x="613" y="771"/>
                    </a:lnTo>
                    <a:lnTo>
                      <a:pt x="571" y="714"/>
                    </a:lnTo>
                    <a:lnTo>
                      <a:pt x="527" y="656"/>
                    </a:lnTo>
                    <a:lnTo>
                      <a:pt x="486" y="600"/>
                    </a:lnTo>
                    <a:lnTo>
                      <a:pt x="442" y="543"/>
                    </a:lnTo>
                    <a:lnTo>
                      <a:pt x="402" y="485"/>
                    </a:lnTo>
                    <a:lnTo>
                      <a:pt x="361" y="429"/>
                    </a:lnTo>
                    <a:lnTo>
                      <a:pt x="320" y="369"/>
                    </a:lnTo>
                    <a:lnTo>
                      <a:pt x="280" y="312"/>
                    </a:lnTo>
                    <a:lnTo>
                      <a:pt x="239" y="254"/>
                    </a:lnTo>
                    <a:lnTo>
                      <a:pt x="201" y="195"/>
                    </a:lnTo>
                    <a:lnTo>
                      <a:pt x="160" y="136"/>
                    </a:lnTo>
                    <a:lnTo>
                      <a:pt x="119" y="78"/>
                    </a:lnTo>
                    <a:lnTo>
                      <a:pt x="82" y="18"/>
                    </a:lnTo>
                    <a:lnTo>
                      <a:pt x="68" y="5"/>
                    </a:lnTo>
                    <a:lnTo>
                      <a:pt x="54" y="0"/>
                    </a:lnTo>
                    <a:lnTo>
                      <a:pt x="35" y="0"/>
                    </a:lnTo>
                    <a:lnTo>
                      <a:pt x="19" y="5"/>
                    </a:lnTo>
                    <a:lnTo>
                      <a:pt x="5" y="18"/>
                    </a:lnTo>
                    <a:lnTo>
                      <a:pt x="0" y="32"/>
                    </a:lnTo>
                    <a:lnTo>
                      <a:pt x="0" y="48"/>
                    </a:lnTo>
                    <a:lnTo>
                      <a:pt x="5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7" name="Freeform 68">
                <a:extLst>
                  <a:ext uri="{FF2B5EF4-FFF2-40B4-BE49-F238E27FC236}">
                    <a16:creationId xmlns:a16="http://schemas.microsoft.com/office/drawing/2014/main" id="{82D462D1-AD2D-7246-831B-3003149EC3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7" y="3135"/>
                <a:ext cx="689" cy="862"/>
              </a:xfrm>
              <a:custGeom>
                <a:avLst/>
                <a:gdLst>
                  <a:gd name="T0" fmla="*/ 0 w 2756"/>
                  <a:gd name="T1" fmla="*/ 0 h 3451"/>
                  <a:gd name="T2" fmla="*/ 0 w 2756"/>
                  <a:gd name="T3" fmla="*/ 0 h 3451"/>
                  <a:gd name="T4" fmla="*/ 0 w 2756"/>
                  <a:gd name="T5" fmla="*/ 0 h 3451"/>
                  <a:gd name="T6" fmla="*/ 0 w 2756"/>
                  <a:gd name="T7" fmla="*/ 0 h 3451"/>
                  <a:gd name="T8" fmla="*/ 0 w 2756"/>
                  <a:gd name="T9" fmla="*/ 0 h 3451"/>
                  <a:gd name="T10" fmla="*/ 0 w 2756"/>
                  <a:gd name="T11" fmla="*/ 0 h 3451"/>
                  <a:gd name="T12" fmla="*/ 0 w 2756"/>
                  <a:gd name="T13" fmla="*/ 0 h 3451"/>
                  <a:gd name="T14" fmla="*/ 0 w 2756"/>
                  <a:gd name="T15" fmla="*/ 0 h 3451"/>
                  <a:gd name="T16" fmla="*/ 0 w 2756"/>
                  <a:gd name="T17" fmla="*/ 0 h 3451"/>
                  <a:gd name="T18" fmla="*/ 0 w 2756"/>
                  <a:gd name="T19" fmla="*/ 0 h 3451"/>
                  <a:gd name="T20" fmla="*/ 0 w 2756"/>
                  <a:gd name="T21" fmla="*/ 0 h 3451"/>
                  <a:gd name="T22" fmla="*/ 0 w 2756"/>
                  <a:gd name="T23" fmla="*/ 0 h 3451"/>
                  <a:gd name="T24" fmla="*/ 0 w 2756"/>
                  <a:gd name="T25" fmla="*/ 0 h 3451"/>
                  <a:gd name="T26" fmla="*/ 0 w 2756"/>
                  <a:gd name="T27" fmla="*/ 0 h 3451"/>
                  <a:gd name="T28" fmla="*/ 0 w 2756"/>
                  <a:gd name="T29" fmla="*/ 0 h 3451"/>
                  <a:gd name="T30" fmla="*/ 0 w 2756"/>
                  <a:gd name="T31" fmla="*/ 0 h 3451"/>
                  <a:gd name="T32" fmla="*/ 0 w 2756"/>
                  <a:gd name="T33" fmla="*/ 0 h 3451"/>
                  <a:gd name="T34" fmla="*/ 0 w 2756"/>
                  <a:gd name="T35" fmla="*/ 0 h 3451"/>
                  <a:gd name="T36" fmla="*/ 0 w 2756"/>
                  <a:gd name="T37" fmla="*/ 0 h 3451"/>
                  <a:gd name="T38" fmla="*/ 0 w 2756"/>
                  <a:gd name="T39" fmla="*/ 0 h 3451"/>
                  <a:gd name="T40" fmla="*/ 0 w 2756"/>
                  <a:gd name="T41" fmla="*/ 0 h 3451"/>
                  <a:gd name="T42" fmla="*/ 0 w 2756"/>
                  <a:gd name="T43" fmla="*/ 0 h 3451"/>
                  <a:gd name="T44" fmla="*/ 0 w 2756"/>
                  <a:gd name="T45" fmla="*/ 0 h 3451"/>
                  <a:gd name="T46" fmla="*/ 0 w 2756"/>
                  <a:gd name="T47" fmla="*/ 0 h 3451"/>
                  <a:gd name="T48" fmla="*/ 0 w 2756"/>
                  <a:gd name="T49" fmla="*/ 0 h 3451"/>
                  <a:gd name="T50" fmla="*/ 0 w 2756"/>
                  <a:gd name="T51" fmla="*/ 0 h 3451"/>
                  <a:gd name="T52" fmla="*/ 0 w 2756"/>
                  <a:gd name="T53" fmla="*/ 0 h 3451"/>
                  <a:gd name="T54" fmla="*/ 0 w 2756"/>
                  <a:gd name="T55" fmla="*/ 0 h 3451"/>
                  <a:gd name="T56" fmla="*/ 0 w 2756"/>
                  <a:gd name="T57" fmla="*/ 0 h 3451"/>
                  <a:gd name="T58" fmla="*/ 0 w 2756"/>
                  <a:gd name="T59" fmla="*/ 0 h 3451"/>
                  <a:gd name="T60" fmla="*/ 0 w 2756"/>
                  <a:gd name="T61" fmla="*/ 0 h 3451"/>
                  <a:gd name="T62" fmla="*/ 0 w 2756"/>
                  <a:gd name="T63" fmla="*/ 0 h 3451"/>
                  <a:gd name="T64" fmla="*/ 0 w 2756"/>
                  <a:gd name="T65" fmla="*/ 0 h 3451"/>
                  <a:gd name="T66" fmla="*/ 0 w 2756"/>
                  <a:gd name="T67" fmla="*/ 0 h 3451"/>
                  <a:gd name="T68" fmla="*/ 0 w 2756"/>
                  <a:gd name="T69" fmla="*/ 0 h 3451"/>
                  <a:gd name="T70" fmla="*/ 0 w 2756"/>
                  <a:gd name="T71" fmla="*/ 0 h 3451"/>
                  <a:gd name="T72" fmla="*/ 0 w 2756"/>
                  <a:gd name="T73" fmla="*/ 0 h 3451"/>
                  <a:gd name="T74" fmla="*/ 0 w 2756"/>
                  <a:gd name="T75" fmla="*/ 0 h 3451"/>
                  <a:gd name="T76" fmla="*/ 0 w 2756"/>
                  <a:gd name="T77" fmla="*/ 0 h 3451"/>
                  <a:gd name="T78" fmla="*/ 0 w 2756"/>
                  <a:gd name="T79" fmla="*/ 0 h 3451"/>
                  <a:gd name="T80" fmla="*/ 0 w 2756"/>
                  <a:gd name="T81" fmla="*/ 0 h 3451"/>
                  <a:gd name="T82" fmla="*/ 0 w 2756"/>
                  <a:gd name="T83" fmla="*/ 0 h 3451"/>
                  <a:gd name="T84" fmla="*/ 0 w 2756"/>
                  <a:gd name="T85" fmla="*/ 0 h 3451"/>
                  <a:gd name="T86" fmla="*/ 0 w 2756"/>
                  <a:gd name="T87" fmla="*/ 0 h 3451"/>
                  <a:gd name="T88" fmla="*/ 0 w 2756"/>
                  <a:gd name="T89" fmla="*/ 0 h 3451"/>
                  <a:gd name="T90" fmla="*/ 0 w 2756"/>
                  <a:gd name="T91" fmla="*/ 0 h 3451"/>
                  <a:gd name="T92" fmla="*/ 0 w 2756"/>
                  <a:gd name="T93" fmla="*/ 0 h 3451"/>
                  <a:gd name="T94" fmla="*/ 0 w 2756"/>
                  <a:gd name="T95" fmla="*/ 0 h 3451"/>
                  <a:gd name="T96" fmla="*/ 0 w 2756"/>
                  <a:gd name="T97" fmla="*/ 0 h 3451"/>
                  <a:gd name="T98" fmla="*/ 0 w 2756"/>
                  <a:gd name="T99" fmla="*/ 0 h 345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756"/>
                  <a:gd name="T151" fmla="*/ 0 h 3451"/>
                  <a:gd name="T152" fmla="*/ 2756 w 2756"/>
                  <a:gd name="T153" fmla="*/ 3451 h 3451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756" h="3451">
                    <a:moveTo>
                      <a:pt x="2742" y="3451"/>
                    </a:moveTo>
                    <a:lnTo>
                      <a:pt x="2696" y="3449"/>
                    </a:lnTo>
                    <a:lnTo>
                      <a:pt x="2612" y="3343"/>
                    </a:lnTo>
                    <a:lnTo>
                      <a:pt x="2528" y="3237"/>
                    </a:lnTo>
                    <a:lnTo>
                      <a:pt x="2446" y="3128"/>
                    </a:lnTo>
                    <a:lnTo>
                      <a:pt x="2363" y="3022"/>
                    </a:lnTo>
                    <a:lnTo>
                      <a:pt x="2281" y="2916"/>
                    </a:lnTo>
                    <a:lnTo>
                      <a:pt x="2197" y="2807"/>
                    </a:lnTo>
                    <a:lnTo>
                      <a:pt x="2116" y="2702"/>
                    </a:lnTo>
                    <a:lnTo>
                      <a:pt x="2033" y="2594"/>
                    </a:lnTo>
                    <a:lnTo>
                      <a:pt x="1950" y="2488"/>
                    </a:lnTo>
                    <a:lnTo>
                      <a:pt x="1869" y="2379"/>
                    </a:lnTo>
                    <a:lnTo>
                      <a:pt x="1786" y="2273"/>
                    </a:lnTo>
                    <a:lnTo>
                      <a:pt x="1705" y="2164"/>
                    </a:lnTo>
                    <a:lnTo>
                      <a:pt x="1620" y="2058"/>
                    </a:lnTo>
                    <a:lnTo>
                      <a:pt x="1539" y="1950"/>
                    </a:lnTo>
                    <a:lnTo>
                      <a:pt x="1458" y="1844"/>
                    </a:lnTo>
                    <a:lnTo>
                      <a:pt x="1373" y="1735"/>
                    </a:lnTo>
                    <a:lnTo>
                      <a:pt x="1292" y="1629"/>
                    </a:lnTo>
                    <a:lnTo>
                      <a:pt x="1208" y="1524"/>
                    </a:lnTo>
                    <a:lnTo>
                      <a:pt x="1124" y="1418"/>
                    </a:lnTo>
                    <a:lnTo>
                      <a:pt x="1042" y="1309"/>
                    </a:lnTo>
                    <a:lnTo>
                      <a:pt x="959" y="1203"/>
                    </a:lnTo>
                    <a:lnTo>
                      <a:pt x="874" y="1097"/>
                    </a:lnTo>
                    <a:lnTo>
                      <a:pt x="788" y="991"/>
                    </a:lnTo>
                    <a:lnTo>
                      <a:pt x="703" y="889"/>
                    </a:lnTo>
                    <a:lnTo>
                      <a:pt x="616" y="783"/>
                    </a:lnTo>
                    <a:lnTo>
                      <a:pt x="532" y="676"/>
                    </a:lnTo>
                    <a:lnTo>
                      <a:pt x="445" y="573"/>
                    </a:lnTo>
                    <a:lnTo>
                      <a:pt x="356" y="470"/>
                    </a:lnTo>
                    <a:lnTo>
                      <a:pt x="269" y="367"/>
                    </a:lnTo>
                    <a:lnTo>
                      <a:pt x="179" y="263"/>
                    </a:lnTo>
                    <a:lnTo>
                      <a:pt x="89" y="161"/>
                    </a:lnTo>
                    <a:lnTo>
                      <a:pt x="0" y="57"/>
                    </a:lnTo>
                    <a:lnTo>
                      <a:pt x="0" y="41"/>
                    </a:lnTo>
                    <a:lnTo>
                      <a:pt x="0" y="25"/>
                    </a:lnTo>
                    <a:lnTo>
                      <a:pt x="3" y="11"/>
                    </a:lnTo>
                    <a:lnTo>
                      <a:pt x="13" y="0"/>
                    </a:lnTo>
                    <a:lnTo>
                      <a:pt x="59" y="11"/>
                    </a:lnTo>
                    <a:lnTo>
                      <a:pt x="853" y="948"/>
                    </a:lnTo>
                    <a:lnTo>
                      <a:pt x="2357" y="2911"/>
                    </a:lnTo>
                    <a:lnTo>
                      <a:pt x="2403" y="2978"/>
                    </a:lnTo>
                    <a:lnTo>
                      <a:pt x="2452" y="3044"/>
                    </a:lnTo>
                    <a:lnTo>
                      <a:pt x="2504" y="3109"/>
                    </a:lnTo>
                    <a:lnTo>
                      <a:pt x="2558" y="3172"/>
                    </a:lnTo>
                    <a:lnTo>
                      <a:pt x="2610" y="3237"/>
                    </a:lnTo>
                    <a:lnTo>
                      <a:pt x="2661" y="3302"/>
                    </a:lnTo>
                    <a:lnTo>
                      <a:pt x="2710" y="3367"/>
                    </a:lnTo>
                    <a:lnTo>
                      <a:pt x="2756" y="3435"/>
                    </a:lnTo>
                    <a:lnTo>
                      <a:pt x="2742" y="345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8" name="Freeform 69">
                <a:extLst>
                  <a:ext uri="{FF2B5EF4-FFF2-40B4-BE49-F238E27FC236}">
                    <a16:creationId xmlns:a16="http://schemas.microsoft.com/office/drawing/2014/main" id="{E8EEB2A0-C8C4-1F4C-8C6D-103ED31284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81" y="3125"/>
                <a:ext cx="1114" cy="1023"/>
              </a:xfrm>
              <a:custGeom>
                <a:avLst/>
                <a:gdLst>
                  <a:gd name="T0" fmla="*/ 0 w 4456"/>
                  <a:gd name="T1" fmla="*/ 0 h 4092"/>
                  <a:gd name="T2" fmla="*/ 0 w 4456"/>
                  <a:gd name="T3" fmla="*/ 0 h 4092"/>
                  <a:gd name="T4" fmla="*/ 0 w 4456"/>
                  <a:gd name="T5" fmla="*/ 0 h 4092"/>
                  <a:gd name="T6" fmla="*/ 0 w 4456"/>
                  <a:gd name="T7" fmla="*/ 0 h 4092"/>
                  <a:gd name="T8" fmla="*/ 0 w 4456"/>
                  <a:gd name="T9" fmla="*/ 0 h 4092"/>
                  <a:gd name="T10" fmla="*/ 0 w 4456"/>
                  <a:gd name="T11" fmla="*/ 0 h 4092"/>
                  <a:gd name="T12" fmla="*/ 0 w 4456"/>
                  <a:gd name="T13" fmla="*/ 0 h 4092"/>
                  <a:gd name="T14" fmla="*/ 0 w 4456"/>
                  <a:gd name="T15" fmla="*/ 0 h 4092"/>
                  <a:gd name="T16" fmla="*/ 0 w 4456"/>
                  <a:gd name="T17" fmla="*/ 0 h 4092"/>
                  <a:gd name="T18" fmla="*/ 0 w 4456"/>
                  <a:gd name="T19" fmla="*/ 0 h 4092"/>
                  <a:gd name="T20" fmla="*/ 0 w 4456"/>
                  <a:gd name="T21" fmla="*/ 0 h 4092"/>
                  <a:gd name="T22" fmla="*/ 0 w 4456"/>
                  <a:gd name="T23" fmla="*/ 0 h 4092"/>
                  <a:gd name="T24" fmla="*/ 0 w 4456"/>
                  <a:gd name="T25" fmla="*/ 0 h 4092"/>
                  <a:gd name="T26" fmla="*/ 0 w 4456"/>
                  <a:gd name="T27" fmla="*/ 0 h 4092"/>
                  <a:gd name="T28" fmla="*/ 0 w 4456"/>
                  <a:gd name="T29" fmla="*/ 0 h 4092"/>
                  <a:gd name="T30" fmla="*/ 0 w 4456"/>
                  <a:gd name="T31" fmla="*/ 0 h 4092"/>
                  <a:gd name="T32" fmla="*/ 0 w 4456"/>
                  <a:gd name="T33" fmla="*/ 0 h 4092"/>
                  <a:gd name="T34" fmla="*/ 0 w 4456"/>
                  <a:gd name="T35" fmla="*/ 0 h 4092"/>
                  <a:gd name="T36" fmla="*/ 0 w 4456"/>
                  <a:gd name="T37" fmla="*/ 0 h 4092"/>
                  <a:gd name="T38" fmla="*/ 0 w 4456"/>
                  <a:gd name="T39" fmla="*/ 0 h 4092"/>
                  <a:gd name="T40" fmla="*/ 0 w 4456"/>
                  <a:gd name="T41" fmla="*/ 0 h 4092"/>
                  <a:gd name="T42" fmla="*/ 0 w 4456"/>
                  <a:gd name="T43" fmla="*/ 0 h 4092"/>
                  <a:gd name="T44" fmla="*/ 0 w 4456"/>
                  <a:gd name="T45" fmla="*/ 0 h 4092"/>
                  <a:gd name="T46" fmla="*/ 0 w 4456"/>
                  <a:gd name="T47" fmla="*/ 0 h 4092"/>
                  <a:gd name="T48" fmla="*/ 0 w 4456"/>
                  <a:gd name="T49" fmla="*/ 0 h 4092"/>
                  <a:gd name="T50" fmla="*/ 0 w 4456"/>
                  <a:gd name="T51" fmla="*/ 0 h 4092"/>
                  <a:gd name="T52" fmla="*/ 0 w 4456"/>
                  <a:gd name="T53" fmla="*/ 0 h 4092"/>
                  <a:gd name="T54" fmla="*/ 0 w 4456"/>
                  <a:gd name="T55" fmla="*/ 0 h 4092"/>
                  <a:gd name="T56" fmla="*/ 0 w 4456"/>
                  <a:gd name="T57" fmla="*/ 0 h 4092"/>
                  <a:gd name="T58" fmla="*/ 0 w 4456"/>
                  <a:gd name="T59" fmla="*/ 0 h 4092"/>
                  <a:gd name="T60" fmla="*/ 0 w 4456"/>
                  <a:gd name="T61" fmla="*/ 0 h 4092"/>
                  <a:gd name="T62" fmla="*/ 0 w 4456"/>
                  <a:gd name="T63" fmla="*/ 0 h 4092"/>
                  <a:gd name="T64" fmla="*/ 0 w 4456"/>
                  <a:gd name="T65" fmla="*/ 0 h 4092"/>
                  <a:gd name="T66" fmla="*/ 0 w 4456"/>
                  <a:gd name="T67" fmla="*/ 0 h 4092"/>
                  <a:gd name="T68" fmla="*/ 0 w 4456"/>
                  <a:gd name="T69" fmla="*/ 0 h 4092"/>
                  <a:gd name="T70" fmla="*/ 0 w 4456"/>
                  <a:gd name="T71" fmla="*/ 0 h 4092"/>
                  <a:gd name="T72" fmla="*/ 0 w 4456"/>
                  <a:gd name="T73" fmla="*/ 0 h 4092"/>
                  <a:gd name="T74" fmla="*/ 0 w 4456"/>
                  <a:gd name="T75" fmla="*/ 0 h 4092"/>
                  <a:gd name="T76" fmla="*/ 0 w 4456"/>
                  <a:gd name="T77" fmla="*/ 0 h 4092"/>
                  <a:gd name="T78" fmla="*/ 0 w 4456"/>
                  <a:gd name="T79" fmla="*/ 0 h 4092"/>
                  <a:gd name="T80" fmla="*/ 0 w 4456"/>
                  <a:gd name="T81" fmla="*/ 0 h 4092"/>
                  <a:gd name="T82" fmla="*/ 0 w 4456"/>
                  <a:gd name="T83" fmla="*/ 0 h 4092"/>
                  <a:gd name="T84" fmla="*/ 0 w 4456"/>
                  <a:gd name="T85" fmla="*/ 0 h 4092"/>
                  <a:gd name="T86" fmla="*/ 0 w 4456"/>
                  <a:gd name="T87" fmla="*/ 0 h 4092"/>
                  <a:gd name="T88" fmla="*/ 0 w 4456"/>
                  <a:gd name="T89" fmla="*/ 0 h 4092"/>
                  <a:gd name="T90" fmla="*/ 0 w 4456"/>
                  <a:gd name="T91" fmla="*/ 0 h 4092"/>
                  <a:gd name="T92" fmla="*/ 0 w 4456"/>
                  <a:gd name="T93" fmla="*/ 0 h 4092"/>
                  <a:gd name="T94" fmla="*/ 0 w 4456"/>
                  <a:gd name="T95" fmla="*/ 0 h 4092"/>
                  <a:gd name="T96" fmla="*/ 0 w 4456"/>
                  <a:gd name="T97" fmla="*/ 0 h 4092"/>
                  <a:gd name="T98" fmla="*/ 0 w 4456"/>
                  <a:gd name="T99" fmla="*/ 0 h 4092"/>
                  <a:gd name="T100" fmla="*/ 0 w 4456"/>
                  <a:gd name="T101" fmla="*/ 0 h 4092"/>
                  <a:gd name="T102" fmla="*/ 0 w 4456"/>
                  <a:gd name="T103" fmla="*/ 0 h 4092"/>
                  <a:gd name="T104" fmla="*/ 0 w 4456"/>
                  <a:gd name="T105" fmla="*/ 0 h 4092"/>
                  <a:gd name="T106" fmla="*/ 0 w 4456"/>
                  <a:gd name="T107" fmla="*/ 0 h 4092"/>
                  <a:gd name="T108" fmla="*/ 0 w 4456"/>
                  <a:gd name="T109" fmla="*/ 0 h 4092"/>
                  <a:gd name="T110" fmla="*/ 0 w 4456"/>
                  <a:gd name="T111" fmla="*/ 0 h 4092"/>
                  <a:gd name="T112" fmla="*/ 0 w 4456"/>
                  <a:gd name="T113" fmla="*/ 0 h 4092"/>
                  <a:gd name="T114" fmla="*/ 0 w 4456"/>
                  <a:gd name="T115" fmla="*/ 0 h 4092"/>
                  <a:gd name="T116" fmla="*/ 0 w 4456"/>
                  <a:gd name="T117" fmla="*/ 0 h 4092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w 4456"/>
                  <a:gd name="T178" fmla="*/ 0 h 4092"/>
                  <a:gd name="T179" fmla="*/ 4456 w 4456"/>
                  <a:gd name="T180" fmla="*/ 4092 h 4092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T177" t="T178" r="T179" b="T180"/>
                <a:pathLst>
                  <a:path w="4456" h="4092">
                    <a:moveTo>
                      <a:pt x="3343" y="4035"/>
                    </a:moveTo>
                    <a:lnTo>
                      <a:pt x="3316" y="4060"/>
                    </a:lnTo>
                    <a:lnTo>
                      <a:pt x="3288" y="4074"/>
                    </a:lnTo>
                    <a:lnTo>
                      <a:pt x="3256" y="4079"/>
                    </a:lnTo>
                    <a:lnTo>
                      <a:pt x="3223" y="4079"/>
                    </a:lnTo>
                    <a:lnTo>
                      <a:pt x="3188" y="4079"/>
                    </a:lnTo>
                    <a:lnTo>
                      <a:pt x="3152" y="4079"/>
                    </a:lnTo>
                    <a:lnTo>
                      <a:pt x="3117" y="4081"/>
                    </a:lnTo>
                    <a:lnTo>
                      <a:pt x="3082" y="4092"/>
                    </a:lnTo>
                    <a:lnTo>
                      <a:pt x="3036" y="4092"/>
                    </a:lnTo>
                    <a:lnTo>
                      <a:pt x="3039" y="4062"/>
                    </a:lnTo>
                    <a:lnTo>
                      <a:pt x="3050" y="4044"/>
                    </a:lnTo>
                    <a:lnTo>
                      <a:pt x="3071" y="4032"/>
                    </a:lnTo>
                    <a:lnTo>
                      <a:pt x="3096" y="4024"/>
                    </a:lnTo>
                    <a:lnTo>
                      <a:pt x="3122" y="4021"/>
                    </a:lnTo>
                    <a:lnTo>
                      <a:pt x="3150" y="4016"/>
                    </a:lnTo>
                    <a:lnTo>
                      <a:pt x="3177" y="4008"/>
                    </a:lnTo>
                    <a:lnTo>
                      <a:pt x="3196" y="3991"/>
                    </a:lnTo>
                    <a:lnTo>
                      <a:pt x="3172" y="3954"/>
                    </a:lnTo>
                    <a:lnTo>
                      <a:pt x="3142" y="3913"/>
                    </a:lnTo>
                    <a:lnTo>
                      <a:pt x="3112" y="3875"/>
                    </a:lnTo>
                    <a:lnTo>
                      <a:pt x="3082" y="3837"/>
                    </a:lnTo>
                    <a:lnTo>
                      <a:pt x="3050" y="3799"/>
                    </a:lnTo>
                    <a:lnTo>
                      <a:pt x="3017" y="3760"/>
                    </a:lnTo>
                    <a:lnTo>
                      <a:pt x="2985" y="3723"/>
                    </a:lnTo>
                    <a:lnTo>
                      <a:pt x="2955" y="3684"/>
                    </a:lnTo>
                    <a:lnTo>
                      <a:pt x="2939" y="3718"/>
                    </a:lnTo>
                    <a:lnTo>
                      <a:pt x="2909" y="3734"/>
                    </a:lnTo>
                    <a:lnTo>
                      <a:pt x="2870" y="3742"/>
                    </a:lnTo>
                    <a:lnTo>
                      <a:pt x="2833" y="3748"/>
                    </a:lnTo>
                    <a:lnTo>
                      <a:pt x="2803" y="3753"/>
                    </a:lnTo>
                    <a:lnTo>
                      <a:pt x="2789" y="3764"/>
                    </a:lnTo>
                    <a:lnTo>
                      <a:pt x="2797" y="3788"/>
                    </a:lnTo>
                    <a:lnTo>
                      <a:pt x="2838" y="3832"/>
                    </a:lnTo>
                    <a:lnTo>
                      <a:pt x="2849" y="3853"/>
                    </a:lnTo>
                    <a:lnTo>
                      <a:pt x="2865" y="3864"/>
                    </a:lnTo>
                    <a:lnTo>
                      <a:pt x="2884" y="3873"/>
                    </a:lnTo>
                    <a:lnTo>
                      <a:pt x="2903" y="3873"/>
                    </a:lnTo>
                    <a:lnTo>
                      <a:pt x="2925" y="3873"/>
                    </a:lnTo>
                    <a:lnTo>
                      <a:pt x="2946" y="3875"/>
                    </a:lnTo>
                    <a:lnTo>
                      <a:pt x="2965" y="3878"/>
                    </a:lnTo>
                    <a:lnTo>
                      <a:pt x="2981" y="3889"/>
                    </a:lnTo>
                    <a:lnTo>
                      <a:pt x="2960" y="3908"/>
                    </a:lnTo>
                    <a:lnTo>
                      <a:pt x="2944" y="3931"/>
                    </a:lnTo>
                    <a:lnTo>
                      <a:pt x="2935" y="3959"/>
                    </a:lnTo>
                    <a:lnTo>
                      <a:pt x="2935" y="3989"/>
                    </a:lnTo>
                    <a:lnTo>
                      <a:pt x="2903" y="3997"/>
                    </a:lnTo>
                    <a:lnTo>
                      <a:pt x="2875" y="3991"/>
                    </a:lnTo>
                    <a:lnTo>
                      <a:pt x="2854" y="3981"/>
                    </a:lnTo>
                    <a:lnTo>
                      <a:pt x="2838" y="3961"/>
                    </a:lnTo>
                    <a:lnTo>
                      <a:pt x="2822" y="3943"/>
                    </a:lnTo>
                    <a:lnTo>
                      <a:pt x="2803" y="3926"/>
                    </a:lnTo>
                    <a:lnTo>
                      <a:pt x="2778" y="3915"/>
                    </a:lnTo>
                    <a:lnTo>
                      <a:pt x="2748" y="3915"/>
                    </a:lnTo>
                    <a:lnTo>
                      <a:pt x="2778" y="3885"/>
                    </a:lnTo>
                    <a:lnTo>
                      <a:pt x="2745" y="3845"/>
                    </a:lnTo>
                    <a:lnTo>
                      <a:pt x="2718" y="3802"/>
                    </a:lnTo>
                    <a:lnTo>
                      <a:pt x="2688" y="3758"/>
                    </a:lnTo>
                    <a:lnTo>
                      <a:pt x="2658" y="3712"/>
                    </a:lnTo>
                    <a:lnTo>
                      <a:pt x="2628" y="3672"/>
                    </a:lnTo>
                    <a:lnTo>
                      <a:pt x="2593" y="3636"/>
                    </a:lnTo>
                    <a:lnTo>
                      <a:pt x="2553" y="3603"/>
                    </a:lnTo>
                    <a:lnTo>
                      <a:pt x="2509" y="3582"/>
                    </a:lnTo>
                    <a:lnTo>
                      <a:pt x="2523" y="3552"/>
                    </a:lnTo>
                    <a:lnTo>
                      <a:pt x="2526" y="3522"/>
                    </a:lnTo>
                    <a:lnTo>
                      <a:pt x="2515" y="3497"/>
                    </a:lnTo>
                    <a:lnTo>
                      <a:pt x="2498" y="3471"/>
                    </a:lnTo>
                    <a:lnTo>
                      <a:pt x="2477" y="3448"/>
                    </a:lnTo>
                    <a:lnTo>
                      <a:pt x="2452" y="3424"/>
                    </a:lnTo>
                    <a:lnTo>
                      <a:pt x="2431" y="3402"/>
                    </a:lnTo>
                    <a:lnTo>
                      <a:pt x="2411" y="3378"/>
                    </a:lnTo>
                    <a:lnTo>
                      <a:pt x="2403" y="3383"/>
                    </a:lnTo>
                    <a:lnTo>
                      <a:pt x="2392" y="3386"/>
                    </a:lnTo>
                    <a:lnTo>
                      <a:pt x="2381" y="3388"/>
                    </a:lnTo>
                    <a:lnTo>
                      <a:pt x="2368" y="3388"/>
                    </a:lnTo>
                    <a:lnTo>
                      <a:pt x="2357" y="3388"/>
                    </a:lnTo>
                    <a:lnTo>
                      <a:pt x="2346" y="3392"/>
                    </a:lnTo>
                    <a:lnTo>
                      <a:pt x="2335" y="3397"/>
                    </a:lnTo>
                    <a:lnTo>
                      <a:pt x="2325" y="3405"/>
                    </a:lnTo>
                    <a:lnTo>
                      <a:pt x="2314" y="3397"/>
                    </a:lnTo>
                    <a:lnTo>
                      <a:pt x="2311" y="3386"/>
                    </a:lnTo>
                    <a:lnTo>
                      <a:pt x="2314" y="3372"/>
                    </a:lnTo>
                    <a:lnTo>
                      <a:pt x="2314" y="3362"/>
                    </a:lnTo>
                    <a:lnTo>
                      <a:pt x="2327" y="3351"/>
                    </a:lnTo>
                    <a:lnTo>
                      <a:pt x="2344" y="3342"/>
                    </a:lnTo>
                    <a:lnTo>
                      <a:pt x="2357" y="3332"/>
                    </a:lnTo>
                    <a:lnTo>
                      <a:pt x="2371" y="3318"/>
                    </a:lnTo>
                    <a:lnTo>
                      <a:pt x="2352" y="3283"/>
                    </a:lnTo>
                    <a:lnTo>
                      <a:pt x="2327" y="3261"/>
                    </a:lnTo>
                    <a:lnTo>
                      <a:pt x="2302" y="3253"/>
                    </a:lnTo>
                    <a:lnTo>
                      <a:pt x="2276" y="3250"/>
                    </a:lnTo>
                    <a:lnTo>
                      <a:pt x="2246" y="3256"/>
                    </a:lnTo>
                    <a:lnTo>
                      <a:pt x="2216" y="3261"/>
                    </a:lnTo>
                    <a:lnTo>
                      <a:pt x="2184" y="3270"/>
                    </a:lnTo>
                    <a:lnTo>
                      <a:pt x="2154" y="3272"/>
                    </a:lnTo>
                    <a:lnTo>
                      <a:pt x="2154" y="3253"/>
                    </a:lnTo>
                    <a:lnTo>
                      <a:pt x="2161" y="3240"/>
                    </a:lnTo>
                    <a:lnTo>
                      <a:pt x="2173" y="3229"/>
                    </a:lnTo>
                    <a:lnTo>
                      <a:pt x="2186" y="3217"/>
                    </a:lnTo>
                    <a:lnTo>
                      <a:pt x="2200" y="3212"/>
                    </a:lnTo>
                    <a:lnTo>
                      <a:pt x="2216" y="3205"/>
                    </a:lnTo>
                    <a:lnTo>
                      <a:pt x="2230" y="3196"/>
                    </a:lnTo>
                    <a:lnTo>
                      <a:pt x="2240" y="3188"/>
                    </a:lnTo>
                    <a:lnTo>
                      <a:pt x="2230" y="3164"/>
                    </a:lnTo>
                    <a:lnTo>
                      <a:pt x="2221" y="3139"/>
                    </a:lnTo>
                    <a:lnTo>
                      <a:pt x="2208" y="3117"/>
                    </a:lnTo>
                    <a:lnTo>
                      <a:pt x="2186" y="3099"/>
                    </a:lnTo>
                    <a:lnTo>
                      <a:pt x="2173" y="3095"/>
                    </a:lnTo>
                    <a:lnTo>
                      <a:pt x="2156" y="3095"/>
                    </a:lnTo>
                    <a:lnTo>
                      <a:pt x="2145" y="3101"/>
                    </a:lnTo>
                    <a:lnTo>
                      <a:pt x="2131" y="3106"/>
                    </a:lnTo>
                    <a:lnTo>
                      <a:pt x="2118" y="3109"/>
                    </a:lnTo>
                    <a:lnTo>
                      <a:pt x="2108" y="3112"/>
                    </a:lnTo>
                    <a:lnTo>
                      <a:pt x="2094" y="3106"/>
                    </a:lnTo>
                    <a:lnTo>
                      <a:pt x="2083" y="3099"/>
                    </a:lnTo>
                    <a:lnTo>
                      <a:pt x="2129" y="3028"/>
                    </a:lnTo>
                    <a:lnTo>
                      <a:pt x="2099" y="2988"/>
                    </a:lnTo>
                    <a:lnTo>
                      <a:pt x="2066" y="2946"/>
                    </a:lnTo>
                    <a:lnTo>
                      <a:pt x="2031" y="2908"/>
                    </a:lnTo>
                    <a:lnTo>
                      <a:pt x="1999" y="2868"/>
                    </a:lnTo>
                    <a:lnTo>
                      <a:pt x="1969" y="2827"/>
                    </a:lnTo>
                    <a:lnTo>
                      <a:pt x="1947" y="2783"/>
                    </a:lnTo>
                    <a:lnTo>
                      <a:pt x="1933" y="2740"/>
                    </a:lnTo>
                    <a:lnTo>
                      <a:pt x="1930" y="2694"/>
                    </a:lnTo>
                    <a:lnTo>
                      <a:pt x="1955" y="2691"/>
                    </a:lnTo>
                    <a:lnTo>
                      <a:pt x="1977" y="2686"/>
                    </a:lnTo>
                    <a:lnTo>
                      <a:pt x="1999" y="2674"/>
                    </a:lnTo>
                    <a:lnTo>
                      <a:pt x="2018" y="2662"/>
                    </a:lnTo>
                    <a:lnTo>
                      <a:pt x="2037" y="2644"/>
                    </a:lnTo>
                    <a:lnTo>
                      <a:pt x="2055" y="2628"/>
                    </a:lnTo>
                    <a:lnTo>
                      <a:pt x="2072" y="2612"/>
                    </a:lnTo>
                    <a:lnTo>
                      <a:pt x="2089" y="2593"/>
                    </a:lnTo>
                    <a:lnTo>
                      <a:pt x="2043" y="2526"/>
                    </a:lnTo>
                    <a:lnTo>
                      <a:pt x="1995" y="2455"/>
                    </a:lnTo>
                    <a:lnTo>
                      <a:pt x="1950" y="2387"/>
                    </a:lnTo>
                    <a:lnTo>
                      <a:pt x="1901" y="2319"/>
                    </a:lnTo>
                    <a:lnTo>
                      <a:pt x="1852" y="2251"/>
                    </a:lnTo>
                    <a:lnTo>
                      <a:pt x="1801" y="2186"/>
                    </a:lnTo>
                    <a:lnTo>
                      <a:pt x="1748" y="2119"/>
                    </a:lnTo>
                    <a:lnTo>
                      <a:pt x="1697" y="2050"/>
                    </a:lnTo>
                    <a:lnTo>
                      <a:pt x="1646" y="1985"/>
                    </a:lnTo>
                    <a:lnTo>
                      <a:pt x="1595" y="1918"/>
                    </a:lnTo>
                    <a:lnTo>
                      <a:pt x="1540" y="1852"/>
                    </a:lnTo>
                    <a:lnTo>
                      <a:pt x="1489" y="1784"/>
                    </a:lnTo>
                    <a:lnTo>
                      <a:pt x="1436" y="1717"/>
                    </a:lnTo>
                    <a:lnTo>
                      <a:pt x="1385" y="1651"/>
                    </a:lnTo>
                    <a:lnTo>
                      <a:pt x="1334" y="1583"/>
                    </a:lnTo>
                    <a:lnTo>
                      <a:pt x="1281" y="1516"/>
                    </a:lnTo>
                    <a:lnTo>
                      <a:pt x="1249" y="1480"/>
                    </a:lnTo>
                    <a:lnTo>
                      <a:pt x="1214" y="1445"/>
                    </a:lnTo>
                    <a:lnTo>
                      <a:pt x="1179" y="1412"/>
                    </a:lnTo>
                    <a:lnTo>
                      <a:pt x="1140" y="1382"/>
                    </a:lnTo>
                    <a:lnTo>
                      <a:pt x="1103" y="1361"/>
                    </a:lnTo>
                    <a:lnTo>
                      <a:pt x="1062" y="1350"/>
                    </a:lnTo>
                    <a:lnTo>
                      <a:pt x="1016" y="1350"/>
                    </a:lnTo>
                    <a:lnTo>
                      <a:pt x="967" y="1369"/>
                    </a:lnTo>
                    <a:lnTo>
                      <a:pt x="939" y="1329"/>
                    </a:lnTo>
                    <a:lnTo>
                      <a:pt x="910" y="1290"/>
                    </a:lnTo>
                    <a:lnTo>
                      <a:pt x="880" y="1252"/>
                    </a:lnTo>
                    <a:lnTo>
                      <a:pt x="850" y="1214"/>
                    </a:lnTo>
                    <a:lnTo>
                      <a:pt x="817" y="1176"/>
                    </a:lnTo>
                    <a:lnTo>
                      <a:pt x="787" y="1140"/>
                    </a:lnTo>
                    <a:lnTo>
                      <a:pt x="757" y="1103"/>
                    </a:lnTo>
                    <a:lnTo>
                      <a:pt x="725" y="1068"/>
                    </a:lnTo>
                    <a:lnTo>
                      <a:pt x="695" y="1029"/>
                    </a:lnTo>
                    <a:lnTo>
                      <a:pt x="665" y="994"/>
                    </a:lnTo>
                    <a:lnTo>
                      <a:pt x="635" y="957"/>
                    </a:lnTo>
                    <a:lnTo>
                      <a:pt x="605" y="918"/>
                    </a:lnTo>
                    <a:lnTo>
                      <a:pt x="576" y="880"/>
                    </a:lnTo>
                    <a:lnTo>
                      <a:pt x="549" y="839"/>
                    </a:lnTo>
                    <a:lnTo>
                      <a:pt x="521" y="798"/>
                    </a:lnTo>
                    <a:lnTo>
                      <a:pt x="496" y="758"/>
                    </a:lnTo>
                    <a:lnTo>
                      <a:pt x="380" y="756"/>
                    </a:lnTo>
                    <a:lnTo>
                      <a:pt x="378" y="733"/>
                    </a:lnTo>
                    <a:lnTo>
                      <a:pt x="385" y="720"/>
                    </a:lnTo>
                    <a:lnTo>
                      <a:pt x="404" y="712"/>
                    </a:lnTo>
                    <a:lnTo>
                      <a:pt x="424" y="703"/>
                    </a:lnTo>
                    <a:lnTo>
                      <a:pt x="443" y="696"/>
                    </a:lnTo>
                    <a:lnTo>
                      <a:pt x="456" y="685"/>
                    </a:lnTo>
                    <a:lnTo>
                      <a:pt x="456" y="666"/>
                    </a:lnTo>
                    <a:lnTo>
                      <a:pt x="440" y="641"/>
                    </a:lnTo>
                    <a:lnTo>
                      <a:pt x="426" y="603"/>
                    </a:lnTo>
                    <a:lnTo>
                      <a:pt x="404" y="581"/>
                    </a:lnTo>
                    <a:lnTo>
                      <a:pt x="380" y="571"/>
                    </a:lnTo>
                    <a:lnTo>
                      <a:pt x="353" y="568"/>
                    </a:lnTo>
                    <a:lnTo>
                      <a:pt x="325" y="568"/>
                    </a:lnTo>
                    <a:lnTo>
                      <a:pt x="296" y="568"/>
                    </a:lnTo>
                    <a:lnTo>
                      <a:pt x="267" y="562"/>
                    </a:lnTo>
                    <a:lnTo>
                      <a:pt x="239" y="552"/>
                    </a:lnTo>
                    <a:lnTo>
                      <a:pt x="247" y="538"/>
                    </a:lnTo>
                    <a:lnTo>
                      <a:pt x="261" y="527"/>
                    </a:lnTo>
                    <a:lnTo>
                      <a:pt x="279" y="514"/>
                    </a:lnTo>
                    <a:lnTo>
                      <a:pt x="296" y="502"/>
                    </a:lnTo>
                    <a:lnTo>
                      <a:pt x="307" y="490"/>
                    </a:lnTo>
                    <a:lnTo>
                      <a:pt x="313" y="476"/>
                    </a:lnTo>
                    <a:lnTo>
                      <a:pt x="307" y="460"/>
                    </a:lnTo>
                    <a:lnTo>
                      <a:pt x="285" y="437"/>
                    </a:lnTo>
                    <a:lnTo>
                      <a:pt x="272" y="414"/>
                    </a:lnTo>
                    <a:lnTo>
                      <a:pt x="255" y="400"/>
                    </a:lnTo>
                    <a:lnTo>
                      <a:pt x="237" y="394"/>
                    </a:lnTo>
                    <a:lnTo>
                      <a:pt x="214" y="391"/>
                    </a:lnTo>
                    <a:lnTo>
                      <a:pt x="193" y="391"/>
                    </a:lnTo>
                    <a:lnTo>
                      <a:pt x="168" y="394"/>
                    </a:lnTo>
                    <a:lnTo>
                      <a:pt x="147" y="394"/>
                    </a:lnTo>
                    <a:lnTo>
                      <a:pt x="125" y="391"/>
                    </a:lnTo>
                    <a:lnTo>
                      <a:pt x="133" y="372"/>
                    </a:lnTo>
                    <a:lnTo>
                      <a:pt x="149" y="356"/>
                    </a:lnTo>
                    <a:lnTo>
                      <a:pt x="168" y="340"/>
                    </a:lnTo>
                    <a:lnTo>
                      <a:pt x="184" y="321"/>
                    </a:lnTo>
                    <a:lnTo>
                      <a:pt x="0" y="44"/>
                    </a:lnTo>
                    <a:lnTo>
                      <a:pt x="11" y="30"/>
                    </a:lnTo>
                    <a:lnTo>
                      <a:pt x="22" y="12"/>
                    </a:lnTo>
                    <a:lnTo>
                      <a:pt x="36" y="0"/>
                    </a:lnTo>
                    <a:lnTo>
                      <a:pt x="57" y="3"/>
                    </a:lnTo>
                    <a:lnTo>
                      <a:pt x="285" y="321"/>
                    </a:lnTo>
                    <a:lnTo>
                      <a:pt x="342" y="324"/>
                    </a:lnTo>
                    <a:lnTo>
                      <a:pt x="355" y="410"/>
                    </a:lnTo>
                    <a:lnTo>
                      <a:pt x="391" y="467"/>
                    </a:lnTo>
                    <a:lnTo>
                      <a:pt x="429" y="525"/>
                    </a:lnTo>
                    <a:lnTo>
                      <a:pt x="464" y="581"/>
                    </a:lnTo>
                    <a:lnTo>
                      <a:pt x="503" y="638"/>
                    </a:lnTo>
                    <a:lnTo>
                      <a:pt x="540" y="696"/>
                    </a:lnTo>
                    <a:lnTo>
                      <a:pt x="579" y="752"/>
                    </a:lnTo>
                    <a:lnTo>
                      <a:pt x="619" y="807"/>
                    </a:lnTo>
                    <a:lnTo>
                      <a:pt x="660" y="864"/>
                    </a:lnTo>
                    <a:lnTo>
                      <a:pt x="701" y="918"/>
                    </a:lnTo>
                    <a:lnTo>
                      <a:pt x="741" y="975"/>
                    </a:lnTo>
                    <a:lnTo>
                      <a:pt x="785" y="1029"/>
                    </a:lnTo>
                    <a:lnTo>
                      <a:pt x="828" y="1084"/>
                    </a:lnTo>
                    <a:lnTo>
                      <a:pt x="872" y="1138"/>
                    </a:lnTo>
                    <a:lnTo>
                      <a:pt x="918" y="1193"/>
                    </a:lnTo>
                    <a:lnTo>
                      <a:pt x="964" y="1244"/>
                    </a:lnTo>
                    <a:lnTo>
                      <a:pt x="1011" y="1299"/>
                    </a:lnTo>
                    <a:lnTo>
                      <a:pt x="1064" y="1285"/>
                    </a:lnTo>
                    <a:lnTo>
                      <a:pt x="1117" y="1287"/>
                    </a:lnTo>
                    <a:lnTo>
                      <a:pt x="1163" y="1306"/>
                    </a:lnTo>
                    <a:lnTo>
                      <a:pt x="1209" y="1334"/>
                    </a:lnTo>
                    <a:lnTo>
                      <a:pt x="1249" y="1369"/>
                    </a:lnTo>
                    <a:lnTo>
                      <a:pt x="1290" y="1407"/>
                    </a:lnTo>
                    <a:lnTo>
                      <a:pt x="1330" y="1447"/>
                    </a:lnTo>
                    <a:lnTo>
                      <a:pt x="1369" y="1488"/>
                    </a:lnTo>
                    <a:lnTo>
                      <a:pt x="2161" y="2536"/>
                    </a:lnTo>
                    <a:lnTo>
                      <a:pt x="2159" y="2566"/>
                    </a:lnTo>
                    <a:lnTo>
                      <a:pt x="2148" y="2596"/>
                    </a:lnTo>
                    <a:lnTo>
                      <a:pt x="2134" y="2626"/>
                    </a:lnTo>
                    <a:lnTo>
                      <a:pt x="2118" y="2651"/>
                    </a:lnTo>
                    <a:lnTo>
                      <a:pt x="2096" y="2674"/>
                    </a:lnTo>
                    <a:lnTo>
                      <a:pt x="2072" y="2694"/>
                    </a:lnTo>
                    <a:lnTo>
                      <a:pt x="2045" y="2710"/>
                    </a:lnTo>
                    <a:lnTo>
                      <a:pt x="2015" y="2721"/>
                    </a:lnTo>
                    <a:lnTo>
                      <a:pt x="2034" y="2762"/>
                    </a:lnTo>
                    <a:lnTo>
                      <a:pt x="2055" y="2803"/>
                    </a:lnTo>
                    <a:lnTo>
                      <a:pt x="2080" y="2843"/>
                    </a:lnTo>
                    <a:lnTo>
                      <a:pt x="2110" y="2881"/>
                    </a:lnTo>
                    <a:lnTo>
                      <a:pt x="2138" y="2916"/>
                    </a:lnTo>
                    <a:lnTo>
                      <a:pt x="2170" y="2954"/>
                    </a:lnTo>
                    <a:lnTo>
                      <a:pt x="2200" y="2993"/>
                    </a:lnTo>
                    <a:lnTo>
                      <a:pt x="2230" y="3028"/>
                    </a:lnTo>
                    <a:lnTo>
                      <a:pt x="2344" y="3014"/>
                    </a:lnTo>
                    <a:lnTo>
                      <a:pt x="2272" y="3085"/>
                    </a:lnTo>
                    <a:lnTo>
                      <a:pt x="2290" y="3099"/>
                    </a:lnTo>
                    <a:lnTo>
                      <a:pt x="2302" y="3115"/>
                    </a:lnTo>
                    <a:lnTo>
                      <a:pt x="2316" y="3134"/>
                    </a:lnTo>
                    <a:lnTo>
                      <a:pt x="2330" y="3150"/>
                    </a:lnTo>
                    <a:lnTo>
                      <a:pt x="2346" y="3164"/>
                    </a:lnTo>
                    <a:lnTo>
                      <a:pt x="2362" y="3171"/>
                    </a:lnTo>
                    <a:lnTo>
                      <a:pt x="2381" y="3171"/>
                    </a:lnTo>
                    <a:lnTo>
                      <a:pt x="2403" y="3159"/>
                    </a:lnTo>
                    <a:lnTo>
                      <a:pt x="2411" y="3159"/>
                    </a:lnTo>
                    <a:lnTo>
                      <a:pt x="2417" y="3164"/>
                    </a:lnTo>
                    <a:lnTo>
                      <a:pt x="2422" y="3169"/>
                    </a:lnTo>
                    <a:lnTo>
                      <a:pt x="2427" y="3175"/>
                    </a:lnTo>
                    <a:lnTo>
                      <a:pt x="2408" y="3191"/>
                    </a:lnTo>
                    <a:lnTo>
                      <a:pt x="2401" y="3207"/>
                    </a:lnTo>
                    <a:lnTo>
                      <a:pt x="2403" y="3224"/>
                    </a:lnTo>
                    <a:lnTo>
                      <a:pt x="2411" y="3240"/>
                    </a:lnTo>
                    <a:lnTo>
                      <a:pt x="2425" y="3256"/>
                    </a:lnTo>
                    <a:lnTo>
                      <a:pt x="2438" y="3272"/>
                    </a:lnTo>
                    <a:lnTo>
                      <a:pt x="2450" y="3288"/>
                    </a:lnTo>
                    <a:lnTo>
                      <a:pt x="2457" y="3305"/>
                    </a:lnTo>
                    <a:lnTo>
                      <a:pt x="2556" y="3321"/>
                    </a:lnTo>
                    <a:lnTo>
                      <a:pt x="2553" y="3335"/>
                    </a:lnTo>
                    <a:lnTo>
                      <a:pt x="2544" y="3346"/>
                    </a:lnTo>
                    <a:lnTo>
                      <a:pt x="2533" y="3356"/>
                    </a:lnTo>
                    <a:lnTo>
                      <a:pt x="2523" y="3365"/>
                    </a:lnTo>
                    <a:lnTo>
                      <a:pt x="2515" y="3372"/>
                    </a:lnTo>
                    <a:lnTo>
                      <a:pt x="2509" y="3383"/>
                    </a:lnTo>
                    <a:lnTo>
                      <a:pt x="2512" y="3395"/>
                    </a:lnTo>
                    <a:lnTo>
                      <a:pt x="2526" y="3408"/>
                    </a:lnTo>
                    <a:lnTo>
                      <a:pt x="2537" y="3432"/>
                    </a:lnTo>
                    <a:lnTo>
                      <a:pt x="2556" y="3454"/>
                    </a:lnTo>
                    <a:lnTo>
                      <a:pt x="2577" y="3473"/>
                    </a:lnTo>
                    <a:lnTo>
                      <a:pt x="2596" y="3495"/>
                    </a:lnTo>
                    <a:lnTo>
                      <a:pt x="2612" y="3487"/>
                    </a:lnTo>
                    <a:lnTo>
                      <a:pt x="2634" y="3481"/>
                    </a:lnTo>
                    <a:lnTo>
                      <a:pt x="2653" y="3481"/>
                    </a:lnTo>
                    <a:lnTo>
                      <a:pt x="2674" y="3481"/>
                    </a:lnTo>
                    <a:lnTo>
                      <a:pt x="2697" y="3481"/>
                    </a:lnTo>
                    <a:lnTo>
                      <a:pt x="2718" y="3481"/>
                    </a:lnTo>
                    <a:lnTo>
                      <a:pt x="2738" y="3476"/>
                    </a:lnTo>
                    <a:lnTo>
                      <a:pt x="2754" y="3467"/>
                    </a:lnTo>
                    <a:lnTo>
                      <a:pt x="2732" y="3430"/>
                    </a:lnTo>
                    <a:lnTo>
                      <a:pt x="2710" y="3397"/>
                    </a:lnTo>
                    <a:lnTo>
                      <a:pt x="2686" y="3365"/>
                    </a:lnTo>
                    <a:lnTo>
                      <a:pt x="2662" y="3332"/>
                    </a:lnTo>
                    <a:lnTo>
                      <a:pt x="2637" y="3302"/>
                    </a:lnTo>
                    <a:lnTo>
                      <a:pt x="2607" y="3270"/>
                    </a:lnTo>
                    <a:lnTo>
                      <a:pt x="2577" y="3237"/>
                    </a:lnTo>
                    <a:lnTo>
                      <a:pt x="2542" y="3205"/>
                    </a:lnTo>
                    <a:lnTo>
                      <a:pt x="2509" y="3141"/>
                    </a:lnTo>
                    <a:lnTo>
                      <a:pt x="2468" y="3082"/>
                    </a:lnTo>
                    <a:lnTo>
                      <a:pt x="2427" y="3023"/>
                    </a:lnTo>
                    <a:lnTo>
                      <a:pt x="2385" y="2963"/>
                    </a:lnTo>
                    <a:lnTo>
                      <a:pt x="2341" y="2903"/>
                    </a:lnTo>
                    <a:lnTo>
                      <a:pt x="2302" y="2843"/>
                    </a:lnTo>
                    <a:lnTo>
                      <a:pt x="2270" y="2778"/>
                    </a:lnTo>
                    <a:lnTo>
                      <a:pt x="2246" y="2713"/>
                    </a:lnTo>
                    <a:lnTo>
                      <a:pt x="2256" y="2702"/>
                    </a:lnTo>
                    <a:lnTo>
                      <a:pt x="2267" y="2697"/>
                    </a:lnTo>
                    <a:lnTo>
                      <a:pt x="2279" y="2697"/>
                    </a:lnTo>
                    <a:lnTo>
                      <a:pt x="2292" y="2697"/>
                    </a:lnTo>
                    <a:lnTo>
                      <a:pt x="2341" y="2780"/>
                    </a:lnTo>
                    <a:lnTo>
                      <a:pt x="2392" y="2865"/>
                    </a:lnTo>
                    <a:lnTo>
                      <a:pt x="2447" y="2946"/>
                    </a:lnTo>
                    <a:lnTo>
                      <a:pt x="2503" y="3028"/>
                    </a:lnTo>
                    <a:lnTo>
                      <a:pt x="2566" y="3106"/>
                    </a:lnTo>
                    <a:lnTo>
                      <a:pt x="2628" y="3185"/>
                    </a:lnTo>
                    <a:lnTo>
                      <a:pt x="2692" y="3264"/>
                    </a:lnTo>
                    <a:lnTo>
                      <a:pt x="2757" y="3340"/>
                    </a:lnTo>
                    <a:lnTo>
                      <a:pt x="2822" y="3418"/>
                    </a:lnTo>
                    <a:lnTo>
                      <a:pt x="2886" y="3495"/>
                    </a:lnTo>
                    <a:lnTo>
                      <a:pt x="2955" y="3573"/>
                    </a:lnTo>
                    <a:lnTo>
                      <a:pt x="3020" y="3649"/>
                    </a:lnTo>
                    <a:lnTo>
                      <a:pt x="3082" y="3728"/>
                    </a:lnTo>
                    <a:lnTo>
                      <a:pt x="3147" y="3804"/>
                    </a:lnTo>
                    <a:lnTo>
                      <a:pt x="3207" y="3885"/>
                    </a:lnTo>
                    <a:lnTo>
                      <a:pt x="3267" y="3965"/>
                    </a:lnTo>
                    <a:lnTo>
                      <a:pt x="3302" y="3968"/>
                    </a:lnTo>
                    <a:lnTo>
                      <a:pt x="3337" y="3968"/>
                    </a:lnTo>
                    <a:lnTo>
                      <a:pt x="3371" y="3968"/>
                    </a:lnTo>
                    <a:lnTo>
                      <a:pt x="3406" y="3961"/>
                    </a:lnTo>
                    <a:lnTo>
                      <a:pt x="3438" y="3954"/>
                    </a:lnTo>
                    <a:lnTo>
                      <a:pt x="3471" y="3945"/>
                    </a:lnTo>
                    <a:lnTo>
                      <a:pt x="3503" y="3938"/>
                    </a:lnTo>
                    <a:lnTo>
                      <a:pt x="3535" y="3926"/>
                    </a:lnTo>
                    <a:lnTo>
                      <a:pt x="3568" y="3915"/>
                    </a:lnTo>
                    <a:lnTo>
                      <a:pt x="3600" y="3905"/>
                    </a:lnTo>
                    <a:lnTo>
                      <a:pt x="3634" y="3894"/>
                    </a:lnTo>
                    <a:lnTo>
                      <a:pt x="3666" y="3883"/>
                    </a:lnTo>
                    <a:lnTo>
                      <a:pt x="3701" y="3875"/>
                    </a:lnTo>
                    <a:lnTo>
                      <a:pt x="3734" y="3867"/>
                    </a:lnTo>
                    <a:lnTo>
                      <a:pt x="3769" y="3861"/>
                    </a:lnTo>
                    <a:lnTo>
                      <a:pt x="3805" y="3855"/>
                    </a:lnTo>
                    <a:lnTo>
                      <a:pt x="4456" y="3704"/>
                    </a:lnTo>
                    <a:lnTo>
                      <a:pt x="4397" y="3764"/>
                    </a:lnTo>
                    <a:lnTo>
                      <a:pt x="3343" y="4035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9" name="Freeform 70">
                <a:extLst>
                  <a:ext uri="{FF2B5EF4-FFF2-40B4-BE49-F238E27FC236}">
                    <a16:creationId xmlns:a16="http://schemas.microsoft.com/office/drawing/2014/main" id="{62F6866B-27A7-F941-BEE2-D41843CC83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04" y="3793"/>
                <a:ext cx="309" cy="179"/>
              </a:xfrm>
              <a:custGeom>
                <a:avLst/>
                <a:gdLst>
                  <a:gd name="T0" fmla="*/ 0 w 1235"/>
                  <a:gd name="T1" fmla="*/ 0 h 717"/>
                  <a:gd name="T2" fmla="*/ 0 w 1235"/>
                  <a:gd name="T3" fmla="*/ 0 h 717"/>
                  <a:gd name="T4" fmla="*/ 0 w 1235"/>
                  <a:gd name="T5" fmla="*/ 0 h 717"/>
                  <a:gd name="T6" fmla="*/ 0 w 1235"/>
                  <a:gd name="T7" fmla="*/ 0 h 717"/>
                  <a:gd name="T8" fmla="*/ 0 w 1235"/>
                  <a:gd name="T9" fmla="*/ 0 h 717"/>
                  <a:gd name="T10" fmla="*/ 0 w 1235"/>
                  <a:gd name="T11" fmla="*/ 0 h 717"/>
                  <a:gd name="T12" fmla="*/ 0 w 1235"/>
                  <a:gd name="T13" fmla="*/ 0 h 717"/>
                  <a:gd name="T14" fmla="*/ 0 w 1235"/>
                  <a:gd name="T15" fmla="*/ 0 h 717"/>
                  <a:gd name="T16" fmla="*/ 0 w 1235"/>
                  <a:gd name="T17" fmla="*/ 0 h 717"/>
                  <a:gd name="T18" fmla="*/ 0 w 1235"/>
                  <a:gd name="T19" fmla="*/ 0 h 717"/>
                  <a:gd name="T20" fmla="*/ 0 w 1235"/>
                  <a:gd name="T21" fmla="*/ 0 h 717"/>
                  <a:gd name="T22" fmla="*/ 0 w 1235"/>
                  <a:gd name="T23" fmla="*/ 0 h 717"/>
                  <a:gd name="T24" fmla="*/ 0 w 1235"/>
                  <a:gd name="T25" fmla="*/ 0 h 717"/>
                  <a:gd name="T26" fmla="*/ 0 w 1235"/>
                  <a:gd name="T27" fmla="*/ 0 h 717"/>
                  <a:gd name="T28" fmla="*/ 0 w 1235"/>
                  <a:gd name="T29" fmla="*/ 0 h 717"/>
                  <a:gd name="T30" fmla="*/ 0 w 1235"/>
                  <a:gd name="T31" fmla="*/ 0 h 717"/>
                  <a:gd name="T32" fmla="*/ 0 w 1235"/>
                  <a:gd name="T33" fmla="*/ 0 h 717"/>
                  <a:gd name="T34" fmla="*/ 0 w 1235"/>
                  <a:gd name="T35" fmla="*/ 0 h 717"/>
                  <a:gd name="T36" fmla="*/ 0 w 1235"/>
                  <a:gd name="T37" fmla="*/ 0 h 717"/>
                  <a:gd name="T38" fmla="*/ 0 w 1235"/>
                  <a:gd name="T39" fmla="*/ 0 h 717"/>
                  <a:gd name="T40" fmla="*/ 0 w 1235"/>
                  <a:gd name="T41" fmla="*/ 0 h 717"/>
                  <a:gd name="T42" fmla="*/ 0 w 1235"/>
                  <a:gd name="T43" fmla="*/ 0 h 717"/>
                  <a:gd name="T44" fmla="*/ 0 w 1235"/>
                  <a:gd name="T45" fmla="*/ 0 h 717"/>
                  <a:gd name="T46" fmla="*/ 0 w 1235"/>
                  <a:gd name="T47" fmla="*/ 0 h 717"/>
                  <a:gd name="T48" fmla="*/ 0 w 1235"/>
                  <a:gd name="T49" fmla="*/ 0 h 717"/>
                  <a:gd name="T50" fmla="*/ 0 w 1235"/>
                  <a:gd name="T51" fmla="*/ 0 h 717"/>
                  <a:gd name="T52" fmla="*/ 0 w 1235"/>
                  <a:gd name="T53" fmla="*/ 0 h 717"/>
                  <a:gd name="T54" fmla="*/ 0 w 1235"/>
                  <a:gd name="T55" fmla="*/ 0 h 717"/>
                  <a:gd name="T56" fmla="*/ 0 w 1235"/>
                  <a:gd name="T57" fmla="*/ 0 h 717"/>
                  <a:gd name="T58" fmla="*/ 0 w 1235"/>
                  <a:gd name="T59" fmla="*/ 0 h 717"/>
                  <a:gd name="T60" fmla="*/ 0 w 1235"/>
                  <a:gd name="T61" fmla="*/ 0 h 717"/>
                  <a:gd name="T62" fmla="*/ 0 w 1235"/>
                  <a:gd name="T63" fmla="*/ 0 h 717"/>
                  <a:gd name="T64" fmla="*/ 0 w 1235"/>
                  <a:gd name="T65" fmla="*/ 0 h 717"/>
                  <a:gd name="T66" fmla="*/ 0 w 1235"/>
                  <a:gd name="T67" fmla="*/ 0 h 717"/>
                  <a:gd name="T68" fmla="*/ 0 w 1235"/>
                  <a:gd name="T69" fmla="*/ 0 h 717"/>
                  <a:gd name="T70" fmla="*/ 0 w 1235"/>
                  <a:gd name="T71" fmla="*/ 0 h 717"/>
                  <a:gd name="T72" fmla="*/ 0 w 1235"/>
                  <a:gd name="T73" fmla="*/ 0 h 717"/>
                  <a:gd name="T74" fmla="*/ 0 w 1235"/>
                  <a:gd name="T75" fmla="*/ 0 h 717"/>
                  <a:gd name="T76" fmla="*/ 0 w 1235"/>
                  <a:gd name="T77" fmla="*/ 0 h 717"/>
                  <a:gd name="T78" fmla="*/ 0 w 1235"/>
                  <a:gd name="T79" fmla="*/ 0 h 717"/>
                  <a:gd name="T80" fmla="*/ 0 w 1235"/>
                  <a:gd name="T81" fmla="*/ 0 h 717"/>
                  <a:gd name="T82" fmla="*/ 0 w 1235"/>
                  <a:gd name="T83" fmla="*/ 0 h 717"/>
                  <a:gd name="T84" fmla="*/ 0 w 1235"/>
                  <a:gd name="T85" fmla="*/ 0 h 717"/>
                  <a:gd name="T86" fmla="*/ 0 w 1235"/>
                  <a:gd name="T87" fmla="*/ 0 h 717"/>
                  <a:gd name="T88" fmla="*/ 0 w 1235"/>
                  <a:gd name="T89" fmla="*/ 0 h 717"/>
                  <a:gd name="T90" fmla="*/ 0 w 1235"/>
                  <a:gd name="T91" fmla="*/ 0 h 717"/>
                  <a:gd name="T92" fmla="*/ 0 w 1235"/>
                  <a:gd name="T93" fmla="*/ 0 h 717"/>
                  <a:gd name="T94" fmla="*/ 0 w 1235"/>
                  <a:gd name="T95" fmla="*/ 0 h 717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1235"/>
                  <a:gd name="T145" fmla="*/ 0 h 717"/>
                  <a:gd name="T146" fmla="*/ 1235 w 1235"/>
                  <a:gd name="T147" fmla="*/ 717 h 717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1235" h="717">
                    <a:moveTo>
                      <a:pt x="876" y="709"/>
                    </a:moveTo>
                    <a:lnTo>
                      <a:pt x="860" y="709"/>
                    </a:lnTo>
                    <a:lnTo>
                      <a:pt x="843" y="709"/>
                    </a:lnTo>
                    <a:lnTo>
                      <a:pt x="827" y="707"/>
                    </a:lnTo>
                    <a:lnTo>
                      <a:pt x="816" y="693"/>
                    </a:lnTo>
                    <a:lnTo>
                      <a:pt x="816" y="679"/>
                    </a:lnTo>
                    <a:lnTo>
                      <a:pt x="855" y="666"/>
                    </a:lnTo>
                    <a:lnTo>
                      <a:pt x="892" y="655"/>
                    </a:lnTo>
                    <a:lnTo>
                      <a:pt x="933" y="647"/>
                    </a:lnTo>
                    <a:lnTo>
                      <a:pt x="974" y="638"/>
                    </a:lnTo>
                    <a:lnTo>
                      <a:pt x="1012" y="627"/>
                    </a:lnTo>
                    <a:lnTo>
                      <a:pt x="1050" y="617"/>
                    </a:lnTo>
                    <a:lnTo>
                      <a:pt x="1085" y="603"/>
                    </a:lnTo>
                    <a:lnTo>
                      <a:pt x="1120" y="584"/>
                    </a:lnTo>
                    <a:lnTo>
                      <a:pt x="1102" y="548"/>
                    </a:lnTo>
                    <a:lnTo>
                      <a:pt x="1077" y="516"/>
                    </a:lnTo>
                    <a:lnTo>
                      <a:pt x="1056" y="483"/>
                    </a:lnTo>
                    <a:lnTo>
                      <a:pt x="1028" y="451"/>
                    </a:lnTo>
                    <a:lnTo>
                      <a:pt x="1004" y="421"/>
                    </a:lnTo>
                    <a:lnTo>
                      <a:pt x="977" y="389"/>
                    </a:lnTo>
                    <a:lnTo>
                      <a:pt x="947" y="359"/>
                    </a:lnTo>
                    <a:lnTo>
                      <a:pt x="917" y="329"/>
                    </a:lnTo>
                    <a:lnTo>
                      <a:pt x="887" y="299"/>
                    </a:lnTo>
                    <a:lnTo>
                      <a:pt x="857" y="269"/>
                    </a:lnTo>
                    <a:lnTo>
                      <a:pt x="827" y="236"/>
                    </a:lnTo>
                    <a:lnTo>
                      <a:pt x="797" y="206"/>
                    </a:lnTo>
                    <a:lnTo>
                      <a:pt x="767" y="176"/>
                    </a:lnTo>
                    <a:lnTo>
                      <a:pt x="737" y="148"/>
                    </a:lnTo>
                    <a:lnTo>
                      <a:pt x="707" y="118"/>
                    </a:lnTo>
                    <a:lnTo>
                      <a:pt x="681" y="84"/>
                    </a:lnTo>
                    <a:lnTo>
                      <a:pt x="640" y="90"/>
                    </a:lnTo>
                    <a:lnTo>
                      <a:pt x="596" y="95"/>
                    </a:lnTo>
                    <a:lnTo>
                      <a:pt x="556" y="104"/>
                    </a:lnTo>
                    <a:lnTo>
                      <a:pt x="515" y="114"/>
                    </a:lnTo>
                    <a:lnTo>
                      <a:pt x="478" y="123"/>
                    </a:lnTo>
                    <a:lnTo>
                      <a:pt x="436" y="134"/>
                    </a:lnTo>
                    <a:lnTo>
                      <a:pt x="398" y="148"/>
                    </a:lnTo>
                    <a:lnTo>
                      <a:pt x="360" y="158"/>
                    </a:lnTo>
                    <a:lnTo>
                      <a:pt x="319" y="171"/>
                    </a:lnTo>
                    <a:lnTo>
                      <a:pt x="282" y="188"/>
                    </a:lnTo>
                    <a:lnTo>
                      <a:pt x="243" y="201"/>
                    </a:lnTo>
                    <a:lnTo>
                      <a:pt x="206" y="218"/>
                    </a:lnTo>
                    <a:lnTo>
                      <a:pt x="171" y="231"/>
                    </a:lnTo>
                    <a:lnTo>
                      <a:pt x="132" y="247"/>
                    </a:lnTo>
                    <a:lnTo>
                      <a:pt x="94" y="264"/>
                    </a:lnTo>
                    <a:lnTo>
                      <a:pt x="56" y="280"/>
                    </a:lnTo>
                    <a:lnTo>
                      <a:pt x="382" y="687"/>
                    </a:lnTo>
                    <a:lnTo>
                      <a:pt x="342" y="717"/>
                    </a:lnTo>
                    <a:lnTo>
                      <a:pt x="293" y="668"/>
                    </a:lnTo>
                    <a:lnTo>
                      <a:pt x="241" y="617"/>
                    </a:lnTo>
                    <a:lnTo>
                      <a:pt x="187" y="562"/>
                    </a:lnTo>
                    <a:lnTo>
                      <a:pt x="132" y="502"/>
                    </a:lnTo>
                    <a:lnTo>
                      <a:pt x="83" y="443"/>
                    </a:lnTo>
                    <a:lnTo>
                      <a:pt x="42" y="381"/>
                    </a:lnTo>
                    <a:lnTo>
                      <a:pt x="12" y="315"/>
                    </a:lnTo>
                    <a:lnTo>
                      <a:pt x="0" y="250"/>
                    </a:lnTo>
                    <a:lnTo>
                      <a:pt x="42" y="229"/>
                    </a:lnTo>
                    <a:lnTo>
                      <a:pt x="86" y="210"/>
                    </a:lnTo>
                    <a:lnTo>
                      <a:pt x="129" y="190"/>
                    </a:lnTo>
                    <a:lnTo>
                      <a:pt x="173" y="174"/>
                    </a:lnTo>
                    <a:lnTo>
                      <a:pt x="219" y="158"/>
                    </a:lnTo>
                    <a:lnTo>
                      <a:pt x="263" y="139"/>
                    </a:lnTo>
                    <a:lnTo>
                      <a:pt x="309" y="125"/>
                    </a:lnTo>
                    <a:lnTo>
                      <a:pt x="355" y="109"/>
                    </a:lnTo>
                    <a:lnTo>
                      <a:pt x="401" y="95"/>
                    </a:lnTo>
                    <a:lnTo>
                      <a:pt x="448" y="79"/>
                    </a:lnTo>
                    <a:lnTo>
                      <a:pt x="494" y="65"/>
                    </a:lnTo>
                    <a:lnTo>
                      <a:pt x="540" y="52"/>
                    </a:lnTo>
                    <a:lnTo>
                      <a:pt x="586" y="38"/>
                    </a:lnTo>
                    <a:lnTo>
                      <a:pt x="631" y="25"/>
                    </a:lnTo>
                    <a:lnTo>
                      <a:pt x="679" y="14"/>
                    </a:lnTo>
                    <a:lnTo>
                      <a:pt x="725" y="0"/>
                    </a:lnTo>
                    <a:lnTo>
                      <a:pt x="751" y="41"/>
                    </a:lnTo>
                    <a:lnTo>
                      <a:pt x="781" y="79"/>
                    </a:lnTo>
                    <a:lnTo>
                      <a:pt x="813" y="120"/>
                    </a:lnTo>
                    <a:lnTo>
                      <a:pt x="850" y="158"/>
                    </a:lnTo>
                    <a:lnTo>
                      <a:pt x="885" y="193"/>
                    </a:lnTo>
                    <a:lnTo>
                      <a:pt x="920" y="231"/>
                    </a:lnTo>
                    <a:lnTo>
                      <a:pt x="955" y="266"/>
                    </a:lnTo>
                    <a:lnTo>
                      <a:pt x="993" y="301"/>
                    </a:lnTo>
                    <a:lnTo>
                      <a:pt x="1028" y="340"/>
                    </a:lnTo>
                    <a:lnTo>
                      <a:pt x="1063" y="375"/>
                    </a:lnTo>
                    <a:lnTo>
                      <a:pt x="1097" y="413"/>
                    </a:lnTo>
                    <a:lnTo>
                      <a:pt x="1129" y="451"/>
                    </a:lnTo>
                    <a:lnTo>
                      <a:pt x="1159" y="490"/>
                    </a:lnTo>
                    <a:lnTo>
                      <a:pt x="1189" y="530"/>
                    </a:lnTo>
                    <a:lnTo>
                      <a:pt x="1213" y="571"/>
                    </a:lnTo>
                    <a:lnTo>
                      <a:pt x="1235" y="611"/>
                    </a:lnTo>
                    <a:lnTo>
                      <a:pt x="1194" y="636"/>
                    </a:lnTo>
                    <a:lnTo>
                      <a:pt x="1150" y="649"/>
                    </a:lnTo>
                    <a:lnTo>
                      <a:pt x="1104" y="657"/>
                    </a:lnTo>
                    <a:lnTo>
                      <a:pt x="1056" y="663"/>
                    </a:lnTo>
                    <a:lnTo>
                      <a:pt x="1007" y="666"/>
                    </a:lnTo>
                    <a:lnTo>
                      <a:pt x="961" y="673"/>
                    </a:lnTo>
                    <a:lnTo>
                      <a:pt x="917" y="687"/>
                    </a:lnTo>
                    <a:lnTo>
                      <a:pt x="876" y="70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0" name="Freeform 71">
                <a:extLst>
                  <a:ext uri="{FF2B5EF4-FFF2-40B4-BE49-F238E27FC236}">
                    <a16:creationId xmlns:a16="http://schemas.microsoft.com/office/drawing/2014/main" id="{0C025E19-AB03-2C45-9780-E29D13F03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92" y="3992"/>
                <a:ext cx="74" cy="75"/>
              </a:xfrm>
              <a:custGeom>
                <a:avLst/>
                <a:gdLst>
                  <a:gd name="T0" fmla="*/ 0 w 298"/>
                  <a:gd name="T1" fmla="*/ 0 h 304"/>
                  <a:gd name="T2" fmla="*/ 0 w 298"/>
                  <a:gd name="T3" fmla="*/ 0 h 304"/>
                  <a:gd name="T4" fmla="*/ 0 w 298"/>
                  <a:gd name="T5" fmla="*/ 0 h 304"/>
                  <a:gd name="T6" fmla="*/ 0 w 298"/>
                  <a:gd name="T7" fmla="*/ 0 h 304"/>
                  <a:gd name="T8" fmla="*/ 0 w 298"/>
                  <a:gd name="T9" fmla="*/ 0 h 304"/>
                  <a:gd name="T10" fmla="*/ 0 w 298"/>
                  <a:gd name="T11" fmla="*/ 0 h 304"/>
                  <a:gd name="T12" fmla="*/ 0 w 298"/>
                  <a:gd name="T13" fmla="*/ 0 h 304"/>
                  <a:gd name="T14" fmla="*/ 0 w 298"/>
                  <a:gd name="T15" fmla="*/ 0 h 304"/>
                  <a:gd name="T16" fmla="*/ 0 w 298"/>
                  <a:gd name="T17" fmla="*/ 0 h 304"/>
                  <a:gd name="T18" fmla="*/ 0 w 298"/>
                  <a:gd name="T19" fmla="*/ 0 h 304"/>
                  <a:gd name="T20" fmla="*/ 0 w 298"/>
                  <a:gd name="T21" fmla="*/ 0 h 304"/>
                  <a:gd name="T22" fmla="*/ 0 w 298"/>
                  <a:gd name="T23" fmla="*/ 0 h 304"/>
                  <a:gd name="T24" fmla="*/ 0 w 298"/>
                  <a:gd name="T25" fmla="*/ 0 h 304"/>
                  <a:gd name="T26" fmla="*/ 0 w 298"/>
                  <a:gd name="T27" fmla="*/ 0 h 304"/>
                  <a:gd name="T28" fmla="*/ 0 w 298"/>
                  <a:gd name="T29" fmla="*/ 0 h 304"/>
                  <a:gd name="T30" fmla="*/ 0 w 298"/>
                  <a:gd name="T31" fmla="*/ 0 h 304"/>
                  <a:gd name="T32" fmla="*/ 0 w 298"/>
                  <a:gd name="T33" fmla="*/ 0 h 304"/>
                  <a:gd name="T34" fmla="*/ 0 w 298"/>
                  <a:gd name="T35" fmla="*/ 0 h 304"/>
                  <a:gd name="T36" fmla="*/ 0 w 298"/>
                  <a:gd name="T37" fmla="*/ 0 h 304"/>
                  <a:gd name="T38" fmla="*/ 0 w 298"/>
                  <a:gd name="T39" fmla="*/ 0 h 304"/>
                  <a:gd name="T40" fmla="*/ 0 w 298"/>
                  <a:gd name="T41" fmla="*/ 0 h 304"/>
                  <a:gd name="T42" fmla="*/ 0 w 298"/>
                  <a:gd name="T43" fmla="*/ 0 h 304"/>
                  <a:gd name="T44" fmla="*/ 0 w 298"/>
                  <a:gd name="T45" fmla="*/ 0 h 304"/>
                  <a:gd name="T46" fmla="*/ 0 w 298"/>
                  <a:gd name="T47" fmla="*/ 0 h 304"/>
                  <a:gd name="T48" fmla="*/ 0 w 298"/>
                  <a:gd name="T49" fmla="*/ 0 h 304"/>
                  <a:gd name="T50" fmla="*/ 0 w 298"/>
                  <a:gd name="T51" fmla="*/ 0 h 304"/>
                  <a:gd name="T52" fmla="*/ 0 w 298"/>
                  <a:gd name="T53" fmla="*/ 0 h 304"/>
                  <a:gd name="T54" fmla="*/ 0 w 298"/>
                  <a:gd name="T55" fmla="*/ 0 h 304"/>
                  <a:gd name="T56" fmla="*/ 0 w 298"/>
                  <a:gd name="T57" fmla="*/ 0 h 304"/>
                  <a:gd name="T58" fmla="*/ 0 w 298"/>
                  <a:gd name="T59" fmla="*/ 0 h 304"/>
                  <a:gd name="T60" fmla="*/ 0 w 298"/>
                  <a:gd name="T61" fmla="*/ 0 h 304"/>
                  <a:gd name="T62" fmla="*/ 0 w 298"/>
                  <a:gd name="T63" fmla="*/ 0 h 304"/>
                  <a:gd name="T64" fmla="*/ 0 w 298"/>
                  <a:gd name="T65" fmla="*/ 0 h 304"/>
                  <a:gd name="T66" fmla="*/ 0 w 298"/>
                  <a:gd name="T67" fmla="*/ 0 h 304"/>
                  <a:gd name="T68" fmla="*/ 0 w 298"/>
                  <a:gd name="T69" fmla="*/ 0 h 304"/>
                  <a:gd name="T70" fmla="*/ 0 w 298"/>
                  <a:gd name="T71" fmla="*/ 0 h 304"/>
                  <a:gd name="T72" fmla="*/ 0 w 298"/>
                  <a:gd name="T73" fmla="*/ 0 h 304"/>
                  <a:gd name="T74" fmla="*/ 0 w 298"/>
                  <a:gd name="T75" fmla="*/ 0 h 304"/>
                  <a:gd name="T76" fmla="*/ 0 w 298"/>
                  <a:gd name="T77" fmla="*/ 0 h 304"/>
                  <a:gd name="T78" fmla="*/ 0 w 298"/>
                  <a:gd name="T79" fmla="*/ 0 h 304"/>
                  <a:gd name="T80" fmla="*/ 0 w 298"/>
                  <a:gd name="T81" fmla="*/ 0 h 304"/>
                  <a:gd name="T82" fmla="*/ 0 w 298"/>
                  <a:gd name="T83" fmla="*/ 0 h 304"/>
                  <a:gd name="T84" fmla="*/ 0 w 298"/>
                  <a:gd name="T85" fmla="*/ 0 h 304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298"/>
                  <a:gd name="T130" fmla="*/ 0 h 304"/>
                  <a:gd name="T131" fmla="*/ 298 w 298"/>
                  <a:gd name="T132" fmla="*/ 304 h 304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298" h="304">
                    <a:moveTo>
                      <a:pt x="298" y="103"/>
                    </a:moveTo>
                    <a:lnTo>
                      <a:pt x="265" y="101"/>
                    </a:lnTo>
                    <a:lnTo>
                      <a:pt x="233" y="94"/>
                    </a:lnTo>
                    <a:lnTo>
                      <a:pt x="198" y="84"/>
                    </a:lnTo>
                    <a:lnTo>
                      <a:pt x="165" y="76"/>
                    </a:lnTo>
                    <a:lnTo>
                      <a:pt x="133" y="71"/>
                    </a:lnTo>
                    <a:lnTo>
                      <a:pt x="106" y="76"/>
                    </a:lnTo>
                    <a:lnTo>
                      <a:pt x="81" y="94"/>
                    </a:lnTo>
                    <a:lnTo>
                      <a:pt x="64" y="131"/>
                    </a:lnTo>
                    <a:lnTo>
                      <a:pt x="64" y="152"/>
                    </a:lnTo>
                    <a:lnTo>
                      <a:pt x="73" y="173"/>
                    </a:lnTo>
                    <a:lnTo>
                      <a:pt x="81" y="193"/>
                    </a:lnTo>
                    <a:lnTo>
                      <a:pt x="94" y="212"/>
                    </a:lnTo>
                    <a:lnTo>
                      <a:pt x="108" y="225"/>
                    </a:lnTo>
                    <a:lnTo>
                      <a:pt x="124" y="239"/>
                    </a:lnTo>
                    <a:lnTo>
                      <a:pt x="143" y="253"/>
                    </a:lnTo>
                    <a:lnTo>
                      <a:pt x="163" y="260"/>
                    </a:lnTo>
                    <a:lnTo>
                      <a:pt x="179" y="260"/>
                    </a:lnTo>
                    <a:lnTo>
                      <a:pt x="179" y="290"/>
                    </a:lnTo>
                    <a:lnTo>
                      <a:pt x="152" y="302"/>
                    </a:lnTo>
                    <a:lnTo>
                      <a:pt x="127" y="304"/>
                    </a:lnTo>
                    <a:lnTo>
                      <a:pt x="101" y="302"/>
                    </a:lnTo>
                    <a:lnTo>
                      <a:pt x="76" y="293"/>
                    </a:lnTo>
                    <a:lnTo>
                      <a:pt x="54" y="279"/>
                    </a:lnTo>
                    <a:lnTo>
                      <a:pt x="35" y="260"/>
                    </a:lnTo>
                    <a:lnTo>
                      <a:pt x="18" y="239"/>
                    </a:lnTo>
                    <a:lnTo>
                      <a:pt x="5" y="217"/>
                    </a:lnTo>
                    <a:lnTo>
                      <a:pt x="0" y="179"/>
                    </a:lnTo>
                    <a:lnTo>
                      <a:pt x="2" y="141"/>
                    </a:lnTo>
                    <a:lnTo>
                      <a:pt x="11" y="106"/>
                    </a:lnTo>
                    <a:lnTo>
                      <a:pt x="27" y="73"/>
                    </a:lnTo>
                    <a:lnTo>
                      <a:pt x="48" y="46"/>
                    </a:lnTo>
                    <a:lnTo>
                      <a:pt x="76" y="24"/>
                    </a:lnTo>
                    <a:lnTo>
                      <a:pt x="106" y="8"/>
                    </a:lnTo>
                    <a:lnTo>
                      <a:pt x="141" y="0"/>
                    </a:lnTo>
                    <a:lnTo>
                      <a:pt x="163" y="11"/>
                    </a:lnTo>
                    <a:lnTo>
                      <a:pt x="187" y="16"/>
                    </a:lnTo>
                    <a:lnTo>
                      <a:pt x="212" y="24"/>
                    </a:lnTo>
                    <a:lnTo>
                      <a:pt x="235" y="30"/>
                    </a:lnTo>
                    <a:lnTo>
                      <a:pt x="258" y="41"/>
                    </a:lnTo>
                    <a:lnTo>
                      <a:pt x="277" y="54"/>
                    </a:lnTo>
                    <a:lnTo>
                      <a:pt x="290" y="76"/>
                    </a:lnTo>
                    <a:lnTo>
                      <a:pt x="298" y="103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1" name="Freeform 72">
                <a:extLst>
                  <a:ext uri="{FF2B5EF4-FFF2-40B4-BE49-F238E27FC236}">
                    <a16:creationId xmlns:a16="http://schemas.microsoft.com/office/drawing/2014/main" id="{EB4B5ED3-899C-424B-9F11-9AC2D62F52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9" y="3614"/>
                <a:ext cx="284" cy="172"/>
              </a:xfrm>
              <a:custGeom>
                <a:avLst/>
                <a:gdLst>
                  <a:gd name="T0" fmla="*/ 0 w 1138"/>
                  <a:gd name="T1" fmla="*/ 0 h 687"/>
                  <a:gd name="T2" fmla="*/ 0 w 1138"/>
                  <a:gd name="T3" fmla="*/ 0 h 687"/>
                  <a:gd name="T4" fmla="*/ 0 w 1138"/>
                  <a:gd name="T5" fmla="*/ 0 h 687"/>
                  <a:gd name="T6" fmla="*/ 0 w 1138"/>
                  <a:gd name="T7" fmla="*/ 0 h 687"/>
                  <a:gd name="T8" fmla="*/ 0 w 1138"/>
                  <a:gd name="T9" fmla="*/ 0 h 687"/>
                  <a:gd name="T10" fmla="*/ 0 w 1138"/>
                  <a:gd name="T11" fmla="*/ 0 h 687"/>
                  <a:gd name="T12" fmla="*/ 0 w 1138"/>
                  <a:gd name="T13" fmla="*/ 0 h 687"/>
                  <a:gd name="T14" fmla="*/ 0 w 1138"/>
                  <a:gd name="T15" fmla="*/ 0 h 687"/>
                  <a:gd name="T16" fmla="*/ 0 w 1138"/>
                  <a:gd name="T17" fmla="*/ 0 h 687"/>
                  <a:gd name="T18" fmla="*/ 0 w 1138"/>
                  <a:gd name="T19" fmla="*/ 0 h 687"/>
                  <a:gd name="T20" fmla="*/ 0 w 1138"/>
                  <a:gd name="T21" fmla="*/ 0 h 687"/>
                  <a:gd name="T22" fmla="*/ 0 w 1138"/>
                  <a:gd name="T23" fmla="*/ 0 h 687"/>
                  <a:gd name="T24" fmla="*/ 0 w 1138"/>
                  <a:gd name="T25" fmla="*/ 0 h 687"/>
                  <a:gd name="T26" fmla="*/ 0 w 1138"/>
                  <a:gd name="T27" fmla="*/ 0 h 687"/>
                  <a:gd name="T28" fmla="*/ 0 w 1138"/>
                  <a:gd name="T29" fmla="*/ 0 h 687"/>
                  <a:gd name="T30" fmla="*/ 0 w 1138"/>
                  <a:gd name="T31" fmla="*/ 0 h 687"/>
                  <a:gd name="T32" fmla="*/ 0 w 1138"/>
                  <a:gd name="T33" fmla="*/ 0 h 687"/>
                  <a:gd name="T34" fmla="*/ 0 w 1138"/>
                  <a:gd name="T35" fmla="*/ 0 h 687"/>
                  <a:gd name="T36" fmla="*/ 0 w 1138"/>
                  <a:gd name="T37" fmla="*/ 0 h 687"/>
                  <a:gd name="T38" fmla="*/ 0 w 1138"/>
                  <a:gd name="T39" fmla="*/ 0 h 687"/>
                  <a:gd name="T40" fmla="*/ 0 w 1138"/>
                  <a:gd name="T41" fmla="*/ 0 h 687"/>
                  <a:gd name="T42" fmla="*/ 0 w 1138"/>
                  <a:gd name="T43" fmla="*/ 0 h 687"/>
                  <a:gd name="T44" fmla="*/ 0 w 1138"/>
                  <a:gd name="T45" fmla="*/ 0 h 687"/>
                  <a:gd name="T46" fmla="*/ 0 w 1138"/>
                  <a:gd name="T47" fmla="*/ 0 h 687"/>
                  <a:gd name="T48" fmla="*/ 0 w 1138"/>
                  <a:gd name="T49" fmla="*/ 0 h 687"/>
                  <a:gd name="T50" fmla="*/ 0 w 1138"/>
                  <a:gd name="T51" fmla="*/ 0 h 687"/>
                  <a:gd name="T52" fmla="*/ 0 w 1138"/>
                  <a:gd name="T53" fmla="*/ 0 h 687"/>
                  <a:gd name="T54" fmla="*/ 0 w 1138"/>
                  <a:gd name="T55" fmla="*/ 0 h 687"/>
                  <a:gd name="T56" fmla="*/ 0 w 1138"/>
                  <a:gd name="T57" fmla="*/ 0 h 687"/>
                  <a:gd name="T58" fmla="*/ 0 w 1138"/>
                  <a:gd name="T59" fmla="*/ 0 h 687"/>
                  <a:gd name="T60" fmla="*/ 0 w 1138"/>
                  <a:gd name="T61" fmla="*/ 0 h 687"/>
                  <a:gd name="T62" fmla="*/ 0 w 1138"/>
                  <a:gd name="T63" fmla="*/ 0 h 687"/>
                  <a:gd name="T64" fmla="*/ 0 w 1138"/>
                  <a:gd name="T65" fmla="*/ 0 h 687"/>
                  <a:gd name="T66" fmla="*/ 0 w 1138"/>
                  <a:gd name="T67" fmla="*/ 0 h 687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1138"/>
                  <a:gd name="T103" fmla="*/ 0 h 687"/>
                  <a:gd name="T104" fmla="*/ 1138 w 1138"/>
                  <a:gd name="T105" fmla="*/ 687 h 687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1138" h="687">
                    <a:moveTo>
                      <a:pt x="934" y="552"/>
                    </a:moveTo>
                    <a:lnTo>
                      <a:pt x="931" y="525"/>
                    </a:lnTo>
                    <a:lnTo>
                      <a:pt x="940" y="502"/>
                    </a:lnTo>
                    <a:lnTo>
                      <a:pt x="956" y="490"/>
                    </a:lnTo>
                    <a:lnTo>
                      <a:pt x="975" y="478"/>
                    </a:lnTo>
                    <a:lnTo>
                      <a:pt x="996" y="470"/>
                    </a:lnTo>
                    <a:lnTo>
                      <a:pt x="1018" y="460"/>
                    </a:lnTo>
                    <a:lnTo>
                      <a:pt x="1037" y="443"/>
                    </a:lnTo>
                    <a:lnTo>
                      <a:pt x="1051" y="424"/>
                    </a:lnTo>
                    <a:lnTo>
                      <a:pt x="709" y="74"/>
                    </a:lnTo>
                    <a:lnTo>
                      <a:pt x="670" y="79"/>
                    </a:lnTo>
                    <a:lnTo>
                      <a:pt x="630" y="88"/>
                    </a:lnTo>
                    <a:lnTo>
                      <a:pt x="592" y="95"/>
                    </a:lnTo>
                    <a:lnTo>
                      <a:pt x="554" y="104"/>
                    </a:lnTo>
                    <a:lnTo>
                      <a:pt x="513" y="111"/>
                    </a:lnTo>
                    <a:lnTo>
                      <a:pt x="476" y="120"/>
                    </a:lnTo>
                    <a:lnTo>
                      <a:pt x="437" y="128"/>
                    </a:lnTo>
                    <a:lnTo>
                      <a:pt x="399" y="139"/>
                    </a:lnTo>
                    <a:lnTo>
                      <a:pt x="361" y="150"/>
                    </a:lnTo>
                    <a:lnTo>
                      <a:pt x="323" y="160"/>
                    </a:lnTo>
                    <a:lnTo>
                      <a:pt x="288" y="171"/>
                    </a:lnTo>
                    <a:lnTo>
                      <a:pt x="250" y="185"/>
                    </a:lnTo>
                    <a:lnTo>
                      <a:pt x="212" y="199"/>
                    </a:lnTo>
                    <a:lnTo>
                      <a:pt x="176" y="212"/>
                    </a:lnTo>
                    <a:lnTo>
                      <a:pt x="139" y="226"/>
                    </a:lnTo>
                    <a:lnTo>
                      <a:pt x="104" y="239"/>
                    </a:lnTo>
                    <a:lnTo>
                      <a:pt x="413" y="647"/>
                    </a:lnTo>
                    <a:lnTo>
                      <a:pt x="367" y="687"/>
                    </a:lnTo>
                    <a:lnTo>
                      <a:pt x="317" y="638"/>
                    </a:lnTo>
                    <a:lnTo>
                      <a:pt x="271" y="584"/>
                    </a:lnTo>
                    <a:lnTo>
                      <a:pt x="231" y="527"/>
                    </a:lnTo>
                    <a:lnTo>
                      <a:pt x="192" y="470"/>
                    </a:lnTo>
                    <a:lnTo>
                      <a:pt x="152" y="413"/>
                    </a:lnTo>
                    <a:lnTo>
                      <a:pt x="109" y="356"/>
                    </a:lnTo>
                    <a:lnTo>
                      <a:pt x="57" y="301"/>
                    </a:lnTo>
                    <a:lnTo>
                      <a:pt x="0" y="250"/>
                    </a:lnTo>
                    <a:lnTo>
                      <a:pt x="3" y="220"/>
                    </a:lnTo>
                    <a:lnTo>
                      <a:pt x="14" y="204"/>
                    </a:lnTo>
                    <a:lnTo>
                      <a:pt x="30" y="199"/>
                    </a:lnTo>
                    <a:lnTo>
                      <a:pt x="49" y="196"/>
                    </a:lnTo>
                    <a:lnTo>
                      <a:pt x="65" y="196"/>
                    </a:lnTo>
                    <a:lnTo>
                      <a:pt x="81" y="193"/>
                    </a:lnTo>
                    <a:lnTo>
                      <a:pt x="95" y="180"/>
                    </a:lnTo>
                    <a:lnTo>
                      <a:pt x="104" y="153"/>
                    </a:lnTo>
                    <a:lnTo>
                      <a:pt x="144" y="141"/>
                    </a:lnTo>
                    <a:lnTo>
                      <a:pt x="185" y="134"/>
                    </a:lnTo>
                    <a:lnTo>
                      <a:pt x="222" y="123"/>
                    </a:lnTo>
                    <a:lnTo>
                      <a:pt x="263" y="111"/>
                    </a:lnTo>
                    <a:lnTo>
                      <a:pt x="305" y="100"/>
                    </a:lnTo>
                    <a:lnTo>
                      <a:pt x="342" y="90"/>
                    </a:lnTo>
                    <a:lnTo>
                      <a:pt x="383" y="79"/>
                    </a:lnTo>
                    <a:lnTo>
                      <a:pt x="423" y="68"/>
                    </a:lnTo>
                    <a:lnTo>
                      <a:pt x="464" y="58"/>
                    </a:lnTo>
                    <a:lnTo>
                      <a:pt x="505" y="49"/>
                    </a:lnTo>
                    <a:lnTo>
                      <a:pt x="546" y="38"/>
                    </a:lnTo>
                    <a:lnTo>
                      <a:pt x="587" y="30"/>
                    </a:lnTo>
                    <a:lnTo>
                      <a:pt x="628" y="22"/>
                    </a:lnTo>
                    <a:lnTo>
                      <a:pt x="668" y="14"/>
                    </a:lnTo>
                    <a:lnTo>
                      <a:pt x="711" y="5"/>
                    </a:lnTo>
                    <a:lnTo>
                      <a:pt x="753" y="0"/>
                    </a:lnTo>
                    <a:lnTo>
                      <a:pt x="1138" y="424"/>
                    </a:lnTo>
                    <a:lnTo>
                      <a:pt x="1118" y="451"/>
                    </a:lnTo>
                    <a:lnTo>
                      <a:pt x="1097" y="476"/>
                    </a:lnTo>
                    <a:lnTo>
                      <a:pt x="1076" y="495"/>
                    </a:lnTo>
                    <a:lnTo>
                      <a:pt x="1048" y="511"/>
                    </a:lnTo>
                    <a:lnTo>
                      <a:pt x="1021" y="527"/>
                    </a:lnTo>
                    <a:lnTo>
                      <a:pt x="991" y="538"/>
                    </a:lnTo>
                    <a:lnTo>
                      <a:pt x="964" y="546"/>
                    </a:lnTo>
                    <a:lnTo>
                      <a:pt x="934" y="552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2" name="Freeform 73">
                <a:extLst>
                  <a:ext uri="{FF2B5EF4-FFF2-40B4-BE49-F238E27FC236}">
                    <a16:creationId xmlns:a16="http://schemas.microsoft.com/office/drawing/2014/main" id="{FD024D4B-E992-9348-8C6A-9DFE1D3039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1" y="3877"/>
                <a:ext cx="96" cy="127"/>
              </a:xfrm>
              <a:custGeom>
                <a:avLst/>
                <a:gdLst>
                  <a:gd name="T0" fmla="*/ 0 w 386"/>
                  <a:gd name="T1" fmla="*/ 0 h 507"/>
                  <a:gd name="T2" fmla="*/ 0 w 386"/>
                  <a:gd name="T3" fmla="*/ 0 h 507"/>
                  <a:gd name="T4" fmla="*/ 0 w 386"/>
                  <a:gd name="T5" fmla="*/ 0 h 507"/>
                  <a:gd name="T6" fmla="*/ 0 w 386"/>
                  <a:gd name="T7" fmla="*/ 0 h 507"/>
                  <a:gd name="T8" fmla="*/ 0 w 386"/>
                  <a:gd name="T9" fmla="*/ 0 h 507"/>
                  <a:gd name="T10" fmla="*/ 0 w 386"/>
                  <a:gd name="T11" fmla="*/ 0 h 507"/>
                  <a:gd name="T12" fmla="*/ 0 w 386"/>
                  <a:gd name="T13" fmla="*/ 0 h 507"/>
                  <a:gd name="T14" fmla="*/ 0 w 386"/>
                  <a:gd name="T15" fmla="*/ 0 h 507"/>
                  <a:gd name="T16" fmla="*/ 0 w 386"/>
                  <a:gd name="T17" fmla="*/ 0 h 507"/>
                  <a:gd name="T18" fmla="*/ 0 w 386"/>
                  <a:gd name="T19" fmla="*/ 0 h 507"/>
                  <a:gd name="T20" fmla="*/ 0 w 386"/>
                  <a:gd name="T21" fmla="*/ 0 h 507"/>
                  <a:gd name="T22" fmla="*/ 0 w 386"/>
                  <a:gd name="T23" fmla="*/ 0 h 507"/>
                  <a:gd name="T24" fmla="*/ 0 w 386"/>
                  <a:gd name="T25" fmla="*/ 0 h 507"/>
                  <a:gd name="T26" fmla="*/ 0 w 386"/>
                  <a:gd name="T27" fmla="*/ 0 h 507"/>
                  <a:gd name="T28" fmla="*/ 0 w 386"/>
                  <a:gd name="T29" fmla="*/ 0 h 507"/>
                  <a:gd name="T30" fmla="*/ 0 w 386"/>
                  <a:gd name="T31" fmla="*/ 0 h 507"/>
                  <a:gd name="T32" fmla="*/ 0 w 386"/>
                  <a:gd name="T33" fmla="*/ 0 h 507"/>
                  <a:gd name="T34" fmla="*/ 0 w 386"/>
                  <a:gd name="T35" fmla="*/ 0 h 507"/>
                  <a:gd name="T36" fmla="*/ 0 w 386"/>
                  <a:gd name="T37" fmla="*/ 0 h 507"/>
                  <a:gd name="T38" fmla="*/ 0 w 386"/>
                  <a:gd name="T39" fmla="*/ 0 h 507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386"/>
                  <a:gd name="T61" fmla="*/ 0 h 507"/>
                  <a:gd name="T62" fmla="*/ 386 w 386"/>
                  <a:gd name="T63" fmla="*/ 507 h 507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386" h="507">
                    <a:moveTo>
                      <a:pt x="372" y="507"/>
                    </a:moveTo>
                    <a:lnTo>
                      <a:pt x="328" y="507"/>
                    </a:lnTo>
                    <a:lnTo>
                      <a:pt x="291" y="445"/>
                    </a:lnTo>
                    <a:lnTo>
                      <a:pt x="245" y="386"/>
                    </a:lnTo>
                    <a:lnTo>
                      <a:pt x="199" y="329"/>
                    </a:lnTo>
                    <a:lnTo>
                      <a:pt x="150" y="269"/>
                    </a:lnTo>
                    <a:lnTo>
                      <a:pt x="100" y="209"/>
                    </a:lnTo>
                    <a:lnTo>
                      <a:pt x="60" y="146"/>
                    </a:lnTo>
                    <a:lnTo>
                      <a:pt x="25" y="82"/>
                    </a:lnTo>
                    <a:lnTo>
                      <a:pt x="0" y="14"/>
                    </a:lnTo>
                    <a:lnTo>
                      <a:pt x="16" y="0"/>
                    </a:lnTo>
                    <a:lnTo>
                      <a:pt x="70" y="57"/>
                    </a:lnTo>
                    <a:lnTo>
                      <a:pt x="122" y="117"/>
                    </a:lnTo>
                    <a:lnTo>
                      <a:pt x="171" y="176"/>
                    </a:lnTo>
                    <a:lnTo>
                      <a:pt x="220" y="236"/>
                    </a:lnTo>
                    <a:lnTo>
                      <a:pt x="266" y="299"/>
                    </a:lnTo>
                    <a:lnTo>
                      <a:pt x="310" y="364"/>
                    </a:lnTo>
                    <a:lnTo>
                      <a:pt x="351" y="429"/>
                    </a:lnTo>
                    <a:lnTo>
                      <a:pt x="386" y="497"/>
                    </a:lnTo>
                    <a:lnTo>
                      <a:pt x="372" y="507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3" name="Freeform 74">
                <a:extLst>
                  <a:ext uri="{FF2B5EF4-FFF2-40B4-BE49-F238E27FC236}">
                    <a16:creationId xmlns:a16="http://schemas.microsoft.com/office/drawing/2014/main" id="{09AA5674-F916-454B-800E-153625EDD3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6" y="3769"/>
                <a:ext cx="55" cy="21"/>
              </a:xfrm>
              <a:custGeom>
                <a:avLst/>
                <a:gdLst>
                  <a:gd name="T0" fmla="*/ 0 w 220"/>
                  <a:gd name="T1" fmla="*/ 0 h 84"/>
                  <a:gd name="T2" fmla="*/ 0 w 220"/>
                  <a:gd name="T3" fmla="*/ 0 h 84"/>
                  <a:gd name="T4" fmla="*/ 0 w 220"/>
                  <a:gd name="T5" fmla="*/ 0 h 84"/>
                  <a:gd name="T6" fmla="*/ 0 w 220"/>
                  <a:gd name="T7" fmla="*/ 0 h 84"/>
                  <a:gd name="T8" fmla="*/ 0 w 220"/>
                  <a:gd name="T9" fmla="*/ 0 h 84"/>
                  <a:gd name="T10" fmla="*/ 0 w 220"/>
                  <a:gd name="T11" fmla="*/ 0 h 84"/>
                  <a:gd name="T12" fmla="*/ 0 w 220"/>
                  <a:gd name="T13" fmla="*/ 0 h 84"/>
                  <a:gd name="T14" fmla="*/ 0 w 220"/>
                  <a:gd name="T15" fmla="*/ 0 h 84"/>
                  <a:gd name="T16" fmla="*/ 0 w 220"/>
                  <a:gd name="T17" fmla="*/ 0 h 84"/>
                  <a:gd name="T18" fmla="*/ 0 w 220"/>
                  <a:gd name="T19" fmla="*/ 0 h 84"/>
                  <a:gd name="T20" fmla="*/ 0 w 220"/>
                  <a:gd name="T21" fmla="*/ 0 h 84"/>
                  <a:gd name="T22" fmla="*/ 0 w 220"/>
                  <a:gd name="T23" fmla="*/ 0 h 84"/>
                  <a:gd name="T24" fmla="*/ 0 w 220"/>
                  <a:gd name="T25" fmla="*/ 0 h 84"/>
                  <a:gd name="T26" fmla="*/ 0 w 220"/>
                  <a:gd name="T27" fmla="*/ 0 h 84"/>
                  <a:gd name="T28" fmla="*/ 0 w 220"/>
                  <a:gd name="T29" fmla="*/ 0 h 84"/>
                  <a:gd name="T30" fmla="*/ 0 w 220"/>
                  <a:gd name="T31" fmla="*/ 0 h 84"/>
                  <a:gd name="T32" fmla="*/ 0 w 220"/>
                  <a:gd name="T33" fmla="*/ 0 h 84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220"/>
                  <a:gd name="T52" fmla="*/ 0 h 84"/>
                  <a:gd name="T53" fmla="*/ 220 w 220"/>
                  <a:gd name="T54" fmla="*/ 84 h 84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220" h="84">
                    <a:moveTo>
                      <a:pt x="0" y="84"/>
                    </a:moveTo>
                    <a:lnTo>
                      <a:pt x="19" y="60"/>
                    </a:lnTo>
                    <a:lnTo>
                      <a:pt x="44" y="38"/>
                    </a:lnTo>
                    <a:lnTo>
                      <a:pt x="71" y="24"/>
                    </a:lnTo>
                    <a:lnTo>
                      <a:pt x="103" y="14"/>
                    </a:lnTo>
                    <a:lnTo>
                      <a:pt x="133" y="6"/>
                    </a:lnTo>
                    <a:lnTo>
                      <a:pt x="163" y="3"/>
                    </a:lnTo>
                    <a:lnTo>
                      <a:pt x="193" y="0"/>
                    </a:lnTo>
                    <a:lnTo>
                      <a:pt x="220" y="0"/>
                    </a:lnTo>
                    <a:lnTo>
                      <a:pt x="203" y="28"/>
                    </a:lnTo>
                    <a:lnTo>
                      <a:pt x="180" y="47"/>
                    </a:lnTo>
                    <a:lnTo>
                      <a:pt x="152" y="60"/>
                    </a:lnTo>
                    <a:lnTo>
                      <a:pt x="122" y="65"/>
                    </a:lnTo>
                    <a:lnTo>
                      <a:pt x="92" y="70"/>
                    </a:lnTo>
                    <a:lnTo>
                      <a:pt x="60" y="74"/>
                    </a:lnTo>
                    <a:lnTo>
                      <a:pt x="30" y="79"/>
                    </a:lnTo>
                    <a:lnTo>
                      <a:pt x="0" y="8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4" name="Freeform 75">
                <a:extLst>
                  <a:ext uri="{FF2B5EF4-FFF2-40B4-BE49-F238E27FC236}">
                    <a16:creationId xmlns:a16="http://schemas.microsoft.com/office/drawing/2014/main" id="{4F0DDF47-98E1-1440-BEEE-5C9B87956C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5" y="4003"/>
                <a:ext cx="65" cy="40"/>
              </a:xfrm>
              <a:custGeom>
                <a:avLst/>
                <a:gdLst>
                  <a:gd name="T0" fmla="*/ 0 w 258"/>
                  <a:gd name="T1" fmla="*/ 0 h 161"/>
                  <a:gd name="T2" fmla="*/ 0 w 258"/>
                  <a:gd name="T3" fmla="*/ 0 h 161"/>
                  <a:gd name="T4" fmla="*/ 0 w 258"/>
                  <a:gd name="T5" fmla="*/ 0 h 161"/>
                  <a:gd name="T6" fmla="*/ 0 w 258"/>
                  <a:gd name="T7" fmla="*/ 0 h 161"/>
                  <a:gd name="T8" fmla="*/ 0 w 258"/>
                  <a:gd name="T9" fmla="*/ 0 h 161"/>
                  <a:gd name="T10" fmla="*/ 0 w 258"/>
                  <a:gd name="T11" fmla="*/ 0 h 161"/>
                  <a:gd name="T12" fmla="*/ 0 w 258"/>
                  <a:gd name="T13" fmla="*/ 0 h 161"/>
                  <a:gd name="T14" fmla="*/ 0 w 258"/>
                  <a:gd name="T15" fmla="*/ 0 h 161"/>
                  <a:gd name="T16" fmla="*/ 0 w 258"/>
                  <a:gd name="T17" fmla="*/ 0 h 161"/>
                  <a:gd name="T18" fmla="*/ 0 w 258"/>
                  <a:gd name="T19" fmla="*/ 0 h 161"/>
                  <a:gd name="T20" fmla="*/ 0 w 258"/>
                  <a:gd name="T21" fmla="*/ 0 h 161"/>
                  <a:gd name="T22" fmla="*/ 0 w 258"/>
                  <a:gd name="T23" fmla="*/ 0 h 161"/>
                  <a:gd name="T24" fmla="*/ 0 w 258"/>
                  <a:gd name="T25" fmla="*/ 0 h 161"/>
                  <a:gd name="T26" fmla="*/ 0 w 258"/>
                  <a:gd name="T27" fmla="*/ 0 h 161"/>
                  <a:gd name="T28" fmla="*/ 0 w 258"/>
                  <a:gd name="T29" fmla="*/ 0 h 161"/>
                  <a:gd name="T30" fmla="*/ 0 w 258"/>
                  <a:gd name="T31" fmla="*/ 0 h 161"/>
                  <a:gd name="T32" fmla="*/ 0 w 258"/>
                  <a:gd name="T33" fmla="*/ 0 h 161"/>
                  <a:gd name="T34" fmla="*/ 0 w 258"/>
                  <a:gd name="T35" fmla="*/ 0 h 161"/>
                  <a:gd name="T36" fmla="*/ 0 w 258"/>
                  <a:gd name="T37" fmla="*/ 0 h 16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258"/>
                  <a:gd name="T58" fmla="*/ 0 h 161"/>
                  <a:gd name="T59" fmla="*/ 258 w 258"/>
                  <a:gd name="T60" fmla="*/ 161 h 16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258" h="161">
                    <a:moveTo>
                      <a:pt x="11" y="73"/>
                    </a:moveTo>
                    <a:lnTo>
                      <a:pt x="0" y="57"/>
                    </a:lnTo>
                    <a:lnTo>
                      <a:pt x="16" y="48"/>
                    </a:lnTo>
                    <a:lnTo>
                      <a:pt x="32" y="43"/>
                    </a:lnTo>
                    <a:lnTo>
                      <a:pt x="52" y="43"/>
                    </a:lnTo>
                    <a:lnTo>
                      <a:pt x="68" y="41"/>
                    </a:lnTo>
                    <a:lnTo>
                      <a:pt x="87" y="38"/>
                    </a:lnTo>
                    <a:lnTo>
                      <a:pt x="103" y="30"/>
                    </a:lnTo>
                    <a:lnTo>
                      <a:pt x="117" y="20"/>
                    </a:lnTo>
                    <a:lnTo>
                      <a:pt x="128" y="0"/>
                    </a:lnTo>
                    <a:lnTo>
                      <a:pt x="258" y="147"/>
                    </a:lnTo>
                    <a:lnTo>
                      <a:pt x="219" y="152"/>
                    </a:lnTo>
                    <a:lnTo>
                      <a:pt x="184" y="155"/>
                    </a:lnTo>
                    <a:lnTo>
                      <a:pt x="147" y="161"/>
                    </a:lnTo>
                    <a:lnTo>
                      <a:pt x="114" y="157"/>
                    </a:lnTo>
                    <a:lnTo>
                      <a:pt x="84" y="152"/>
                    </a:lnTo>
                    <a:lnTo>
                      <a:pt x="54" y="138"/>
                    </a:lnTo>
                    <a:lnTo>
                      <a:pt x="30" y="111"/>
                    </a:lnTo>
                    <a:lnTo>
                      <a:pt x="11" y="73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5" name="Freeform 76">
                <a:extLst>
                  <a:ext uri="{FF2B5EF4-FFF2-40B4-BE49-F238E27FC236}">
                    <a16:creationId xmlns:a16="http://schemas.microsoft.com/office/drawing/2014/main" id="{78AB21FF-1188-C345-9CC9-186915E8B1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2" y="3454"/>
                <a:ext cx="262" cy="157"/>
              </a:xfrm>
              <a:custGeom>
                <a:avLst/>
                <a:gdLst>
                  <a:gd name="T0" fmla="*/ 0 w 1049"/>
                  <a:gd name="T1" fmla="*/ 0 h 625"/>
                  <a:gd name="T2" fmla="*/ 0 w 1049"/>
                  <a:gd name="T3" fmla="*/ 0 h 625"/>
                  <a:gd name="T4" fmla="*/ 0 w 1049"/>
                  <a:gd name="T5" fmla="*/ 0 h 625"/>
                  <a:gd name="T6" fmla="*/ 0 w 1049"/>
                  <a:gd name="T7" fmla="*/ 0 h 625"/>
                  <a:gd name="T8" fmla="*/ 0 w 1049"/>
                  <a:gd name="T9" fmla="*/ 0 h 625"/>
                  <a:gd name="T10" fmla="*/ 0 w 1049"/>
                  <a:gd name="T11" fmla="*/ 0 h 625"/>
                  <a:gd name="T12" fmla="*/ 0 w 1049"/>
                  <a:gd name="T13" fmla="*/ 0 h 625"/>
                  <a:gd name="T14" fmla="*/ 0 w 1049"/>
                  <a:gd name="T15" fmla="*/ 0 h 625"/>
                  <a:gd name="T16" fmla="*/ 0 w 1049"/>
                  <a:gd name="T17" fmla="*/ 0 h 625"/>
                  <a:gd name="T18" fmla="*/ 0 w 1049"/>
                  <a:gd name="T19" fmla="*/ 0 h 625"/>
                  <a:gd name="T20" fmla="*/ 0 w 1049"/>
                  <a:gd name="T21" fmla="*/ 0 h 625"/>
                  <a:gd name="T22" fmla="*/ 0 w 1049"/>
                  <a:gd name="T23" fmla="*/ 0 h 625"/>
                  <a:gd name="T24" fmla="*/ 0 w 1049"/>
                  <a:gd name="T25" fmla="*/ 0 h 625"/>
                  <a:gd name="T26" fmla="*/ 0 w 1049"/>
                  <a:gd name="T27" fmla="*/ 0 h 625"/>
                  <a:gd name="T28" fmla="*/ 0 w 1049"/>
                  <a:gd name="T29" fmla="*/ 0 h 625"/>
                  <a:gd name="T30" fmla="*/ 0 w 1049"/>
                  <a:gd name="T31" fmla="*/ 0 h 625"/>
                  <a:gd name="T32" fmla="*/ 0 w 1049"/>
                  <a:gd name="T33" fmla="*/ 0 h 625"/>
                  <a:gd name="T34" fmla="*/ 0 w 1049"/>
                  <a:gd name="T35" fmla="*/ 0 h 625"/>
                  <a:gd name="T36" fmla="*/ 0 w 1049"/>
                  <a:gd name="T37" fmla="*/ 0 h 625"/>
                  <a:gd name="T38" fmla="*/ 0 w 1049"/>
                  <a:gd name="T39" fmla="*/ 0 h 625"/>
                  <a:gd name="T40" fmla="*/ 0 w 1049"/>
                  <a:gd name="T41" fmla="*/ 0 h 625"/>
                  <a:gd name="T42" fmla="*/ 0 w 1049"/>
                  <a:gd name="T43" fmla="*/ 0 h 625"/>
                  <a:gd name="T44" fmla="*/ 0 w 1049"/>
                  <a:gd name="T45" fmla="*/ 0 h 625"/>
                  <a:gd name="T46" fmla="*/ 0 w 1049"/>
                  <a:gd name="T47" fmla="*/ 0 h 625"/>
                  <a:gd name="T48" fmla="*/ 0 w 1049"/>
                  <a:gd name="T49" fmla="*/ 0 h 625"/>
                  <a:gd name="T50" fmla="*/ 0 w 1049"/>
                  <a:gd name="T51" fmla="*/ 0 h 625"/>
                  <a:gd name="T52" fmla="*/ 0 w 1049"/>
                  <a:gd name="T53" fmla="*/ 0 h 625"/>
                  <a:gd name="T54" fmla="*/ 0 w 1049"/>
                  <a:gd name="T55" fmla="*/ 0 h 625"/>
                  <a:gd name="T56" fmla="*/ 0 w 1049"/>
                  <a:gd name="T57" fmla="*/ 0 h 625"/>
                  <a:gd name="T58" fmla="*/ 0 w 1049"/>
                  <a:gd name="T59" fmla="*/ 0 h 625"/>
                  <a:gd name="T60" fmla="*/ 0 w 1049"/>
                  <a:gd name="T61" fmla="*/ 0 h 625"/>
                  <a:gd name="T62" fmla="*/ 0 w 1049"/>
                  <a:gd name="T63" fmla="*/ 0 h 625"/>
                  <a:gd name="T64" fmla="*/ 0 w 1049"/>
                  <a:gd name="T65" fmla="*/ 0 h 625"/>
                  <a:gd name="T66" fmla="*/ 0 w 1049"/>
                  <a:gd name="T67" fmla="*/ 0 h 625"/>
                  <a:gd name="T68" fmla="*/ 0 w 1049"/>
                  <a:gd name="T69" fmla="*/ 0 h 625"/>
                  <a:gd name="T70" fmla="*/ 0 w 1049"/>
                  <a:gd name="T71" fmla="*/ 0 h 625"/>
                  <a:gd name="T72" fmla="*/ 0 w 1049"/>
                  <a:gd name="T73" fmla="*/ 0 h 625"/>
                  <a:gd name="T74" fmla="*/ 0 w 1049"/>
                  <a:gd name="T75" fmla="*/ 0 h 625"/>
                  <a:gd name="T76" fmla="*/ 0 w 1049"/>
                  <a:gd name="T77" fmla="*/ 0 h 625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w 1049"/>
                  <a:gd name="T118" fmla="*/ 0 h 625"/>
                  <a:gd name="T119" fmla="*/ 1049 w 1049"/>
                  <a:gd name="T120" fmla="*/ 625 h 625"/>
                </a:gdLst>
                <a:ahLst/>
                <a:cxnLst>
                  <a:cxn ang="T78">
                    <a:pos x="T0" y="T1"/>
                  </a:cxn>
                  <a:cxn ang="T79">
                    <a:pos x="T2" y="T3"/>
                  </a:cxn>
                  <a:cxn ang="T80">
                    <a:pos x="T4" y="T5"/>
                  </a:cxn>
                  <a:cxn ang="T81">
                    <a:pos x="T6" y="T7"/>
                  </a:cxn>
                  <a:cxn ang="T82">
                    <a:pos x="T8" y="T9"/>
                  </a:cxn>
                  <a:cxn ang="T83">
                    <a:pos x="T10" y="T11"/>
                  </a:cxn>
                  <a:cxn ang="T84">
                    <a:pos x="T12" y="T13"/>
                  </a:cxn>
                  <a:cxn ang="T85">
                    <a:pos x="T14" y="T15"/>
                  </a:cxn>
                  <a:cxn ang="T86">
                    <a:pos x="T16" y="T17"/>
                  </a:cxn>
                  <a:cxn ang="T87">
                    <a:pos x="T18" y="T19"/>
                  </a:cxn>
                  <a:cxn ang="T88">
                    <a:pos x="T20" y="T21"/>
                  </a:cxn>
                  <a:cxn ang="T89">
                    <a:pos x="T22" y="T23"/>
                  </a:cxn>
                  <a:cxn ang="T90">
                    <a:pos x="T24" y="T25"/>
                  </a:cxn>
                  <a:cxn ang="T91">
                    <a:pos x="T26" y="T27"/>
                  </a:cxn>
                  <a:cxn ang="T92">
                    <a:pos x="T28" y="T29"/>
                  </a:cxn>
                  <a:cxn ang="T93">
                    <a:pos x="T30" y="T31"/>
                  </a:cxn>
                  <a:cxn ang="T94">
                    <a:pos x="T32" y="T33"/>
                  </a:cxn>
                  <a:cxn ang="T95">
                    <a:pos x="T34" y="T35"/>
                  </a:cxn>
                  <a:cxn ang="T96">
                    <a:pos x="T36" y="T37"/>
                  </a:cxn>
                  <a:cxn ang="T97">
                    <a:pos x="T38" y="T39"/>
                  </a:cxn>
                  <a:cxn ang="T98">
                    <a:pos x="T40" y="T41"/>
                  </a:cxn>
                  <a:cxn ang="T99">
                    <a:pos x="T42" y="T43"/>
                  </a:cxn>
                  <a:cxn ang="T100">
                    <a:pos x="T44" y="T45"/>
                  </a:cxn>
                  <a:cxn ang="T101">
                    <a:pos x="T46" y="T47"/>
                  </a:cxn>
                  <a:cxn ang="T102">
                    <a:pos x="T48" y="T49"/>
                  </a:cxn>
                  <a:cxn ang="T103">
                    <a:pos x="T50" y="T51"/>
                  </a:cxn>
                  <a:cxn ang="T104">
                    <a:pos x="T52" y="T53"/>
                  </a:cxn>
                  <a:cxn ang="T105">
                    <a:pos x="T54" y="T55"/>
                  </a:cxn>
                  <a:cxn ang="T106">
                    <a:pos x="T56" y="T57"/>
                  </a:cxn>
                  <a:cxn ang="T107">
                    <a:pos x="T58" y="T59"/>
                  </a:cxn>
                  <a:cxn ang="T108">
                    <a:pos x="T60" y="T61"/>
                  </a:cxn>
                  <a:cxn ang="T109">
                    <a:pos x="T62" y="T63"/>
                  </a:cxn>
                  <a:cxn ang="T110">
                    <a:pos x="T64" y="T65"/>
                  </a:cxn>
                  <a:cxn ang="T111">
                    <a:pos x="T66" y="T67"/>
                  </a:cxn>
                  <a:cxn ang="T112">
                    <a:pos x="T68" y="T69"/>
                  </a:cxn>
                  <a:cxn ang="T113">
                    <a:pos x="T70" y="T71"/>
                  </a:cxn>
                  <a:cxn ang="T114">
                    <a:pos x="T72" y="T73"/>
                  </a:cxn>
                  <a:cxn ang="T115">
                    <a:pos x="T74" y="T75"/>
                  </a:cxn>
                  <a:cxn ang="T116">
                    <a:pos x="T76" y="T77"/>
                  </a:cxn>
                </a:cxnLst>
                <a:rect l="T117" t="T118" r="T119" b="T120"/>
                <a:pathLst>
                  <a:path w="1049" h="625">
                    <a:moveTo>
                      <a:pt x="858" y="519"/>
                    </a:moveTo>
                    <a:lnTo>
                      <a:pt x="850" y="511"/>
                    </a:lnTo>
                    <a:lnTo>
                      <a:pt x="844" y="500"/>
                    </a:lnTo>
                    <a:lnTo>
                      <a:pt x="844" y="486"/>
                    </a:lnTo>
                    <a:lnTo>
                      <a:pt x="844" y="476"/>
                    </a:lnTo>
                    <a:lnTo>
                      <a:pt x="860" y="465"/>
                    </a:lnTo>
                    <a:lnTo>
                      <a:pt x="880" y="454"/>
                    </a:lnTo>
                    <a:lnTo>
                      <a:pt x="896" y="442"/>
                    </a:lnTo>
                    <a:lnTo>
                      <a:pt x="915" y="432"/>
                    </a:lnTo>
                    <a:lnTo>
                      <a:pt x="931" y="421"/>
                    </a:lnTo>
                    <a:lnTo>
                      <a:pt x="948" y="407"/>
                    </a:lnTo>
                    <a:lnTo>
                      <a:pt x="964" y="394"/>
                    </a:lnTo>
                    <a:lnTo>
                      <a:pt x="978" y="377"/>
                    </a:lnTo>
                    <a:lnTo>
                      <a:pt x="689" y="70"/>
                    </a:lnTo>
                    <a:lnTo>
                      <a:pt x="649" y="77"/>
                    </a:lnTo>
                    <a:lnTo>
                      <a:pt x="606" y="82"/>
                    </a:lnTo>
                    <a:lnTo>
                      <a:pt x="564" y="90"/>
                    </a:lnTo>
                    <a:lnTo>
                      <a:pt x="524" y="98"/>
                    </a:lnTo>
                    <a:lnTo>
                      <a:pt x="483" y="106"/>
                    </a:lnTo>
                    <a:lnTo>
                      <a:pt x="442" y="117"/>
                    </a:lnTo>
                    <a:lnTo>
                      <a:pt x="405" y="130"/>
                    </a:lnTo>
                    <a:lnTo>
                      <a:pt x="364" y="141"/>
                    </a:lnTo>
                    <a:lnTo>
                      <a:pt x="326" y="155"/>
                    </a:lnTo>
                    <a:lnTo>
                      <a:pt x="285" y="169"/>
                    </a:lnTo>
                    <a:lnTo>
                      <a:pt x="247" y="185"/>
                    </a:lnTo>
                    <a:lnTo>
                      <a:pt x="209" y="199"/>
                    </a:lnTo>
                    <a:lnTo>
                      <a:pt x="171" y="215"/>
                    </a:lnTo>
                    <a:lnTo>
                      <a:pt x="133" y="231"/>
                    </a:lnTo>
                    <a:lnTo>
                      <a:pt x="95" y="248"/>
                    </a:lnTo>
                    <a:lnTo>
                      <a:pt x="57" y="264"/>
                    </a:lnTo>
                    <a:lnTo>
                      <a:pt x="86" y="304"/>
                    </a:lnTo>
                    <a:lnTo>
                      <a:pt x="119" y="345"/>
                    </a:lnTo>
                    <a:lnTo>
                      <a:pt x="151" y="384"/>
                    </a:lnTo>
                    <a:lnTo>
                      <a:pt x="185" y="424"/>
                    </a:lnTo>
                    <a:lnTo>
                      <a:pt x="215" y="465"/>
                    </a:lnTo>
                    <a:lnTo>
                      <a:pt x="241" y="508"/>
                    </a:lnTo>
                    <a:lnTo>
                      <a:pt x="266" y="551"/>
                    </a:lnTo>
                    <a:lnTo>
                      <a:pt x="282" y="597"/>
                    </a:lnTo>
                    <a:lnTo>
                      <a:pt x="252" y="625"/>
                    </a:lnTo>
                    <a:lnTo>
                      <a:pt x="217" y="573"/>
                    </a:lnTo>
                    <a:lnTo>
                      <a:pt x="176" y="521"/>
                    </a:lnTo>
                    <a:lnTo>
                      <a:pt x="133" y="470"/>
                    </a:lnTo>
                    <a:lnTo>
                      <a:pt x="89" y="416"/>
                    </a:lnTo>
                    <a:lnTo>
                      <a:pt x="54" y="364"/>
                    </a:lnTo>
                    <a:lnTo>
                      <a:pt x="24" y="310"/>
                    </a:lnTo>
                    <a:lnTo>
                      <a:pt x="5" y="253"/>
                    </a:lnTo>
                    <a:lnTo>
                      <a:pt x="0" y="193"/>
                    </a:lnTo>
                    <a:lnTo>
                      <a:pt x="43" y="183"/>
                    </a:lnTo>
                    <a:lnTo>
                      <a:pt x="89" y="169"/>
                    </a:lnTo>
                    <a:lnTo>
                      <a:pt x="133" y="158"/>
                    </a:lnTo>
                    <a:lnTo>
                      <a:pt x="176" y="144"/>
                    </a:lnTo>
                    <a:lnTo>
                      <a:pt x="220" y="128"/>
                    </a:lnTo>
                    <a:lnTo>
                      <a:pt x="264" y="114"/>
                    </a:lnTo>
                    <a:lnTo>
                      <a:pt x="307" y="100"/>
                    </a:lnTo>
                    <a:lnTo>
                      <a:pt x="350" y="88"/>
                    </a:lnTo>
                    <a:lnTo>
                      <a:pt x="393" y="74"/>
                    </a:lnTo>
                    <a:lnTo>
                      <a:pt x="437" y="60"/>
                    </a:lnTo>
                    <a:lnTo>
                      <a:pt x="483" y="47"/>
                    </a:lnTo>
                    <a:lnTo>
                      <a:pt x="527" y="35"/>
                    </a:lnTo>
                    <a:lnTo>
                      <a:pt x="571" y="24"/>
                    </a:lnTo>
                    <a:lnTo>
                      <a:pt x="617" y="14"/>
                    </a:lnTo>
                    <a:lnTo>
                      <a:pt x="659" y="5"/>
                    </a:lnTo>
                    <a:lnTo>
                      <a:pt x="706" y="0"/>
                    </a:lnTo>
                    <a:lnTo>
                      <a:pt x="749" y="49"/>
                    </a:lnTo>
                    <a:lnTo>
                      <a:pt x="795" y="95"/>
                    </a:lnTo>
                    <a:lnTo>
                      <a:pt x="848" y="144"/>
                    </a:lnTo>
                    <a:lnTo>
                      <a:pt x="899" y="190"/>
                    </a:lnTo>
                    <a:lnTo>
                      <a:pt x="945" y="241"/>
                    </a:lnTo>
                    <a:lnTo>
                      <a:pt x="989" y="294"/>
                    </a:lnTo>
                    <a:lnTo>
                      <a:pt x="1024" y="348"/>
                    </a:lnTo>
                    <a:lnTo>
                      <a:pt x="1049" y="405"/>
                    </a:lnTo>
                    <a:lnTo>
                      <a:pt x="1029" y="430"/>
                    </a:lnTo>
                    <a:lnTo>
                      <a:pt x="1007" y="448"/>
                    </a:lnTo>
                    <a:lnTo>
                      <a:pt x="983" y="465"/>
                    </a:lnTo>
                    <a:lnTo>
                      <a:pt x="961" y="481"/>
                    </a:lnTo>
                    <a:lnTo>
                      <a:pt x="936" y="492"/>
                    </a:lnTo>
                    <a:lnTo>
                      <a:pt x="910" y="502"/>
                    </a:lnTo>
                    <a:lnTo>
                      <a:pt x="885" y="511"/>
                    </a:lnTo>
                    <a:lnTo>
                      <a:pt x="858" y="51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6" name="Freeform 77">
                <a:extLst>
                  <a:ext uri="{FF2B5EF4-FFF2-40B4-BE49-F238E27FC236}">
                    <a16:creationId xmlns:a16="http://schemas.microsoft.com/office/drawing/2014/main" id="{FA567C47-8493-FA41-844E-A4DE2D02F7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37" y="3687"/>
                <a:ext cx="113" cy="139"/>
              </a:xfrm>
              <a:custGeom>
                <a:avLst/>
                <a:gdLst>
                  <a:gd name="T0" fmla="*/ 0 w 450"/>
                  <a:gd name="T1" fmla="*/ 0 h 556"/>
                  <a:gd name="T2" fmla="*/ 0 w 450"/>
                  <a:gd name="T3" fmla="*/ 0 h 556"/>
                  <a:gd name="T4" fmla="*/ 0 w 450"/>
                  <a:gd name="T5" fmla="*/ 0 h 556"/>
                  <a:gd name="T6" fmla="*/ 0 w 450"/>
                  <a:gd name="T7" fmla="*/ 0 h 556"/>
                  <a:gd name="T8" fmla="*/ 0 w 450"/>
                  <a:gd name="T9" fmla="*/ 0 h 556"/>
                  <a:gd name="T10" fmla="*/ 0 w 450"/>
                  <a:gd name="T11" fmla="*/ 0 h 556"/>
                  <a:gd name="T12" fmla="*/ 0 w 450"/>
                  <a:gd name="T13" fmla="*/ 0 h 556"/>
                  <a:gd name="T14" fmla="*/ 0 w 450"/>
                  <a:gd name="T15" fmla="*/ 0 h 556"/>
                  <a:gd name="T16" fmla="*/ 0 w 450"/>
                  <a:gd name="T17" fmla="*/ 0 h 556"/>
                  <a:gd name="T18" fmla="*/ 0 w 450"/>
                  <a:gd name="T19" fmla="*/ 0 h 556"/>
                  <a:gd name="T20" fmla="*/ 0 w 450"/>
                  <a:gd name="T21" fmla="*/ 0 h 556"/>
                  <a:gd name="T22" fmla="*/ 0 w 450"/>
                  <a:gd name="T23" fmla="*/ 0 h 556"/>
                  <a:gd name="T24" fmla="*/ 0 w 450"/>
                  <a:gd name="T25" fmla="*/ 0 h 556"/>
                  <a:gd name="T26" fmla="*/ 0 w 450"/>
                  <a:gd name="T27" fmla="*/ 0 h 556"/>
                  <a:gd name="T28" fmla="*/ 0 w 450"/>
                  <a:gd name="T29" fmla="*/ 0 h 556"/>
                  <a:gd name="T30" fmla="*/ 0 w 450"/>
                  <a:gd name="T31" fmla="*/ 0 h 556"/>
                  <a:gd name="T32" fmla="*/ 0 w 450"/>
                  <a:gd name="T33" fmla="*/ 0 h 556"/>
                  <a:gd name="T34" fmla="*/ 0 w 450"/>
                  <a:gd name="T35" fmla="*/ 0 h 55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450"/>
                  <a:gd name="T55" fmla="*/ 0 h 556"/>
                  <a:gd name="T56" fmla="*/ 450 w 450"/>
                  <a:gd name="T57" fmla="*/ 556 h 55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450" h="556">
                    <a:moveTo>
                      <a:pt x="380" y="554"/>
                    </a:moveTo>
                    <a:lnTo>
                      <a:pt x="342" y="480"/>
                    </a:lnTo>
                    <a:lnTo>
                      <a:pt x="296" y="413"/>
                    </a:lnTo>
                    <a:lnTo>
                      <a:pt x="242" y="347"/>
                    </a:lnTo>
                    <a:lnTo>
                      <a:pt x="187" y="284"/>
                    </a:lnTo>
                    <a:lnTo>
                      <a:pt x="131" y="219"/>
                    </a:lnTo>
                    <a:lnTo>
                      <a:pt x="78" y="154"/>
                    </a:lnTo>
                    <a:lnTo>
                      <a:pt x="32" y="87"/>
                    </a:lnTo>
                    <a:lnTo>
                      <a:pt x="0" y="16"/>
                    </a:lnTo>
                    <a:lnTo>
                      <a:pt x="11" y="2"/>
                    </a:lnTo>
                    <a:lnTo>
                      <a:pt x="27" y="0"/>
                    </a:lnTo>
                    <a:lnTo>
                      <a:pt x="43" y="0"/>
                    </a:lnTo>
                    <a:lnTo>
                      <a:pt x="57" y="0"/>
                    </a:lnTo>
                    <a:lnTo>
                      <a:pt x="450" y="524"/>
                    </a:lnTo>
                    <a:lnTo>
                      <a:pt x="440" y="538"/>
                    </a:lnTo>
                    <a:lnTo>
                      <a:pt x="424" y="548"/>
                    </a:lnTo>
                    <a:lnTo>
                      <a:pt x="404" y="556"/>
                    </a:lnTo>
                    <a:lnTo>
                      <a:pt x="380" y="55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7" name="Freeform 78">
                <a:extLst>
                  <a:ext uri="{FF2B5EF4-FFF2-40B4-BE49-F238E27FC236}">
                    <a16:creationId xmlns:a16="http://schemas.microsoft.com/office/drawing/2014/main" id="{2BEA202D-2802-7B41-B2DA-2705D615BC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1" y="3305"/>
                <a:ext cx="267" cy="165"/>
              </a:xfrm>
              <a:custGeom>
                <a:avLst/>
                <a:gdLst>
                  <a:gd name="T0" fmla="*/ 0 w 1067"/>
                  <a:gd name="T1" fmla="*/ 0 h 660"/>
                  <a:gd name="T2" fmla="*/ 0 w 1067"/>
                  <a:gd name="T3" fmla="*/ 0 h 660"/>
                  <a:gd name="T4" fmla="*/ 0 w 1067"/>
                  <a:gd name="T5" fmla="*/ 0 h 660"/>
                  <a:gd name="T6" fmla="*/ 0 w 1067"/>
                  <a:gd name="T7" fmla="*/ 0 h 660"/>
                  <a:gd name="T8" fmla="*/ 0 w 1067"/>
                  <a:gd name="T9" fmla="*/ 0 h 660"/>
                  <a:gd name="T10" fmla="*/ 0 w 1067"/>
                  <a:gd name="T11" fmla="*/ 0 h 660"/>
                  <a:gd name="T12" fmla="*/ 0 w 1067"/>
                  <a:gd name="T13" fmla="*/ 0 h 660"/>
                  <a:gd name="T14" fmla="*/ 0 w 1067"/>
                  <a:gd name="T15" fmla="*/ 0 h 660"/>
                  <a:gd name="T16" fmla="*/ 0 w 1067"/>
                  <a:gd name="T17" fmla="*/ 0 h 660"/>
                  <a:gd name="T18" fmla="*/ 0 w 1067"/>
                  <a:gd name="T19" fmla="*/ 0 h 660"/>
                  <a:gd name="T20" fmla="*/ 0 w 1067"/>
                  <a:gd name="T21" fmla="*/ 0 h 660"/>
                  <a:gd name="T22" fmla="*/ 0 w 1067"/>
                  <a:gd name="T23" fmla="*/ 0 h 660"/>
                  <a:gd name="T24" fmla="*/ 0 w 1067"/>
                  <a:gd name="T25" fmla="*/ 0 h 660"/>
                  <a:gd name="T26" fmla="*/ 0 w 1067"/>
                  <a:gd name="T27" fmla="*/ 0 h 660"/>
                  <a:gd name="T28" fmla="*/ 0 w 1067"/>
                  <a:gd name="T29" fmla="*/ 0 h 660"/>
                  <a:gd name="T30" fmla="*/ 0 w 1067"/>
                  <a:gd name="T31" fmla="*/ 0 h 660"/>
                  <a:gd name="T32" fmla="*/ 0 w 1067"/>
                  <a:gd name="T33" fmla="*/ 0 h 660"/>
                  <a:gd name="T34" fmla="*/ 0 w 1067"/>
                  <a:gd name="T35" fmla="*/ 0 h 660"/>
                  <a:gd name="T36" fmla="*/ 0 w 1067"/>
                  <a:gd name="T37" fmla="*/ 0 h 660"/>
                  <a:gd name="T38" fmla="*/ 0 w 1067"/>
                  <a:gd name="T39" fmla="*/ 0 h 660"/>
                  <a:gd name="T40" fmla="*/ 0 w 1067"/>
                  <a:gd name="T41" fmla="*/ 0 h 660"/>
                  <a:gd name="T42" fmla="*/ 0 w 1067"/>
                  <a:gd name="T43" fmla="*/ 0 h 660"/>
                  <a:gd name="T44" fmla="*/ 0 w 1067"/>
                  <a:gd name="T45" fmla="*/ 0 h 660"/>
                  <a:gd name="T46" fmla="*/ 0 w 1067"/>
                  <a:gd name="T47" fmla="*/ 0 h 660"/>
                  <a:gd name="T48" fmla="*/ 0 w 1067"/>
                  <a:gd name="T49" fmla="*/ 0 h 660"/>
                  <a:gd name="T50" fmla="*/ 0 w 1067"/>
                  <a:gd name="T51" fmla="*/ 0 h 660"/>
                  <a:gd name="T52" fmla="*/ 0 w 1067"/>
                  <a:gd name="T53" fmla="*/ 0 h 660"/>
                  <a:gd name="T54" fmla="*/ 0 w 1067"/>
                  <a:gd name="T55" fmla="*/ 0 h 660"/>
                  <a:gd name="T56" fmla="*/ 0 w 1067"/>
                  <a:gd name="T57" fmla="*/ 0 h 660"/>
                  <a:gd name="T58" fmla="*/ 0 w 1067"/>
                  <a:gd name="T59" fmla="*/ 0 h 660"/>
                  <a:gd name="T60" fmla="*/ 0 w 1067"/>
                  <a:gd name="T61" fmla="*/ 0 h 660"/>
                  <a:gd name="T62" fmla="*/ 0 w 1067"/>
                  <a:gd name="T63" fmla="*/ 0 h 660"/>
                  <a:gd name="T64" fmla="*/ 0 w 1067"/>
                  <a:gd name="T65" fmla="*/ 0 h 660"/>
                  <a:gd name="T66" fmla="*/ 0 w 1067"/>
                  <a:gd name="T67" fmla="*/ 0 h 660"/>
                  <a:gd name="T68" fmla="*/ 0 w 1067"/>
                  <a:gd name="T69" fmla="*/ 0 h 660"/>
                  <a:gd name="T70" fmla="*/ 0 w 1067"/>
                  <a:gd name="T71" fmla="*/ 0 h 660"/>
                  <a:gd name="T72" fmla="*/ 0 w 1067"/>
                  <a:gd name="T73" fmla="*/ 0 h 660"/>
                  <a:gd name="T74" fmla="*/ 0 w 1067"/>
                  <a:gd name="T75" fmla="*/ 0 h 660"/>
                  <a:gd name="T76" fmla="*/ 0 w 1067"/>
                  <a:gd name="T77" fmla="*/ 0 h 660"/>
                  <a:gd name="T78" fmla="*/ 0 w 1067"/>
                  <a:gd name="T79" fmla="*/ 0 h 660"/>
                  <a:gd name="T80" fmla="*/ 0 w 1067"/>
                  <a:gd name="T81" fmla="*/ 0 h 660"/>
                  <a:gd name="T82" fmla="*/ 0 w 1067"/>
                  <a:gd name="T83" fmla="*/ 0 h 660"/>
                  <a:gd name="T84" fmla="*/ 0 w 1067"/>
                  <a:gd name="T85" fmla="*/ 0 h 660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1067"/>
                  <a:gd name="T130" fmla="*/ 0 h 660"/>
                  <a:gd name="T131" fmla="*/ 1067 w 1067"/>
                  <a:gd name="T132" fmla="*/ 660 h 660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1067" h="660">
                    <a:moveTo>
                      <a:pt x="791" y="448"/>
                    </a:moveTo>
                    <a:lnTo>
                      <a:pt x="801" y="420"/>
                    </a:lnTo>
                    <a:lnTo>
                      <a:pt x="820" y="401"/>
                    </a:lnTo>
                    <a:lnTo>
                      <a:pt x="842" y="385"/>
                    </a:lnTo>
                    <a:lnTo>
                      <a:pt x="870" y="375"/>
                    </a:lnTo>
                    <a:lnTo>
                      <a:pt x="900" y="366"/>
                    </a:lnTo>
                    <a:lnTo>
                      <a:pt x="926" y="355"/>
                    </a:lnTo>
                    <a:lnTo>
                      <a:pt x="956" y="348"/>
                    </a:lnTo>
                    <a:lnTo>
                      <a:pt x="981" y="334"/>
                    </a:lnTo>
                    <a:lnTo>
                      <a:pt x="954" y="320"/>
                    </a:lnTo>
                    <a:lnTo>
                      <a:pt x="926" y="302"/>
                    </a:lnTo>
                    <a:lnTo>
                      <a:pt x="900" y="277"/>
                    </a:lnTo>
                    <a:lnTo>
                      <a:pt x="875" y="247"/>
                    </a:lnTo>
                    <a:lnTo>
                      <a:pt x="848" y="217"/>
                    </a:lnTo>
                    <a:lnTo>
                      <a:pt x="824" y="184"/>
                    </a:lnTo>
                    <a:lnTo>
                      <a:pt x="799" y="152"/>
                    </a:lnTo>
                    <a:lnTo>
                      <a:pt x="771" y="122"/>
                    </a:lnTo>
                    <a:lnTo>
                      <a:pt x="748" y="94"/>
                    </a:lnTo>
                    <a:lnTo>
                      <a:pt x="720" y="73"/>
                    </a:lnTo>
                    <a:lnTo>
                      <a:pt x="690" y="57"/>
                    </a:lnTo>
                    <a:lnTo>
                      <a:pt x="660" y="49"/>
                    </a:lnTo>
                    <a:lnTo>
                      <a:pt x="628" y="46"/>
                    </a:lnTo>
                    <a:lnTo>
                      <a:pt x="595" y="57"/>
                    </a:lnTo>
                    <a:lnTo>
                      <a:pt x="560" y="78"/>
                    </a:lnTo>
                    <a:lnTo>
                      <a:pt x="522" y="112"/>
                    </a:lnTo>
                    <a:lnTo>
                      <a:pt x="471" y="122"/>
                    </a:lnTo>
                    <a:lnTo>
                      <a:pt x="416" y="133"/>
                    </a:lnTo>
                    <a:lnTo>
                      <a:pt x="364" y="144"/>
                    </a:lnTo>
                    <a:lnTo>
                      <a:pt x="313" y="152"/>
                    </a:lnTo>
                    <a:lnTo>
                      <a:pt x="261" y="166"/>
                    </a:lnTo>
                    <a:lnTo>
                      <a:pt x="212" y="179"/>
                    </a:lnTo>
                    <a:lnTo>
                      <a:pt x="164" y="198"/>
                    </a:lnTo>
                    <a:lnTo>
                      <a:pt x="117" y="223"/>
                    </a:lnTo>
                    <a:lnTo>
                      <a:pt x="155" y="274"/>
                    </a:lnTo>
                    <a:lnTo>
                      <a:pt x="191" y="325"/>
                    </a:lnTo>
                    <a:lnTo>
                      <a:pt x="228" y="378"/>
                    </a:lnTo>
                    <a:lnTo>
                      <a:pt x="263" y="429"/>
                    </a:lnTo>
                    <a:lnTo>
                      <a:pt x="300" y="480"/>
                    </a:lnTo>
                    <a:lnTo>
                      <a:pt x="335" y="530"/>
                    </a:lnTo>
                    <a:lnTo>
                      <a:pt x="372" y="581"/>
                    </a:lnTo>
                    <a:lnTo>
                      <a:pt x="413" y="630"/>
                    </a:lnTo>
                    <a:lnTo>
                      <a:pt x="408" y="635"/>
                    </a:lnTo>
                    <a:lnTo>
                      <a:pt x="402" y="641"/>
                    </a:lnTo>
                    <a:lnTo>
                      <a:pt x="397" y="649"/>
                    </a:lnTo>
                    <a:lnTo>
                      <a:pt x="397" y="660"/>
                    </a:lnTo>
                    <a:lnTo>
                      <a:pt x="356" y="660"/>
                    </a:lnTo>
                    <a:lnTo>
                      <a:pt x="307" y="605"/>
                    </a:lnTo>
                    <a:lnTo>
                      <a:pt x="267" y="549"/>
                    </a:lnTo>
                    <a:lnTo>
                      <a:pt x="226" y="491"/>
                    </a:lnTo>
                    <a:lnTo>
                      <a:pt x="187" y="431"/>
                    </a:lnTo>
                    <a:lnTo>
                      <a:pt x="147" y="375"/>
                    </a:lnTo>
                    <a:lnTo>
                      <a:pt x="104" y="320"/>
                    </a:lnTo>
                    <a:lnTo>
                      <a:pt x="55" y="269"/>
                    </a:lnTo>
                    <a:lnTo>
                      <a:pt x="0" y="223"/>
                    </a:lnTo>
                    <a:lnTo>
                      <a:pt x="0" y="179"/>
                    </a:lnTo>
                    <a:lnTo>
                      <a:pt x="44" y="166"/>
                    </a:lnTo>
                    <a:lnTo>
                      <a:pt x="87" y="149"/>
                    </a:lnTo>
                    <a:lnTo>
                      <a:pt x="134" y="138"/>
                    </a:lnTo>
                    <a:lnTo>
                      <a:pt x="177" y="124"/>
                    </a:lnTo>
                    <a:lnTo>
                      <a:pt x="223" y="114"/>
                    </a:lnTo>
                    <a:lnTo>
                      <a:pt x="267" y="101"/>
                    </a:lnTo>
                    <a:lnTo>
                      <a:pt x="313" y="89"/>
                    </a:lnTo>
                    <a:lnTo>
                      <a:pt x="359" y="82"/>
                    </a:lnTo>
                    <a:lnTo>
                      <a:pt x="406" y="71"/>
                    </a:lnTo>
                    <a:lnTo>
                      <a:pt x="452" y="59"/>
                    </a:lnTo>
                    <a:lnTo>
                      <a:pt x="498" y="52"/>
                    </a:lnTo>
                    <a:lnTo>
                      <a:pt x="544" y="41"/>
                    </a:lnTo>
                    <a:lnTo>
                      <a:pt x="590" y="30"/>
                    </a:lnTo>
                    <a:lnTo>
                      <a:pt x="633" y="22"/>
                    </a:lnTo>
                    <a:lnTo>
                      <a:pt x="679" y="11"/>
                    </a:lnTo>
                    <a:lnTo>
                      <a:pt x="725" y="0"/>
                    </a:lnTo>
                    <a:lnTo>
                      <a:pt x="764" y="46"/>
                    </a:lnTo>
                    <a:lnTo>
                      <a:pt x="810" y="89"/>
                    </a:lnTo>
                    <a:lnTo>
                      <a:pt x="856" y="130"/>
                    </a:lnTo>
                    <a:lnTo>
                      <a:pt x="902" y="174"/>
                    </a:lnTo>
                    <a:lnTo>
                      <a:pt x="949" y="214"/>
                    </a:lnTo>
                    <a:lnTo>
                      <a:pt x="992" y="258"/>
                    </a:lnTo>
                    <a:lnTo>
                      <a:pt x="1032" y="304"/>
                    </a:lnTo>
                    <a:lnTo>
                      <a:pt x="1067" y="350"/>
                    </a:lnTo>
                    <a:lnTo>
                      <a:pt x="1038" y="375"/>
                    </a:lnTo>
                    <a:lnTo>
                      <a:pt x="1008" y="396"/>
                    </a:lnTo>
                    <a:lnTo>
                      <a:pt x="972" y="410"/>
                    </a:lnTo>
                    <a:lnTo>
                      <a:pt x="940" y="424"/>
                    </a:lnTo>
                    <a:lnTo>
                      <a:pt x="905" y="431"/>
                    </a:lnTo>
                    <a:lnTo>
                      <a:pt x="866" y="440"/>
                    </a:lnTo>
                    <a:lnTo>
                      <a:pt x="829" y="445"/>
                    </a:lnTo>
                    <a:lnTo>
                      <a:pt x="791" y="448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8" name="Freeform 79">
                <a:extLst>
                  <a:ext uri="{FF2B5EF4-FFF2-40B4-BE49-F238E27FC236}">
                    <a16:creationId xmlns:a16="http://schemas.microsoft.com/office/drawing/2014/main" id="{D46CFD3A-4C96-DC45-B361-69455CE311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10" y="3527"/>
                <a:ext cx="85" cy="105"/>
              </a:xfrm>
              <a:custGeom>
                <a:avLst/>
                <a:gdLst>
                  <a:gd name="T0" fmla="*/ 0 w 342"/>
                  <a:gd name="T1" fmla="*/ 0 h 421"/>
                  <a:gd name="T2" fmla="*/ 0 w 342"/>
                  <a:gd name="T3" fmla="*/ 0 h 421"/>
                  <a:gd name="T4" fmla="*/ 0 w 342"/>
                  <a:gd name="T5" fmla="*/ 0 h 421"/>
                  <a:gd name="T6" fmla="*/ 0 w 342"/>
                  <a:gd name="T7" fmla="*/ 0 h 421"/>
                  <a:gd name="T8" fmla="*/ 0 w 342"/>
                  <a:gd name="T9" fmla="*/ 0 h 421"/>
                  <a:gd name="T10" fmla="*/ 0 w 342"/>
                  <a:gd name="T11" fmla="*/ 0 h 421"/>
                  <a:gd name="T12" fmla="*/ 0 w 342"/>
                  <a:gd name="T13" fmla="*/ 0 h 421"/>
                  <a:gd name="T14" fmla="*/ 0 w 342"/>
                  <a:gd name="T15" fmla="*/ 0 h 421"/>
                  <a:gd name="T16" fmla="*/ 0 w 342"/>
                  <a:gd name="T17" fmla="*/ 0 h 421"/>
                  <a:gd name="T18" fmla="*/ 0 w 342"/>
                  <a:gd name="T19" fmla="*/ 0 h 421"/>
                  <a:gd name="T20" fmla="*/ 0 w 342"/>
                  <a:gd name="T21" fmla="*/ 0 h 421"/>
                  <a:gd name="T22" fmla="*/ 0 w 342"/>
                  <a:gd name="T23" fmla="*/ 0 h 421"/>
                  <a:gd name="T24" fmla="*/ 0 w 342"/>
                  <a:gd name="T25" fmla="*/ 0 h 421"/>
                  <a:gd name="T26" fmla="*/ 0 w 342"/>
                  <a:gd name="T27" fmla="*/ 0 h 421"/>
                  <a:gd name="T28" fmla="*/ 0 w 342"/>
                  <a:gd name="T29" fmla="*/ 0 h 421"/>
                  <a:gd name="T30" fmla="*/ 0 w 342"/>
                  <a:gd name="T31" fmla="*/ 0 h 421"/>
                  <a:gd name="T32" fmla="*/ 0 w 342"/>
                  <a:gd name="T33" fmla="*/ 0 h 421"/>
                  <a:gd name="T34" fmla="*/ 0 w 342"/>
                  <a:gd name="T35" fmla="*/ 0 h 421"/>
                  <a:gd name="T36" fmla="*/ 0 w 342"/>
                  <a:gd name="T37" fmla="*/ 0 h 42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342"/>
                  <a:gd name="T58" fmla="*/ 0 h 421"/>
                  <a:gd name="T59" fmla="*/ 342 w 342"/>
                  <a:gd name="T60" fmla="*/ 421 h 42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342" h="421">
                    <a:moveTo>
                      <a:pt x="296" y="421"/>
                    </a:moveTo>
                    <a:lnTo>
                      <a:pt x="250" y="377"/>
                    </a:lnTo>
                    <a:lnTo>
                      <a:pt x="210" y="334"/>
                    </a:lnTo>
                    <a:lnTo>
                      <a:pt x="166" y="287"/>
                    </a:lnTo>
                    <a:lnTo>
                      <a:pt x="129" y="239"/>
                    </a:lnTo>
                    <a:lnTo>
                      <a:pt x="93" y="187"/>
                    </a:lnTo>
                    <a:lnTo>
                      <a:pt x="58" y="135"/>
                    </a:lnTo>
                    <a:lnTo>
                      <a:pt x="28" y="81"/>
                    </a:lnTo>
                    <a:lnTo>
                      <a:pt x="0" y="27"/>
                    </a:lnTo>
                    <a:lnTo>
                      <a:pt x="30" y="0"/>
                    </a:lnTo>
                    <a:lnTo>
                      <a:pt x="69" y="49"/>
                    </a:lnTo>
                    <a:lnTo>
                      <a:pt x="109" y="95"/>
                    </a:lnTo>
                    <a:lnTo>
                      <a:pt x="153" y="144"/>
                    </a:lnTo>
                    <a:lnTo>
                      <a:pt x="199" y="193"/>
                    </a:lnTo>
                    <a:lnTo>
                      <a:pt x="240" y="244"/>
                    </a:lnTo>
                    <a:lnTo>
                      <a:pt x="280" y="299"/>
                    </a:lnTo>
                    <a:lnTo>
                      <a:pt x="316" y="352"/>
                    </a:lnTo>
                    <a:lnTo>
                      <a:pt x="342" y="410"/>
                    </a:lnTo>
                    <a:lnTo>
                      <a:pt x="296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79" name="Freeform 80">
                <a:extLst>
                  <a:ext uri="{FF2B5EF4-FFF2-40B4-BE49-F238E27FC236}">
                    <a16:creationId xmlns:a16="http://schemas.microsoft.com/office/drawing/2014/main" id="{82B8BDA6-62FC-F746-9873-AEFAED5CCA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8" y="3159"/>
                <a:ext cx="256" cy="123"/>
              </a:xfrm>
              <a:custGeom>
                <a:avLst/>
                <a:gdLst>
                  <a:gd name="T0" fmla="*/ 0 w 1024"/>
                  <a:gd name="T1" fmla="*/ 0 h 489"/>
                  <a:gd name="T2" fmla="*/ 0 w 1024"/>
                  <a:gd name="T3" fmla="*/ 0 h 489"/>
                  <a:gd name="T4" fmla="*/ 0 w 1024"/>
                  <a:gd name="T5" fmla="*/ 0 h 489"/>
                  <a:gd name="T6" fmla="*/ 0 w 1024"/>
                  <a:gd name="T7" fmla="*/ 0 h 489"/>
                  <a:gd name="T8" fmla="*/ 0 w 1024"/>
                  <a:gd name="T9" fmla="*/ 0 h 489"/>
                  <a:gd name="T10" fmla="*/ 0 w 1024"/>
                  <a:gd name="T11" fmla="*/ 0 h 489"/>
                  <a:gd name="T12" fmla="*/ 0 w 1024"/>
                  <a:gd name="T13" fmla="*/ 0 h 489"/>
                  <a:gd name="T14" fmla="*/ 0 w 1024"/>
                  <a:gd name="T15" fmla="*/ 0 h 489"/>
                  <a:gd name="T16" fmla="*/ 0 w 1024"/>
                  <a:gd name="T17" fmla="*/ 0 h 489"/>
                  <a:gd name="T18" fmla="*/ 0 w 1024"/>
                  <a:gd name="T19" fmla="*/ 0 h 489"/>
                  <a:gd name="T20" fmla="*/ 0 w 1024"/>
                  <a:gd name="T21" fmla="*/ 0 h 489"/>
                  <a:gd name="T22" fmla="*/ 0 w 1024"/>
                  <a:gd name="T23" fmla="*/ 0 h 489"/>
                  <a:gd name="T24" fmla="*/ 0 w 1024"/>
                  <a:gd name="T25" fmla="*/ 0 h 489"/>
                  <a:gd name="T26" fmla="*/ 0 w 1024"/>
                  <a:gd name="T27" fmla="*/ 0 h 489"/>
                  <a:gd name="T28" fmla="*/ 0 w 1024"/>
                  <a:gd name="T29" fmla="*/ 0 h 489"/>
                  <a:gd name="T30" fmla="*/ 0 w 1024"/>
                  <a:gd name="T31" fmla="*/ 0 h 489"/>
                  <a:gd name="T32" fmla="*/ 0 w 1024"/>
                  <a:gd name="T33" fmla="*/ 0 h 489"/>
                  <a:gd name="T34" fmla="*/ 0 w 1024"/>
                  <a:gd name="T35" fmla="*/ 0 h 489"/>
                  <a:gd name="T36" fmla="*/ 0 w 1024"/>
                  <a:gd name="T37" fmla="*/ 0 h 489"/>
                  <a:gd name="T38" fmla="*/ 0 w 1024"/>
                  <a:gd name="T39" fmla="*/ 0 h 489"/>
                  <a:gd name="T40" fmla="*/ 0 w 1024"/>
                  <a:gd name="T41" fmla="*/ 0 h 489"/>
                  <a:gd name="T42" fmla="*/ 0 w 1024"/>
                  <a:gd name="T43" fmla="*/ 0 h 489"/>
                  <a:gd name="T44" fmla="*/ 0 w 1024"/>
                  <a:gd name="T45" fmla="*/ 0 h 489"/>
                  <a:gd name="T46" fmla="*/ 0 w 1024"/>
                  <a:gd name="T47" fmla="*/ 0 h 489"/>
                  <a:gd name="T48" fmla="*/ 0 w 1024"/>
                  <a:gd name="T49" fmla="*/ 0 h 489"/>
                  <a:gd name="T50" fmla="*/ 0 w 1024"/>
                  <a:gd name="T51" fmla="*/ 0 h 489"/>
                  <a:gd name="T52" fmla="*/ 0 w 1024"/>
                  <a:gd name="T53" fmla="*/ 0 h 489"/>
                  <a:gd name="T54" fmla="*/ 0 w 1024"/>
                  <a:gd name="T55" fmla="*/ 0 h 489"/>
                  <a:gd name="T56" fmla="*/ 0 w 1024"/>
                  <a:gd name="T57" fmla="*/ 0 h 489"/>
                  <a:gd name="T58" fmla="*/ 0 w 1024"/>
                  <a:gd name="T59" fmla="*/ 0 h 489"/>
                  <a:gd name="T60" fmla="*/ 0 w 1024"/>
                  <a:gd name="T61" fmla="*/ 0 h 489"/>
                  <a:gd name="T62" fmla="*/ 0 w 1024"/>
                  <a:gd name="T63" fmla="*/ 0 h 489"/>
                  <a:gd name="T64" fmla="*/ 0 w 1024"/>
                  <a:gd name="T65" fmla="*/ 0 h 489"/>
                  <a:gd name="T66" fmla="*/ 0 w 1024"/>
                  <a:gd name="T67" fmla="*/ 0 h 489"/>
                  <a:gd name="T68" fmla="*/ 0 w 1024"/>
                  <a:gd name="T69" fmla="*/ 0 h 489"/>
                  <a:gd name="T70" fmla="*/ 0 w 1024"/>
                  <a:gd name="T71" fmla="*/ 0 h 489"/>
                  <a:gd name="T72" fmla="*/ 0 w 1024"/>
                  <a:gd name="T73" fmla="*/ 0 h 489"/>
                  <a:gd name="T74" fmla="*/ 0 w 1024"/>
                  <a:gd name="T75" fmla="*/ 0 h 489"/>
                  <a:gd name="T76" fmla="*/ 0 w 1024"/>
                  <a:gd name="T77" fmla="*/ 0 h 489"/>
                  <a:gd name="T78" fmla="*/ 0 w 1024"/>
                  <a:gd name="T79" fmla="*/ 0 h 489"/>
                  <a:gd name="T80" fmla="*/ 0 w 1024"/>
                  <a:gd name="T81" fmla="*/ 0 h 489"/>
                  <a:gd name="T82" fmla="*/ 0 w 1024"/>
                  <a:gd name="T83" fmla="*/ 0 h 489"/>
                  <a:gd name="T84" fmla="*/ 0 w 1024"/>
                  <a:gd name="T85" fmla="*/ 0 h 489"/>
                  <a:gd name="T86" fmla="*/ 0 w 1024"/>
                  <a:gd name="T87" fmla="*/ 0 h 489"/>
                  <a:gd name="T88" fmla="*/ 0 w 1024"/>
                  <a:gd name="T89" fmla="*/ 0 h 489"/>
                  <a:gd name="T90" fmla="*/ 0 w 1024"/>
                  <a:gd name="T91" fmla="*/ 0 h 489"/>
                  <a:gd name="T92" fmla="*/ 0 w 1024"/>
                  <a:gd name="T93" fmla="*/ 0 h 489"/>
                  <a:gd name="T94" fmla="*/ 0 w 1024"/>
                  <a:gd name="T95" fmla="*/ 0 h 489"/>
                  <a:gd name="T96" fmla="*/ 0 w 1024"/>
                  <a:gd name="T97" fmla="*/ 0 h 489"/>
                  <a:gd name="T98" fmla="*/ 0 w 1024"/>
                  <a:gd name="T99" fmla="*/ 0 h 489"/>
                  <a:gd name="T100" fmla="*/ 0 w 1024"/>
                  <a:gd name="T101" fmla="*/ 0 h 489"/>
                  <a:gd name="T102" fmla="*/ 0 w 1024"/>
                  <a:gd name="T103" fmla="*/ 0 h 489"/>
                  <a:gd name="T104" fmla="*/ 0 w 1024"/>
                  <a:gd name="T105" fmla="*/ 0 h 489"/>
                  <a:gd name="T106" fmla="*/ 0 w 1024"/>
                  <a:gd name="T107" fmla="*/ 0 h 489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1024"/>
                  <a:gd name="T163" fmla="*/ 0 h 489"/>
                  <a:gd name="T164" fmla="*/ 1024 w 1024"/>
                  <a:gd name="T165" fmla="*/ 489 h 489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1024" h="489">
                    <a:moveTo>
                      <a:pt x="820" y="421"/>
                    </a:moveTo>
                    <a:lnTo>
                      <a:pt x="763" y="421"/>
                    </a:lnTo>
                    <a:lnTo>
                      <a:pt x="765" y="386"/>
                    </a:lnTo>
                    <a:lnTo>
                      <a:pt x="779" y="370"/>
                    </a:lnTo>
                    <a:lnTo>
                      <a:pt x="800" y="361"/>
                    </a:lnTo>
                    <a:lnTo>
                      <a:pt x="828" y="361"/>
                    </a:lnTo>
                    <a:lnTo>
                      <a:pt x="855" y="364"/>
                    </a:lnTo>
                    <a:lnTo>
                      <a:pt x="883" y="364"/>
                    </a:lnTo>
                    <a:lnTo>
                      <a:pt x="904" y="356"/>
                    </a:lnTo>
                    <a:lnTo>
                      <a:pt x="923" y="336"/>
                    </a:lnTo>
                    <a:lnTo>
                      <a:pt x="665" y="73"/>
                    </a:lnTo>
                    <a:lnTo>
                      <a:pt x="627" y="79"/>
                    </a:lnTo>
                    <a:lnTo>
                      <a:pt x="589" y="87"/>
                    </a:lnTo>
                    <a:lnTo>
                      <a:pt x="551" y="90"/>
                    </a:lnTo>
                    <a:lnTo>
                      <a:pt x="513" y="95"/>
                    </a:lnTo>
                    <a:lnTo>
                      <a:pt x="475" y="98"/>
                    </a:lnTo>
                    <a:lnTo>
                      <a:pt x="437" y="103"/>
                    </a:lnTo>
                    <a:lnTo>
                      <a:pt x="398" y="107"/>
                    </a:lnTo>
                    <a:lnTo>
                      <a:pt x="361" y="112"/>
                    </a:lnTo>
                    <a:lnTo>
                      <a:pt x="323" y="117"/>
                    </a:lnTo>
                    <a:lnTo>
                      <a:pt x="287" y="123"/>
                    </a:lnTo>
                    <a:lnTo>
                      <a:pt x="250" y="128"/>
                    </a:lnTo>
                    <a:lnTo>
                      <a:pt x="215" y="135"/>
                    </a:lnTo>
                    <a:lnTo>
                      <a:pt x="176" y="144"/>
                    </a:lnTo>
                    <a:lnTo>
                      <a:pt x="141" y="155"/>
                    </a:lnTo>
                    <a:lnTo>
                      <a:pt x="109" y="165"/>
                    </a:lnTo>
                    <a:lnTo>
                      <a:pt x="73" y="179"/>
                    </a:lnTo>
                    <a:lnTo>
                      <a:pt x="100" y="223"/>
                    </a:lnTo>
                    <a:lnTo>
                      <a:pt x="135" y="261"/>
                    </a:lnTo>
                    <a:lnTo>
                      <a:pt x="174" y="296"/>
                    </a:lnTo>
                    <a:lnTo>
                      <a:pt x="215" y="329"/>
                    </a:lnTo>
                    <a:lnTo>
                      <a:pt x="250" y="364"/>
                    </a:lnTo>
                    <a:lnTo>
                      <a:pt x="285" y="400"/>
                    </a:lnTo>
                    <a:lnTo>
                      <a:pt x="312" y="440"/>
                    </a:lnTo>
                    <a:lnTo>
                      <a:pt x="328" y="489"/>
                    </a:lnTo>
                    <a:lnTo>
                      <a:pt x="280" y="470"/>
                    </a:lnTo>
                    <a:lnTo>
                      <a:pt x="236" y="442"/>
                    </a:lnTo>
                    <a:lnTo>
                      <a:pt x="195" y="410"/>
                    </a:lnTo>
                    <a:lnTo>
                      <a:pt x="155" y="370"/>
                    </a:lnTo>
                    <a:lnTo>
                      <a:pt x="116" y="329"/>
                    </a:lnTo>
                    <a:lnTo>
                      <a:pt x="79" y="285"/>
                    </a:lnTo>
                    <a:lnTo>
                      <a:pt x="40" y="245"/>
                    </a:lnTo>
                    <a:lnTo>
                      <a:pt x="0" y="209"/>
                    </a:lnTo>
                    <a:lnTo>
                      <a:pt x="3" y="123"/>
                    </a:lnTo>
                    <a:lnTo>
                      <a:pt x="682" y="0"/>
                    </a:lnTo>
                    <a:lnTo>
                      <a:pt x="1024" y="336"/>
                    </a:lnTo>
                    <a:lnTo>
                      <a:pt x="1019" y="366"/>
                    </a:lnTo>
                    <a:lnTo>
                      <a:pt x="999" y="386"/>
                    </a:lnTo>
                    <a:lnTo>
                      <a:pt x="975" y="400"/>
                    </a:lnTo>
                    <a:lnTo>
                      <a:pt x="947" y="405"/>
                    </a:lnTo>
                    <a:lnTo>
                      <a:pt x="912" y="407"/>
                    </a:lnTo>
                    <a:lnTo>
                      <a:pt x="880" y="410"/>
                    </a:lnTo>
                    <a:lnTo>
                      <a:pt x="848" y="413"/>
                    </a:lnTo>
                    <a:lnTo>
                      <a:pt x="820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0" name="Freeform 82">
                <a:extLst>
                  <a:ext uri="{FF2B5EF4-FFF2-40B4-BE49-F238E27FC236}">
                    <a16:creationId xmlns:a16="http://schemas.microsoft.com/office/drawing/2014/main" id="{CF057F92-0A47-1B43-8D2B-1736638F33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3" y="3379"/>
                <a:ext cx="86" cy="102"/>
              </a:xfrm>
              <a:custGeom>
                <a:avLst/>
                <a:gdLst>
                  <a:gd name="T0" fmla="*/ 0 w 342"/>
                  <a:gd name="T1" fmla="*/ 0 h 410"/>
                  <a:gd name="T2" fmla="*/ 0 w 342"/>
                  <a:gd name="T3" fmla="*/ 0 h 410"/>
                  <a:gd name="T4" fmla="*/ 0 w 342"/>
                  <a:gd name="T5" fmla="*/ 0 h 410"/>
                  <a:gd name="T6" fmla="*/ 0 w 342"/>
                  <a:gd name="T7" fmla="*/ 0 h 410"/>
                  <a:gd name="T8" fmla="*/ 0 w 342"/>
                  <a:gd name="T9" fmla="*/ 0 h 410"/>
                  <a:gd name="T10" fmla="*/ 0 w 342"/>
                  <a:gd name="T11" fmla="*/ 0 h 410"/>
                  <a:gd name="T12" fmla="*/ 0 w 342"/>
                  <a:gd name="T13" fmla="*/ 0 h 410"/>
                  <a:gd name="T14" fmla="*/ 0 w 342"/>
                  <a:gd name="T15" fmla="*/ 0 h 410"/>
                  <a:gd name="T16" fmla="*/ 0 w 342"/>
                  <a:gd name="T17" fmla="*/ 0 h 410"/>
                  <a:gd name="T18" fmla="*/ 0 w 342"/>
                  <a:gd name="T19" fmla="*/ 0 h 410"/>
                  <a:gd name="T20" fmla="*/ 0 w 342"/>
                  <a:gd name="T21" fmla="*/ 0 h 410"/>
                  <a:gd name="T22" fmla="*/ 0 w 342"/>
                  <a:gd name="T23" fmla="*/ 0 h 410"/>
                  <a:gd name="T24" fmla="*/ 0 w 342"/>
                  <a:gd name="T25" fmla="*/ 0 h 410"/>
                  <a:gd name="T26" fmla="*/ 0 w 342"/>
                  <a:gd name="T27" fmla="*/ 0 h 410"/>
                  <a:gd name="T28" fmla="*/ 0 w 342"/>
                  <a:gd name="T29" fmla="*/ 0 h 410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342"/>
                  <a:gd name="T46" fmla="*/ 0 h 410"/>
                  <a:gd name="T47" fmla="*/ 342 w 342"/>
                  <a:gd name="T48" fmla="*/ 410 h 410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342" h="410">
                    <a:moveTo>
                      <a:pt x="295" y="410"/>
                    </a:moveTo>
                    <a:lnTo>
                      <a:pt x="0" y="30"/>
                    </a:lnTo>
                    <a:lnTo>
                      <a:pt x="12" y="16"/>
                    </a:lnTo>
                    <a:lnTo>
                      <a:pt x="26" y="6"/>
                    </a:lnTo>
                    <a:lnTo>
                      <a:pt x="40" y="0"/>
                    </a:lnTo>
                    <a:lnTo>
                      <a:pt x="56" y="0"/>
                    </a:lnTo>
                    <a:lnTo>
                      <a:pt x="97" y="46"/>
                    </a:lnTo>
                    <a:lnTo>
                      <a:pt x="138" y="92"/>
                    </a:lnTo>
                    <a:lnTo>
                      <a:pt x="178" y="141"/>
                    </a:lnTo>
                    <a:lnTo>
                      <a:pt x="217" y="187"/>
                    </a:lnTo>
                    <a:lnTo>
                      <a:pt x="252" y="239"/>
                    </a:lnTo>
                    <a:lnTo>
                      <a:pt x="284" y="288"/>
                    </a:lnTo>
                    <a:lnTo>
                      <a:pt x="314" y="339"/>
                    </a:lnTo>
                    <a:lnTo>
                      <a:pt x="342" y="394"/>
                    </a:lnTo>
                    <a:lnTo>
                      <a:pt x="295" y="41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1" name="Freeform 84">
                <a:extLst>
                  <a:ext uri="{FF2B5EF4-FFF2-40B4-BE49-F238E27FC236}">
                    <a16:creationId xmlns:a16="http://schemas.microsoft.com/office/drawing/2014/main" id="{3837054B-BF6F-E440-B5D0-A0EDF6D62A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2" y="3036"/>
                <a:ext cx="249" cy="107"/>
              </a:xfrm>
              <a:custGeom>
                <a:avLst/>
                <a:gdLst>
                  <a:gd name="T0" fmla="*/ 0 w 994"/>
                  <a:gd name="T1" fmla="*/ 0 h 429"/>
                  <a:gd name="T2" fmla="*/ 0 w 994"/>
                  <a:gd name="T3" fmla="*/ 0 h 429"/>
                  <a:gd name="T4" fmla="*/ 0 w 994"/>
                  <a:gd name="T5" fmla="*/ 0 h 429"/>
                  <a:gd name="T6" fmla="*/ 0 w 994"/>
                  <a:gd name="T7" fmla="*/ 0 h 429"/>
                  <a:gd name="T8" fmla="*/ 0 w 994"/>
                  <a:gd name="T9" fmla="*/ 0 h 429"/>
                  <a:gd name="T10" fmla="*/ 0 w 994"/>
                  <a:gd name="T11" fmla="*/ 0 h 429"/>
                  <a:gd name="T12" fmla="*/ 0 w 994"/>
                  <a:gd name="T13" fmla="*/ 0 h 429"/>
                  <a:gd name="T14" fmla="*/ 0 w 994"/>
                  <a:gd name="T15" fmla="*/ 0 h 429"/>
                  <a:gd name="T16" fmla="*/ 0 w 994"/>
                  <a:gd name="T17" fmla="*/ 0 h 429"/>
                  <a:gd name="T18" fmla="*/ 0 w 994"/>
                  <a:gd name="T19" fmla="*/ 0 h 429"/>
                  <a:gd name="T20" fmla="*/ 0 w 994"/>
                  <a:gd name="T21" fmla="*/ 0 h 429"/>
                  <a:gd name="T22" fmla="*/ 0 w 994"/>
                  <a:gd name="T23" fmla="*/ 0 h 429"/>
                  <a:gd name="T24" fmla="*/ 0 w 994"/>
                  <a:gd name="T25" fmla="*/ 0 h 429"/>
                  <a:gd name="T26" fmla="*/ 0 w 994"/>
                  <a:gd name="T27" fmla="*/ 0 h 429"/>
                  <a:gd name="T28" fmla="*/ 0 w 994"/>
                  <a:gd name="T29" fmla="*/ 0 h 429"/>
                  <a:gd name="T30" fmla="*/ 0 w 994"/>
                  <a:gd name="T31" fmla="*/ 0 h 429"/>
                  <a:gd name="T32" fmla="*/ 0 w 994"/>
                  <a:gd name="T33" fmla="*/ 0 h 429"/>
                  <a:gd name="T34" fmla="*/ 0 w 994"/>
                  <a:gd name="T35" fmla="*/ 0 h 429"/>
                  <a:gd name="T36" fmla="*/ 0 w 994"/>
                  <a:gd name="T37" fmla="*/ 0 h 429"/>
                  <a:gd name="T38" fmla="*/ 0 w 994"/>
                  <a:gd name="T39" fmla="*/ 0 h 429"/>
                  <a:gd name="T40" fmla="*/ 0 w 994"/>
                  <a:gd name="T41" fmla="*/ 0 h 429"/>
                  <a:gd name="T42" fmla="*/ 0 w 994"/>
                  <a:gd name="T43" fmla="*/ 0 h 429"/>
                  <a:gd name="T44" fmla="*/ 0 w 994"/>
                  <a:gd name="T45" fmla="*/ 0 h 429"/>
                  <a:gd name="T46" fmla="*/ 0 w 994"/>
                  <a:gd name="T47" fmla="*/ 0 h 429"/>
                  <a:gd name="T48" fmla="*/ 0 w 994"/>
                  <a:gd name="T49" fmla="*/ 0 h 429"/>
                  <a:gd name="T50" fmla="*/ 0 w 994"/>
                  <a:gd name="T51" fmla="*/ 0 h 429"/>
                  <a:gd name="T52" fmla="*/ 0 w 994"/>
                  <a:gd name="T53" fmla="*/ 0 h 429"/>
                  <a:gd name="T54" fmla="*/ 0 w 994"/>
                  <a:gd name="T55" fmla="*/ 0 h 429"/>
                  <a:gd name="T56" fmla="*/ 0 w 994"/>
                  <a:gd name="T57" fmla="*/ 0 h 429"/>
                  <a:gd name="T58" fmla="*/ 0 w 994"/>
                  <a:gd name="T59" fmla="*/ 0 h 429"/>
                  <a:gd name="T60" fmla="*/ 0 w 994"/>
                  <a:gd name="T61" fmla="*/ 0 h 429"/>
                  <a:gd name="T62" fmla="*/ 0 w 994"/>
                  <a:gd name="T63" fmla="*/ 0 h 429"/>
                  <a:gd name="T64" fmla="*/ 0 w 994"/>
                  <a:gd name="T65" fmla="*/ 0 h 429"/>
                  <a:gd name="T66" fmla="*/ 0 w 994"/>
                  <a:gd name="T67" fmla="*/ 0 h 429"/>
                  <a:gd name="T68" fmla="*/ 0 w 994"/>
                  <a:gd name="T69" fmla="*/ 0 h 429"/>
                  <a:gd name="T70" fmla="*/ 0 w 994"/>
                  <a:gd name="T71" fmla="*/ 0 h 429"/>
                  <a:gd name="T72" fmla="*/ 0 w 994"/>
                  <a:gd name="T73" fmla="*/ 0 h 429"/>
                  <a:gd name="T74" fmla="*/ 0 w 994"/>
                  <a:gd name="T75" fmla="*/ 0 h 429"/>
                  <a:gd name="T76" fmla="*/ 0 w 994"/>
                  <a:gd name="T77" fmla="*/ 0 h 429"/>
                  <a:gd name="T78" fmla="*/ 0 w 994"/>
                  <a:gd name="T79" fmla="*/ 0 h 429"/>
                  <a:gd name="T80" fmla="*/ 0 w 994"/>
                  <a:gd name="T81" fmla="*/ 0 h 429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994"/>
                  <a:gd name="T124" fmla="*/ 0 h 429"/>
                  <a:gd name="T125" fmla="*/ 994 w 994"/>
                  <a:gd name="T126" fmla="*/ 429 h 429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994" h="429">
                    <a:moveTo>
                      <a:pt x="690" y="391"/>
                    </a:moveTo>
                    <a:lnTo>
                      <a:pt x="663" y="396"/>
                    </a:lnTo>
                    <a:lnTo>
                      <a:pt x="635" y="400"/>
                    </a:lnTo>
                    <a:lnTo>
                      <a:pt x="608" y="405"/>
                    </a:lnTo>
                    <a:lnTo>
                      <a:pt x="580" y="410"/>
                    </a:lnTo>
                    <a:lnTo>
                      <a:pt x="554" y="413"/>
                    </a:lnTo>
                    <a:lnTo>
                      <a:pt x="529" y="418"/>
                    </a:lnTo>
                    <a:lnTo>
                      <a:pt x="502" y="423"/>
                    </a:lnTo>
                    <a:lnTo>
                      <a:pt x="475" y="429"/>
                    </a:lnTo>
                    <a:lnTo>
                      <a:pt x="472" y="402"/>
                    </a:lnTo>
                    <a:lnTo>
                      <a:pt x="478" y="383"/>
                    </a:lnTo>
                    <a:lnTo>
                      <a:pt x="492" y="372"/>
                    </a:lnTo>
                    <a:lnTo>
                      <a:pt x="510" y="364"/>
                    </a:lnTo>
                    <a:lnTo>
                      <a:pt x="529" y="361"/>
                    </a:lnTo>
                    <a:lnTo>
                      <a:pt x="552" y="356"/>
                    </a:lnTo>
                    <a:lnTo>
                      <a:pt x="573" y="353"/>
                    </a:lnTo>
                    <a:lnTo>
                      <a:pt x="592" y="345"/>
                    </a:lnTo>
                    <a:lnTo>
                      <a:pt x="627" y="340"/>
                    </a:lnTo>
                    <a:lnTo>
                      <a:pt x="660" y="334"/>
                    </a:lnTo>
                    <a:lnTo>
                      <a:pt x="695" y="331"/>
                    </a:lnTo>
                    <a:lnTo>
                      <a:pt x="730" y="326"/>
                    </a:lnTo>
                    <a:lnTo>
                      <a:pt x="765" y="321"/>
                    </a:lnTo>
                    <a:lnTo>
                      <a:pt x="799" y="312"/>
                    </a:lnTo>
                    <a:lnTo>
                      <a:pt x="831" y="305"/>
                    </a:lnTo>
                    <a:lnTo>
                      <a:pt x="864" y="291"/>
                    </a:lnTo>
                    <a:lnTo>
                      <a:pt x="836" y="215"/>
                    </a:lnTo>
                    <a:lnTo>
                      <a:pt x="804" y="155"/>
                    </a:lnTo>
                    <a:lnTo>
                      <a:pt x="765" y="111"/>
                    </a:lnTo>
                    <a:lnTo>
                      <a:pt x="725" y="81"/>
                    </a:lnTo>
                    <a:lnTo>
                      <a:pt x="681" y="63"/>
                    </a:lnTo>
                    <a:lnTo>
                      <a:pt x="633" y="54"/>
                    </a:lnTo>
                    <a:lnTo>
                      <a:pt x="584" y="54"/>
                    </a:lnTo>
                    <a:lnTo>
                      <a:pt x="532" y="63"/>
                    </a:lnTo>
                    <a:lnTo>
                      <a:pt x="478" y="74"/>
                    </a:lnTo>
                    <a:lnTo>
                      <a:pt x="421" y="90"/>
                    </a:lnTo>
                    <a:lnTo>
                      <a:pt x="367" y="109"/>
                    </a:lnTo>
                    <a:lnTo>
                      <a:pt x="312" y="125"/>
                    </a:lnTo>
                    <a:lnTo>
                      <a:pt x="255" y="141"/>
                    </a:lnTo>
                    <a:lnTo>
                      <a:pt x="203" y="155"/>
                    </a:lnTo>
                    <a:lnTo>
                      <a:pt x="150" y="163"/>
                    </a:lnTo>
                    <a:lnTo>
                      <a:pt x="100" y="166"/>
                    </a:lnTo>
                    <a:lnTo>
                      <a:pt x="90" y="192"/>
                    </a:lnTo>
                    <a:lnTo>
                      <a:pt x="92" y="220"/>
                    </a:lnTo>
                    <a:lnTo>
                      <a:pt x="106" y="247"/>
                    </a:lnTo>
                    <a:lnTo>
                      <a:pt x="125" y="275"/>
                    </a:lnTo>
                    <a:lnTo>
                      <a:pt x="150" y="301"/>
                    </a:lnTo>
                    <a:lnTo>
                      <a:pt x="174" y="328"/>
                    </a:lnTo>
                    <a:lnTo>
                      <a:pt x="196" y="358"/>
                    </a:lnTo>
                    <a:lnTo>
                      <a:pt x="215" y="386"/>
                    </a:lnTo>
                    <a:lnTo>
                      <a:pt x="185" y="410"/>
                    </a:lnTo>
                    <a:lnTo>
                      <a:pt x="152" y="383"/>
                    </a:lnTo>
                    <a:lnTo>
                      <a:pt x="120" y="353"/>
                    </a:lnTo>
                    <a:lnTo>
                      <a:pt x="86" y="321"/>
                    </a:lnTo>
                    <a:lnTo>
                      <a:pt x="60" y="285"/>
                    </a:lnTo>
                    <a:lnTo>
                      <a:pt x="32" y="247"/>
                    </a:lnTo>
                    <a:lnTo>
                      <a:pt x="14" y="209"/>
                    </a:lnTo>
                    <a:lnTo>
                      <a:pt x="3" y="171"/>
                    </a:lnTo>
                    <a:lnTo>
                      <a:pt x="0" y="134"/>
                    </a:lnTo>
                    <a:lnTo>
                      <a:pt x="40" y="122"/>
                    </a:lnTo>
                    <a:lnTo>
                      <a:pt x="81" y="111"/>
                    </a:lnTo>
                    <a:lnTo>
                      <a:pt x="122" y="100"/>
                    </a:lnTo>
                    <a:lnTo>
                      <a:pt x="166" y="90"/>
                    </a:lnTo>
                    <a:lnTo>
                      <a:pt x="206" y="79"/>
                    </a:lnTo>
                    <a:lnTo>
                      <a:pt x="250" y="68"/>
                    </a:lnTo>
                    <a:lnTo>
                      <a:pt x="293" y="57"/>
                    </a:lnTo>
                    <a:lnTo>
                      <a:pt x="337" y="49"/>
                    </a:lnTo>
                    <a:lnTo>
                      <a:pt x="380" y="38"/>
                    </a:lnTo>
                    <a:lnTo>
                      <a:pt x="423" y="30"/>
                    </a:lnTo>
                    <a:lnTo>
                      <a:pt x="467" y="24"/>
                    </a:lnTo>
                    <a:lnTo>
                      <a:pt x="510" y="16"/>
                    </a:lnTo>
                    <a:lnTo>
                      <a:pt x="557" y="11"/>
                    </a:lnTo>
                    <a:lnTo>
                      <a:pt x="603" y="5"/>
                    </a:lnTo>
                    <a:lnTo>
                      <a:pt x="649" y="3"/>
                    </a:lnTo>
                    <a:lnTo>
                      <a:pt x="695" y="0"/>
                    </a:lnTo>
                    <a:lnTo>
                      <a:pt x="994" y="321"/>
                    </a:lnTo>
                    <a:lnTo>
                      <a:pt x="964" y="342"/>
                    </a:lnTo>
                    <a:lnTo>
                      <a:pt x="931" y="356"/>
                    </a:lnTo>
                    <a:lnTo>
                      <a:pt x="894" y="367"/>
                    </a:lnTo>
                    <a:lnTo>
                      <a:pt x="852" y="372"/>
                    </a:lnTo>
                    <a:lnTo>
                      <a:pt x="811" y="375"/>
                    </a:lnTo>
                    <a:lnTo>
                      <a:pt x="769" y="377"/>
                    </a:lnTo>
                    <a:lnTo>
                      <a:pt x="728" y="383"/>
                    </a:lnTo>
                    <a:lnTo>
                      <a:pt x="690" y="39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2" name="Freeform 88">
                <a:extLst>
                  <a:ext uri="{FF2B5EF4-FFF2-40B4-BE49-F238E27FC236}">
                    <a16:creationId xmlns:a16="http://schemas.microsoft.com/office/drawing/2014/main" id="{15FC218B-F54C-F94D-8F5A-24956D03D9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97" y="3221"/>
                <a:ext cx="78" cy="92"/>
              </a:xfrm>
              <a:custGeom>
                <a:avLst/>
                <a:gdLst>
                  <a:gd name="T0" fmla="*/ 0 w 312"/>
                  <a:gd name="T1" fmla="*/ 0 h 366"/>
                  <a:gd name="T2" fmla="*/ 0 w 312"/>
                  <a:gd name="T3" fmla="*/ 0 h 366"/>
                  <a:gd name="T4" fmla="*/ 0 w 312"/>
                  <a:gd name="T5" fmla="*/ 0 h 366"/>
                  <a:gd name="T6" fmla="*/ 0 w 312"/>
                  <a:gd name="T7" fmla="*/ 0 h 366"/>
                  <a:gd name="T8" fmla="*/ 0 w 312"/>
                  <a:gd name="T9" fmla="*/ 0 h 366"/>
                  <a:gd name="T10" fmla="*/ 0 w 312"/>
                  <a:gd name="T11" fmla="*/ 0 h 366"/>
                  <a:gd name="T12" fmla="*/ 0 w 312"/>
                  <a:gd name="T13" fmla="*/ 0 h 366"/>
                  <a:gd name="T14" fmla="*/ 0 w 312"/>
                  <a:gd name="T15" fmla="*/ 0 h 36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312"/>
                  <a:gd name="T25" fmla="*/ 0 h 366"/>
                  <a:gd name="T26" fmla="*/ 312 w 312"/>
                  <a:gd name="T27" fmla="*/ 366 h 36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312" h="366">
                    <a:moveTo>
                      <a:pt x="0" y="46"/>
                    </a:moveTo>
                    <a:lnTo>
                      <a:pt x="11" y="30"/>
                    </a:lnTo>
                    <a:lnTo>
                      <a:pt x="21" y="10"/>
                    </a:lnTo>
                    <a:lnTo>
                      <a:pt x="35" y="0"/>
                    </a:lnTo>
                    <a:lnTo>
                      <a:pt x="57" y="2"/>
                    </a:lnTo>
                    <a:lnTo>
                      <a:pt x="312" y="325"/>
                    </a:lnTo>
                    <a:lnTo>
                      <a:pt x="272" y="366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3" name="Freeform 90">
                <a:extLst>
                  <a:ext uri="{FF2B5EF4-FFF2-40B4-BE49-F238E27FC236}">
                    <a16:creationId xmlns:a16="http://schemas.microsoft.com/office/drawing/2014/main" id="{B062F621-80C2-8548-948A-B468352A7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38" y="3127"/>
                <a:ext cx="169" cy="218"/>
              </a:xfrm>
              <a:custGeom>
                <a:avLst/>
                <a:gdLst>
                  <a:gd name="T0" fmla="*/ 0 w 674"/>
                  <a:gd name="T1" fmla="*/ 0 h 874"/>
                  <a:gd name="T2" fmla="*/ 0 w 674"/>
                  <a:gd name="T3" fmla="*/ 0 h 874"/>
                  <a:gd name="T4" fmla="*/ 0 w 674"/>
                  <a:gd name="T5" fmla="*/ 0 h 874"/>
                  <a:gd name="T6" fmla="*/ 0 w 674"/>
                  <a:gd name="T7" fmla="*/ 0 h 874"/>
                  <a:gd name="T8" fmla="*/ 0 w 674"/>
                  <a:gd name="T9" fmla="*/ 0 h 874"/>
                  <a:gd name="T10" fmla="*/ 0 w 674"/>
                  <a:gd name="T11" fmla="*/ 0 h 874"/>
                  <a:gd name="T12" fmla="*/ 0 w 674"/>
                  <a:gd name="T13" fmla="*/ 0 h 874"/>
                  <a:gd name="T14" fmla="*/ 0 w 674"/>
                  <a:gd name="T15" fmla="*/ 0 h 874"/>
                  <a:gd name="T16" fmla="*/ 0 w 674"/>
                  <a:gd name="T17" fmla="*/ 0 h 874"/>
                  <a:gd name="T18" fmla="*/ 0 w 674"/>
                  <a:gd name="T19" fmla="*/ 0 h 874"/>
                  <a:gd name="T20" fmla="*/ 0 w 674"/>
                  <a:gd name="T21" fmla="*/ 0 h 874"/>
                  <a:gd name="T22" fmla="*/ 0 w 674"/>
                  <a:gd name="T23" fmla="*/ 0 h 874"/>
                  <a:gd name="T24" fmla="*/ 0 w 674"/>
                  <a:gd name="T25" fmla="*/ 0 h 87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74"/>
                  <a:gd name="T40" fmla="*/ 0 h 874"/>
                  <a:gd name="T41" fmla="*/ 674 w 674"/>
                  <a:gd name="T42" fmla="*/ 874 h 87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74" h="874">
                    <a:moveTo>
                      <a:pt x="658" y="874"/>
                    </a:moveTo>
                    <a:lnTo>
                      <a:pt x="614" y="872"/>
                    </a:lnTo>
                    <a:lnTo>
                      <a:pt x="0" y="57"/>
                    </a:lnTo>
                    <a:lnTo>
                      <a:pt x="3" y="41"/>
                    </a:lnTo>
                    <a:lnTo>
                      <a:pt x="0" y="24"/>
                    </a:lnTo>
                    <a:lnTo>
                      <a:pt x="5" y="11"/>
                    </a:lnTo>
                    <a:lnTo>
                      <a:pt x="16" y="0"/>
                    </a:lnTo>
                    <a:lnTo>
                      <a:pt x="62" y="0"/>
                    </a:lnTo>
                    <a:lnTo>
                      <a:pt x="670" y="815"/>
                    </a:lnTo>
                    <a:lnTo>
                      <a:pt x="670" y="828"/>
                    </a:lnTo>
                    <a:lnTo>
                      <a:pt x="674" y="844"/>
                    </a:lnTo>
                    <a:lnTo>
                      <a:pt x="668" y="861"/>
                    </a:lnTo>
                    <a:lnTo>
                      <a:pt x="658" y="87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4" name="Freeform 93">
                <a:extLst>
                  <a:ext uri="{FF2B5EF4-FFF2-40B4-BE49-F238E27FC236}">
                    <a16:creationId xmlns:a16="http://schemas.microsoft.com/office/drawing/2014/main" id="{D951DCC7-D895-4E4C-B8D7-A21FA27F7F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00" y="3091"/>
                <a:ext cx="64" cy="91"/>
              </a:xfrm>
              <a:custGeom>
                <a:avLst/>
                <a:gdLst>
                  <a:gd name="T0" fmla="*/ 0 w 258"/>
                  <a:gd name="T1" fmla="*/ 0 h 364"/>
                  <a:gd name="T2" fmla="*/ 0 w 258"/>
                  <a:gd name="T3" fmla="*/ 0 h 364"/>
                  <a:gd name="T4" fmla="*/ 0 w 258"/>
                  <a:gd name="T5" fmla="*/ 0 h 364"/>
                  <a:gd name="T6" fmla="*/ 0 w 258"/>
                  <a:gd name="T7" fmla="*/ 0 h 364"/>
                  <a:gd name="T8" fmla="*/ 0 w 258"/>
                  <a:gd name="T9" fmla="*/ 0 h 364"/>
                  <a:gd name="T10" fmla="*/ 0 w 258"/>
                  <a:gd name="T11" fmla="*/ 0 h 364"/>
                  <a:gd name="T12" fmla="*/ 0 w 258"/>
                  <a:gd name="T13" fmla="*/ 0 h 364"/>
                  <a:gd name="T14" fmla="*/ 0 w 258"/>
                  <a:gd name="T15" fmla="*/ 0 h 364"/>
                  <a:gd name="T16" fmla="*/ 0 w 258"/>
                  <a:gd name="T17" fmla="*/ 0 h 364"/>
                  <a:gd name="T18" fmla="*/ 0 w 258"/>
                  <a:gd name="T19" fmla="*/ 0 h 364"/>
                  <a:gd name="T20" fmla="*/ 0 w 258"/>
                  <a:gd name="T21" fmla="*/ 0 h 364"/>
                  <a:gd name="T22" fmla="*/ 0 w 258"/>
                  <a:gd name="T23" fmla="*/ 0 h 364"/>
                  <a:gd name="T24" fmla="*/ 0 w 258"/>
                  <a:gd name="T25" fmla="*/ 0 h 364"/>
                  <a:gd name="T26" fmla="*/ 0 w 258"/>
                  <a:gd name="T27" fmla="*/ 0 h 364"/>
                  <a:gd name="T28" fmla="*/ 0 w 258"/>
                  <a:gd name="T29" fmla="*/ 0 h 364"/>
                  <a:gd name="T30" fmla="*/ 0 w 258"/>
                  <a:gd name="T31" fmla="*/ 0 h 364"/>
                  <a:gd name="T32" fmla="*/ 0 w 258"/>
                  <a:gd name="T33" fmla="*/ 0 h 364"/>
                  <a:gd name="T34" fmla="*/ 0 w 258"/>
                  <a:gd name="T35" fmla="*/ 0 h 364"/>
                  <a:gd name="T36" fmla="*/ 0 w 258"/>
                  <a:gd name="T37" fmla="*/ 0 h 364"/>
                  <a:gd name="T38" fmla="*/ 0 w 258"/>
                  <a:gd name="T39" fmla="*/ 0 h 364"/>
                  <a:gd name="T40" fmla="*/ 0 w 258"/>
                  <a:gd name="T41" fmla="*/ 0 h 364"/>
                  <a:gd name="T42" fmla="*/ 0 w 258"/>
                  <a:gd name="T43" fmla="*/ 0 h 364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258"/>
                  <a:gd name="T67" fmla="*/ 0 h 364"/>
                  <a:gd name="T68" fmla="*/ 258 w 258"/>
                  <a:gd name="T69" fmla="*/ 364 h 364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258" h="364">
                    <a:moveTo>
                      <a:pt x="231" y="364"/>
                    </a:moveTo>
                    <a:lnTo>
                      <a:pt x="196" y="334"/>
                    </a:lnTo>
                    <a:lnTo>
                      <a:pt x="164" y="298"/>
                    </a:lnTo>
                    <a:lnTo>
                      <a:pt x="130" y="261"/>
                    </a:lnTo>
                    <a:lnTo>
                      <a:pt x="104" y="222"/>
                    </a:lnTo>
                    <a:lnTo>
                      <a:pt x="76" y="182"/>
                    </a:lnTo>
                    <a:lnTo>
                      <a:pt x="49" y="141"/>
                    </a:lnTo>
                    <a:lnTo>
                      <a:pt x="25" y="101"/>
                    </a:lnTo>
                    <a:lnTo>
                      <a:pt x="0" y="60"/>
                    </a:lnTo>
                    <a:lnTo>
                      <a:pt x="9" y="44"/>
                    </a:lnTo>
                    <a:lnTo>
                      <a:pt x="14" y="27"/>
                    </a:lnTo>
                    <a:lnTo>
                      <a:pt x="21" y="11"/>
                    </a:lnTo>
                    <a:lnTo>
                      <a:pt x="33" y="0"/>
                    </a:lnTo>
                    <a:lnTo>
                      <a:pt x="60" y="44"/>
                    </a:lnTo>
                    <a:lnTo>
                      <a:pt x="90" y="85"/>
                    </a:lnTo>
                    <a:lnTo>
                      <a:pt x="120" y="125"/>
                    </a:lnTo>
                    <a:lnTo>
                      <a:pt x="150" y="168"/>
                    </a:lnTo>
                    <a:lnTo>
                      <a:pt x="180" y="209"/>
                    </a:lnTo>
                    <a:lnTo>
                      <a:pt x="210" y="250"/>
                    </a:lnTo>
                    <a:lnTo>
                      <a:pt x="234" y="293"/>
                    </a:lnTo>
                    <a:lnTo>
                      <a:pt x="258" y="337"/>
                    </a:lnTo>
                    <a:lnTo>
                      <a:pt x="231" y="36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85" name="Freeform 94">
                <a:extLst>
                  <a:ext uri="{FF2B5EF4-FFF2-40B4-BE49-F238E27FC236}">
                    <a16:creationId xmlns:a16="http://schemas.microsoft.com/office/drawing/2014/main" id="{DC525094-1152-2D48-A3E5-0F50E918A6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3" y="3030"/>
                <a:ext cx="144" cy="27"/>
              </a:xfrm>
              <a:custGeom>
                <a:avLst/>
                <a:gdLst>
                  <a:gd name="T0" fmla="*/ 0 w 579"/>
                  <a:gd name="T1" fmla="*/ 0 h 111"/>
                  <a:gd name="T2" fmla="*/ 0 w 579"/>
                  <a:gd name="T3" fmla="*/ 0 h 111"/>
                  <a:gd name="T4" fmla="*/ 0 w 579"/>
                  <a:gd name="T5" fmla="*/ 0 h 111"/>
                  <a:gd name="T6" fmla="*/ 0 w 579"/>
                  <a:gd name="T7" fmla="*/ 0 h 111"/>
                  <a:gd name="T8" fmla="*/ 0 w 579"/>
                  <a:gd name="T9" fmla="*/ 0 h 111"/>
                  <a:gd name="T10" fmla="*/ 0 w 579"/>
                  <a:gd name="T11" fmla="*/ 0 h 111"/>
                  <a:gd name="T12" fmla="*/ 0 w 579"/>
                  <a:gd name="T13" fmla="*/ 0 h 111"/>
                  <a:gd name="T14" fmla="*/ 0 w 579"/>
                  <a:gd name="T15" fmla="*/ 0 h 111"/>
                  <a:gd name="T16" fmla="*/ 0 w 579"/>
                  <a:gd name="T17" fmla="*/ 0 h 111"/>
                  <a:gd name="T18" fmla="*/ 0 w 579"/>
                  <a:gd name="T19" fmla="*/ 0 h 111"/>
                  <a:gd name="T20" fmla="*/ 0 w 579"/>
                  <a:gd name="T21" fmla="*/ 0 h 111"/>
                  <a:gd name="T22" fmla="*/ 0 w 579"/>
                  <a:gd name="T23" fmla="*/ 0 h 111"/>
                  <a:gd name="T24" fmla="*/ 0 w 579"/>
                  <a:gd name="T25" fmla="*/ 0 h 111"/>
                  <a:gd name="T26" fmla="*/ 0 w 579"/>
                  <a:gd name="T27" fmla="*/ 0 h 111"/>
                  <a:gd name="T28" fmla="*/ 0 w 579"/>
                  <a:gd name="T29" fmla="*/ 0 h 111"/>
                  <a:gd name="T30" fmla="*/ 0 w 579"/>
                  <a:gd name="T31" fmla="*/ 0 h 111"/>
                  <a:gd name="T32" fmla="*/ 0 w 579"/>
                  <a:gd name="T33" fmla="*/ 0 h 111"/>
                  <a:gd name="T34" fmla="*/ 0 w 579"/>
                  <a:gd name="T35" fmla="*/ 0 h 111"/>
                  <a:gd name="T36" fmla="*/ 0 w 579"/>
                  <a:gd name="T37" fmla="*/ 0 h 111"/>
                  <a:gd name="T38" fmla="*/ 0 w 579"/>
                  <a:gd name="T39" fmla="*/ 0 h 111"/>
                  <a:gd name="T40" fmla="*/ 0 w 579"/>
                  <a:gd name="T41" fmla="*/ 0 h 111"/>
                  <a:gd name="T42" fmla="*/ 0 w 579"/>
                  <a:gd name="T43" fmla="*/ 0 h 111"/>
                  <a:gd name="T44" fmla="*/ 0 w 579"/>
                  <a:gd name="T45" fmla="*/ 0 h 111"/>
                  <a:gd name="T46" fmla="*/ 0 w 579"/>
                  <a:gd name="T47" fmla="*/ 0 h 111"/>
                  <a:gd name="T48" fmla="*/ 0 w 579"/>
                  <a:gd name="T49" fmla="*/ 0 h 111"/>
                  <a:gd name="T50" fmla="*/ 0 w 579"/>
                  <a:gd name="T51" fmla="*/ 0 h 111"/>
                  <a:gd name="T52" fmla="*/ 0 w 579"/>
                  <a:gd name="T53" fmla="*/ 0 h 111"/>
                  <a:gd name="T54" fmla="*/ 0 w 579"/>
                  <a:gd name="T55" fmla="*/ 0 h 111"/>
                  <a:gd name="T56" fmla="*/ 0 w 579"/>
                  <a:gd name="T57" fmla="*/ 0 h 111"/>
                  <a:gd name="T58" fmla="*/ 0 w 579"/>
                  <a:gd name="T59" fmla="*/ 0 h 111"/>
                  <a:gd name="T60" fmla="*/ 0 w 579"/>
                  <a:gd name="T61" fmla="*/ 0 h 111"/>
                  <a:gd name="T62" fmla="*/ 0 w 579"/>
                  <a:gd name="T63" fmla="*/ 0 h 111"/>
                  <a:gd name="T64" fmla="*/ 0 w 579"/>
                  <a:gd name="T65" fmla="*/ 0 h 111"/>
                  <a:gd name="T66" fmla="*/ 0 w 579"/>
                  <a:gd name="T67" fmla="*/ 0 h 111"/>
                  <a:gd name="T68" fmla="*/ 0 w 579"/>
                  <a:gd name="T69" fmla="*/ 0 h 111"/>
                  <a:gd name="T70" fmla="*/ 0 w 579"/>
                  <a:gd name="T71" fmla="*/ 0 h 111"/>
                  <a:gd name="T72" fmla="*/ 0 w 579"/>
                  <a:gd name="T73" fmla="*/ 0 h 111"/>
                  <a:gd name="T74" fmla="*/ 0 w 579"/>
                  <a:gd name="T75" fmla="*/ 0 h 111"/>
                  <a:gd name="T76" fmla="*/ 0 w 579"/>
                  <a:gd name="T77" fmla="*/ 0 h 111"/>
                  <a:gd name="T78" fmla="*/ 0 w 579"/>
                  <a:gd name="T79" fmla="*/ 0 h 111"/>
                  <a:gd name="T80" fmla="*/ 0 w 579"/>
                  <a:gd name="T81" fmla="*/ 0 h 111"/>
                  <a:gd name="T82" fmla="*/ 0 w 579"/>
                  <a:gd name="T83" fmla="*/ 0 h 111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579"/>
                  <a:gd name="T127" fmla="*/ 0 h 111"/>
                  <a:gd name="T128" fmla="*/ 579 w 579"/>
                  <a:gd name="T129" fmla="*/ 111 h 111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579" h="111">
                    <a:moveTo>
                      <a:pt x="535" y="60"/>
                    </a:moveTo>
                    <a:lnTo>
                      <a:pt x="503" y="63"/>
                    </a:lnTo>
                    <a:lnTo>
                      <a:pt x="468" y="66"/>
                    </a:lnTo>
                    <a:lnTo>
                      <a:pt x="434" y="69"/>
                    </a:lnTo>
                    <a:lnTo>
                      <a:pt x="402" y="71"/>
                    </a:lnTo>
                    <a:lnTo>
                      <a:pt x="367" y="71"/>
                    </a:lnTo>
                    <a:lnTo>
                      <a:pt x="332" y="74"/>
                    </a:lnTo>
                    <a:lnTo>
                      <a:pt x="299" y="76"/>
                    </a:lnTo>
                    <a:lnTo>
                      <a:pt x="263" y="76"/>
                    </a:lnTo>
                    <a:lnTo>
                      <a:pt x="231" y="79"/>
                    </a:lnTo>
                    <a:lnTo>
                      <a:pt x="196" y="82"/>
                    </a:lnTo>
                    <a:lnTo>
                      <a:pt x="163" y="88"/>
                    </a:lnTo>
                    <a:lnTo>
                      <a:pt x="131" y="90"/>
                    </a:lnTo>
                    <a:lnTo>
                      <a:pt x="98" y="95"/>
                    </a:lnTo>
                    <a:lnTo>
                      <a:pt x="65" y="99"/>
                    </a:lnTo>
                    <a:lnTo>
                      <a:pt x="32" y="106"/>
                    </a:lnTo>
                    <a:lnTo>
                      <a:pt x="0" y="111"/>
                    </a:lnTo>
                    <a:lnTo>
                      <a:pt x="0" y="95"/>
                    </a:lnTo>
                    <a:lnTo>
                      <a:pt x="2" y="82"/>
                    </a:lnTo>
                    <a:lnTo>
                      <a:pt x="11" y="71"/>
                    </a:lnTo>
                    <a:lnTo>
                      <a:pt x="22" y="63"/>
                    </a:lnTo>
                    <a:lnTo>
                      <a:pt x="36" y="58"/>
                    </a:lnTo>
                    <a:lnTo>
                      <a:pt x="49" y="53"/>
                    </a:lnTo>
                    <a:lnTo>
                      <a:pt x="62" y="46"/>
                    </a:lnTo>
                    <a:lnTo>
                      <a:pt x="73" y="41"/>
                    </a:lnTo>
                    <a:lnTo>
                      <a:pt x="103" y="36"/>
                    </a:lnTo>
                    <a:lnTo>
                      <a:pt x="133" y="30"/>
                    </a:lnTo>
                    <a:lnTo>
                      <a:pt x="166" y="25"/>
                    </a:lnTo>
                    <a:lnTo>
                      <a:pt x="196" y="20"/>
                    </a:lnTo>
                    <a:lnTo>
                      <a:pt x="228" y="14"/>
                    </a:lnTo>
                    <a:lnTo>
                      <a:pt x="258" y="9"/>
                    </a:lnTo>
                    <a:lnTo>
                      <a:pt x="291" y="6"/>
                    </a:lnTo>
                    <a:lnTo>
                      <a:pt x="323" y="4"/>
                    </a:lnTo>
                    <a:lnTo>
                      <a:pt x="356" y="0"/>
                    </a:lnTo>
                    <a:lnTo>
                      <a:pt x="386" y="0"/>
                    </a:lnTo>
                    <a:lnTo>
                      <a:pt x="418" y="0"/>
                    </a:lnTo>
                    <a:lnTo>
                      <a:pt x="450" y="0"/>
                    </a:lnTo>
                    <a:lnTo>
                      <a:pt x="484" y="4"/>
                    </a:lnTo>
                    <a:lnTo>
                      <a:pt x="516" y="6"/>
                    </a:lnTo>
                    <a:lnTo>
                      <a:pt x="546" y="11"/>
                    </a:lnTo>
                    <a:lnTo>
                      <a:pt x="579" y="17"/>
                    </a:lnTo>
                    <a:lnTo>
                      <a:pt x="535" y="6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</p:grpSp>
        <p:grpSp>
          <p:nvGrpSpPr>
            <p:cNvPr id="101" name="Group 352">
              <a:extLst>
                <a:ext uri="{FF2B5EF4-FFF2-40B4-BE49-F238E27FC236}">
                  <a16:creationId xmlns:a16="http://schemas.microsoft.com/office/drawing/2014/main" id="{DCE1801C-1C1C-0F4D-97B5-1F90930A9D06}"/>
                </a:ext>
              </a:extLst>
            </p:cNvPr>
            <p:cNvGrpSpPr>
              <a:grpSpLocks/>
            </p:cNvGrpSpPr>
            <p:nvPr/>
          </p:nvGrpSpPr>
          <p:grpSpPr bwMode="auto">
            <a:xfrm rot="18385562">
              <a:off x="4537336" y="2682641"/>
              <a:ext cx="571937" cy="629130"/>
              <a:chOff x="3481" y="3030"/>
              <a:chExt cx="1115" cy="1118"/>
            </a:xfrm>
          </p:grpSpPr>
          <p:sp>
            <p:nvSpPr>
              <p:cNvPr id="164" name="Freeform 353">
                <a:extLst>
                  <a:ext uri="{FF2B5EF4-FFF2-40B4-BE49-F238E27FC236}">
                    <a16:creationId xmlns:a16="http://schemas.microsoft.com/office/drawing/2014/main" id="{A3011816-1665-6E43-964A-4781F6652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02" y="3068"/>
                <a:ext cx="1045" cy="1051"/>
              </a:xfrm>
              <a:custGeom>
                <a:avLst/>
                <a:gdLst>
                  <a:gd name="T0" fmla="*/ 0 w 4179"/>
                  <a:gd name="T1" fmla="*/ 0 h 4201"/>
                  <a:gd name="T2" fmla="*/ 0 w 4179"/>
                  <a:gd name="T3" fmla="*/ 0 h 4201"/>
                  <a:gd name="T4" fmla="*/ 0 w 4179"/>
                  <a:gd name="T5" fmla="*/ 0 h 4201"/>
                  <a:gd name="T6" fmla="*/ 0 w 4179"/>
                  <a:gd name="T7" fmla="*/ 0 h 4201"/>
                  <a:gd name="T8" fmla="*/ 0 w 4179"/>
                  <a:gd name="T9" fmla="*/ 0 h 4201"/>
                  <a:gd name="T10" fmla="*/ 0 w 4179"/>
                  <a:gd name="T11" fmla="*/ 0 h 4201"/>
                  <a:gd name="T12" fmla="*/ 0 w 4179"/>
                  <a:gd name="T13" fmla="*/ 0 h 4201"/>
                  <a:gd name="T14" fmla="*/ 0 w 4179"/>
                  <a:gd name="T15" fmla="*/ 0 h 4201"/>
                  <a:gd name="T16" fmla="*/ 0 w 4179"/>
                  <a:gd name="T17" fmla="*/ 0 h 4201"/>
                  <a:gd name="T18" fmla="*/ 0 w 4179"/>
                  <a:gd name="T19" fmla="*/ 0 h 4201"/>
                  <a:gd name="T20" fmla="*/ 0 w 4179"/>
                  <a:gd name="T21" fmla="*/ 0 h 4201"/>
                  <a:gd name="T22" fmla="*/ 0 w 4179"/>
                  <a:gd name="T23" fmla="*/ 0 h 4201"/>
                  <a:gd name="T24" fmla="*/ 0 w 4179"/>
                  <a:gd name="T25" fmla="*/ 0 h 4201"/>
                  <a:gd name="T26" fmla="*/ 0 w 4179"/>
                  <a:gd name="T27" fmla="*/ 0 h 4201"/>
                  <a:gd name="T28" fmla="*/ 0 w 4179"/>
                  <a:gd name="T29" fmla="*/ 0 h 4201"/>
                  <a:gd name="T30" fmla="*/ 0 w 4179"/>
                  <a:gd name="T31" fmla="*/ 0 h 4201"/>
                  <a:gd name="T32" fmla="*/ 0 w 4179"/>
                  <a:gd name="T33" fmla="*/ 0 h 4201"/>
                  <a:gd name="T34" fmla="*/ 0 w 4179"/>
                  <a:gd name="T35" fmla="*/ 0 h 4201"/>
                  <a:gd name="T36" fmla="*/ 0 w 4179"/>
                  <a:gd name="T37" fmla="*/ 0 h 4201"/>
                  <a:gd name="T38" fmla="*/ 0 w 4179"/>
                  <a:gd name="T39" fmla="*/ 0 h 4201"/>
                  <a:gd name="T40" fmla="*/ 0 w 4179"/>
                  <a:gd name="T41" fmla="*/ 0 h 4201"/>
                  <a:gd name="T42" fmla="*/ 0 w 4179"/>
                  <a:gd name="T43" fmla="*/ 0 h 4201"/>
                  <a:gd name="T44" fmla="*/ 0 w 4179"/>
                  <a:gd name="T45" fmla="*/ 0 h 4201"/>
                  <a:gd name="T46" fmla="*/ 0 w 4179"/>
                  <a:gd name="T47" fmla="*/ 0 h 4201"/>
                  <a:gd name="T48" fmla="*/ 0 w 4179"/>
                  <a:gd name="T49" fmla="*/ 0 h 4201"/>
                  <a:gd name="T50" fmla="*/ 0 w 4179"/>
                  <a:gd name="T51" fmla="*/ 0 h 4201"/>
                  <a:gd name="T52" fmla="*/ 0 w 4179"/>
                  <a:gd name="T53" fmla="*/ 0 h 4201"/>
                  <a:gd name="T54" fmla="*/ 0 w 4179"/>
                  <a:gd name="T55" fmla="*/ 0 h 4201"/>
                  <a:gd name="T56" fmla="*/ 0 w 4179"/>
                  <a:gd name="T57" fmla="*/ 0 h 4201"/>
                  <a:gd name="T58" fmla="*/ 0 w 4179"/>
                  <a:gd name="T59" fmla="*/ 0 h 4201"/>
                  <a:gd name="T60" fmla="*/ 0 w 4179"/>
                  <a:gd name="T61" fmla="*/ 0 h 4201"/>
                  <a:gd name="T62" fmla="*/ 0 w 4179"/>
                  <a:gd name="T63" fmla="*/ 0 h 4201"/>
                  <a:gd name="T64" fmla="*/ 0 w 4179"/>
                  <a:gd name="T65" fmla="*/ 0 h 4201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4179"/>
                  <a:gd name="T100" fmla="*/ 0 h 4201"/>
                  <a:gd name="T101" fmla="*/ 4179 w 4179"/>
                  <a:gd name="T102" fmla="*/ 4201 h 4201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4179" h="4201">
                    <a:moveTo>
                      <a:pt x="3876" y="3410"/>
                    </a:moveTo>
                    <a:lnTo>
                      <a:pt x="3181" y="3544"/>
                    </a:lnTo>
                    <a:lnTo>
                      <a:pt x="2895" y="3172"/>
                    </a:lnTo>
                    <a:lnTo>
                      <a:pt x="3061" y="3147"/>
                    </a:lnTo>
                    <a:lnTo>
                      <a:pt x="3045" y="3126"/>
                    </a:lnTo>
                    <a:lnTo>
                      <a:pt x="3617" y="3068"/>
                    </a:lnTo>
                    <a:lnTo>
                      <a:pt x="3213" y="2534"/>
                    </a:lnTo>
                    <a:lnTo>
                      <a:pt x="3197" y="2534"/>
                    </a:lnTo>
                    <a:lnTo>
                      <a:pt x="3269" y="2634"/>
                    </a:lnTo>
                    <a:lnTo>
                      <a:pt x="2567" y="2767"/>
                    </a:lnTo>
                    <a:lnTo>
                      <a:pt x="2287" y="2395"/>
                    </a:lnTo>
                    <a:lnTo>
                      <a:pt x="2449" y="2371"/>
                    </a:lnTo>
                    <a:lnTo>
                      <a:pt x="2433" y="2349"/>
                    </a:lnTo>
                    <a:lnTo>
                      <a:pt x="3015" y="2289"/>
                    </a:lnTo>
                    <a:lnTo>
                      <a:pt x="3068" y="2343"/>
                    </a:lnTo>
                    <a:lnTo>
                      <a:pt x="2724" y="1890"/>
                    </a:lnTo>
                    <a:lnTo>
                      <a:pt x="2689" y="1893"/>
                    </a:lnTo>
                    <a:lnTo>
                      <a:pt x="2762" y="1991"/>
                    </a:lnTo>
                    <a:lnTo>
                      <a:pt x="2061" y="2126"/>
                    </a:lnTo>
                    <a:lnTo>
                      <a:pt x="1779" y="1751"/>
                    </a:lnTo>
                    <a:lnTo>
                      <a:pt x="1945" y="1730"/>
                    </a:lnTo>
                    <a:lnTo>
                      <a:pt x="1929" y="1708"/>
                    </a:lnTo>
                    <a:lnTo>
                      <a:pt x="2507" y="1651"/>
                    </a:lnTo>
                    <a:lnTo>
                      <a:pt x="2654" y="1793"/>
                    </a:lnTo>
                    <a:lnTo>
                      <a:pt x="2246" y="1252"/>
                    </a:lnTo>
                    <a:lnTo>
                      <a:pt x="2243" y="1252"/>
                    </a:lnTo>
                    <a:lnTo>
                      <a:pt x="2317" y="1352"/>
                    </a:lnTo>
                    <a:lnTo>
                      <a:pt x="1613" y="1486"/>
                    </a:lnTo>
                    <a:lnTo>
                      <a:pt x="1331" y="1114"/>
                    </a:lnTo>
                    <a:lnTo>
                      <a:pt x="1497" y="1090"/>
                    </a:lnTo>
                    <a:lnTo>
                      <a:pt x="1481" y="1067"/>
                    </a:lnTo>
                    <a:lnTo>
                      <a:pt x="2061" y="1010"/>
                    </a:lnTo>
                    <a:lnTo>
                      <a:pt x="1846" y="728"/>
                    </a:lnTo>
                    <a:lnTo>
                      <a:pt x="1168" y="859"/>
                    </a:lnTo>
                    <a:lnTo>
                      <a:pt x="885" y="483"/>
                    </a:lnTo>
                    <a:lnTo>
                      <a:pt x="1049" y="462"/>
                    </a:lnTo>
                    <a:lnTo>
                      <a:pt x="1035" y="441"/>
                    </a:lnTo>
                    <a:lnTo>
                      <a:pt x="1586" y="383"/>
                    </a:lnTo>
                    <a:lnTo>
                      <a:pt x="1405" y="141"/>
                    </a:lnTo>
                    <a:lnTo>
                      <a:pt x="1347" y="147"/>
                    </a:lnTo>
                    <a:lnTo>
                      <a:pt x="1421" y="247"/>
                    </a:lnTo>
                    <a:lnTo>
                      <a:pt x="717" y="381"/>
                    </a:lnTo>
                    <a:lnTo>
                      <a:pt x="435" y="9"/>
                    </a:lnTo>
                    <a:lnTo>
                      <a:pt x="475" y="4"/>
                    </a:lnTo>
                    <a:lnTo>
                      <a:pt x="459" y="0"/>
                    </a:lnTo>
                    <a:lnTo>
                      <a:pt x="437" y="0"/>
                    </a:lnTo>
                    <a:lnTo>
                      <a:pt x="407" y="4"/>
                    </a:lnTo>
                    <a:lnTo>
                      <a:pt x="375" y="9"/>
                    </a:lnTo>
                    <a:lnTo>
                      <a:pt x="336" y="14"/>
                    </a:lnTo>
                    <a:lnTo>
                      <a:pt x="299" y="20"/>
                    </a:lnTo>
                    <a:lnTo>
                      <a:pt x="255" y="27"/>
                    </a:lnTo>
                    <a:lnTo>
                      <a:pt x="215" y="36"/>
                    </a:lnTo>
                    <a:lnTo>
                      <a:pt x="174" y="44"/>
                    </a:lnTo>
                    <a:lnTo>
                      <a:pt x="133" y="52"/>
                    </a:lnTo>
                    <a:lnTo>
                      <a:pt x="98" y="60"/>
                    </a:lnTo>
                    <a:lnTo>
                      <a:pt x="65" y="66"/>
                    </a:lnTo>
                    <a:lnTo>
                      <a:pt x="38" y="74"/>
                    </a:lnTo>
                    <a:lnTo>
                      <a:pt x="19" y="76"/>
                    </a:lnTo>
                    <a:lnTo>
                      <a:pt x="6" y="82"/>
                    </a:lnTo>
                    <a:lnTo>
                      <a:pt x="0" y="82"/>
                    </a:lnTo>
                    <a:lnTo>
                      <a:pt x="913" y="1442"/>
                    </a:lnTo>
                    <a:lnTo>
                      <a:pt x="1151" y="1456"/>
                    </a:lnTo>
                    <a:lnTo>
                      <a:pt x="2211" y="2826"/>
                    </a:lnTo>
                    <a:lnTo>
                      <a:pt x="2017" y="2976"/>
                    </a:lnTo>
                    <a:lnTo>
                      <a:pt x="2925" y="4201"/>
                    </a:lnTo>
                    <a:lnTo>
                      <a:pt x="4179" y="3812"/>
                    </a:lnTo>
                    <a:lnTo>
                      <a:pt x="3876" y="3410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5" name="Freeform 354">
                <a:extLst>
                  <a:ext uri="{FF2B5EF4-FFF2-40B4-BE49-F238E27FC236}">
                    <a16:creationId xmlns:a16="http://schemas.microsoft.com/office/drawing/2014/main" id="{51F9DEE6-3395-EF4F-A34B-151D402330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1" y="3064"/>
                <a:ext cx="33" cy="5"/>
              </a:xfrm>
              <a:custGeom>
                <a:avLst/>
                <a:gdLst>
                  <a:gd name="T0" fmla="*/ 0 w 133"/>
                  <a:gd name="T1" fmla="*/ 0 h 20"/>
                  <a:gd name="T2" fmla="*/ 0 w 133"/>
                  <a:gd name="T3" fmla="*/ 0 h 20"/>
                  <a:gd name="T4" fmla="*/ 0 w 133"/>
                  <a:gd name="T5" fmla="*/ 0 h 20"/>
                  <a:gd name="T6" fmla="*/ 0 w 133"/>
                  <a:gd name="T7" fmla="*/ 0 h 20"/>
                  <a:gd name="T8" fmla="*/ 0 w 133"/>
                  <a:gd name="T9" fmla="*/ 0 h 20"/>
                  <a:gd name="T10" fmla="*/ 0 w 133"/>
                  <a:gd name="T11" fmla="*/ 0 h 2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33"/>
                  <a:gd name="T19" fmla="*/ 0 h 20"/>
                  <a:gd name="T20" fmla="*/ 133 w 133"/>
                  <a:gd name="T21" fmla="*/ 20 h 2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33" h="20">
                    <a:moveTo>
                      <a:pt x="133" y="11"/>
                    </a:moveTo>
                    <a:lnTo>
                      <a:pt x="126" y="0"/>
                    </a:lnTo>
                    <a:lnTo>
                      <a:pt x="0" y="20"/>
                    </a:lnTo>
                    <a:lnTo>
                      <a:pt x="3" y="20"/>
                    </a:lnTo>
                    <a:lnTo>
                      <a:pt x="6" y="20"/>
                    </a:lnTo>
                    <a:lnTo>
                      <a:pt x="133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6" name="Freeform 355">
                <a:extLst>
                  <a:ext uri="{FF2B5EF4-FFF2-40B4-BE49-F238E27FC236}">
                    <a16:creationId xmlns:a16="http://schemas.microsoft.com/office/drawing/2014/main" id="{C3C6680B-C7AD-E24A-A41A-8C2EE5B4E1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1" y="3067"/>
                <a:ext cx="246" cy="96"/>
              </a:xfrm>
              <a:custGeom>
                <a:avLst/>
                <a:gdLst>
                  <a:gd name="T0" fmla="*/ 0 w 986"/>
                  <a:gd name="T1" fmla="*/ 0 h 386"/>
                  <a:gd name="T2" fmla="*/ 0 w 986"/>
                  <a:gd name="T3" fmla="*/ 0 h 386"/>
                  <a:gd name="T4" fmla="*/ 0 w 986"/>
                  <a:gd name="T5" fmla="*/ 0 h 386"/>
                  <a:gd name="T6" fmla="*/ 0 w 986"/>
                  <a:gd name="T7" fmla="*/ 0 h 386"/>
                  <a:gd name="T8" fmla="*/ 0 w 986"/>
                  <a:gd name="T9" fmla="*/ 0 h 386"/>
                  <a:gd name="T10" fmla="*/ 0 w 986"/>
                  <a:gd name="T11" fmla="*/ 0 h 386"/>
                  <a:gd name="T12" fmla="*/ 0 w 986"/>
                  <a:gd name="T13" fmla="*/ 0 h 386"/>
                  <a:gd name="T14" fmla="*/ 0 w 986"/>
                  <a:gd name="T15" fmla="*/ 0 h 386"/>
                  <a:gd name="T16" fmla="*/ 0 w 986"/>
                  <a:gd name="T17" fmla="*/ 0 h 386"/>
                  <a:gd name="T18" fmla="*/ 0 w 986"/>
                  <a:gd name="T19" fmla="*/ 0 h 38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86"/>
                  <a:gd name="T31" fmla="*/ 0 h 386"/>
                  <a:gd name="T32" fmla="*/ 986 w 986"/>
                  <a:gd name="T33" fmla="*/ 386 h 38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86" h="386">
                    <a:moveTo>
                      <a:pt x="282" y="386"/>
                    </a:moveTo>
                    <a:lnTo>
                      <a:pt x="986" y="252"/>
                    </a:lnTo>
                    <a:lnTo>
                      <a:pt x="912" y="152"/>
                    </a:lnTo>
                    <a:lnTo>
                      <a:pt x="328" y="206"/>
                    </a:lnTo>
                    <a:lnTo>
                      <a:pt x="173" y="0"/>
                    </a:lnTo>
                    <a:lnTo>
                      <a:pt x="46" y="9"/>
                    </a:lnTo>
                    <a:lnTo>
                      <a:pt x="43" y="9"/>
                    </a:lnTo>
                    <a:lnTo>
                      <a:pt x="40" y="9"/>
                    </a:lnTo>
                    <a:lnTo>
                      <a:pt x="0" y="14"/>
                    </a:lnTo>
                    <a:lnTo>
                      <a:pt x="282" y="386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7" name="Freeform 356">
                <a:extLst>
                  <a:ext uri="{FF2B5EF4-FFF2-40B4-BE49-F238E27FC236}">
                    <a16:creationId xmlns:a16="http://schemas.microsoft.com/office/drawing/2014/main" id="{6D39B511-DE54-2D47-B71C-B1F9ADA53B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8" y="3044"/>
                <a:ext cx="146" cy="20"/>
              </a:xfrm>
              <a:custGeom>
                <a:avLst/>
                <a:gdLst>
                  <a:gd name="T0" fmla="*/ 0 w 580"/>
                  <a:gd name="T1" fmla="*/ 0 h 81"/>
                  <a:gd name="T2" fmla="*/ 0 w 580"/>
                  <a:gd name="T3" fmla="*/ 0 h 81"/>
                  <a:gd name="T4" fmla="*/ 0 w 580"/>
                  <a:gd name="T5" fmla="*/ 0 h 81"/>
                  <a:gd name="T6" fmla="*/ 0 w 580"/>
                  <a:gd name="T7" fmla="*/ 0 h 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1"/>
                  <a:gd name="T14" fmla="*/ 580 w 580"/>
                  <a:gd name="T15" fmla="*/ 81 h 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1">
                    <a:moveTo>
                      <a:pt x="0" y="60"/>
                    </a:moveTo>
                    <a:lnTo>
                      <a:pt x="16" y="81"/>
                    </a:lnTo>
                    <a:lnTo>
                      <a:pt x="580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8" name="Freeform 357">
                <a:extLst>
                  <a:ext uri="{FF2B5EF4-FFF2-40B4-BE49-F238E27FC236}">
                    <a16:creationId xmlns:a16="http://schemas.microsoft.com/office/drawing/2014/main" id="{A0625046-4F3A-8E4E-9F62-9DFEC15B28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4" y="3044"/>
                <a:ext cx="59" cy="60"/>
              </a:xfrm>
              <a:custGeom>
                <a:avLst/>
                <a:gdLst>
                  <a:gd name="T0" fmla="*/ 0 w 240"/>
                  <a:gd name="T1" fmla="*/ 0 h 238"/>
                  <a:gd name="T2" fmla="*/ 0 w 240"/>
                  <a:gd name="T3" fmla="*/ 0 h 238"/>
                  <a:gd name="T4" fmla="*/ 0 w 240"/>
                  <a:gd name="T5" fmla="*/ 0 h 238"/>
                  <a:gd name="T6" fmla="*/ 0 w 240"/>
                  <a:gd name="T7" fmla="*/ 0 h 23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40"/>
                  <a:gd name="T13" fmla="*/ 0 h 238"/>
                  <a:gd name="T14" fmla="*/ 240 w 240"/>
                  <a:gd name="T15" fmla="*/ 238 h 23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40" h="238">
                    <a:moveTo>
                      <a:pt x="240" y="238"/>
                    </a:moveTo>
                    <a:lnTo>
                      <a:pt x="0" y="0"/>
                    </a:lnTo>
                    <a:lnTo>
                      <a:pt x="117" y="157"/>
                    </a:lnTo>
                    <a:lnTo>
                      <a:pt x="240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9" name="Freeform 358">
                <a:extLst>
                  <a:ext uri="{FF2B5EF4-FFF2-40B4-BE49-F238E27FC236}">
                    <a16:creationId xmlns:a16="http://schemas.microsoft.com/office/drawing/2014/main" id="{774BC33E-8031-504F-973A-5A5A970601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3" y="3083"/>
                <a:ext cx="30" cy="22"/>
              </a:xfrm>
              <a:custGeom>
                <a:avLst/>
                <a:gdLst>
                  <a:gd name="T0" fmla="*/ 0 w 123"/>
                  <a:gd name="T1" fmla="*/ 0 h 87"/>
                  <a:gd name="T2" fmla="*/ 0 w 123"/>
                  <a:gd name="T3" fmla="*/ 0 h 87"/>
                  <a:gd name="T4" fmla="*/ 0 w 123"/>
                  <a:gd name="T5" fmla="*/ 0 h 87"/>
                  <a:gd name="T6" fmla="*/ 0 w 123"/>
                  <a:gd name="T7" fmla="*/ 0 h 8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3"/>
                  <a:gd name="T13" fmla="*/ 0 h 87"/>
                  <a:gd name="T14" fmla="*/ 123 w 123"/>
                  <a:gd name="T15" fmla="*/ 87 h 8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3" h="87">
                    <a:moveTo>
                      <a:pt x="65" y="87"/>
                    </a:moveTo>
                    <a:lnTo>
                      <a:pt x="123" y="81"/>
                    </a:lnTo>
                    <a:lnTo>
                      <a:pt x="0" y="0"/>
                    </a:lnTo>
                    <a:lnTo>
                      <a:pt x="65" y="8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0" name="Freeform 359">
                <a:extLst>
                  <a:ext uri="{FF2B5EF4-FFF2-40B4-BE49-F238E27FC236}">
                    <a16:creationId xmlns:a16="http://schemas.microsoft.com/office/drawing/2014/main" id="{EB59E424-C672-0349-9451-88A86371B6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2" y="3044"/>
                <a:ext cx="171" cy="39"/>
              </a:xfrm>
              <a:custGeom>
                <a:avLst/>
                <a:gdLst>
                  <a:gd name="T0" fmla="*/ 0 w 681"/>
                  <a:gd name="T1" fmla="*/ 0 h 157"/>
                  <a:gd name="T2" fmla="*/ 0 w 681"/>
                  <a:gd name="T3" fmla="*/ 0 h 157"/>
                  <a:gd name="T4" fmla="*/ 0 w 681"/>
                  <a:gd name="T5" fmla="*/ 0 h 157"/>
                  <a:gd name="T6" fmla="*/ 0 w 681"/>
                  <a:gd name="T7" fmla="*/ 0 h 157"/>
                  <a:gd name="T8" fmla="*/ 0 w 681"/>
                  <a:gd name="T9" fmla="*/ 0 h 157"/>
                  <a:gd name="T10" fmla="*/ 0 w 681"/>
                  <a:gd name="T11" fmla="*/ 0 h 15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81"/>
                  <a:gd name="T19" fmla="*/ 0 h 157"/>
                  <a:gd name="T20" fmla="*/ 681 w 681"/>
                  <a:gd name="T21" fmla="*/ 157 h 15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81" h="157">
                    <a:moveTo>
                      <a:pt x="534" y="60"/>
                    </a:moveTo>
                    <a:lnTo>
                      <a:pt x="681" y="157"/>
                    </a:lnTo>
                    <a:lnTo>
                      <a:pt x="564" y="0"/>
                    </a:lnTo>
                    <a:lnTo>
                      <a:pt x="0" y="81"/>
                    </a:lnTo>
                    <a:lnTo>
                      <a:pt x="7" y="92"/>
                    </a:lnTo>
                    <a:lnTo>
                      <a:pt x="534" y="60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1" name="Freeform 360">
                <a:extLst>
                  <a:ext uri="{FF2B5EF4-FFF2-40B4-BE49-F238E27FC236}">
                    <a16:creationId xmlns:a16="http://schemas.microsoft.com/office/drawing/2014/main" id="{7A54079F-0C5C-E44C-942C-40D340E201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4" y="3059"/>
                <a:ext cx="185" cy="60"/>
              </a:xfrm>
              <a:custGeom>
                <a:avLst/>
                <a:gdLst>
                  <a:gd name="T0" fmla="*/ 0 w 739"/>
                  <a:gd name="T1" fmla="*/ 0 h 238"/>
                  <a:gd name="T2" fmla="*/ 0 w 739"/>
                  <a:gd name="T3" fmla="*/ 0 h 238"/>
                  <a:gd name="T4" fmla="*/ 0 w 739"/>
                  <a:gd name="T5" fmla="*/ 0 h 238"/>
                  <a:gd name="T6" fmla="*/ 0 w 739"/>
                  <a:gd name="T7" fmla="*/ 0 h 238"/>
                  <a:gd name="T8" fmla="*/ 0 w 739"/>
                  <a:gd name="T9" fmla="*/ 0 h 238"/>
                  <a:gd name="T10" fmla="*/ 0 w 739"/>
                  <a:gd name="T11" fmla="*/ 0 h 238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39"/>
                  <a:gd name="T19" fmla="*/ 0 h 238"/>
                  <a:gd name="T20" fmla="*/ 739 w 739"/>
                  <a:gd name="T21" fmla="*/ 238 h 238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39" h="238">
                    <a:moveTo>
                      <a:pt x="527" y="0"/>
                    </a:moveTo>
                    <a:lnTo>
                      <a:pt x="0" y="32"/>
                    </a:lnTo>
                    <a:lnTo>
                      <a:pt x="155" y="238"/>
                    </a:lnTo>
                    <a:lnTo>
                      <a:pt x="739" y="184"/>
                    </a:lnTo>
                    <a:lnTo>
                      <a:pt x="674" y="97"/>
                    </a:lnTo>
                    <a:lnTo>
                      <a:pt x="527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2" name="Freeform 361">
                <a:extLst>
                  <a:ext uri="{FF2B5EF4-FFF2-40B4-BE49-F238E27FC236}">
                    <a16:creationId xmlns:a16="http://schemas.microsoft.com/office/drawing/2014/main" id="{F80138B0-A1CB-FE4D-AA47-3BFBFAD95A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5" y="3224"/>
                <a:ext cx="25" cy="26"/>
              </a:xfrm>
              <a:custGeom>
                <a:avLst/>
                <a:gdLst>
                  <a:gd name="T0" fmla="*/ 0 w 101"/>
                  <a:gd name="T1" fmla="*/ 0 h 103"/>
                  <a:gd name="T2" fmla="*/ 0 w 101"/>
                  <a:gd name="T3" fmla="*/ 0 h 103"/>
                  <a:gd name="T4" fmla="*/ 0 w 101"/>
                  <a:gd name="T5" fmla="*/ 0 h 103"/>
                  <a:gd name="T6" fmla="*/ 0 w 101"/>
                  <a:gd name="T7" fmla="*/ 0 h 103"/>
                  <a:gd name="T8" fmla="*/ 0 w 101"/>
                  <a:gd name="T9" fmla="*/ 0 h 10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1"/>
                  <a:gd name="T16" fmla="*/ 0 h 103"/>
                  <a:gd name="T17" fmla="*/ 101 w 101"/>
                  <a:gd name="T18" fmla="*/ 103 h 10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1" h="103">
                    <a:moveTo>
                      <a:pt x="76" y="103"/>
                    </a:moveTo>
                    <a:lnTo>
                      <a:pt x="101" y="98"/>
                    </a:lnTo>
                    <a:lnTo>
                      <a:pt x="28" y="0"/>
                    </a:lnTo>
                    <a:lnTo>
                      <a:pt x="0" y="3"/>
                    </a:lnTo>
                    <a:lnTo>
                      <a:pt x="76" y="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3" name="Freeform 362">
                <a:extLst>
                  <a:ext uri="{FF2B5EF4-FFF2-40B4-BE49-F238E27FC236}">
                    <a16:creationId xmlns:a16="http://schemas.microsoft.com/office/drawing/2014/main" id="{DA850C05-A5AC-6C42-9011-2B333894AF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24" y="3184"/>
                <a:ext cx="240" cy="99"/>
              </a:xfrm>
              <a:custGeom>
                <a:avLst/>
                <a:gdLst>
                  <a:gd name="T0" fmla="*/ 0 w 961"/>
                  <a:gd name="T1" fmla="*/ 0 h 397"/>
                  <a:gd name="T2" fmla="*/ 0 w 961"/>
                  <a:gd name="T3" fmla="*/ 0 h 397"/>
                  <a:gd name="T4" fmla="*/ 0 w 961"/>
                  <a:gd name="T5" fmla="*/ 0 h 397"/>
                  <a:gd name="T6" fmla="*/ 0 w 961"/>
                  <a:gd name="T7" fmla="*/ 0 h 397"/>
                  <a:gd name="T8" fmla="*/ 0 w 961"/>
                  <a:gd name="T9" fmla="*/ 0 h 397"/>
                  <a:gd name="T10" fmla="*/ 0 w 961"/>
                  <a:gd name="T11" fmla="*/ 0 h 397"/>
                  <a:gd name="T12" fmla="*/ 0 w 96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61"/>
                  <a:gd name="T22" fmla="*/ 0 h 397"/>
                  <a:gd name="T23" fmla="*/ 961 w 96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61" h="397">
                    <a:moveTo>
                      <a:pt x="329" y="217"/>
                    </a:moveTo>
                    <a:lnTo>
                      <a:pt x="164" y="0"/>
                    </a:lnTo>
                    <a:lnTo>
                      <a:pt x="0" y="21"/>
                    </a:lnTo>
                    <a:lnTo>
                      <a:pt x="283" y="397"/>
                    </a:lnTo>
                    <a:lnTo>
                      <a:pt x="961" y="266"/>
                    </a:lnTo>
                    <a:lnTo>
                      <a:pt x="885" y="166"/>
                    </a:lnTo>
                    <a:lnTo>
                      <a:pt x="329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4" name="Freeform 363">
                <a:extLst>
                  <a:ext uri="{FF2B5EF4-FFF2-40B4-BE49-F238E27FC236}">
                    <a16:creationId xmlns:a16="http://schemas.microsoft.com/office/drawing/2014/main" id="{978483B0-7D65-E741-AA01-22CD459A59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7" cy="1"/>
              </a:xfrm>
              <a:custGeom>
                <a:avLst/>
                <a:gdLst>
                  <a:gd name="T0" fmla="*/ 0 w 30"/>
                  <a:gd name="T1" fmla="*/ 0 h 2"/>
                  <a:gd name="T2" fmla="*/ 0 w 30"/>
                  <a:gd name="T3" fmla="*/ 1 h 2"/>
                  <a:gd name="T4" fmla="*/ 0 w 30"/>
                  <a:gd name="T5" fmla="*/ 1 h 2"/>
                  <a:gd name="T6" fmla="*/ 0 w 30"/>
                  <a:gd name="T7" fmla="*/ 0 h 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0"/>
                  <a:gd name="T13" fmla="*/ 0 h 2"/>
                  <a:gd name="T14" fmla="*/ 30 w 30"/>
                  <a:gd name="T15" fmla="*/ 2 h 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0" h="2">
                    <a:moveTo>
                      <a:pt x="30" y="0"/>
                    </a:moveTo>
                    <a:lnTo>
                      <a:pt x="0" y="2"/>
                    </a:lnTo>
                    <a:lnTo>
                      <a:pt x="3" y="2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5" name="Freeform 364">
                <a:extLst>
                  <a:ext uri="{FF2B5EF4-FFF2-40B4-BE49-F238E27FC236}">
                    <a16:creationId xmlns:a16="http://schemas.microsoft.com/office/drawing/2014/main" id="{027E7F6C-4B91-0743-8502-3339A349DA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6" y="3163"/>
                <a:ext cx="60" cy="61"/>
              </a:xfrm>
              <a:custGeom>
                <a:avLst/>
                <a:gdLst>
                  <a:gd name="T0" fmla="*/ 0 w 239"/>
                  <a:gd name="T1" fmla="*/ 0 h 244"/>
                  <a:gd name="T2" fmla="*/ 0 w 239"/>
                  <a:gd name="T3" fmla="*/ 0 h 244"/>
                  <a:gd name="T4" fmla="*/ 0 w 239"/>
                  <a:gd name="T5" fmla="*/ 0 h 244"/>
                  <a:gd name="T6" fmla="*/ 0 w 239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9"/>
                  <a:gd name="T13" fmla="*/ 0 h 244"/>
                  <a:gd name="T14" fmla="*/ 239 w 239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9" h="244">
                    <a:moveTo>
                      <a:pt x="239" y="238"/>
                    </a:moveTo>
                    <a:lnTo>
                      <a:pt x="0" y="0"/>
                    </a:lnTo>
                    <a:lnTo>
                      <a:pt x="182" y="244"/>
                    </a:lnTo>
                    <a:lnTo>
                      <a:pt x="239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6" name="Freeform 365">
                <a:extLst>
                  <a:ext uri="{FF2B5EF4-FFF2-40B4-BE49-F238E27FC236}">
                    <a16:creationId xmlns:a16="http://schemas.microsoft.com/office/drawing/2014/main" id="{2C61C8A4-057A-8349-9049-6CE4806450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1" y="3164"/>
                <a:ext cx="138" cy="20"/>
              </a:xfrm>
              <a:custGeom>
                <a:avLst/>
                <a:gdLst>
                  <a:gd name="T0" fmla="*/ 0 w 554"/>
                  <a:gd name="T1" fmla="*/ 0 h 79"/>
                  <a:gd name="T2" fmla="*/ 0 w 554"/>
                  <a:gd name="T3" fmla="*/ 0 h 79"/>
                  <a:gd name="T4" fmla="*/ 0 w 554"/>
                  <a:gd name="T5" fmla="*/ 0 h 79"/>
                  <a:gd name="T6" fmla="*/ 0 w 554"/>
                  <a:gd name="T7" fmla="*/ 0 h 79"/>
                  <a:gd name="T8" fmla="*/ 0 w 554"/>
                  <a:gd name="T9" fmla="*/ 0 h 7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54"/>
                  <a:gd name="T16" fmla="*/ 0 h 79"/>
                  <a:gd name="T17" fmla="*/ 554 w 554"/>
                  <a:gd name="T18" fmla="*/ 79 h 7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54" h="79">
                    <a:moveTo>
                      <a:pt x="14" y="79"/>
                    </a:moveTo>
                    <a:lnTo>
                      <a:pt x="554" y="0"/>
                    </a:lnTo>
                    <a:lnTo>
                      <a:pt x="551" y="0"/>
                    </a:lnTo>
                    <a:lnTo>
                      <a:pt x="0" y="58"/>
                    </a:lnTo>
                    <a:lnTo>
                      <a:pt x="14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7" name="Freeform 366">
                <a:extLst>
                  <a:ext uri="{FF2B5EF4-FFF2-40B4-BE49-F238E27FC236}">
                    <a16:creationId xmlns:a16="http://schemas.microsoft.com/office/drawing/2014/main" id="{2B890D9B-D739-B346-AD0B-E2774B9BE6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53" cy="62"/>
              </a:xfrm>
              <a:custGeom>
                <a:avLst/>
                <a:gdLst>
                  <a:gd name="T0" fmla="*/ 0 w 209"/>
                  <a:gd name="T1" fmla="*/ 0 h 247"/>
                  <a:gd name="T2" fmla="*/ 0 w 209"/>
                  <a:gd name="T3" fmla="*/ 0 h 247"/>
                  <a:gd name="T4" fmla="*/ 0 w 209"/>
                  <a:gd name="T5" fmla="*/ 0 h 247"/>
                  <a:gd name="T6" fmla="*/ 0 w 209"/>
                  <a:gd name="T7" fmla="*/ 0 h 247"/>
                  <a:gd name="T8" fmla="*/ 0 w 209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9"/>
                  <a:gd name="T16" fmla="*/ 0 h 247"/>
                  <a:gd name="T17" fmla="*/ 209 w 209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9" h="247">
                    <a:moveTo>
                      <a:pt x="181" y="247"/>
                    </a:moveTo>
                    <a:lnTo>
                      <a:pt x="209" y="244"/>
                    </a:lnTo>
                    <a:lnTo>
                      <a:pt x="27" y="0"/>
                    </a:lnTo>
                    <a:lnTo>
                      <a:pt x="0" y="2"/>
                    </a:lnTo>
                    <a:lnTo>
                      <a:pt x="181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8" name="Freeform 367">
                <a:extLst>
                  <a:ext uri="{FF2B5EF4-FFF2-40B4-BE49-F238E27FC236}">
                    <a16:creationId xmlns:a16="http://schemas.microsoft.com/office/drawing/2014/main" id="{24137994-17E9-D04E-BBD7-86104D928B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4" y="3164"/>
                <a:ext cx="181" cy="74"/>
              </a:xfrm>
              <a:custGeom>
                <a:avLst/>
                <a:gdLst>
                  <a:gd name="T0" fmla="*/ 0 w 721"/>
                  <a:gd name="T1" fmla="*/ 0 h 296"/>
                  <a:gd name="T2" fmla="*/ 0 w 721"/>
                  <a:gd name="T3" fmla="*/ 0 h 296"/>
                  <a:gd name="T4" fmla="*/ 0 w 721"/>
                  <a:gd name="T5" fmla="*/ 0 h 296"/>
                  <a:gd name="T6" fmla="*/ 0 w 721"/>
                  <a:gd name="T7" fmla="*/ 0 h 296"/>
                  <a:gd name="T8" fmla="*/ 0 w 72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296"/>
                  <a:gd name="T17" fmla="*/ 721 w 72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296">
                    <a:moveTo>
                      <a:pt x="721" y="245"/>
                    </a:moveTo>
                    <a:lnTo>
                      <a:pt x="540" y="0"/>
                    </a:lnTo>
                    <a:lnTo>
                      <a:pt x="0" y="79"/>
                    </a:lnTo>
                    <a:lnTo>
                      <a:pt x="165" y="296"/>
                    </a:lnTo>
                    <a:lnTo>
                      <a:pt x="72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79" name="Freeform 368">
                <a:extLst>
                  <a:ext uri="{FF2B5EF4-FFF2-40B4-BE49-F238E27FC236}">
                    <a16:creationId xmlns:a16="http://schemas.microsoft.com/office/drawing/2014/main" id="{DFA0B5AF-2C99-BE46-84B6-B07F1342F6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35" y="3341"/>
                <a:ext cx="246" cy="99"/>
              </a:xfrm>
              <a:custGeom>
                <a:avLst/>
                <a:gdLst>
                  <a:gd name="T0" fmla="*/ 0 w 986"/>
                  <a:gd name="T1" fmla="*/ 0 h 396"/>
                  <a:gd name="T2" fmla="*/ 0 w 986"/>
                  <a:gd name="T3" fmla="*/ 0 h 396"/>
                  <a:gd name="T4" fmla="*/ 0 w 986"/>
                  <a:gd name="T5" fmla="*/ 0 h 396"/>
                  <a:gd name="T6" fmla="*/ 0 w 986"/>
                  <a:gd name="T7" fmla="*/ 0 h 396"/>
                  <a:gd name="T8" fmla="*/ 0 w 986"/>
                  <a:gd name="T9" fmla="*/ 0 h 396"/>
                  <a:gd name="T10" fmla="*/ 0 w 986"/>
                  <a:gd name="T11" fmla="*/ 0 h 396"/>
                  <a:gd name="T12" fmla="*/ 0 w 986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6"/>
                  <a:gd name="T22" fmla="*/ 0 h 396"/>
                  <a:gd name="T23" fmla="*/ 986 w 986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6" h="396">
                    <a:moveTo>
                      <a:pt x="166" y="0"/>
                    </a:moveTo>
                    <a:lnTo>
                      <a:pt x="0" y="24"/>
                    </a:lnTo>
                    <a:lnTo>
                      <a:pt x="282" y="396"/>
                    </a:lnTo>
                    <a:lnTo>
                      <a:pt x="986" y="262"/>
                    </a:lnTo>
                    <a:lnTo>
                      <a:pt x="912" y="162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0" name="Freeform 369">
                <a:extLst>
                  <a:ext uri="{FF2B5EF4-FFF2-40B4-BE49-F238E27FC236}">
                    <a16:creationId xmlns:a16="http://schemas.microsoft.com/office/drawing/2014/main" id="{599BCFEB-ED65-0943-9241-C8C9BB9839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1" cy="1"/>
              </a:xfrm>
              <a:custGeom>
                <a:avLst/>
                <a:gdLst>
                  <a:gd name="T0" fmla="*/ 0 w 1"/>
                  <a:gd name="T1" fmla="*/ 0 h 3"/>
                  <a:gd name="T2" fmla="*/ 0 w 1"/>
                  <a:gd name="T3" fmla="*/ 0 h 3"/>
                  <a:gd name="T4" fmla="*/ 0 w 1"/>
                  <a:gd name="T5" fmla="*/ 0 h 3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3"/>
                  <a:gd name="T11" fmla="*/ 1 w 1"/>
                  <a:gd name="T12" fmla="*/ 3 h 3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3">
                    <a:moveTo>
                      <a:pt x="0" y="0"/>
                    </a:move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1" name="Freeform 370">
                <a:extLst>
                  <a:ext uri="{FF2B5EF4-FFF2-40B4-BE49-F238E27FC236}">
                    <a16:creationId xmlns:a16="http://schemas.microsoft.com/office/drawing/2014/main" id="{9713E1D5-0395-7342-B101-38F4021E00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59" cy="61"/>
              </a:xfrm>
              <a:custGeom>
                <a:avLst/>
                <a:gdLst>
                  <a:gd name="T0" fmla="*/ 0 w 240"/>
                  <a:gd name="T1" fmla="*/ 0 h 245"/>
                  <a:gd name="T2" fmla="*/ 0 w 240"/>
                  <a:gd name="T3" fmla="*/ 0 h 245"/>
                  <a:gd name="T4" fmla="*/ 0 w 240"/>
                  <a:gd name="T5" fmla="*/ 0 h 245"/>
                  <a:gd name="T6" fmla="*/ 0 w 240"/>
                  <a:gd name="T7" fmla="*/ 0 h 245"/>
                  <a:gd name="T8" fmla="*/ 0 w 240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0"/>
                  <a:gd name="T16" fmla="*/ 0 h 245"/>
                  <a:gd name="T17" fmla="*/ 240 w 240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0" h="245">
                    <a:moveTo>
                      <a:pt x="185" y="245"/>
                    </a:moveTo>
                    <a:lnTo>
                      <a:pt x="240" y="240"/>
                    </a:lnTo>
                    <a:lnTo>
                      <a:pt x="0" y="0"/>
                    </a:lnTo>
                    <a:lnTo>
                      <a:pt x="95" y="131"/>
                    </a:lnTo>
                    <a:lnTo>
                      <a:pt x="185" y="24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2" name="Freeform 371">
                <a:extLst>
                  <a:ext uri="{FF2B5EF4-FFF2-40B4-BE49-F238E27FC236}">
                    <a16:creationId xmlns:a16="http://schemas.microsoft.com/office/drawing/2014/main" id="{D9E88A26-3EC7-E546-837E-4A37213B22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3321"/>
                <a:ext cx="146" cy="20"/>
              </a:xfrm>
              <a:custGeom>
                <a:avLst/>
                <a:gdLst>
                  <a:gd name="T0" fmla="*/ 0 w 580"/>
                  <a:gd name="T1" fmla="*/ 0 h 80"/>
                  <a:gd name="T2" fmla="*/ 0 w 580"/>
                  <a:gd name="T3" fmla="*/ 0 h 80"/>
                  <a:gd name="T4" fmla="*/ 0 w 580"/>
                  <a:gd name="T5" fmla="*/ 0 h 80"/>
                  <a:gd name="T6" fmla="*/ 0 w 580"/>
                  <a:gd name="T7" fmla="*/ 0 h 8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0"/>
                  <a:gd name="T14" fmla="*/ 580 w 580"/>
                  <a:gd name="T15" fmla="*/ 80 h 8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0">
                    <a:moveTo>
                      <a:pt x="16" y="80"/>
                    </a:moveTo>
                    <a:lnTo>
                      <a:pt x="580" y="0"/>
                    </a:lnTo>
                    <a:lnTo>
                      <a:pt x="0" y="57"/>
                    </a:lnTo>
                    <a:lnTo>
                      <a:pt x="16" y="8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3" name="Freeform 372">
                <a:extLst>
                  <a:ext uri="{FF2B5EF4-FFF2-40B4-BE49-F238E27FC236}">
                    <a16:creationId xmlns:a16="http://schemas.microsoft.com/office/drawing/2014/main" id="{3815A8B3-8CAB-B847-8FCA-DFEA02AC15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41" y="3353"/>
                <a:ext cx="23" cy="28"/>
              </a:xfrm>
              <a:custGeom>
                <a:avLst/>
                <a:gdLst>
                  <a:gd name="T0" fmla="*/ 0 w 90"/>
                  <a:gd name="T1" fmla="*/ 0 h 114"/>
                  <a:gd name="T2" fmla="*/ 0 w 90"/>
                  <a:gd name="T3" fmla="*/ 0 h 114"/>
                  <a:gd name="T4" fmla="*/ 0 w 90"/>
                  <a:gd name="T5" fmla="*/ 0 h 114"/>
                  <a:gd name="T6" fmla="*/ 0 w 90"/>
                  <a:gd name="T7" fmla="*/ 0 h 11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0"/>
                  <a:gd name="T13" fmla="*/ 0 h 114"/>
                  <a:gd name="T14" fmla="*/ 90 w 90"/>
                  <a:gd name="T15" fmla="*/ 114 h 11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0" h="114">
                    <a:moveTo>
                      <a:pt x="87" y="114"/>
                    </a:moveTo>
                    <a:lnTo>
                      <a:pt x="90" y="114"/>
                    </a:lnTo>
                    <a:lnTo>
                      <a:pt x="0" y="0"/>
                    </a:lnTo>
                    <a:lnTo>
                      <a:pt x="87" y="114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4" name="Freeform 373">
                <a:extLst>
                  <a:ext uri="{FF2B5EF4-FFF2-40B4-BE49-F238E27FC236}">
                    <a16:creationId xmlns:a16="http://schemas.microsoft.com/office/drawing/2014/main" id="{6ACC384E-74FE-204F-AC73-9870ACCD24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23" cy="33"/>
              </a:xfrm>
              <a:custGeom>
                <a:avLst/>
                <a:gdLst>
                  <a:gd name="T0" fmla="*/ 0 w 95"/>
                  <a:gd name="T1" fmla="*/ 0 h 131"/>
                  <a:gd name="T2" fmla="*/ 0 w 95"/>
                  <a:gd name="T3" fmla="*/ 0 h 131"/>
                  <a:gd name="T4" fmla="*/ 0 w 95"/>
                  <a:gd name="T5" fmla="*/ 0 h 131"/>
                  <a:gd name="T6" fmla="*/ 0 w 95"/>
                  <a:gd name="T7" fmla="*/ 0 h 13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5"/>
                  <a:gd name="T13" fmla="*/ 0 h 131"/>
                  <a:gd name="T14" fmla="*/ 95 w 95"/>
                  <a:gd name="T15" fmla="*/ 131 h 13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5" h="131">
                    <a:moveTo>
                      <a:pt x="95" y="131"/>
                    </a:moveTo>
                    <a:lnTo>
                      <a:pt x="0" y="0"/>
                    </a:lnTo>
                    <a:lnTo>
                      <a:pt x="0" y="3"/>
                    </a:lnTo>
                    <a:lnTo>
                      <a:pt x="95" y="131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5" name="Freeform 374">
                <a:extLst>
                  <a:ext uri="{FF2B5EF4-FFF2-40B4-BE49-F238E27FC236}">
                    <a16:creationId xmlns:a16="http://schemas.microsoft.com/office/drawing/2014/main" id="{256B5E80-37A4-264C-8821-D9AC10DDC3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6" y="3321"/>
                <a:ext cx="187" cy="74"/>
              </a:xfrm>
              <a:custGeom>
                <a:avLst/>
                <a:gdLst>
                  <a:gd name="T0" fmla="*/ 0 w 746"/>
                  <a:gd name="T1" fmla="*/ 0 h 297"/>
                  <a:gd name="T2" fmla="*/ 0 w 746"/>
                  <a:gd name="T3" fmla="*/ 0 h 297"/>
                  <a:gd name="T4" fmla="*/ 0 w 746"/>
                  <a:gd name="T5" fmla="*/ 0 h 297"/>
                  <a:gd name="T6" fmla="*/ 0 w 746"/>
                  <a:gd name="T7" fmla="*/ 0 h 297"/>
                  <a:gd name="T8" fmla="*/ 0 w 746"/>
                  <a:gd name="T9" fmla="*/ 0 h 297"/>
                  <a:gd name="T10" fmla="*/ 0 w 746"/>
                  <a:gd name="T11" fmla="*/ 0 h 2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46"/>
                  <a:gd name="T19" fmla="*/ 0 h 297"/>
                  <a:gd name="T20" fmla="*/ 746 w 746"/>
                  <a:gd name="T21" fmla="*/ 297 h 2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46" h="297">
                    <a:moveTo>
                      <a:pt x="564" y="0"/>
                    </a:moveTo>
                    <a:lnTo>
                      <a:pt x="0" y="80"/>
                    </a:lnTo>
                    <a:lnTo>
                      <a:pt x="162" y="297"/>
                    </a:lnTo>
                    <a:lnTo>
                      <a:pt x="746" y="242"/>
                    </a:lnTo>
                    <a:lnTo>
                      <a:pt x="659" y="128"/>
                    </a:lnTo>
                    <a:lnTo>
                      <a:pt x="564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6" name="Freeform 375">
                <a:extLst>
                  <a:ext uri="{FF2B5EF4-FFF2-40B4-BE49-F238E27FC236}">
                    <a16:creationId xmlns:a16="http://schemas.microsoft.com/office/drawing/2014/main" id="{894E6567-D8BF-C94B-961A-E0111138A5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7" y="3501"/>
                <a:ext cx="246" cy="99"/>
              </a:xfrm>
              <a:custGeom>
                <a:avLst/>
                <a:gdLst>
                  <a:gd name="T0" fmla="*/ 0 w 983"/>
                  <a:gd name="T1" fmla="*/ 0 h 396"/>
                  <a:gd name="T2" fmla="*/ 0 w 983"/>
                  <a:gd name="T3" fmla="*/ 0 h 396"/>
                  <a:gd name="T4" fmla="*/ 0 w 983"/>
                  <a:gd name="T5" fmla="*/ 0 h 396"/>
                  <a:gd name="T6" fmla="*/ 0 w 983"/>
                  <a:gd name="T7" fmla="*/ 0 h 396"/>
                  <a:gd name="T8" fmla="*/ 0 w 983"/>
                  <a:gd name="T9" fmla="*/ 0 h 396"/>
                  <a:gd name="T10" fmla="*/ 0 w 983"/>
                  <a:gd name="T11" fmla="*/ 0 h 396"/>
                  <a:gd name="T12" fmla="*/ 0 w 983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3"/>
                  <a:gd name="T22" fmla="*/ 0 h 396"/>
                  <a:gd name="T23" fmla="*/ 983 w 983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3" h="396">
                    <a:moveTo>
                      <a:pt x="166" y="0"/>
                    </a:moveTo>
                    <a:lnTo>
                      <a:pt x="0" y="21"/>
                    </a:lnTo>
                    <a:lnTo>
                      <a:pt x="282" y="396"/>
                    </a:lnTo>
                    <a:lnTo>
                      <a:pt x="983" y="261"/>
                    </a:lnTo>
                    <a:lnTo>
                      <a:pt x="910" y="163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7" name="Freeform 376">
                <a:extLst>
                  <a:ext uri="{FF2B5EF4-FFF2-40B4-BE49-F238E27FC236}">
                    <a16:creationId xmlns:a16="http://schemas.microsoft.com/office/drawing/2014/main" id="{07EFD406-6687-8F4F-B09F-696DB97423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6" y="3516"/>
                <a:ext cx="23" cy="25"/>
              </a:xfrm>
              <a:custGeom>
                <a:avLst/>
                <a:gdLst>
                  <a:gd name="T0" fmla="*/ 0 w 91"/>
                  <a:gd name="T1" fmla="*/ 0 h 97"/>
                  <a:gd name="T2" fmla="*/ 0 w 91"/>
                  <a:gd name="T3" fmla="*/ 0 h 97"/>
                  <a:gd name="T4" fmla="*/ 0 w 91"/>
                  <a:gd name="T5" fmla="*/ 0 h 97"/>
                  <a:gd name="T6" fmla="*/ 0 w 91"/>
                  <a:gd name="T7" fmla="*/ 0 h 9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1"/>
                  <a:gd name="T13" fmla="*/ 0 h 97"/>
                  <a:gd name="T14" fmla="*/ 91 w 91"/>
                  <a:gd name="T15" fmla="*/ 97 h 9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1" h="97">
                    <a:moveTo>
                      <a:pt x="91" y="94"/>
                    </a:moveTo>
                    <a:lnTo>
                      <a:pt x="0" y="0"/>
                    </a:lnTo>
                    <a:lnTo>
                      <a:pt x="70" y="97"/>
                    </a:lnTo>
                    <a:lnTo>
                      <a:pt x="91" y="94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8" name="Freeform 377">
                <a:extLst>
                  <a:ext uri="{FF2B5EF4-FFF2-40B4-BE49-F238E27FC236}">
                    <a16:creationId xmlns:a16="http://schemas.microsoft.com/office/drawing/2014/main" id="{744BFE73-86B7-5443-93B6-56AA71E15B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3481"/>
                <a:ext cx="145" cy="20"/>
              </a:xfrm>
              <a:custGeom>
                <a:avLst/>
                <a:gdLst>
                  <a:gd name="T0" fmla="*/ 0 w 578"/>
                  <a:gd name="T1" fmla="*/ 0 h 79"/>
                  <a:gd name="T2" fmla="*/ 0 w 578"/>
                  <a:gd name="T3" fmla="*/ 0 h 79"/>
                  <a:gd name="T4" fmla="*/ 0 w 578"/>
                  <a:gd name="T5" fmla="*/ 0 h 79"/>
                  <a:gd name="T6" fmla="*/ 0 w 578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8"/>
                  <a:gd name="T13" fmla="*/ 0 h 79"/>
                  <a:gd name="T14" fmla="*/ 578 w 578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8" h="79">
                    <a:moveTo>
                      <a:pt x="0" y="57"/>
                    </a:moveTo>
                    <a:lnTo>
                      <a:pt x="16" y="79"/>
                    </a:lnTo>
                    <a:lnTo>
                      <a:pt x="578" y="0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89" name="Freeform 378">
                <a:extLst>
                  <a:ext uri="{FF2B5EF4-FFF2-40B4-BE49-F238E27FC236}">
                    <a16:creationId xmlns:a16="http://schemas.microsoft.com/office/drawing/2014/main" id="{324A9848-EBEE-A04D-A5EB-4D997E1D0D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29" y="3481"/>
                <a:ext cx="54" cy="61"/>
              </a:xfrm>
              <a:custGeom>
                <a:avLst/>
                <a:gdLst>
                  <a:gd name="T0" fmla="*/ 0 w 217"/>
                  <a:gd name="T1" fmla="*/ 0 h 242"/>
                  <a:gd name="T2" fmla="*/ 0 w 217"/>
                  <a:gd name="T3" fmla="*/ 0 h 242"/>
                  <a:gd name="T4" fmla="*/ 0 w 217"/>
                  <a:gd name="T5" fmla="*/ 0 h 242"/>
                  <a:gd name="T6" fmla="*/ 0 w 217"/>
                  <a:gd name="T7" fmla="*/ 0 h 242"/>
                  <a:gd name="T8" fmla="*/ 0 w 217"/>
                  <a:gd name="T9" fmla="*/ 0 h 2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7"/>
                  <a:gd name="T16" fmla="*/ 0 h 242"/>
                  <a:gd name="T17" fmla="*/ 217 w 217"/>
                  <a:gd name="T18" fmla="*/ 242 h 2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7" h="242">
                    <a:moveTo>
                      <a:pt x="182" y="242"/>
                    </a:moveTo>
                    <a:lnTo>
                      <a:pt x="217" y="239"/>
                    </a:lnTo>
                    <a:lnTo>
                      <a:pt x="147" y="142"/>
                    </a:lnTo>
                    <a:lnTo>
                      <a:pt x="0" y="0"/>
                    </a:lnTo>
                    <a:lnTo>
                      <a:pt x="182" y="242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0" name="Freeform 379">
                <a:extLst>
                  <a:ext uri="{FF2B5EF4-FFF2-40B4-BE49-F238E27FC236}">
                    <a16:creationId xmlns:a16="http://schemas.microsoft.com/office/drawing/2014/main" id="{6F8DAE5A-9403-DC4B-939B-E55F4E963F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8" y="3481"/>
                <a:ext cx="186" cy="74"/>
              </a:xfrm>
              <a:custGeom>
                <a:avLst/>
                <a:gdLst>
                  <a:gd name="T0" fmla="*/ 0 w 744"/>
                  <a:gd name="T1" fmla="*/ 0 h 296"/>
                  <a:gd name="T2" fmla="*/ 0 w 744"/>
                  <a:gd name="T3" fmla="*/ 0 h 296"/>
                  <a:gd name="T4" fmla="*/ 0 w 744"/>
                  <a:gd name="T5" fmla="*/ 0 h 296"/>
                  <a:gd name="T6" fmla="*/ 0 w 744"/>
                  <a:gd name="T7" fmla="*/ 0 h 296"/>
                  <a:gd name="T8" fmla="*/ 0 w 744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4"/>
                  <a:gd name="T16" fmla="*/ 0 h 296"/>
                  <a:gd name="T17" fmla="*/ 744 w 744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4" h="296">
                    <a:moveTo>
                      <a:pt x="0" y="79"/>
                    </a:moveTo>
                    <a:lnTo>
                      <a:pt x="162" y="296"/>
                    </a:lnTo>
                    <a:lnTo>
                      <a:pt x="744" y="242"/>
                    </a:lnTo>
                    <a:lnTo>
                      <a:pt x="562" y="0"/>
                    </a:lnTo>
                    <a:lnTo>
                      <a:pt x="0" y="79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1" name="Freeform 380">
                <a:extLst>
                  <a:ext uri="{FF2B5EF4-FFF2-40B4-BE49-F238E27FC236}">
                    <a16:creationId xmlns:a16="http://schemas.microsoft.com/office/drawing/2014/main" id="{BEE672E0-BA78-B949-8CDB-101B041E69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4" y="3661"/>
                <a:ext cx="246" cy="99"/>
              </a:xfrm>
              <a:custGeom>
                <a:avLst/>
                <a:gdLst>
                  <a:gd name="T0" fmla="*/ 0 w 982"/>
                  <a:gd name="T1" fmla="*/ 0 h 396"/>
                  <a:gd name="T2" fmla="*/ 0 w 982"/>
                  <a:gd name="T3" fmla="*/ 0 h 396"/>
                  <a:gd name="T4" fmla="*/ 0 w 982"/>
                  <a:gd name="T5" fmla="*/ 0 h 396"/>
                  <a:gd name="T6" fmla="*/ 0 w 982"/>
                  <a:gd name="T7" fmla="*/ 0 h 396"/>
                  <a:gd name="T8" fmla="*/ 0 w 982"/>
                  <a:gd name="T9" fmla="*/ 0 h 396"/>
                  <a:gd name="T10" fmla="*/ 0 w 982"/>
                  <a:gd name="T11" fmla="*/ 0 h 396"/>
                  <a:gd name="T12" fmla="*/ 0 w 982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2"/>
                  <a:gd name="T22" fmla="*/ 0 h 396"/>
                  <a:gd name="T23" fmla="*/ 982 w 982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2" h="396">
                    <a:moveTo>
                      <a:pt x="162" y="0"/>
                    </a:moveTo>
                    <a:lnTo>
                      <a:pt x="0" y="24"/>
                    </a:lnTo>
                    <a:lnTo>
                      <a:pt x="280" y="396"/>
                    </a:lnTo>
                    <a:lnTo>
                      <a:pt x="982" y="263"/>
                    </a:lnTo>
                    <a:lnTo>
                      <a:pt x="910" y="163"/>
                    </a:lnTo>
                    <a:lnTo>
                      <a:pt x="326" y="217"/>
                    </a:lnTo>
                    <a:lnTo>
                      <a:pt x="162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2" name="Freeform 381">
                <a:extLst>
                  <a:ext uri="{FF2B5EF4-FFF2-40B4-BE49-F238E27FC236}">
                    <a16:creationId xmlns:a16="http://schemas.microsoft.com/office/drawing/2014/main" id="{13500D4A-2E18-4540-B88B-7671A50F75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9" y="3654"/>
                <a:ext cx="47" cy="48"/>
              </a:xfrm>
              <a:custGeom>
                <a:avLst/>
                <a:gdLst>
                  <a:gd name="T0" fmla="*/ 0 w 185"/>
                  <a:gd name="T1" fmla="*/ 0 h 191"/>
                  <a:gd name="T2" fmla="*/ 0 w 185"/>
                  <a:gd name="T3" fmla="*/ 0 h 191"/>
                  <a:gd name="T4" fmla="*/ 0 w 185"/>
                  <a:gd name="T5" fmla="*/ 0 h 191"/>
                  <a:gd name="T6" fmla="*/ 0 w 185"/>
                  <a:gd name="T7" fmla="*/ 0 h 19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85"/>
                  <a:gd name="T13" fmla="*/ 0 h 191"/>
                  <a:gd name="T14" fmla="*/ 185 w 185"/>
                  <a:gd name="T15" fmla="*/ 191 h 19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85" h="191">
                    <a:moveTo>
                      <a:pt x="185" y="185"/>
                    </a:moveTo>
                    <a:lnTo>
                      <a:pt x="0" y="0"/>
                    </a:lnTo>
                    <a:lnTo>
                      <a:pt x="145" y="191"/>
                    </a:lnTo>
                    <a:lnTo>
                      <a:pt x="185" y="18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3" name="Freeform 382">
                <a:extLst>
                  <a:ext uri="{FF2B5EF4-FFF2-40B4-BE49-F238E27FC236}">
                    <a16:creationId xmlns:a16="http://schemas.microsoft.com/office/drawing/2014/main" id="{AA7ECC3B-5464-7E41-B87B-1EC9BDD712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1" y="3640"/>
                <a:ext cx="145" cy="21"/>
              </a:xfrm>
              <a:custGeom>
                <a:avLst/>
                <a:gdLst>
                  <a:gd name="T0" fmla="*/ 0 w 582"/>
                  <a:gd name="T1" fmla="*/ 0 h 82"/>
                  <a:gd name="T2" fmla="*/ 0 w 582"/>
                  <a:gd name="T3" fmla="*/ 0 h 82"/>
                  <a:gd name="T4" fmla="*/ 0 w 582"/>
                  <a:gd name="T5" fmla="*/ 0 h 82"/>
                  <a:gd name="T6" fmla="*/ 0 w 582"/>
                  <a:gd name="T7" fmla="*/ 0 h 8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2"/>
                  <a:gd name="T13" fmla="*/ 0 h 82"/>
                  <a:gd name="T14" fmla="*/ 582 w 582"/>
                  <a:gd name="T15" fmla="*/ 82 h 8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2" h="82">
                    <a:moveTo>
                      <a:pt x="0" y="60"/>
                    </a:moveTo>
                    <a:lnTo>
                      <a:pt x="16" y="82"/>
                    </a:lnTo>
                    <a:lnTo>
                      <a:pt x="582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4" name="Freeform 383">
                <a:extLst>
                  <a:ext uri="{FF2B5EF4-FFF2-40B4-BE49-F238E27FC236}">
                    <a16:creationId xmlns:a16="http://schemas.microsoft.com/office/drawing/2014/main" id="{C7294CC9-3BA4-3041-A137-7C9D6D642A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56" y="3640"/>
                <a:ext cx="49" cy="62"/>
              </a:xfrm>
              <a:custGeom>
                <a:avLst/>
                <a:gdLst>
                  <a:gd name="T0" fmla="*/ 0 w 198"/>
                  <a:gd name="T1" fmla="*/ 0 h 245"/>
                  <a:gd name="T2" fmla="*/ 0 w 198"/>
                  <a:gd name="T3" fmla="*/ 0 h 245"/>
                  <a:gd name="T4" fmla="*/ 0 w 198"/>
                  <a:gd name="T5" fmla="*/ 0 h 245"/>
                  <a:gd name="T6" fmla="*/ 0 w 198"/>
                  <a:gd name="T7" fmla="*/ 0 h 245"/>
                  <a:gd name="T8" fmla="*/ 0 w 198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8"/>
                  <a:gd name="T16" fmla="*/ 0 h 245"/>
                  <a:gd name="T17" fmla="*/ 198 w 198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8" h="245">
                    <a:moveTo>
                      <a:pt x="182" y="245"/>
                    </a:moveTo>
                    <a:lnTo>
                      <a:pt x="198" y="245"/>
                    </a:lnTo>
                    <a:lnTo>
                      <a:pt x="53" y="54"/>
                    </a:lnTo>
                    <a:lnTo>
                      <a:pt x="0" y="0"/>
                    </a:lnTo>
                    <a:lnTo>
                      <a:pt x="182" y="245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5" name="Freeform 384">
                <a:extLst>
                  <a:ext uri="{FF2B5EF4-FFF2-40B4-BE49-F238E27FC236}">
                    <a16:creationId xmlns:a16="http://schemas.microsoft.com/office/drawing/2014/main" id="{A4266B88-35F3-5D49-8F24-38ADC9832E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5" y="3640"/>
                <a:ext cx="186" cy="75"/>
              </a:xfrm>
              <a:custGeom>
                <a:avLst/>
                <a:gdLst>
                  <a:gd name="T0" fmla="*/ 0 w 748"/>
                  <a:gd name="T1" fmla="*/ 0 h 299"/>
                  <a:gd name="T2" fmla="*/ 0 w 748"/>
                  <a:gd name="T3" fmla="*/ 0 h 299"/>
                  <a:gd name="T4" fmla="*/ 0 w 748"/>
                  <a:gd name="T5" fmla="*/ 0 h 299"/>
                  <a:gd name="T6" fmla="*/ 0 w 748"/>
                  <a:gd name="T7" fmla="*/ 0 h 299"/>
                  <a:gd name="T8" fmla="*/ 0 w 748"/>
                  <a:gd name="T9" fmla="*/ 0 h 2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8"/>
                  <a:gd name="T16" fmla="*/ 0 h 299"/>
                  <a:gd name="T17" fmla="*/ 748 w 748"/>
                  <a:gd name="T18" fmla="*/ 299 h 2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8" h="299">
                    <a:moveTo>
                      <a:pt x="0" y="82"/>
                    </a:moveTo>
                    <a:lnTo>
                      <a:pt x="164" y="299"/>
                    </a:lnTo>
                    <a:lnTo>
                      <a:pt x="748" y="245"/>
                    </a:lnTo>
                    <a:lnTo>
                      <a:pt x="566" y="0"/>
                    </a:ln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6" name="Freeform 385">
                <a:extLst>
                  <a:ext uri="{FF2B5EF4-FFF2-40B4-BE49-F238E27FC236}">
                    <a16:creationId xmlns:a16="http://schemas.microsoft.com/office/drawing/2014/main" id="{BD4CCEB0-205D-E141-90B5-3CE5B9ADA1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53" y="3896"/>
                <a:ext cx="20" cy="25"/>
              </a:xfrm>
              <a:custGeom>
                <a:avLst/>
                <a:gdLst>
                  <a:gd name="T0" fmla="*/ 0 w 79"/>
                  <a:gd name="T1" fmla="*/ 0 h 100"/>
                  <a:gd name="T2" fmla="*/ 0 w 79"/>
                  <a:gd name="T3" fmla="*/ 0 h 100"/>
                  <a:gd name="T4" fmla="*/ 0 w 79"/>
                  <a:gd name="T5" fmla="*/ 0 h 100"/>
                  <a:gd name="T6" fmla="*/ 0 w 79"/>
                  <a:gd name="T7" fmla="*/ 0 h 100"/>
                  <a:gd name="T8" fmla="*/ 0 w 79"/>
                  <a:gd name="T9" fmla="*/ 0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100"/>
                  <a:gd name="T17" fmla="*/ 79 w 7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100">
                    <a:moveTo>
                      <a:pt x="74" y="100"/>
                    </a:moveTo>
                    <a:lnTo>
                      <a:pt x="79" y="100"/>
                    </a:lnTo>
                    <a:lnTo>
                      <a:pt x="5" y="0"/>
                    </a:lnTo>
                    <a:lnTo>
                      <a:pt x="0" y="3"/>
                    </a:lnTo>
                    <a:lnTo>
                      <a:pt x="74" y="10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7" name="Freeform 386">
                <a:extLst>
                  <a:ext uri="{FF2B5EF4-FFF2-40B4-BE49-F238E27FC236}">
                    <a16:creationId xmlns:a16="http://schemas.microsoft.com/office/drawing/2014/main" id="{707A902F-1F30-BC47-8D43-E224C41539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26" y="3855"/>
                <a:ext cx="245" cy="99"/>
              </a:xfrm>
              <a:custGeom>
                <a:avLst/>
                <a:gdLst>
                  <a:gd name="T0" fmla="*/ 0 w 981"/>
                  <a:gd name="T1" fmla="*/ 0 h 397"/>
                  <a:gd name="T2" fmla="*/ 0 w 981"/>
                  <a:gd name="T3" fmla="*/ 0 h 397"/>
                  <a:gd name="T4" fmla="*/ 0 w 981"/>
                  <a:gd name="T5" fmla="*/ 0 h 397"/>
                  <a:gd name="T6" fmla="*/ 0 w 981"/>
                  <a:gd name="T7" fmla="*/ 0 h 397"/>
                  <a:gd name="T8" fmla="*/ 0 w 981"/>
                  <a:gd name="T9" fmla="*/ 0 h 397"/>
                  <a:gd name="T10" fmla="*/ 0 w 981"/>
                  <a:gd name="T11" fmla="*/ 0 h 397"/>
                  <a:gd name="T12" fmla="*/ 0 w 98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1"/>
                  <a:gd name="T22" fmla="*/ 0 h 397"/>
                  <a:gd name="T23" fmla="*/ 981 w 98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1" h="397">
                    <a:moveTo>
                      <a:pt x="328" y="217"/>
                    </a:moveTo>
                    <a:lnTo>
                      <a:pt x="166" y="0"/>
                    </a:lnTo>
                    <a:lnTo>
                      <a:pt x="0" y="25"/>
                    </a:lnTo>
                    <a:lnTo>
                      <a:pt x="286" y="397"/>
                    </a:lnTo>
                    <a:lnTo>
                      <a:pt x="981" y="263"/>
                    </a:lnTo>
                    <a:lnTo>
                      <a:pt x="907" y="166"/>
                    </a:lnTo>
                    <a:lnTo>
                      <a:pt x="328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8" name="Freeform 387">
                <a:extLst>
                  <a:ext uri="{FF2B5EF4-FFF2-40B4-BE49-F238E27FC236}">
                    <a16:creationId xmlns:a16="http://schemas.microsoft.com/office/drawing/2014/main" id="{5B9741F2-A778-9748-8002-C23C7C05EB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9" y="3835"/>
                <a:ext cx="60" cy="61"/>
              </a:xfrm>
              <a:custGeom>
                <a:avLst/>
                <a:gdLst>
                  <a:gd name="T0" fmla="*/ 0 w 238"/>
                  <a:gd name="T1" fmla="*/ 0 h 244"/>
                  <a:gd name="T2" fmla="*/ 0 w 238"/>
                  <a:gd name="T3" fmla="*/ 0 h 244"/>
                  <a:gd name="T4" fmla="*/ 0 w 238"/>
                  <a:gd name="T5" fmla="*/ 0 h 244"/>
                  <a:gd name="T6" fmla="*/ 0 w 238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8"/>
                  <a:gd name="T13" fmla="*/ 0 h 244"/>
                  <a:gd name="T14" fmla="*/ 238 w 238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8" h="244">
                    <a:moveTo>
                      <a:pt x="238" y="238"/>
                    </a:moveTo>
                    <a:lnTo>
                      <a:pt x="0" y="0"/>
                    </a:lnTo>
                    <a:lnTo>
                      <a:pt x="178" y="244"/>
                    </a:lnTo>
                    <a:lnTo>
                      <a:pt x="238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99" name="Freeform 388">
                <a:extLst>
                  <a:ext uri="{FF2B5EF4-FFF2-40B4-BE49-F238E27FC236}">
                    <a16:creationId xmlns:a16="http://schemas.microsoft.com/office/drawing/2014/main" id="{CC4AE835-1A00-CE4D-AA62-095E7181FF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3" cy="1"/>
              </a:xfrm>
              <a:custGeom>
                <a:avLst/>
                <a:gdLst>
                  <a:gd name="T0" fmla="*/ 0 w 12"/>
                  <a:gd name="T1" fmla="*/ 0 h 2"/>
                  <a:gd name="T2" fmla="*/ 0 w 12"/>
                  <a:gd name="T3" fmla="*/ 1 h 2"/>
                  <a:gd name="T4" fmla="*/ 0 w 12"/>
                  <a:gd name="T5" fmla="*/ 0 h 2"/>
                  <a:gd name="T6" fmla="*/ 0 60000 65536"/>
                  <a:gd name="T7" fmla="*/ 0 60000 65536"/>
                  <a:gd name="T8" fmla="*/ 0 60000 65536"/>
                  <a:gd name="T9" fmla="*/ 0 w 12"/>
                  <a:gd name="T10" fmla="*/ 0 h 2"/>
                  <a:gd name="T11" fmla="*/ 12 w 12"/>
                  <a:gd name="T12" fmla="*/ 2 h 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" h="2">
                    <a:moveTo>
                      <a:pt x="12" y="0"/>
                    </a:moveTo>
                    <a:lnTo>
                      <a:pt x="0" y="2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0" name="Freeform 389">
                <a:extLst>
                  <a:ext uri="{FF2B5EF4-FFF2-40B4-BE49-F238E27FC236}">
                    <a16:creationId xmlns:a16="http://schemas.microsoft.com/office/drawing/2014/main" id="{A42AC5A1-EE5F-3C40-9886-128F533E1D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3" y="3835"/>
                <a:ext cx="143" cy="20"/>
              </a:xfrm>
              <a:custGeom>
                <a:avLst/>
                <a:gdLst>
                  <a:gd name="T0" fmla="*/ 0 w 572"/>
                  <a:gd name="T1" fmla="*/ 0 h 79"/>
                  <a:gd name="T2" fmla="*/ 0 w 572"/>
                  <a:gd name="T3" fmla="*/ 0 h 79"/>
                  <a:gd name="T4" fmla="*/ 0 w 572"/>
                  <a:gd name="T5" fmla="*/ 0 h 79"/>
                  <a:gd name="T6" fmla="*/ 0 w 572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2"/>
                  <a:gd name="T13" fmla="*/ 0 h 79"/>
                  <a:gd name="T14" fmla="*/ 572 w 572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2" h="79">
                    <a:moveTo>
                      <a:pt x="16" y="79"/>
                    </a:moveTo>
                    <a:lnTo>
                      <a:pt x="572" y="0"/>
                    </a:lnTo>
                    <a:lnTo>
                      <a:pt x="0" y="58"/>
                    </a:lnTo>
                    <a:lnTo>
                      <a:pt x="16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1" name="Freeform 390">
                <a:extLst>
                  <a:ext uri="{FF2B5EF4-FFF2-40B4-BE49-F238E27FC236}">
                    <a16:creationId xmlns:a16="http://schemas.microsoft.com/office/drawing/2014/main" id="{A7A59FF2-B303-3941-A743-D64E242456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48" cy="61"/>
              </a:xfrm>
              <a:custGeom>
                <a:avLst/>
                <a:gdLst>
                  <a:gd name="T0" fmla="*/ 0 w 190"/>
                  <a:gd name="T1" fmla="*/ 0 h 247"/>
                  <a:gd name="T2" fmla="*/ 0 w 190"/>
                  <a:gd name="T3" fmla="*/ 0 h 247"/>
                  <a:gd name="T4" fmla="*/ 0 w 190"/>
                  <a:gd name="T5" fmla="*/ 0 h 247"/>
                  <a:gd name="T6" fmla="*/ 0 w 190"/>
                  <a:gd name="T7" fmla="*/ 0 h 247"/>
                  <a:gd name="T8" fmla="*/ 0 w 190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0"/>
                  <a:gd name="T16" fmla="*/ 0 h 247"/>
                  <a:gd name="T17" fmla="*/ 190 w 190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0" h="247">
                    <a:moveTo>
                      <a:pt x="185" y="247"/>
                    </a:moveTo>
                    <a:lnTo>
                      <a:pt x="190" y="244"/>
                    </a:lnTo>
                    <a:lnTo>
                      <a:pt x="12" y="0"/>
                    </a:lnTo>
                    <a:lnTo>
                      <a:pt x="0" y="2"/>
                    </a:lnTo>
                    <a:lnTo>
                      <a:pt x="185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2" name="Freeform 391">
                <a:extLst>
                  <a:ext uri="{FF2B5EF4-FFF2-40B4-BE49-F238E27FC236}">
                    <a16:creationId xmlns:a16="http://schemas.microsoft.com/office/drawing/2014/main" id="{9FE42A14-6A5A-854E-9492-5CF621B868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7" y="3835"/>
                <a:ext cx="186" cy="74"/>
              </a:xfrm>
              <a:custGeom>
                <a:avLst/>
                <a:gdLst>
                  <a:gd name="T0" fmla="*/ 0 w 741"/>
                  <a:gd name="T1" fmla="*/ 0 h 296"/>
                  <a:gd name="T2" fmla="*/ 0 w 741"/>
                  <a:gd name="T3" fmla="*/ 0 h 296"/>
                  <a:gd name="T4" fmla="*/ 0 w 741"/>
                  <a:gd name="T5" fmla="*/ 0 h 296"/>
                  <a:gd name="T6" fmla="*/ 0 w 741"/>
                  <a:gd name="T7" fmla="*/ 0 h 296"/>
                  <a:gd name="T8" fmla="*/ 0 w 74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1"/>
                  <a:gd name="T16" fmla="*/ 0 h 296"/>
                  <a:gd name="T17" fmla="*/ 741 w 74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1" h="296">
                    <a:moveTo>
                      <a:pt x="741" y="245"/>
                    </a:moveTo>
                    <a:lnTo>
                      <a:pt x="556" y="0"/>
                    </a:lnTo>
                    <a:lnTo>
                      <a:pt x="0" y="79"/>
                    </a:lnTo>
                    <a:lnTo>
                      <a:pt x="162" y="296"/>
                    </a:lnTo>
                    <a:lnTo>
                      <a:pt x="74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3" name="Freeform 392">
                <a:extLst>
                  <a:ext uri="{FF2B5EF4-FFF2-40B4-BE49-F238E27FC236}">
                    <a16:creationId xmlns:a16="http://schemas.microsoft.com/office/drawing/2014/main" id="{6AD1494D-F4F4-6F45-8C68-A7C0730F1C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6" y="3085"/>
                <a:ext cx="247" cy="383"/>
              </a:xfrm>
              <a:custGeom>
                <a:avLst/>
                <a:gdLst>
                  <a:gd name="T0" fmla="*/ 0 w 986"/>
                  <a:gd name="T1" fmla="*/ 0 h 1530"/>
                  <a:gd name="T2" fmla="*/ 0 w 986"/>
                  <a:gd name="T3" fmla="*/ 0 h 1530"/>
                  <a:gd name="T4" fmla="*/ 0 w 986"/>
                  <a:gd name="T5" fmla="*/ 0 h 1530"/>
                  <a:gd name="T6" fmla="*/ 0 w 986"/>
                  <a:gd name="T7" fmla="*/ 0 h 1530"/>
                  <a:gd name="T8" fmla="*/ 0 w 986"/>
                  <a:gd name="T9" fmla="*/ 0 h 1530"/>
                  <a:gd name="T10" fmla="*/ 0 w 986"/>
                  <a:gd name="T11" fmla="*/ 0 h 1530"/>
                  <a:gd name="T12" fmla="*/ 0 w 986"/>
                  <a:gd name="T13" fmla="*/ 0 h 1530"/>
                  <a:gd name="T14" fmla="*/ 0 w 986"/>
                  <a:gd name="T15" fmla="*/ 0 h 1530"/>
                  <a:gd name="T16" fmla="*/ 0 w 986"/>
                  <a:gd name="T17" fmla="*/ 0 h 1530"/>
                  <a:gd name="T18" fmla="*/ 0 w 986"/>
                  <a:gd name="T19" fmla="*/ 0 h 1530"/>
                  <a:gd name="T20" fmla="*/ 0 w 986"/>
                  <a:gd name="T21" fmla="*/ 0 h 1530"/>
                  <a:gd name="T22" fmla="*/ 0 w 986"/>
                  <a:gd name="T23" fmla="*/ 0 h 1530"/>
                  <a:gd name="T24" fmla="*/ 0 w 986"/>
                  <a:gd name="T25" fmla="*/ 0 h 1530"/>
                  <a:gd name="T26" fmla="*/ 0 w 986"/>
                  <a:gd name="T27" fmla="*/ 0 h 1530"/>
                  <a:gd name="T28" fmla="*/ 0 w 986"/>
                  <a:gd name="T29" fmla="*/ 0 h 1530"/>
                  <a:gd name="T30" fmla="*/ 0 w 986"/>
                  <a:gd name="T31" fmla="*/ 0 h 1530"/>
                  <a:gd name="T32" fmla="*/ 0 w 986"/>
                  <a:gd name="T33" fmla="*/ 0 h 1530"/>
                  <a:gd name="T34" fmla="*/ 0 w 986"/>
                  <a:gd name="T35" fmla="*/ 0 h 1530"/>
                  <a:gd name="T36" fmla="*/ 0 w 986"/>
                  <a:gd name="T37" fmla="*/ 0 h 1530"/>
                  <a:gd name="T38" fmla="*/ 0 w 986"/>
                  <a:gd name="T39" fmla="*/ 0 h 1530"/>
                  <a:gd name="T40" fmla="*/ 0 w 986"/>
                  <a:gd name="T41" fmla="*/ 0 h 1530"/>
                  <a:gd name="T42" fmla="*/ 0 w 986"/>
                  <a:gd name="T43" fmla="*/ 0 h 1530"/>
                  <a:gd name="T44" fmla="*/ 0 w 986"/>
                  <a:gd name="T45" fmla="*/ 0 h 1530"/>
                  <a:gd name="T46" fmla="*/ 0 w 986"/>
                  <a:gd name="T47" fmla="*/ 0 h 1530"/>
                  <a:gd name="T48" fmla="*/ 0 w 986"/>
                  <a:gd name="T49" fmla="*/ 0 h 1530"/>
                  <a:gd name="T50" fmla="*/ 0 w 986"/>
                  <a:gd name="T51" fmla="*/ 0 h 1530"/>
                  <a:gd name="T52" fmla="*/ 0 w 986"/>
                  <a:gd name="T53" fmla="*/ 0 h 1530"/>
                  <a:gd name="T54" fmla="*/ 0 w 986"/>
                  <a:gd name="T55" fmla="*/ 0 h 1530"/>
                  <a:gd name="T56" fmla="*/ 0 w 986"/>
                  <a:gd name="T57" fmla="*/ 0 h 1530"/>
                  <a:gd name="T58" fmla="*/ 0 w 986"/>
                  <a:gd name="T59" fmla="*/ 0 h 1530"/>
                  <a:gd name="T60" fmla="*/ 0 w 986"/>
                  <a:gd name="T61" fmla="*/ 0 h 1530"/>
                  <a:gd name="T62" fmla="*/ 0 w 986"/>
                  <a:gd name="T63" fmla="*/ 0 h 1530"/>
                  <a:gd name="T64" fmla="*/ 0 w 986"/>
                  <a:gd name="T65" fmla="*/ 0 h 1530"/>
                  <a:gd name="T66" fmla="*/ 0 w 986"/>
                  <a:gd name="T67" fmla="*/ 0 h 1530"/>
                  <a:gd name="T68" fmla="*/ 0 w 986"/>
                  <a:gd name="T69" fmla="*/ 0 h 1530"/>
                  <a:gd name="T70" fmla="*/ 0 w 986"/>
                  <a:gd name="T71" fmla="*/ 0 h 1530"/>
                  <a:gd name="T72" fmla="*/ 0 w 986"/>
                  <a:gd name="T73" fmla="*/ 0 h 1530"/>
                  <a:gd name="T74" fmla="*/ 0 w 986"/>
                  <a:gd name="T75" fmla="*/ 0 h 1530"/>
                  <a:gd name="T76" fmla="*/ 0 w 986"/>
                  <a:gd name="T77" fmla="*/ 0 h 1530"/>
                  <a:gd name="T78" fmla="*/ 0 w 986"/>
                  <a:gd name="T79" fmla="*/ 0 h 1530"/>
                  <a:gd name="T80" fmla="*/ 0 w 986"/>
                  <a:gd name="T81" fmla="*/ 0 h 1530"/>
                  <a:gd name="T82" fmla="*/ 0 w 986"/>
                  <a:gd name="T83" fmla="*/ 0 h 1530"/>
                  <a:gd name="T84" fmla="*/ 0 w 986"/>
                  <a:gd name="T85" fmla="*/ 0 h 1530"/>
                  <a:gd name="T86" fmla="*/ 0 w 986"/>
                  <a:gd name="T87" fmla="*/ 0 h 1530"/>
                  <a:gd name="T88" fmla="*/ 0 w 986"/>
                  <a:gd name="T89" fmla="*/ 0 h 1530"/>
                  <a:gd name="T90" fmla="*/ 0 w 986"/>
                  <a:gd name="T91" fmla="*/ 0 h 1530"/>
                  <a:gd name="T92" fmla="*/ 0 w 986"/>
                  <a:gd name="T93" fmla="*/ 0 h 1530"/>
                  <a:gd name="T94" fmla="*/ 0 w 986"/>
                  <a:gd name="T95" fmla="*/ 0 h 1530"/>
                  <a:gd name="T96" fmla="*/ 0 w 986"/>
                  <a:gd name="T97" fmla="*/ 0 h 1530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986"/>
                  <a:gd name="T148" fmla="*/ 0 h 1530"/>
                  <a:gd name="T149" fmla="*/ 986 w 986"/>
                  <a:gd name="T150" fmla="*/ 1530 h 1530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986" h="1530">
                    <a:moveTo>
                      <a:pt x="6" y="65"/>
                    </a:moveTo>
                    <a:lnTo>
                      <a:pt x="58" y="157"/>
                    </a:lnTo>
                    <a:lnTo>
                      <a:pt x="111" y="249"/>
                    </a:lnTo>
                    <a:lnTo>
                      <a:pt x="166" y="342"/>
                    </a:lnTo>
                    <a:lnTo>
                      <a:pt x="220" y="430"/>
                    </a:lnTo>
                    <a:lnTo>
                      <a:pt x="277" y="520"/>
                    </a:lnTo>
                    <a:lnTo>
                      <a:pt x="332" y="613"/>
                    </a:lnTo>
                    <a:lnTo>
                      <a:pt x="388" y="702"/>
                    </a:lnTo>
                    <a:lnTo>
                      <a:pt x="446" y="792"/>
                    </a:lnTo>
                    <a:lnTo>
                      <a:pt x="503" y="882"/>
                    </a:lnTo>
                    <a:lnTo>
                      <a:pt x="559" y="971"/>
                    </a:lnTo>
                    <a:lnTo>
                      <a:pt x="619" y="1061"/>
                    </a:lnTo>
                    <a:lnTo>
                      <a:pt x="677" y="1151"/>
                    </a:lnTo>
                    <a:lnTo>
                      <a:pt x="734" y="1240"/>
                    </a:lnTo>
                    <a:lnTo>
                      <a:pt x="790" y="1329"/>
                    </a:lnTo>
                    <a:lnTo>
                      <a:pt x="848" y="1419"/>
                    </a:lnTo>
                    <a:lnTo>
                      <a:pt x="905" y="1509"/>
                    </a:lnTo>
                    <a:lnTo>
                      <a:pt x="916" y="1523"/>
                    </a:lnTo>
                    <a:lnTo>
                      <a:pt x="932" y="1530"/>
                    </a:lnTo>
                    <a:lnTo>
                      <a:pt x="949" y="1530"/>
                    </a:lnTo>
                    <a:lnTo>
                      <a:pt x="965" y="1525"/>
                    </a:lnTo>
                    <a:lnTo>
                      <a:pt x="979" y="1511"/>
                    </a:lnTo>
                    <a:lnTo>
                      <a:pt x="986" y="1498"/>
                    </a:lnTo>
                    <a:lnTo>
                      <a:pt x="986" y="1479"/>
                    </a:lnTo>
                    <a:lnTo>
                      <a:pt x="981" y="1463"/>
                    </a:lnTo>
                    <a:lnTo>
                      <a:pt x="924" y="1373"/>
                    </a:lnTo>
                    <a:lnTo>
                      <a:pt x="866" y="1283"/>
                    </a:lnTo>
                    <a:lnTo>
                      <a:pt x="813" y="1194"/>
                    </a:lnTo>
                    <a:lnTo>
                      <a:pt x="755" y="1104"/>
                    </a:lnTo>
                    <a:lnTo>
                      <a:pt x="695" y="1017"/>
                    </a:lnTo>
                    <a:lnTo>
                      <a:pt x="639" y="928"/>
                    </a:lnTo>
                    <a:lnTo>
                      <a:pt x="582" y="838"/>
                    </a:lnTo>
                    <a:lnTo>
                      <a:pt x="524" y="749"/>
                    </a:lnTo>
                    <a:lnTo>
                      <a:pt x="467" y="659"/>
                    </a:lnTo>
                    <a:lnTo>
                      <a:pt x="413" y="569"/>
                    </a:lnTo>
                    <a:lnTo>
                      <a:pt x="356" y="480"/>
                    </a:lnTo>
                    <a:lnTo>
                      <a:pt x="302" y="388"/>
                    </a:lnTo>
                    <a:lnTo>
                      <a:pt x="245" y="298"/>
                    </a:lnTo>
                    <a:lnTo>
                      <a:pt x="191" y="208"/>
                    </a:lnTo>
                    <a:lnTo>
                      <a:pt x="136" y="116"/>
                    </a:lnTo>
                    <a:lnTo>
                      <a:pt x="85" y="23"/>
                    </a:lnTo>
                    <a:lnTo>
                      <a:pt x="74" y="10"/>
                    </a:lnTo>
                    <a:lnTo>
                      <a:pt x="60" y="2"/>
                    </a:lnTo>
                    <a:lnTo>
                      <a:pt x="41" y="0"/>
                    </a:lnTo>
                    <a:lnTo>
                      <a:pt x="25" y="5"/>
                    </a:lnTo>
                    <a:lnTo>
                      <a:pt x="11" y="16"/>
                    </a:lnTo>
                    <a:lnTo>
                      <a:pt x="3" y="30"/>
                    </a:lnTo>
                    <a:lnTo>
                      <a:pt x="0" y="48"/>
                    </a:lnTo>
                    <a:lnTo>
                      <a:pt x="6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4" name="Freeform 393">
                <a:extLst>
                  <a:ext uri="{FF2B5EF4-FFF2-40B4-BE49-F238E27FC236}">
                    <a16:creationId xmlns:a16="http://schemas.microsoft.com/office/drawing/2014/main" id="{31075100-DC2D-894A-84C0-33BB10B23F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2" y="3453"/>
                <a:ext cx="281" cy="353"/>
              </a:xfrm>
              <a:custGeom>
                <a:avLst/>
                <a:gdLst>
                  <a:gd name="T0" fmla="*/ 0 w 1122"/>
                  <a:gd name="T1" fmla="*/ 0 h 1409"/>
                  <a:gd name="T2" fmla="*/ 0 w 1122"/>
                  <a:gd name="T3" fmla="*/ 0 h 1409"/>
                  <a:gd name="T4" fmla="*/ 0 w 1122"/>
                  <a:gd name="T5" fmla="*/ 0 h 1409"/>
                  <a:gd name="T6" fmla="*/ 0 w 1122"/>
                  <a:gd name="T7" fmla="*/ 0 h 1409"/>
                  <a:gd name="T8" fmla="*/ 0 w 1122"/>
                  <a:gd name="T9" fmla="*/ 0 h 1409"/>
                  <a:gd name="T10" fmla="*/ 0 w 1122"/>
                  <a:gd name="T11" fmla="*/ 0 h 1409"/>
                  <a:gd name="T12" fmla="*/ 0 w 1122"/>
                  <a:gd name="T13" fmla="*/ 0 h 1409"/>
                  <a:gd name="T14" fmla="*/ 0 w 1122"/>
                  <a:gd name="T15" fmla="*/ 0 h 1409"/>
                  <a:gd name="T16" fmla="*/ 0 w 1122"/>
                  <a:gd name="T17" fmla="*/ 0 h 1409"/>
                  <a:gd name="T18" fmla="*/ 0 w 1122"/>
                  <a:gd name="T19" fmla="*/ 0 h 1409"/>
                  <a:gd name="T20" fmla="*/ 0 w 1122"/>
                  <a:gd name="T21" fmla="*/ 0 h 1409"/>
                  <a:gd name="T22" fmla="*/ 0 w 1122"/>
                  <a:gd name="T23" fmla="*/ 0 h 1409"/>
                  <a:gd name="T24" fmla="*/ 0 w 1122"/>
                  <a:gd name="T25" fmla="*/ 0 h 1409"/>
                  <a:gd name="T26" fmla="*/ 0 w 1122"/>
                  <a:gd name="T27" fmla="*/ 0 h 1409"/>
                  <a:gd name="T28" fmla="*/ 0 w 1122"/>
                  <a:gd name="T29" fmla="*/ 0 h 1409"/>
                  <a:gd name="T30" fmla="*/ 0 w 1122"/>
                  <a:gd name="T31" fmla="*/ 0 h 1409"/>
                  <a:gd name="T32" fmla="*/ 0 w 1122"/>
                  <a:gd name="T33" fmla="*/ 0 h 1409"/>
                  <a:gd name="T34" fmla="*/ 0 w 1122"/>
                  <a:gd name="T35" fmla="*/ 0 h 1409"/>
                  <a:gd name="T36" fmla="*/ 0 w 1122"/>
                  <a:gd name="T37" fmla="*/ 0 h 1409"/>
                  <a:gd name="T38" fmla="*/ 0 w 1122"/>
                  <a:gd name="T39" fmla="*/ 0 h 1409"/>
                  <a:gd name="T40" fmla="*/ 0 w 1122"/>
                  <a:gd name="T41" fmla="*/ 0 h 1409"/>
                  <a:gd name="T42" fmla="*/ 0 w 1122"/>
                  <a:gd name="T43" fmla="*/ 0 h 1409"/>
                  <a:gd name="T44" fmla="*/ 0 w 1122"/>
                  <a:gd name="T45" fmla="*/ 0 h 1409"/>
                  <a:gd name="T46" fmla="*/ 0 w 1122"/>
                  <a:gd name="T47" fmla="*/ 0 h 1409"/>
                  <a:gd name="T48" fmla="*/ 0 w 1122"/>
                  <a:gd name="T49" fmla="*/ 0 h 1409"/>
                  <a:gd name="T50" fmla="*/ 0 w 1122"/>
                  <a:gd name="T51" fmla="*/ 0 h 1409"/>
                  <a:gd name="T52" fmla="*/ 0 w 1122"/>
                  <a:gd name="T53" fmla="*/ 0 h 1409"/>
                  <a:gd name="T54" fmla="*/ 0 w 1122"/>
                  <a:gd name="T55" fmla="*/ 0 h 1409"/>
                  <a:gd name="T56" fmla="*/ 0 w 1122"/>
                  <a:gd name="T57" fmla="*/ 0 h 1409"/>
                  <a:gd name="T58" fmla="*/ 0 w 1122"/>
                  <a:gd name="T59" fmla="*/ 0 h 1409"/>
                  <a:gd name="T60" fmla="*/ 0 w 1122"/>
                  <a:gd name="T61" fmla="*/ 0 h 1409"/>
                  <a:gd name="T62" fmla="*/ 0 w 1122"/>
                  <a:gd name="T63" fmla="*/ 0 h 1409"/>
                  <a:gd name="T64" fmla="*/ 0 w 1122"/>
                  <a:gd name="T65" fmla="*/ 0 h 1409"/>
                  <a:gd name="T66" fmla="*/ 0 w 1122"/>
                  <a:gd name="T67" fmla="*/ 0 h 1409"/>
                  <a:gd name="T68" fmla="*/ 0 w 1122"/>
                  <a:gd name="T69" fmla="*/ 0 h 1409"/>
                  <a:gd name="T70" fmla="*/ 0 w 1122"/>
                  <a:gd name="T71" fmla="*/ 0 h 1409"/>
                  <a:gd name="T72" fmla="*/ 0 w 1122"/>
                  <a:gd name="T73" fmla="*/ 0 h 1409"/>
                  <a:gd name="T74" fmla="*/ 0 w 1122"/>
                  <a:gd name="T75" fmla="*/ 0 h 1409"/>
                  <a:gd name="T76" fmla="*/ 0 w 1122"/>
                  <a:gd name="T77" fmla="*/ 0 h 1409"/>
                  <a:gd name="T78" fmla="*/ 0 w 1122"/>
                  <a:gd name="T79" fmla="*/ 0 h 1409"/>
                  <a:gd name="T80" fmla="*/ 0 w 1122"/>
                  <a:gd name="T81" fmla="*/ 0 h 1409"/>
                  <a:gd name="T82" fmla="*/ 0 w 1122"/>
                  <a:gd name="T83" fmla="*/ 0 h 1409"/>
                  <a:gd name="T84" fmla="*/ 0 w 1122"/>
                  <a:gd name="T85" fmla="*/ 0 h 1409"/>
                  <a:gd name="T86" fmla="*/ 0 w 1122"/>
                  <a:gd name="T87" fmla="*/ 0 h 1409"/>
                  <a:gd name="T88" fmla="*/ 0 w 1122"/>
                  <a:gd name="T89" fmla="*/ 0 h 1409"/>
                  <a:gd name="T90" fmla="*/ 0 w 1122"/>
                  <a:gd name="T91" fmla="*/ 0 h 1409"/>
                  <a:gd name="T92" fmla="*/ 0 w 1122"/>
                  <a:gd name="T93" fmla="*/ 0 h 1409"/>
                  <a:gd name="T94" fmla="*/ 0 w 1122"/>
                  <a:gd name="T95" fmla="*/ 0 h 1409"/>
                  <a:gd name="T96" fmla="*/ 0 w 1122"/>
                  <a:gd name="T97" fmla="*/ 0 h 1409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1122"/>
                  <a:gd name="T148" fmla="*/ 0 h 1409"/>
                  <a:gd name="T149" fmla="*/ 1122 w 1122"/>
                  <a:gd name="T150" fmla="*/ 1409 h 1409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1122" h="1409">
                    <a:moveTo>
                      <a:pt x="9" y="73"/>
                    </a:moveTo>
                    <a:lnTo>
                      <a:pt x="76" y="152"/>
                    </a:lnTo>
                    <a:lnTo>
                      <a:pt x="145" y="234"/>
                    </a:lnTo>
                    <a:lnTo>
                      <a:pt x="210" y="312"/>
                    </a:lnTo>
                    <a:lnTo>
                      <a:pt x="277" y="394"/>
                    </a:lnTo>
                    <a:lnTo>
                      <a:pt x="343" y="477"/>
                    </a:lnTo>
                    <a:lnTo>
                      <a:pt x="408" y="560"/>
                    </a:lnTo>
                    <a:lnTo>
                      <a:pt x="470" y="641"/>
                    </a:lnTo>
                    <a:lnTo>
                      <a:pt x="535" y="725"/>
                    </a:lnTo>
                    <a:lnTo>
                      <a:pt x="598" y="809"/>
                    </a:lnTo>
                    <a:lnTo>
                      <a:pt x="663" y="890"/>
                    </a:lnTo>
                    <a:lnTo>
                      <a:pt x="725" y="974"/>
                    </a:lnTo>
                    <a:lnTo>
                      <a:pt x="788" y="1059"/>
                    </a:lnTo>
                    <a:lnTo>
                      <a:pt x="854" y="1143"/>
                    </a:lnTo>
                    <a:lnTo>
                      <a:pt x="916" y="1227"/>
                    </a:lnTo>
                    <a:lnTo>
                      <a:pt x="978" y="1309"/>
                    </a:lnTo>
                    <a:lnTo>
                      <a:pt x="1043" y="1392"/>
                    </a:lnTo>
                    <a:lnTo>
                      <a:pt x="1057" y="1404"/>
                    </a:lnTo>
                    <a:lnTo>
                      <a:pt x="1076" y="1409"/>
                    </a:lnTo>
                    <a:lnTo>
                      <a:pt x="1092" y="1406"/>
                    </a:lnTo>
                    <a:lnTo>
                      <a:pt x="1108" y="1398"/>
                    </a:lnTo>
                    <a:lnTo>
                      <a:pt x="1119" y="1385"/>
                    </a:lnTo>
                    <a:lnTo>
                      <a:pt x="1122" y="1366"/>
                    </a:lnTo>
                    <a:lnTo>
                      <a:pt x="1119" y="1350"/>
                    </a:lnTo>
                    <a:lnTo>
                      <a:pt x="1111" y="1332"/>
                    </a:lnTo>
                    <a:lnTo>
                      <a:pt x="1046" y="1251"/>
                    </a:lnTo>
                    <a:lnTo>
                      <a:pt x="983" y="1168"/>
                    </a:lnTo>
                    <a:lnTo>
                      <a:pt x="921" y="1083"/>
                    </a:lnTo>
                    <a:lnTo>
                      <a:pt x="856" y="1002"/>
                    </a:lnTo>
                    <a:lnTo>
                      <a:pt x="794" y="918"/>
                    </a:lnTo>
                    <a:lnTo>
                      <a:pt x="731" y="836"/>
                    </a:lnTo>
                    <a:lnTo>
                      <a:pt x="669" y="752"/>
                    </a:lnTo>
                    <a:lnTo>
                      <a:pt x="603" y="668"/>
                    </a:lnTo>
                    <a:lnTo>
                      <a:pt x="540" y="586"/>
                    </a:lnTo>
                    <a:lnTo>
                      <a:pt x="475" y="505"/>
                    </a:lnTo>
                    <a:lnTo>
                      <a:pt x="413" y="421"/>
                    </a:lnTo>
                    <a:lnTo>
                      <a:pt x="348" y="339"/>
                    </a:lnTo>
                    <a:lnTo>
                      <a:pt x="281" y="258"/>
                    </a:lnTo>
                    <a:lnTo>
                      <a:pt x="215" y="179"/>
                    </a:lnTo>
                    <a:lnTo>
                      <a:pt x="147" y="98"/>
                    </a:lnTo>
                    <a:lnTo>
                      <a:pt x="80" y="19"/>
                    </a:lnTo>
                    <a:lnTo>
                      <a:pt x="66" y="5"/>
                    </a:lnTo>
                    <a:lnTo>
                      <a:pt x="50" y="0"/>
                    </a:lnTo>
                    <a:lnTo>
                      <a:pt x="34" y="3"/>
                    </a:lnTo>
                    <a:lnTo>
                      <a:pt x="16" y="10"/>
                    </a:lnTo>
                    <a:lnTo>
                      <a:pt x="6" y="24"/>
                    </a:lnTo>
                    <a:lnTo>
                      <a:pt x="0" y="40"/>
                    </a:lnTo>
                    <a:lnTo>
                      <a:pt x="0" y="57"/>
                    </a:lnTo>
                    <a:lnTo>
                      <a:pt x="9" y="73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5" name="Freeform 394">
                <a:extLst>
                  <a:ext uri="{FF2B5EF4-FFF2-40B4-BE49-F238E27FC236}">
                    <a16:creationId xmlns:a16="http://schemas.microsoft.com/office/drawing/2014/main" id="{59E0BBF7-1AD5-D44F-8A17-7D6C455F7A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3847"/>
                <a:ext cx="189" cy="254"/>
              </a:xfrm>
              <a:custGeom>
                <a:avLst/>
                <a:gdLst>
                  <a:gd name="T0" fmla="*/ 0 w 755"/>
                  <a:gd name="T1" fmla="*/ 0 h 1016"/>
                  <a:gd name="T2" fmla="*/ 0 w 755"/>
                  <a:gd name="T3" fmla="*/ 0 h 1016"/>
                  <a:gd name="T4" fmla="*/ 0 w 755"/>
                  <a:gd name="T5" fmla="*/ 0 h 1016"/>
                  <a:gd name="T6" fmla="*/ 0 w 755"/>
                  <a:gd name="T7" fmla="*/ 0 h 1016"/>
                  <a:gd name="T8" fmla="*/ 0 w 755"/>
                  <a:gd name="T9" fmla="*/ 0 h 1016"/>
                  <a:gd name="T10" fmla="*/ 0 w 755"/>
                  <a:gd name="T11" fmla="*/ 0 h 1016"/>
                  <a:gd name="T12" fmla="*/ 0 w 755"/>
                  <a:gd name="T13" fmla="*/ 0 h 1016"/>
                  <a:gd name="T14" fmla="*/ 0 w 755"/>
                  <a:gd name="T15" fmla="*/ 0 h 1016"/>
                  <a:gd name="T16" fmla="*/ 0 w 755"/>
                  <a:gd name="T17" fmla="*/ 0 h 1016"/>
                  <a:gd name="T18" fmla="*/ 0 w 755"/>
                  <a:gd name="T19" fmla="*/ 0 h 1016"/>
                  <a:gd name="T20" fmla="*/ 0 w 755"/>
                  <a:gd name="T21" fmla="*/ 0 h 1016"/>
                  <a:gd name="T22" fmla="*/ 0 w 755"/>
                  <a:gd name="T23" fmla="*/ 0 h 1016"/>
                  <a:gd name="T24" fmla="*/ 0 w 755"/>
                  <a:gd name="T25" fmla="*/ 0 h 1016"/>
                  <a:gd name="T26" fmla="*/ 0 w 755"/>
                  <a:gd name="T27" fmla="*/ 0 h 1016"/>
                  <a:gd name="T28" fmla="*/ 0 w 755"/>
                  <a:gd name="T29" fmla="*/ 0 h 1016"/>
                  <a:gd name="T30" fmla="*/ 0 w 755"/>
                  <a:gd name="T31" fmla="*/ 0 h 1016"/>
                  <a:gd name="T32" fmla="*/ 0 w 755"/>
                  <a:gd name="T33" fmla="*/ 0 h 1016"/>
                  <a:gd name="T34" fmla="*/ 0 w 755"/>
                  <a:gd name="T35" fmla="*/ 0 h 1016"/>
                  <a:gd name="T36" fmla="*/ 0 w 755"/>
                  <a:gd name="T37" fmla="*/ 0 h 1016"/>
                  <a:gd name="T38" fmla="*/ 0 w 755"/>
                  <a:gd name="T39" fmla="*/ 0 h 1016"/>
                  <a:gd name="T40" fmla="*/ 0 w 755"/>
                  <a:gd name="T41" fmla="*/ 0 h 1016"/>
                  <a:gd name="T42" fmla="*/ 0 w 755"/>
                  <a:gd name="T43" fmla="*/ 0 h 1016"/>
                  <a:gd name="T44" fmla="*/ 0 w 755"/>
                  <a:gd name="T45" fmla="*/ 0 h 1016"/>
                  <a:gd name="T46" fmla="*/ 0 w 755"/>
                  <a:gd name="T47" fmla="*/ 0 h 1016"/>
                  <a:gd name="T48" fmla="*/ 0 w 755"/>
                  <a:gd name="T49" fmla="*/ 0 h 1016"/>
                  <a:gd name="T50" fmla="*/ 0 w 755"/>
                  <a:gd name="T51" fmla="*/ 0 h 1016"/>
                  <a:gd name="T52" fmla="*/ 0 w 755"/>
                  <a:gd name="T53" fmla="*/ 0 h 1016"/>
                  <a:gd name="T54" fmla="*/ 0 w 755"/>
                  <a:gd name="T55" fmla="*/ 0 h 1016"/>
                  <a:gd name="T56" fmla="*/ 0 w 755"/>
                  <a:gd name="T57" fmla="*/ 0 h 1016"/>
                  <a:gd name="T58" fmla="*/ 0 w 755"/>
                  <a:gd name="T59" fmla="*/ 0 h 1016"/>
                  <a:gd name="T60" fmla="*/ 0 w 755"/>
                  <a:gd name="T61" fmla="*/ 0 h 1016"/>
                  <a:gd name="T62" fmla="*/ 0 w 755"/>
                  <a:gd name="T63" fmla="*/ 0 h 1016"/>
                  <a:gd name="T64" fmla="*/ 0 w 755"/>
                  <a:gd name="T65" fmla="*/ 0 h 1016"/>
                  <a:gd name="T66" fmla="*/ 0 w 755"/>
                  <a:gd name="T67" fmla="*/ 0 h 1016"/>
                  <a:gd name="T68" fmla="*/ 0 w 755"/>
                  <a:gd name="T69" fmla="*/ 0 h 1016"/>
                  <a:gd name="T70" fmla="*/ 0 w 755"/>
                  <a:gd name="T71" fmla="*/ 0 h 1016"/>
                  <a:gd name="T72" fmla="*/ 0 w 755"/>
                  <a:gd name="T73" fmla="*/ 0 h 1016"/>
                  <a:gd name="T74" fmla="*/ 0 w 755"/>
                  <a:gd name="T75" fmla="*/ 0 h 1016"/>
                  <a:gd name="T76" fmla="*/ 0 w 755"/>
                  <a:gd name="T77" fmla="*/ 0 h 1016"/>
                  <a:gd name="T78" fmla="*/ 0 w 755"/>
                  <a:gd name="T79" fmla="*/ 0 h 1016"/>
                  <a:gd name="T80" fmla="*/ 0 w 755"/>
                  <a:gd name="T81" fmla="*/ 0 h 1016"/>
                  <a:gd name="T82" fmla="*/ 0 w 755"/>
                  <a:gd name="T83" fmla="*/ 0 h 1016"/>
                  <a:gd name="T84" fmla="*/ 0 w 755"/>
                  <a:gd name="T85" fmla="*/ 0 h 1016"/>
                  <a:gd name="T86" fmla="*/ 0 w 755"/>
                  <a:gd name="T87" fmla="*/ 0 h 1016"/>
                  <a:gd name="T88" fmla="*/ 0 w 755"/>
                  <a:gd name="T89" fmla="*/ 0 h 1016"/>
                  <a:gd name="T90" fmla="*/ 0 w 755"/>
                  <a:gd name="T91" fmla="*/ 0 h 1016"/>
                  <a:gd name="T92" fmla="*/ 0 w 755"/>
                  <a:gd name="T93" fmla="*/ 0 h 1016"/>
                  <a:gd name="T94" fmla="*/ 0 w 755"/>
                  <a:gd name="T95" fmla="*/ 0 h 1016"/>
                  <a:gd name="T96" fmla="*/ 0 w 755"/>
                  <a:gd name="T97" fmla="*/ 0 h 101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755"/>
                  <a:gd name="T148" fmla="*/ 0 h 1016"/>
                  <a:gd name="T149" fmla="*/ 755 w 755"/>
                  <a:gd name="T150" fmla="*/ 1016 h 1016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755" h="1016">
                    <a:moveTo>
                      <a:pt x="5" y="65"/>
                    </a:moveTo>
                    <a:lnTo>
                      <a:pt x="47" y="124"/>
                    </a:lnTo>
                    <a:lnTo>
                      <a:pt x="84" y="184"/>
                    </a:lnTo>
                    <a:lnTo>
                      <a:pt x="125" y="244"/>
                    </a:lnTo>
                    <a:lnTo>
                      <a:pt x="165" y="304"/>
                    </a:lnTo>
                    <a:lnTo>
                      <a:pt x="206" y="363"/>
                    </a:lnTo>
                    <a:lnTo>
                      <a:pt x="248" y="423"/>
                    </a:lnTo>
                    <a:lnTo>
                      <a:pt x="288" y="480"/>
                    </a:lnTo>
                    <a:lnTo>
                      <a:pt x="331" y="540"/>
                    </a:lnTo>
                    <a:lnTo>
                      <a:pt x="372" y="600"/>
                    </a:lnTo>
                    <a:lnTo>
                      <a:pt x="416" y="656"/>
                    </a:lnTo>
                    <a:lnTo>
                      <a:pt x="456" y="714"/>
                    </a:lnTo>
                    <a:lnTo>
                      <a:pt x="500" y="771"/>
                    </a:lnTo>
                    <a:lnTo>
                      <a:pt x="543" y="831"/>
                    </a:lnTo>
                    <a:lnTo>
                      <a:pt x="587" y="885"/>
                    </a:lnTo>
                    <a:lnTo>
                      <a:pt x="633" y="942"/>
                    </a:lnTo>
                    <a:lnTo>
                      <a:pt x="676" y="998"/>
                    </a:lnTo>
                    <a:lnTo>
                      <a:pt x="689" y="1009"/>
                    </a:lnTo>
                    <a:lnTo>
                      <a:pt x="709" y="1016"/>
                    </a:lnTo>
                    <a:lnTo>
                      <a:pt x="726" y="1012"/>
                    </a:lnTo>
                    <a:lnTo>
                      <a:pt x="742" y="1004"/>
                    </a:lnTo>
                    <a:lnTo>
                      <a:pt x="752" y="991"/>
                    </a:lnTo>
                    <a:lnTo>
                      <a:pt x="755" y="972"/>
                    </a:lnTo>
                    <a:lnTo>
                      <a:pt x="752" y="956"/>
                    </a:lnTo>
                    <a:lnTo>
                      <a:pt x="744" y="939"/>
                    </a:lnTo>
                    <a:lnTo>
                      <a:pt x="701" y="885"/>
                    </a:lnTo>
                    <a:lnTo>
                      <a:pt x="657" y="827"/>
                    </a:lnTo>
                    <a:lnTo>
                      <a:pt x="613" y="771"/>
                    </a:lnTo>
                    <a:lnTo>
                      <a:pt x="571" y="714"/>
                    </a:lnTo>
                    <a:lnTo>
                      <a:pt x="527" y="656"/>
                    </a:lnTo>
                    <a:lnTo>
                      <a:pt x="486" y="600"/>
                    </a:lnTo>
                    <a:lnTo>
                      <a:pt x="442" y="543"/>
                    </a:lnTo>
                    <a:lnTo>
                      <a:pt x="402" y="485"/>
                    </a:lnTo>
                    <a:lnTo>
                      <a:pt x="361" y="429"/>
                    </a:lnTo>
                    <a:lnTo>
                      <a:pt x="320" y="369"/>
                    </a:lnTo>
                    <a:lnTo>
                      <a:pt x="280" y="312"/>
                    </a:lnTo>
                    <a:lnTo>
                      <a:pt x="239" y="254"/>
                    </a:lnTo>
                    <a:lnTo>
                      <a:pt x="201" y="195"/>
                    </a:lnTo>
                    <a:lnTo>
                      <a:pt x="160" y="136"/>
                    </a:lnTo>
                    <a:lnTo>
                      <a:pt x="119" y="78"/>
                    </a:lnTo>
                    <a:lnTo>
                      <a:pt x="82" y="18"/>
                    </a:lnTo>
                    <a:lnTo>
                      <a:pt x="68" y="5"/>
                    </a:lnTo>
                    <a:lnTo>
                      <a:pt x="54" y="0"/>
                    </a:lnTo>
                    <a:lnTo>
                      <a:pt x="35" y="0"/>
                    </a:lnTo>
                    <a:lnTo>
                      <a:pt x="19" y="5"/>
                    </a:lnTo>
                    <a:lnTo>
                      <a:pt x="5" y="18"/>
                    </a:lnTo>
                    <a:lnTo>
                      <a:pt x="0" y="32"/>
                    </a:lnTo>
                    <a:lnTo>
                      <a:pt x="0" y="48"/>
                    </a:lnTo>
                    <a:lnTo>
                      <a:pt x="5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6" name="Freeform 395">
                <a:extLst>
                  <a:ext uri="{FF2B5EF4-FFF2-40B4-BE49-F238E27FC236}">
                    <a16:creationId xmlns:a16="http://schemas.microsoft.com/office/drawing/2014/main" id="{52043670-DCB0-064B-8DA1-1EFDCCD690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7" y="3135"/>
                <a:ext cx="689" cy="862"/>
              </a:xfrm>
              <a:custGeom>
                <a:avLst/>
                <a:gdLst>
                  <a:gd name="T0" fmla="*/ 0 w 2756"/>
                  <a:gd name="T1" fmla="*/ 0 h 3451"/>
                  <a:gd name="T2" fmla="*/ 0 w 2756"/>
                  <a:gd name="T3" fmla="*/ 0 h 3451"/>
                  <a:gd name="T4" fmla="*/ 0 w 2756"/>
                  <a:gd name="T5" fmla="*/ 0 h 3451"/>
                  <a:gd name="T6" fmla="*/ 0 w 2756"/>
                  <a:gd name="T7" fmla="*/ 0 h 3451"/>
                  <a:gd name="T8" fmla="*/ 0 w 2756"/>
                  <a:gd name="T9" fmla="*/ 0 h 3451"/>
                  <a:gd name="T10" fmla="*/ 0 w 2756"/>
                  <a:gd name="T11" fmla="*/ 0 h 3451"/>
                  <a:gd name="T12" fmla="*/ 0 w 2756"/>
                  <a:gd name="T13" fmla="*/ 0 h 3451"/>
                  <a:gd name="T14" fmla="*/ 0 w 2756"/>
                  <a:gd name="T15" fmla="*/ 0 h 3451"/>
                  <a:gd name="T16" fmla="*/ 0 w 2756"/>
                  <a:gd name="T17" fmla="*/ 0 h 3451"/>
                  <a:gd name="T18" fmla="*/ 0 w 2756"/>
                  <a:gd name="T19" fmla="*/ 0 h 3451"/>
                  <a:gd name="T20" fmla="*/ 0 w 2756"/>
                  <a:gd name="T21" fmla="*/ 0 h 3451"/>
                  <a:gd name="T22" fmla="*/ 0 w 2756"/>
                  <a:gd name="T23" fmla="*/ 0 h 3451"/>
                  <a:gd name="T24" fmla="*/ 0 w 2756"/>
                  <a:gd name="T25" fmla="*/ 0 h 3451"/>
                  <a:gd name="T26" fmla="*/ 0 w 2756"/>
                  <a:gd name="T27" fmla="*/ 0 h 3451"/>
                  <a:gd name="T28" fmla="*/ 0 w 2756"/>
                  <a:gd name="T29" fmla="*/ 0 h 3451"/>
                  <a:gd name="T30" fmla="*/ 0 w 2756"/>
                  <a:gd name="T31" fmla="*/ 0 h 3451"/>
                  <a:gd name="T32" fmla="*/ 0 w 2756"/>
                  <a:gd name="T33" fmla="*/ 0 h 3451"/>
                  <a:gd name="T34" fmla="*/ 0 w 2756"/>
                  <a:gd name="T35" fmla="*/ 0 h 3451"/>
                  <a:gd name="T36" fmla="*/ 0 w 2756"/>
                  <a:gd name="T37" fmla="*/ 0 h 3451"/>
                  <a:gd name="T38" fmla="*/ 0 w 2756"/>
                  <a:gd name="T39" fmla="*/ 0 h 3451"/>
                  <a:gd name="T40" fmla="*/ 0 w 2756"/>
                  <a:gd name="T41" fmla="*/ 0 h 3451"/>
                  <a:gd name="T42" fmla="*/ 0 w 2756"/>
                  <a:gd name="T43" fmla="*/ 0 h 3451"/>
                  <a:gd name="T44" fmla="*/ 0 w 2756"/>
                  <a:gd name="T45" fmla="*/ 0 h 3451"/>
                  <a:gd name="T46" fmla="*/ 0 w 2756"/>
                  <a:gd name="T47" fmla="*/ 0 h 3451"/>
                  <a:gd name="T48" fmla="*/ 0 w 2756"/>
                  <a:gd name="T49" fmla="*/ 0 h 3451"/>
                  <a:gd name="T50" fmla="*/ 0 w 2756"/>
                  <a:gd name="T51" fmla="*/ 0 h 3451"/>
                  <a:gd name="T52" fmla="*/ 0 w 2756"/>
                  <a:gd name="T53" fmla="*/ 0 h 3451"/>
                  <a:gd name="T54" fmla="*/ 0 w 2756"/>
                  <a:gd name="T55" fmla="*/ 0 h 3451"/>
                  <a:gd name="T56" fmla="*/ 0 w 2756"/>
                  <a:gd name="T57" fmla="*/ 0 h 3451"/>
                  <a:gd name="T58" fmla="*/ 0 w 2756"/>
                  <a:gd name="T59" fmla="*/ 0 h 3451"/>
                  <a:gd name="T60" fmla="*/ 0 w 2756"/>
                  <a:gd name="T61" fmla="*/ 0 h 3451"/>
                  <a:gd name="T62" fmla="*/ 0 w 2756"/>
                  <a:gd name="T63" fmla="*/ 0 h 3451"/>
                  <a:gd name="T64" fmla="*/ 0 w 2756"/>
                  <a:gd name="T65" fmla="*/ 0 h 3451"/>
                  <a:gd name="T66" fmla="*/ 0 w 2756"/>
                  <a:gd name="T67" fmla="*/ 0 h 3451"/>
                  <a:gd name="T68" fmla="*/ 0 w 2756"/>
                  <a:gd name="T69" fmla="*/ 0 h 3451"/>
                  <a:gd name="T70" fmla="*/ 0 w 2756"/>
                  <a:gd name="T71" fmla="*/ 0 h 3451"/>
                  <a:gd name="T72" fmla="*/ 0 w 2756"/>
                  <a:gd name="T73" fmla="*/ 0 h 3451"/>
                  <a:gd name="T74" fmla="*/ 0 w 2756"/>
                  <a:gd name="T75" fmla="*/ 0 h 3451"/>
                  <a:gd name="T76" fmla="*/ 0 w 2756"/>
                  <a:gd name="T77" fmla="*/ 0 h 3451"/>
                  <a:gd name="T78" fmla="*/ 0 w 2756"/>
                  <a:gd name="T79" fmla="*/ 0 h 3451"/>
                  <a:gd name="T80" fmla="*/ 0 w 2756"/>
                  <a:gd name="T81" fmla="*/ 0 h 3451"/>
                  <a:gd name="T82" fmla="*/ 0 w 2756"/>
                  <a:gd name="T83" fmla="*/ 0 h 3451"/>
                  <a:gd name="T84" fmla="*/ 0 w 2756"/>
                  <a:gd name="T85" fmla="*/ 0 h 3451"/>
                  <a:gd name="T86" fmla="*/ 0 w 2756"/>
                  <a:gd name="T87" fmla="*/ 0 h 3451"/>
                  <a:gd name="T88" fmla="*/ 0 w 2756"/>
                  <a:gd name="T89" fmla="*/ 0 h 3451"/>
                  <a:gd name="T90" fmla="*/ 0 w 2756"/>
                  <a:gd name="T91" fmla="*/ 0 h 3451"/>
                  <a:gd name="T92" fmla="*/ 0 w 2756"/>
                  <a:gd name="T93" fmla="*/ 0 h 3451"/>
                  <a:gd name="T94" fmla="*/ 0 w 2756"/>
                  <a:gd name="T95" fmla="*/ 0 h 3451"/>
                  <a:gd name="T96" fmla="*/ 0 w 2756"/>
                  <a:gd name="T97" fmla="*/ 0 h 3451"/>
                  <a:gd name="T98" fmla="*/ 0 w 2756"/>
                  <a:gd name="T99" fmla="*/ 0 h 345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756"/>
                  <a:gd name="T151" fmla="*/ 0 h 3451"/>
                  <a:gd name="T152" fmla="*/ 2756 w 2756"/>
                  <a:gd name="T153" fmla="*/ 3451 h 3451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756" h="3451">
                    <a:moveTo>
                      <a:pt x="2742" y="3451"/>
                    </a:moveTo>
                    <a:lnTo>
                      <a:pt x="2696" y="3449"/>
                    </a:lnTo>
                    <a:lnTo>
                      <a:pt x="2612" y="3343"/>
                    </a:lnTo>
                    <a:lnTo>
                      <a:pt x="2528" y="3237"/>
                    </a:lnTo>
                    <a:lnTo>
                      <a:pt x="2446" y="3128"/>
                    </a:lnTo>
                    <a:lnTo>
                      <a:pt x="2363" y="3022"/>
                    </a:lnTo>
                    <a:lnTo>
                      <a:pt x="2281" y="2916"/>
                    </a:lnTo>
                    <a:lnTo>
                      <a:pt x="2197" y="2807"/>
                    </a:lnTo>
                    <a:lnTo>
                      <a:pt x="2116" y="2702"/>
                    </a:lnTo>
                    <a:lnTo>
                      <a:pt x="2033" y="2594"/>
                    </a:lnTo>
                    <a:lnTo>
                      <a:pt x="1950" y="2488"/>
                    </a:lnTo>
                    <a:lnTo>
                      <a:pt x="1869" y="2379"/>
                    </a:lnTo>
                    <a:lnTo>
                      <a:pt x="1786" y="2273"/>
                    </a:lnTo>
                    <a:lnTo>
                      <a:pt x="1705" y="2164"/>
                    </a:lnTo>
                    <a:lnTo>
                      <a:pt x="1620" y="2058"/>
                    </a:lnTo>
                    <a:lnTo>
                      <a:pt x="1539" y="1950"/>
                    </a:lnTo>
                    <a:lnTo>
                      <a:pt x="1458" y="1844"/>
                    </a:lnTo>
                    <a:lnTo>
                      <a:pt x="1373" y="1735"/>
                    </a:lnTo>
                    <a:lnTo>
                      <a:pt x="1292" y="1629"/>
                    </a:lnTo>
                    <a:lnTo>
                      <a:pt x="1208" y="1524"/>
                    </a:lnTo>
                    <a:lnTo>
                      <a:pt x="1124" y="1418"/>
                    </a:lnTo>
                    <a:lnTo>
                      <a:pt x="1042" y="1309"/>
                    </a:lnTo>
                    <a:lnTo>
                      <a:pt x="959" y="1203"/>
                    </a:lnTo>
                    <a:lnTo>
                      <a:pt x="874" y="1097"/>
                    </a:lnTo>
                    <a:lnTo>
                      <a:pt x="788" y="991"/>
                    </a:lnTo>
                    <a:lnTo>
                      <a:pt x="703" y="889"/>
                    </a:lnTo>
                    <a:lnTo>
                      <a:pt x="616" y="783"/>
                    </a:lnTo>
                    <a:lnTo>
                      <a:pt x="532" y="676"/>
                    </a:lnTo>
                    <a:lnTo>
                      <a:pt x="445" y="573"/>
                    </a:lnTo>
                    <a:lnTo>
                      <a:pt x="356" y="470"/>
                    </a:lnTo>
                    <a:lnTo>
                      <a:pt x="269" y="367"/>
                    </a:lnTo>
                    <a:lnTo>
                      <a:pt x="179" y="263"/>
                    </a:lnTo>
                    <a:lnTo>
                      <a:pt x="89" y="161"/>
                    </a:lnTo>
                    <a:lnTo>
                      <a:pt x="0" y="57"/>
                    </a:lnTo>
                    <a:lnTo>
                      <a:pt x="0" y="41"/>
                    </a:lnTo>
                    <a:lnTo>
                      <a:pt x="0" y="25"/>
                    </a:lnTo>
                    <a:lnTo>
                      <a:pt x="3" y="11"/>
                    </a:lnTo>
                    <a:lnTo>
                      <a:pt x="13" y="0"/>
                    </a:lnTo>
                    <a:lnTo>
                      <a:pt x="59" y="11"/>
                    </a:lnTo>
                    <a:lnTo>
                      <a:pt x="853" y="948"/>
                    </a:lnTo>
                    <a:lnTo>
                      <a:pt x="2357" y="2911"/>
                    </a:lnTo>
                    <a:lnTo>
                      <a:pt x="2403" y="2978"/>
                    </a:lnTo>
                    <a:lnTo>
                      <a:pt x="2452" y="3044"/>
                    </a:lnTo>
                    <a:lnTo>
                      <a:pt x="2504" y="3109"/>
                    </a:lnTo>
                    <a:lnTo>
                      <a:pt x="2558" y="3172"/>
                    </a:lnTo>
                    <a:lnTo>
                      <a:pt x="2610" y="3237"/>
                    </a:lnTo>
                    <a:lnTo>
                      <a:pt x="2661" y="3302"/>
                    </a:lnTo>
                    <a:lnTo>
                      <a:pt x="2710" y="3367"/>
                    </a:lnTo>
                    <a:lnTo>
                      <a:pt x="2756" y="3435"/>
                    </a:lnTo>
                    <a:lnTo>
                      <a:pt x="2742" y="345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7" name="Freeform 396">
                <a:extLst>
                  <a:ext uri="{FF2B5EF4-FFF2-40B4-BE49-F238E27FC236}">
                    <a16:creationId xmlns:a16="http://schemas.microsoft.com/office/drawing/2014/main" id="{EE276951-6CDF-CD4C-85EB-06B9D3F712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81" y="3125"/>
                <a:ext cx="1114" cy="1023"/>
              </a:xfrm>
              <a:custGeom>
                <a:avLst/>
                <a:gdLst>
                  <a:gd name="T0" fmla="*/ 0 w 4456"/>
                  <a:gd name="T1" fmla="*/ 0 h 4092"/>
                  <a:gd name="T2" fmla="*/ 0 w 4456"/>
                  <a:gd name="T3" fmla="*/ 0 h 4092"/>
                  <a:gd name="T4" fmla="*/ 0 w 4456"/>
                  <a:gd name="T5" fmla="*/ 0 h 4092"/>
                  <a:gd name="T6" fmla="*/ 0 w 4456"/>
                  <a:gd name="T7" fmla="*/ 0 h 4092"/>
                  <a:gd name="T8" fmla="*/ 0 w 4456"/>
                  <a:gd name="T9" fmla="*/ 0 h 4092"/>
                  <a:gd name="T10" fmla="*/ 0 w 4456"/>
                  <a:gd name="T11" fmla="*/ 0 h 4092"/>
                  <a:gd name="T12" fmla="*/ 0 w 4456"/>
                  <a:gd name="T13" fmla="*/ 0 h 4092"/>
                  <a:gd name="T14" fmla="*/ 0 w 4456"/>
                  <a:gd name="T15" fmla="*/ 0 h 4092"/>
                  <a:gd name="T16" fmla="*/ 0 w 4456"/>
                  <a:gd name="T17" fmla="*/ 0 h 4092"/>
                  <a:gd name="T18" fmla="*/ 0 w 4456"/>
                  <a:gd name="T19" fmla="*/ 0 h 4092"/>
                  <a:gd name="T20" fmla="*/ 0 w 4456"/>
                  <a:gd name="T21" fmla="*/ 0 h 4092"/>
                  <a:gd name="T22" fmla="*/ 0 w 4456"/>
                  <a:gd name="T23" fmla="*/ 0 h 4092"/>
                  <a:gd name="T24" fmla="*/ 0 w 4456"/>
                  <a:gd name="T25" fmla="*/ 0 h 4092"/>
                  <a:gd name="T26" fmla="*/ 0 w 4456"/>
                  <a:gd name="T27" fmla="*/ 0 h 4092"/>
                  <a:gd name="T28" fmla="*/ 0 w 4456"/>
                  <a:gd name="T29" fmla="*/ 0 h 4092"/>
                  <a:gd name="T30" fmla="*/ 0 w 4456"/>
                  <a:gd name="T31" fmla="*/ 0 h 4092"/>
                  <a:gd name="T32" fmla="*/ 0 w 4456"/>
                  <a:gd name="T33" fmla="*/ 0 h 4092"/>
                  <a:gd name="T34" fmla="*/ 0 w 4456"/>
                  <a:gd name="T35" fmla="*/ 0 h 4092"/>
                  <a:gd name="T36" fmla="*/ 0 w 4456"/>
                  <a:gd name="T37" fmla="*/ 0 h 4092"/>
                  <a:gd name="T38" fmla="*/ 0 w 4456"/>
                  <a:gd name="T39" fmla="*/ 0 h 4092"/>
                  <a:gd name="T40" fmla="*/ 0 w 4456"/>
                  <a:gd name="T41" fmla="*/ 0 h 4092"/>
                  <a:gd name="T42" fmla="*/ 0 w 4456"/>
                  <a:gd name="T43" fmla="*/ 0 h 4092"/>
                  <a:gd name="T44" fmla="*/ 0 w 4456"/>
                  <a:gd name="T45" fmla="*/ 0 h 4092"/>
                  <a:gd name="T46" fmla="*/ 0 w 4456"/>
                  <a:gd name="T47" fmla="*/ 0 h 4092"/>
                  <a:gd name="T48" fmla="*/ 0 w 4456"/>
                  <a:gd name="T49" fmla="*/ 0 h 4092"/>
                  <a:gd name="T50" fmla="*/ 0 w 4456"/>
                  <a:gd name="T51" fmla="*/ 0 h 4092"/>
                  <a:gd name="T52" fmla="*/ 0 w 4456"/>
                  <a:gd name="T53" fmla="*/ 0 h 4092"/>
                  <a:gd name="T54" fmla="*/ 0 w 4456"/>
                  <a:gd name="T55" fmla="*/ 0 h 4092"/>
                  <a:gd name="T56" fmla="*/ 0 w 4456"/>
                  <a:gd name="T57" fmla="*/ 0 h 4092"/>
                  <a:gd name="T58" fmla="*/ 0 w 4456"/>
                  <a:gd name="T59" fmla="*/ 0 h 4092"/>
                  <a:gd name="T60" fmla="*/ 0 w 4456"/>
                  <a:gd name="T61" fmla="*/ 0 h 4092"/>
                  <a:gd name="T62" fmla="*/ 0 w 4456"/>
                  <a:gd name="T63" fmla="*/ 0 h 4092"/>
                  <a:gd name="T64" fmla="*/ 0 w 4456"/>
                  <a:gd name="T65" fmla="*/ 0 h 4092"/>
                  <a:gd name="T66" fmla="*/ 0 w 4456"/>
                  <a:gd name="T67" fmla="*/ 0 h 4092"/>
                  <a:gd name="T68" fmla="*/ 0 w 4456"/>
                  <a:gd name="T69" fmla="*/ 0 h 4092"/>
                  <a:gd name="T70" fmla="*/ 0 w 4456"/>
                  <a:gd name="T71" fmla="*/ 0 h 4092"/>
                  <a:gd name="T72" fmla="*/ 0 w 4456"/>
                  <a:gd name="T73" fmla="*/ 0 h 4092"/>
                  <a:gd name="T74" fmla="*/ 0 w 4456"/>
                  <a:gd name="T75" fmla="*/ 0 h 4092"/>
                  <a:gd name="T76" fmla="*/ 0 w 4456"/>
                  <a:gd name="T77" fmla="*/ 0 h 4092"/>
                  <a:gd name="T78" fmla="*/ 0 w 4456"/>
                  <a:gd name="T79" fmla="*/ 0 h 4092"/>
                  <a:gd name="T80" fmla="*/ 0 w 4456"/>
                  <a:gd name="T81" fmla="*/ 0 h 4092"/>
                  <a:gd name="T82" fmla="*/ 0 w 4456"/>
                  <a:gd name="T83" fmla="*/ 0 h 4092"/>
                  <a:gd name="T84" fmla="*/ 0 w 4456"/>
                  <a:gd name="T85" fmla="*/ 0 h 4092"/>
                  <a:gd name="T86" fmla="*/ 0 w 4456"/>
                  <a:gd name="T87" fmla="*/ 0 h 4092"/>
                  <a:gd name="T88" fmla="*/ 0 w 4456"/>
                  <a:gd name="T89" fmla="*/ 0 h 4092"/>
                  <a:gd name="T90" fmla="*/ 0 w 4456"/>
                  <a:gd name="T91" fmla="*/ 0 h 4092"/>
                  <a:gd name="T92" fmla="*/ 0 w 4456"/>
                  <a:gd name="T93" fmla="*/ 0 h 4092"/>
                  <a:gd name="T94" fmla="*/ 0 w 4456"/>
                  <a:gd name="T95" fmla="*/ 0 h 4092"/>
                  <a:gd name="T96" fmla="*/ 0 w 4456"/>
                  <a:gd name="T97" fmla="*/ 0 h 4092"/>
                  <a:gd name="T98" fmla="*/ 0 w 4456"/>
                  <a:gd name="T99" fmla="*/ 0 h 4092"/>
                  <a:gd name="T100" fmla="*/ 0 w 4456"/>
                  <a:gd name="T101" fmla="*/ 0 h 4092"/>
                  <a:gd name="T102" fmla="*/ 0 w 4456"/>
                  <a:gd name="T103" fmla="*/ 0 h 4092"/>
                  <a:gd name="T104" fmla="*/ 0 w 4456"/>
                  <a:gd name="T105" fmla="*/ 0 h 4092"/>
                  <a:gd name="T106" fmla="*/ 0 w 4456"/>
                  <a:gd name="T107" fmla="*/ 0 h 4092"/>
                  <a:gd name="T108" fmla="*/ 0 w 4456"/>
                  <a:gd name="T109" fmla="*/ 0 h 4092"/>
                  <a:gd name="T110" fmla="*/ 0 w 4456"/>
                  <a:gd name="T111" fmla="*/ 0 h 4092"/>
                  <a:gd name="T112" fmla="*/ 0 w 4456"/>
                  <a:gd name="T113" fmla="*/ 0 h 4092"/>
                  <a:gd name="T114" fmla="*/ 0 w 4456"/>
                  <a:gd name="T115" fmla="*/ 0 h 4092"/>
                  <a:gd name="T116" fmla="*/ 0 w 4456"/>
                  <a:gd name="T117" fmla="*/ 0 h 4092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w 4456"/>
                  <a:gd name="T178" fmla="*/ 0 h 4092"/>
                  <a:gd name="T179" fmla="*/ 4456 w 4456"/>
                  <a:gd name="T180" fmla="*/ 4092 h 4092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T177" t="T178" r="T179" b="T180"/>
                <a:pathLst>
                  <a:path w="4456" h="4092">
                    <a:moveTo>
                      <a:pt x="3343" y="4035"/>
                    </a:moveTo>
                    <a:lnTo>
                      <a:pt x="3316" y="4060"/>
                    </a:lnTo>
                    <a:lnTo>
                      <a:pt x="3288" y="4074"/>
                    </a:lnTo>
                    <a:lnTo>
                      <a:pt x="3256" y="4079"/>
                    </a:lnTo>
                    <a:lnTo>
                      <a:pt x="3223" y="4079"/>
                    </a:lnTo>
                    <a:lnTo>
                      <a:pt x="3188" y="4079"/>
                    </a:lnTo>
                    <a:lnTo>
                      <a:pt x="3152" y="4079"/>
                    </a:lnTo>
                    <a:lnTo>
                      <a:pt x="3117" y="4081"/>
                    </a:lnTo>
                    <a:lnTo>
                      <a:pt x="3082" y="4092"/>
                    </a:lnTo>
                    <a:lnTo>
                      <a:pt x="3036" y="4092"/>
                    </a:lnTo>
                    <a:lnTo>
                      <a:pt x="3039" y="4062"/>
                    </a:lnTo>
                    <a:lnTo>
                      <a:pt x="3050" y="4044"/>
                    </a:lnTo>
                    <a:lnTo>
                      <a:pt x="3071" y="4032"/>
                    </a:lnTo>
                    <a:lnTo>
                      <a:pt x="3096" y="4024"/>
                    </a:lnTo>
                    <a:lnTo>
                      <a:pt x="3122" y="4021"/>
                    </a:lnTo>
                    <a:lnTo>
                      <a:pt x="3150" y="4016"/>
                    </a:lnTo>
                    <a:lnTo>
                      <a:pt x="3177" y="4008"/>
                    </a:lnTo>
                    <a:lnTo>
                      <a:pt x="3196" y="3991"/>
                    </a:lnTo>
                    <a:lnTo>
                      <a:pt x="3172" y="3954"/>
                    </a:lnTo>
                    <a:lnTo>
                      <a:pt x="3142" y="3913"/>
                    </a:lnTo>
                    <a:lnTo>
                      <a:pt x="3112" y="3875"/>
                    </a:lnTo>
                    <a:lnTo>
                      <a:pt x="3082" y="3837"/>
                    </a:lnTo>
                    <a:lnTo>
                      <a:pt x="3050" y="3799"/>
                    </a:lnTo>
                    <a:lnTo>
                      <a:pt x="3017" y="3760"/>
                    </a:lnTo>
                    <a:lnTo>
                      <a:pt x="2985" y="3723"/>
                    </a:lnTo>
                    <a:lnTo>
                      <a:pt x="2955" y="3684"/>
                    </a:lnTo>
                    <a:lnTo>
                      <a:pt x="2939" y="3718"/>
                    </a:lnTo>
                    <a:lnTo>
                      <a:pt x="2909" y="3734"/>
                    </a:lnTo>
                    <a:lnTo>
                      <a:pt x="2870" y="3742"/>
                    </a:lnTo>
                    <a:lnTo>
                      <a:pt x="2833" y="3748"/>
                    </a:lnTo>
                    <a:lnTo>
                      <a:pt x="2803" y="3753"/>
                    </a:lnTo>
                    <a:lnTo>
                      <a:pt x="2789" y="3764"/>
                    </a:lnTo>
                    <a:lnTo>
                      <a:pt x="2797" y="3788"/>
                    </a:lnTo>
                    <a:lnTo>
                      <a:pt x="2838" y="3832"/>
                    </a:lnTo>
                    <a:lnTo>
                      <a:pt x="2849" y="3853"/>
                    </a:lnTo>
                    <a:lnTo>
                      <a:pt x="2865" y="3864"/>
                    </a:lnTo>
                    <a:lnTo>
                      <a:pt x="2884" y="3873"/>
                    </a:lnTo>
                    <a:lnTo>
                      <a:pt x="2903" y="3873"/>
                    </a:lnTo>
                    <a:lnTo>
                      <a:pt x="2925" y="3873"/>
                    </a:lnTo>
                    <a:lnTo>
                      <a:pt x="2946" y="3875"/>
                    </a:lnTo>
                    <a:lnTo>
                      <a:pt x="2965" y="3878"/>
                    </a:lnTo>
                    <a:lnTo>
                      <a:pt x="2981" y="3889"/>
                    </a:lnTo>
                    <a:lnTo>
                      <a:pt x="2960" y="3908"/>
                    </a:lnTo>
                    <a:lnTo>
                      <a:pt x="2944" y="3931"/>
                    </a:lnTo>
                    <a:lnTo>
                      <a:pt x="2935" y="3959"/>
                    </a:lnTo>
                    <a:lnTo>
                      <a:pt x="2935" y="3989"/>
                    </a:lnTo>
                    <a:lnTo>
                      <a:pt x="2903" y="3997"/>
                    </a:lnTo>
                    <a:lnTo>
                      <a:pt x="2875" y="3991"/>
                    </a:lnTo>
                    <a:lnTo>
                      <a:pt x="2854" y="3981"/>
                    </a:lnTo>
                    <a:lnTo>
                      <a:pt x="2838" y="3961"/>
                    </a:lnTo>
                    <a:lnTo>
                      <a:pt x="2822" y="3943"/>
                    </a:lnTo>
                    <a:lnTo>
                      <a:pt x="2803" y="3926"/>
                    </a:lnTo>
                    <a:lnTo>
                      <a:pt x="2778" y="3915"/>
                    </a:lnTo>
                    <a:lnTo>
                      <a:pt x="2748" y="3915"/>
                    </a:lnTo>
                    <a:lnTo>
                      <a:pt x="2778" y="3885"/>
                    </a:lnTo>
                    <a:lnTo>
                      <a:pt x="2745" y="3845"/>
                    </a:lnTo>
                    <a:lnTo>
                      <a:pt x="2718" y="3802"/>
                    </a:lnTo>
                    <a:lnTo>
                      <a:pt x="2688" y="3758"/>
                    </a:lnTo>
                    <a:lnTo>
                      <a:pt x="2658" y="3712"/>
                    </a:lnTo>
                    <a:lnTo>
                      <a:pt x="2628" y="3672"/>
                    </a:lnTo>
                    <a:lnTo>
                      <a:pt x="2593" y="3636"/>
                    </a:lnTo>
                    <a:lnTo>
                      <a:pt x="2553" y="3603"/>
                    </a:lnTo>
                    <a:lnTo>
                      <a:pt x="2509" y="3582"/>
                    </a:lnTo>
                    <a:lnTo>
                      <a:pt x="2523" y="3552"/>
                    </a:lnTo>
                    <a:lnTo>
                      <a:pt x="2526" y="3522"/>
                    </a:lnTo>
                    <a:lnTo>
                      <a:pt x="2515" y="3497"/>
                    </a:lnTo>
                    <a:lnTo>
                      <a:pt x="2498" y="3471"/>
                    </a:lnTo>
                    <a:lnTo>
                      <a:pt x="2477" y="3448"/>
                    </a:lnTo>
                    <a:lnTo>
                      <a:pt x="2452" y="3424"/>
                    </a:lnTo>
                    <a:lnTo>
                      <a:pt x="2431" y="3402"/>
                    </a:lnTo>
                    <a:lnTo>
                      <a:pt x="2411" y="3378"/>
                    </a:lnTo>
                    <a:lnTo>
                      <a:pt x="2403" y="3383"/>
                    </a:lnTo>
                    <a:lnTo>
                      <a:pt x="2392" y="3386"/>
                    </a:lnTo>
                    <a:lnTo>
                      <a:pt x="2381" y="3388"/>
                    </a:lnTo>
                    <a:lnTo>
                      <a:pt x="2368" y="3388"/>
                    </a:lnTo>
                    <a:lnTo>
                      <a:pt x="2357" y="3388"/>
                    </a:lnTo>
                    <a:lnTo>
                      <a:pt x="2346" y="3392"/>
                    </a:lnTo>
                    <a:lnTo>
                      <a:pt x="2335" y="3397"/>
                    </a:lnTo>
                    <a:lnTo>
                      <a:pt x="2325" y="3405"/>
                    </a:lnTo>
                    <a:lnTo>
                      <a:pt x="2314" y="3397"/>
                    </a:lnTo>
                    <a:lnTo>
                      <a:pt x="2311" y="3386"/>
                    </a:lnTo>
                    <a:lnTo>
                      <a:pt x="2314" y="3372"/>
                    </a:lnTo>
                    <a:lnTo>
                      <a:pt x="2314" y="3362"/>
                    </a:lnTo>
                    <a:lnTo>
                      <a:pt x="2327" y="3351"/>
                    </a:lnTo>
                    <a:lnTo>
                      <a:pt x="2344" y="3342"/>
                    </a:lnTo>
                    <a:lnTo>
                      <a:pt x="2357" y="3332"/>
                    </a:lnTo>
                    <a:lnTo>
                      <a:pt x="2371" y="3318"/>
                    </a:lnTo>
                    <a:lnTo>
                      <a:pt x="2352" y="3283"/>
                    </a:lnTo>
                    <a:lnTo>
                      <a:pt x="2327" y="3261"/>
                    </a:lnTo>
                    <a:lnTo>
                      <a:pt x="2302" y="3253"/>
                    </a:lnTo>
                    <a:lnTo>
                      <a:pt x="2276" y="3250"/>
                    </a:lnTo>
                    <a:lnTo>
                      <a:pt x="2246" y="3256"/>
                    </a:lnTo>
                    <a:lnTo>
                      <a:pt x="2216" y="3261"/>
                    </a:lnTo>
                    <a:lnTo>
                      <a:pt x="2184" y="3270"/>
                    </a:lnTo>
                    <a:lnTo>
                      <a:pt x="2154" y="3272"/>
                    </a:lnTo>
                    <a:lnTo>
                      <a:pt x="2154" y="3253"/>
                    </a:lnTo>
                    <a:lnTo>
                      <a:pt x="2161" y="3240"/>
                    </a:lnTo>
                    <a:lnTo>
                      <a:pt x="2173" y="3229"/>
                    </a:lnTo>
                    <a:lnTo>
                      <a:pt x="2186" y="3217"/>
                    </a:lnTo>
                    <a:lnTo>
                      <a:pt x="2200" y="3212"/>
                    </a:lnTo>
                    <a:lnTo>
                      <a:pt x="2216" y="3205"/>
                    </a:lnTo>
                    <a:lnTo>
                      <a:pt x="2230" y="3196"/>
                    </a:lnTo>
                    <a:lnTo>
                      <a:pt x="2240" y="3188"/>
                    </a:lnTo>
                    <a:lnTo>
                      <a:pt x="2230" y="3164"/>
                    </a:lnTo>
                    <a:lnTo>
                      <a:pt x="2221" y="3139"/>
                    </a:lnTo>
                    <a:lnTo>
                      <a:pt x="2208" y="3117"/>
                    </a:lnTo>
                    <a:lnTo>
                      <a:pt x="2186" y="3099"/>
                    </a:lnTo>
                    <a:lnTo>
                      <a:pt x="2173" y="3095"/>
                    </a:lnTo>
                    <a:lnTo>
                      <a:pt x="2156" y="3095"/>
                    </a:lnTo>
                    <a:lnTo>
                      <a:pt x="2145" y="3101"/>
                    </a:lnTo>
                    <a:lnTo>
                      <a:pt x="2131" y="3106"/>
                    </a:lnTo>
                    <a:lnTo>
                      <a:pt x="2118" y="3109"/>
                    </a:lnTo>
                    <a:lnTo>
                      <a:pt x="2108" y="3112"/>
                    </a:lnTo>
                    <a:lnTo>
                      <a:pt x="2094" y="3106"/>
                    </a:lnTo>
                    <a:lnTo>
                      <a:pt x="2083" y="3099"/>
                    </a:lnTo>
                    <a:lnTo>
                      <a:pt x="2129" y="3028"/>
                    </a:lnTo>
                    <a:lnTo>
                      <a:pt x="2099" y="2988"/>
                    </a:lnTo>
                    <a:lnTo>
                      <a:pt x="2066" y="2946"/>
                    </a:lnTo>
                    <a:lnTo>
                      <a:pt x="2031" y="2908"/>
                    </a:lnTo>
                    <a:lnTo>
                      <a:pt x="1999" y="2868"/>
                    </a:lnTo>
                    <a:lnTo>
                      <a:pt x="1969" y="2827"/>
                    </a:lnTo>
                    <a:lnTo>
                      <a:pt x="1947" y="2783"/>
                    </a:lnTo>
                    <a:lnTo>
                      <a:pt x="1933" y="2740"/>
                    </a:lnTo>
                    <a:lnTo>
                      <a:pt x="1930" y="2694"/>
                    </a:lnTo>
                    <a:lnTo>
                      <a:pt x="1955" y="2691"/>
                    </a:lnTo>
                    <a:lnTo>
                      <a:pt x="1977" y="2686"/>
                    </a:lnTo>
                    <a:lnTo>
                      <a:pt x="1999" y="2674"/>
                    </a:lnTo>
                    <a:lnTo>
                      <a:pt x="2018" y="2662"/>
                    </a:lnTo>
                    <a:lnTo>
                      <a:pt x="2037" y="2644"/>
                    </a:lnTo>
                    <a:lnTo>
                      <a:pt x="2055" y="2628"/>
                    </a:lnTo>
                    <a:lnTo>
                      <a:pt x="2072" y="2612"/>
                    </a:lnTo>
                    <a:lnTo>
                      <a:pt x="2089" y="2593"/>
                    </a:lnTo>
                    <a:lnTo>
                      <a:pt x="2043" y="2526"/>
                    </a:lnTo>
                    <a:lnTo>
                      <a:pt x="1995" y="2455"/>
                    </a:lnTo>
                    <a:lnTo>
                      <a:pt x="1950" y="2387"/>
                    </a:lnTo>
                    <a:lnTo>
                      <a:pt x="1901" y="2319"/>
                    </a:lnTo>
                    <a:lnTo>
                      <a:pt x="1852" y="2251"/>
                    </a:lnTo>
                    <a:lnTo>
                      <a:pt x="1801" y="2186"/>
                    </a:lnTo>
                    <a:lnTo>
                      <a:pt x="1748" y="2119"/>
                    </a:lnTo>
                    <a:lnTo>
                      <a:pt x="1697" y="2050"/>
                    </a:lnTo>
                    <a:lnTo>
                      <a:pt x="1646" y="1985"/>
                    </a:lnTo>
                    <a:lnTo>
                      <a:pt x="1595" y="1918"/>
                    </a:lnTo>
                    <a:lnTo>
                      <a:pt x="1540" y="1852"/>
                    </a:lnTo>
                    <a:lnTo>
                      <a:pt x="1489" y="1784"/>
                    </a:lnTo>
                    <a:lnTo>
                      <a:pt x="1436" y="1717"/>
                    </a:lnTo>
                    <a:lnTo>
                      <a:pt x="1385" y="1651"/>
                    </a:lnTo>
                    <a:lnTo>
                      <a:pt x="1334" y="1583"/>
                    </a:lnTo>
                    <a:lnTo>
                      <a:pt x="1281" y="1516"/>
                    </a:lnTo>
                    <a:lnTo>
                      <a:pt x="1249" y="1480"/>
                    </a:lnTo>
                    <a:lnTo>
                      <a:pt x="1214" y="1445"/>
                    </a:lnTo>
                    <a:lnTo>
                      <a:pt x="1179" y="1412"/>
                    </a:lnTo>
                    <a:lnTo>
                      <a:pt x="1140" y="1382"/>
                    </a:lnTo>
                    <a:lnTo>
                      <a:pt x="1103" y="1361"/>
                    </a:lnTo>
                    <a:lnTo>
                      <a:pt x="1062" y="1350"/>
                    </a:lnTo>
                    <a:lnTo>
                      <a:pt x="1016" y="1350"/>
                    </a:lnTo>
                    <a:lnTo>
                      <a:pt x="967" y="1369"/>
                    </a:lnTo>
                    <a:lnTo>
                      <a:pt x="939" y="1329"/>
                    </a:lnTo>
                    <a:lnTo>
                      <a:pt x="910" y="1290"/>
                    </a:lnTo>
                    <a:lnTo>
                      <a:pt x="880" y="1252"/>
                    </a:lnTo>
                    <a:lnTo>
                      <a:pt x="850" y="1214"/>
                    </a:lnTo>
                    <a:lnTo>
                      <a:pt x="817" y="1176"/>
                    </a:lnTo>
                    <a:lnTo>
                      <a:pt x="787" y="1140"/>
                    </a:lnTo>
                    <a:lnTo>
                      <a:pt x="757" y="1103"/>
                    </a:lnTo>
                    <a:lnTo>
                      <a:pt x="725" y="1068"/>
                    </a:lnTo>
                    <a:lnTo>
                      <a:pt x="695" y="1029"/>
                    </a:lnTo>
                    <a:lnTo>
                      <a:pt x="665" y="994"/>
                    </a:lnTo>
                    <a:lnTo>
                      <a:pt x="635" y="957"/>
                    </a:lnTo>
                    <a:lnTo>
                      <a:pt x="605" y="918"/>
                    </a:lnTo>
                    <a:lnTo>
                      <a:pt x="576" y="880"/>
                    </a:lnTo>
                    <a:lnTo>
                      <a:pt x="549" y="839"/>
                    </a:lnTo>
                    <a:lnTo>
                      <a:pt x="521" y="798"/>
                    </a:lnTo>
                    <a:lnTo>
                      <a:pt x="496" y="758"/>
                    </a:lnTo>
                    <a:lnTo>
                      <a:pt x="380" y="756"/>
                    </a:lnTo>
                    <a:lnTo>
                      <a:pt x="378" y="733"/>
                    </a:lnTo>
                    <a:lnTo>
                      <a:pt x="385" y="720"/>
                    </a:lnTo>
                    <a:lnTo>
                      <a:pt x="404" y="712"/>
                    </a:lnTo>
                    <a:lnTo>
                      <a:pt x="424" y="703"/>
                    </a:lnTo>
                    <a:lnTo>
                      <a:pt x="443" y="696"/>
                    </a:lnTo>
                    <a:lnTo>
                      <a:pt x="456" y="685"/>
                    </a:lnTo>
                    <a:lnTo>
                      <a:pt x="456" y="666"/>
                    </a:lnTo>
                    <a:lnTo>
                      <a:pt x="440" y="641"/>
                    </a:lnTo>
                    <a:lnTo>
                      <a:pt x="426" y="603"/>
                    </a:lnTo>
                    <a:lnTo>
                      <a:pt x="404" y="581"/>
                    </a:lnTo>
                    <a:lnTo>
                      <a:pt x="380" y="571"/>
                    </a:lnTo>
                    <a:lnTo>
                      <a:pt x="353" y="568"/>
                    </a:lnTo>
                    <a:lnTo>
                      <a:pt x="325" y="568"/>
                    </a:lnTo>
                    <a:lnTo>
                      <a:pt x="296" y="568"/>
                    </a:lnTo>
                    <a:lnTo>
                      <a:pt x="267" y="562"/>
                    </a:lnTo>
                    <a:lnTo>
                      <a:pt x="239" y="552"/>
                    </a:lnTo>
                    <a:lnTo>
                      <a:pt x="247" y="538"/>
                    </a:lnTo>
                    <a:lnTo>
                      <a:pt x="261" y="527"/>
                    </a:lnTo>
                    <a:lnTo>
                      <a:pt x="279" y="514"/>
                    </a:lnTo>
                    <a:lnTo>
                      <a:pt x="296" y="502"/>
                    </a:lnTo>
                    <a:lnTo>
                      <a:pt x="307" y="490"/>
                    </a:lnTo>
                    <a:lnTo>
                      <a:pt x="313" y="476"/>
                    </a:lnTo>
                    <a:lnTo>
                      <a:pt x="307" y="460"/>
                    </a:lnTo>
                    <a:lnTo>
                      <a:pt x="285" y="437"/>
                    </a:lnTo>
                    <a:lnTo>
                      <a:pt x="272" y="414"/>
                    </a:lnTo>
                    <a:lnTo>
                      <a:pt x="255" y="400"/>
                    </a:lnTo>
                    <a:lnTo>
                      <a:pt x="237" y="394"/>
                    </a:lnTo>
                    <a:lnTo>
                      <a:pt x="214" y="391"/>
                    </a:lnTo>
                    <a:lnTo>
                      <a:pt x="193" y="391"/>
                    </a:lnTo>
                    <a:lnTo>
                      <a:pt x="168" y="394"/>
                    </a:lnTo>
                    <a:lnTo>
                      <a:pt x="147" y="394"/>
                    </a:lnTo>
                    <a:lnTo>
                      <a:pt x="125" y="391"/>
                    </a:lnTo>
                    <a:lnTo>
                      <a:pt x="133" y="372"/>
                    </a:lnTo>
                    <a:lnTo>
                      <a:pt x="149" y="356"/>
                    </a:lnTo>
                    <a:lnTo>
                      <a:pt x="168" y="340"/>
                    </a:lnTo>
                    <a:lnTo>
                      <a:pt x="184" y="321"/>
                    </a:lnTo>
                    <a:lnTo>
                      <a:pt x="0" y="44"/>
                    </a:lnTo>
                    <a:lnTo>
                      <a:pt x="11" y="30"/>
                    </a:lnTo>
                    <a:lnTo>
                      <a:pt x="22" y="12"/>
                    </a:lnTo>
                    <a:lnTo>
                      <a:pt x="36" y="0"/>
                    </a:lnTo>
                    <a:lnTo>
                      <a:pt x="57" y="3"/>
                    </a:lnTo>
                    <a:lnTo>
                      <a:pt x="285" y="321"/>
                    </a:lnTo>
                    <a:lnTo>
                      <a:pt x="342" y="324"/>
                    </a:lnTo>
                    <a:lnTo>
                      <a:pt x="355" y="410"/>
                    </a:lnTo>
                    <a:lnTo>
                      <a:pt x="391" y="467"/>
                    </a:lnTo>
                    <a:lnTo>
                      <a:pt x="429" y="525"/>
                    </a:lnTo>
                    <a:lnTo>
                      <a:pt x="464" y="581"/>
                    </a:lnTo>
                    <a:lnTo>
                      <a:pt x="503" y="638"/>
                    </a:lnTo>
                    <a:lnTo>
                      <a:pt x="540" y="696"/>
                    </a:lnTo>
                    <a:lnTo>
                      <a:pt x="579" y="752"/>
                    </a:lnTo>
                    <a:lnTo>
                      <a:pt x="619" y="807"/>
                    </a:lnTo>
                    <a:lnTo>
                      <a:pt x="660" y="864"/>
                    </a:lnTo>
                    <a:lnTo>
                      <a:pt x="701" y="918"/>
                    </a:lnTo>
                    <a:lnTo>
                      <a:pt x="741" y="975"/>
                    </a:lnTo>
                    <a:lnTo>
                      <a:pt x="785" y="1029"/>
                    </a:lnTo>
                    <a:lnTo>
                      <a:pt x="828" y="1084"/>
                    </a:lnTo>
                    <a:lnTo>
                      <a:pt x="872" y="1138"/>
                    </a:lnTo>
                    <a:lnTo>
                      <a:pt x="918" y="1193"/>
                    </a:lnTo>
                    <a:lnTo>
                      <a:pt x="964" y="1244"/>
                    </a:lnTo>
                    <a:lnTo>
                      <a:pt x="1011" y="1299"/>
                    </a:lnTo>
                    <a:lnTo>
                      <a:pt x="1064" y="1285"/>
                    </a:lnTo>
                    <a:lnTo>
                      <a:pt x="1117" y="1287"/>
                    </a:lnTo>
                    <a:lnTo>
                      <a:pt x="1163" y="1306"/>
                    </a:lnTo>
                    <a:lnTo>
                      <a:pt x="1209" y="1334"/>
                    </a:lnTo>
                    <a:lnTo>
                      <a:pt x="1249" y="1369"/>
                    </a:lnTo>
                    <a:lnTo>
                      <a:pt x="1290" y="1407"/>
                    </a:lnTo>
                    <a:lnTo>
                      <a:pt x="1330" y="1447"/>
                    </a:lnTo>
                    <a:lnTo>
                      <a:pt x="1369" y="1488"/>
                    </a:lnTo>
                    <a:lnTo>
                      <a:pt x="2161" y="2536"/>
                    </a:lnTo>
                    <a:lnTo>
                      <a:pt x="2159" y="2566"/>
                    </a:lnTo>
                    <a:lnTo>
                      <a:pt x="2148" y="2596"/>
                    </a:lnTo>
                    <a:lnTo>
                      <a:pt x="2134" y="2626"/>
                    </a:lnTo>
                    <a:lnTo>
                      <a:pt x="2118" y="2651"/>
                    </a:lnTo>
                    <a:lnTo>
                      <a:pt x="2096" y="2674"/>
                    </a:lnTo>
                    <a:lnTo>
                      <a:pt x="2072" y="2694"/>
                    </a:lnTo>
                    <a:lnTo>
                      <a:pt x="2045" y="2710"/>
                    </a:lnTo>
                    <a:lnTo>
                      <a:pt x="2015" y="2721"/>
                    </a:lnTo>
                    <a:lnTo>
                      <a:pt x="2034" y="2762"/>
                    </a:lnTo>
                    <a:lnTo>
                      <a:pt x="2055" y="2803"/>
                    </a:lnTo>
                    <a:lnTo>
                      <a:pt x="2080" y="2843"/>
                    </a:lnTo>
                    <a:lnTo>
                      <a:pt x="2110" y="2881"/>
                    </a:lnTo>
                    <a:lnTo>
                      <a:pt x="2138" y="2916"/>
                    </a:lnTo>
                    <a:lnTo>
                      <a:pt x="2170" y="2954"/>
                    </a:lnTo>
                    <a:lnTo>
                      <a:pt x="2200" y="2993"/>
                    </a:lnTo>
                    <a:lnTo>
                      <a:pt x="2230" y="3028"/>
                    </a:lnTo>
                    <a:lnTo>
                      <a:pt x="2344" y="3014"/>
                    </a:lnTo>
                    <a:lnTo>
                      <a:pt x="2272" y="3085"/>
                    </a:lnTo>
                    <a:lnTo>
                      <a:pt x="2290" y="3099"/>
                    </a:lnTo>
                    <a:lnTo>
                      <a:pt x="2302" y="3115"/>
                    </a:lnTo>
                    <a:lnTo>
                      <a:pt x="2316" y="3134"/>
                    </a:lnTo>
                    <a:lnTo>
                      <a:pt x="2330" y="3150"/>
                    </a:lnTo>
                    <a:lnTo>
                      <a:pt x="2346" y="3164"/>
                    </a:lnTo>
                    <a:lnTo>
                      <a:pt x="2362" y="3171"/>
                    </a:lnTo>
                    <a:lnTo>
                      <a:pt x="2381" y="3171"/>
                    </a:lnTo>
                    <a:lnTo>
                      <a:pt x="2403" y="3159"/>
                    </a:lnTo>
                    <a:lnTo>
                      <a:pt x="2411" y="3159"/>
                    </a:lnTo>
                    <a:lnTo>
                      <a:pt x="2417" y="3164"/>
                    </a:lnTo>
                    <a:lnTo>
                      <a:pt x="2422" y="3169"/>
                    </a:lnTo>
                    <a:lnTo>
                      <a:pt x="2427" y="3175"/>
                    </a:lnTo>
                    <a:lnTo>
                      <a:pt x="2408" y="3191"/>
                    </a:lnTo>
                    <a:lnTo>
                      <a:pt x="2401" y="3207"/>
                    </a:lnTo>
                    <a:lnTo>
                      <a:pt x="2403" y="3224"/>
                    </a:lnTo>
                    <a:lnTo>
                      <a:pt x="2411" y="3240"/>
                    </a:lnTo>
                    <a:lnTo>
                      <a:pt x="2425" y="3256"/>
                    </a:lnTo>
                    <a:lnTo>
                      <a:pt x="2438" y="3272"/>
                    </a:lnTo>
                    <a:lnTo>
                      <a:pt x="2450" y="3288"/>
                    </a:lnTo>
                    <a:lnTo>
                      <a:pt x="2457" y="3305"/>
                    </a:lnTo>
                    <a:lnTo>
                      <a:pt x="2556" y="3321"/>
                    </a:lnTo>
                    <a:lnTo>
                      <a:pt x="2553" y="3335"/>
                    </a:lnTo>
                    <a:lnTo>
                      <a:pt x="2544" y="3346"/>
                    </a:lnTo>
                    <a:lnTo>
                      <a:pt x="2533" y="3356"/>
                    </a:lnTo>
                    <a:lnTo>
                      <a:pt x="2523" y="3365"/>
                    </a:lnTo>
                    <a:lnTo>
                      <a:pt x="2515" y="3372"/>
                    </a:lnTo>
                    <a:lnTo>
                      <a:pt x="2509" y="3383"/>
                    </a:lnTo>
                    <a:lnTo>
                      <a:pt x="2512" y="3395"/>
                    </a:lnTo>
                    <a:lnTo>
                      <a:pt x="2526" y="3408"/>
                    </a:lnTo>
                    <a:lnTo>
                      <a:pt x="2537" y="3432"/>
                    </a:lnTo>
                    <a:lnTo>
                      <a:pt x="2556" y="3454"/>
                    </a:lnTo>
                    <a:lnTo>
                      <a:pt x="2577" y="3473"/>
                    </a:lnTo>
                    <a:lnTo>
                      <a:pt x="2596" y="3495"/>
                    </a:lnTo>
                    <a:lnTo>
                      <a:pt x="2612" y="3487"/>
                    </a:lnTo>
                    <a:lnTo>
                      <a:pt x="2634" y="3481"/>
                    </a:lnTo>
                    <a:lnTo>
                      <a:pt x="2653" y="3481"/>
                    </a:lnTo>
                    <a:lnTo>
                      <a:pt x="2674" y="3481"/>
                    </a:lnTo>
                    <a:lnTo>
                      <a:pt x="2697" y="3481"/>
                    </a:lnTo>
                    <a:lnTo>
                      <a:pt x="2718" y="3481"/>
                    </a:lnTo>
                    <a:lnTo>
                      <a:pt x="2738" y="3476"/>
                    </a:lnTo>
                    <a:lnTo>
                      <a:pt x="2754" y="3467"/>
                    </a:lnTo>
                    <a:lnTo>
                      <a:pt x="2732" y="3430"/>
                    </a:lnTo>
                    <a:lnTo>
                      <a:pt x="2710" y="3397"/>
                    </a:lnTo>
                    <a:lnTo>
                      <a:pt x="2686" y="3365"/>
                    </a:lnTo>
                    <a:lnTo>
                      <a:pt x="2662" y="3332"/>
                    </a:lnTo>
                    <a:lnTo>
                      <a:pt x="2637" y="3302"/>
                    </a:lnTo>
                    <a:lnTo>
                      <a:pt x="2607" y="3270"/>
                    </a:lnTo>
                    <a:lnTo>
                      <a:pt x="2577" y="3237"/>
                    </a:lnTo>
                    <a:lnTo>
                      <a:pt x="2542" y="3205"/>
                    </a:lnTo>
                    <a:lnTo>
                      <a:pt x="2509" y="3141"/>
                    </a:lnTo>
                    <a:lnTo>
                      <a:pt x="2468" y="3082"/>
                    </a:lnTo>
                    <a:lnTo>
                      <a:pt x="2427" y="3023"/>
                    </a:lnTo>
                    <a:lnTo>
                      <a:pt x="2385" y="2963"/>
                    </a:lnTo>
                    <a:lnTo>
                      <a:pt x="2341" y="2903"/>
                    </a:lnTo>
                    <a:lnTo>
                      <a:pt x="2302" y="2843"/>
                    </a:lnTo>
                    <a:lnTo>
                      <a:pt x="2270" y="2778"/>
                    </a:lnTo>
                    <a:lnTo>
                      <a:pt x="2246" y="2713"/>
                    </a:lnTo>
                    <a:lnTo>
                      <a:pt x="2256" y="2702"/>
                    </a:lnTo>
                    <a:lnTo>
                      <a:pt x="2267" y="2697"/>
                    </a:lnTo>
                    <a:lnTo>
                      <a:pt x="2279" y="2697"/>
                    </a:lnTo>
                    <a:lnTo>
                      <a:pt x="2292" y="2697"/>
                    </a:lnTo>
                    <a:lnTo>
                      <a:pt x="2341" y="2780"/>
                    </a:lnTo>
                    <a:lnTo>
                      <a:pt x="2392" y="2865"/>
                    </a:lnTo>
                    <a:lnTo>
                      <a:pt x="2447" y="2946"/>
                    </a:lnTo>
                    <a:lnTo>
                      <a:pt x="2503" y="3028"/>
                    </a:lnTo>
                    <a:lnTo>
                      <a:pt x="2566" y="3106"/>
                    </a:lnTo>
                    <a:lnTo>
                      <a:pt x="2628" y="3185"/>
                    </a:lnTo>
                    <a:lnTo>
                      <a:pt x="2692" y="3264"/>
                    </a:lnTo>
                    <a:lnTo>
                      <a:pt x="2757" y="3340"/>
                    </a:lnTo>
                    <a:lnTo>
                      <a:pt x="2822" y="3418"/>
                    </a:lnTo>
                    <a:lnTo>
                      <a:pt x="2886" y="3495"/>
                    </a:lnTo>
                    <a:lnTo>
                      <a:pt x="2955" y="3573"/>
                    </a:lnTo>
                    <a:lnTo>
                      <a:pt x="3020" y="3649"/>
                    </a:lnTo>
                    <a:lnTo>
                      <a:pt x="3082" y="3728"/>
                    </a:lnTo>
                    <a:lnTo>
                      <a:pt x="3147" y="3804"/>
                    </a:lnTo>
                    <a:lnTo>
                      <a:pt x="3207" y="3885"/>
                    </a:lnTo>
                    <a:lnTo>
                      <a:pt x="3267" y="3965"/>
                    </a:lnTo>
                    <a:lnTo>
                      <a:pt x="3302" y="3968"/>
                    </a:lnTo>
                    <a:lnTo>
                      <a:pt x="3337" y="3968"/>
                    </a:lnTo>
                    <a:lnTo>
                      <a:pt x="3371" y="3968"/>
                    </a:lnTo>
                    <a:lnTo>
                      <a:pt x="3406" y="3961"/>
                    </a:lnTo>
                    <a:lnTo>
                      <a:pt x="3438" y="3954"/>
                    </a:lnTo>
                    <a:lnTo>
                      <a:pt x="3471" y="3945"/>
                    </a:lnTo>
                    <a:lnTo>
                      <a:pt x="3503" y="3938"/>
                    </a:lnTo>
                    <a:lnTo>
                      <a:pt x="3535" y="3926"/>
                    </a:lnTo>
                    <a:lnTo>
                      <a:pt x="3568" y="3915"/>
                    </a:lnTo>
                    <a:lnTo>
                      <a:pt x="3600" y="3905"/>
                    </a:lnTo>
                    <a:lnTo>
                      <a:pt x="3634" y="3894"/>
                    </a:lnTo>
                    <a:lnTo>
                      <a:pt x="3666" y="3883"/>
                    </a:lnTo>
                    <a:lnTo>
                      <a:pt x="3701" y="3875"/>
                    </a:lnTo>
                    <a:lnTo>
                      <a:pt x="3734" y="3867"/>
                    </a:lnTo>
                    <a:lnTo>
                      <a:pt x="3769" y="3861"/>
                    </a:lnTo>
                    <a:lnTo>
                      <a:pt x="3805" y="3855"/>
                    </a:lnTo>
                    <a:lnTo>
                      <a:pt x="4456" y="3704"/>
                    </a:lnTo>
                    <a:lnTo>
                      <a:pt x="4397" y="3764"/>
                    </a:lnTo>
                    <a:lnTo>
                      <a:pt x="3343" y="4035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8" name="Freeform 397">
                <a:extLst>
                  <a:ext uri="{FF2B5EF4-FFF2-40B4-BE49-F238E27FC236}">
                    <a16:creationId xmlns:a16="http://schemas.microsoft.com/office/drawing/2014/main" id="{E81B40FB-9BA8-5A4A-B364-0637D16952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04" y="3793"/>
                <a:ext cx="309" cy="179"/>
              </a:xfrm>
              <a:custGeom>
                <a:avLst/>
                <a:gdLst>
                  <a:gd name="T0" fmla="*/ 0 w 1235"/>
                  <a:gd name="T1" fmla="*/ 0 h 717"/>
                  <a:gd name="T2" fmla="*/ 0 w 1235"/>
                  <a:gd name="T3" fmla="*/ 0 h 717"/>
                  <a:gd name="T4" fmla="*/ 0 w 1235"/>
                  <a:gd name="T5" fmla="*/ 0 h 717"/>
                  <a:gd name="T6" fmla="*/ 0 w 1235"/>
                  <a:gd name="T7" fmla="*/ 0 h 717"/>
                  <a:gd name="T8" fmla="*/ 0 w 1235"/>
                  <a:gd name="T9" fmla="*/ 0 h 717"/>
                  <a:gd name="T10" fmla="*/ 0 w 1235"/>
                  <a:gd name="T11" fmla="*/ 0 h 717"/>
                  <a:gd name="T12" fmla="*/ 0 w 1235"/>
                  <a:gd name="T13" fmla="*/ 0 h 717"/>
                  <a:gd name="T14" fmla="*/ 0 w 1235"/>
                  <a:gd name="T15" fmla="*/ 0 h 717"/>
                  <a:gd name="T16" fmla="*/ 0 w 1235"/>
                  <a:gd name="T17" fmla="*/ 0 h 717"/>
                  <a:gd name="T18" fmla="*/ 0 w 1235"/>
                  <a:gd name="T19" fmla="*/ 0 h 717"/>
                  <a:gd name="T20" fmla="*/ 0 w 1235"/>
                  <a:gd name="T21" fmla="*/ 0 h 717"/>
                  <a:gd name="T22" fmla="*/ 0 w 1235"/>
                  <a:gd name="T23" fmla="*/ 0 h 717"/>
                  <a:gd name="T24" fmla="*/ 0 w 1235"/>
                  <a:gd name="T25" fmla="*/ 0 h 717"/>
                  <a:gd name="T26" fmla="*/ 0 w 1235"/>
                  <a:gd name="T27" fmla="*/ 0 h 717"/>
                  <a:gd name="T28" fmla="*/ 0 w 1235"/>
                  <a:gd name="T29" fmla="*/ 0 h 717"/>
                  <a:gd name="T30" fmla="*/ 0 w 1235"/>
                  <a:gd name="T31" fmla="*/ 0 h 717"/>
                  <a:gd name="T32" fmla="*/ 0 w 1235"/>
                  <a:gd name="T33" fmla="*/ 0 h 717"/>
                  <a:gd name="T34" fmla="*/ 0 w 1235"/>
                  <a:gd name="T35" fmla="*/ 0 h 717"/>
                  <a:gd name="T36" fmla="*/ 0 w 1235"/>
                  <a:gd name="T37" fmla="*/ 0 h 717"/>
                  <a:gd name="T38" fmla="*/ 0 w 1235"/>
                  <a:gd name="T39" fmla="*/ 0 h 717"/>
                  <a:gd name="T40" fmla="*/ 0 w 1235"/>
                  <a:gd name="T41" fmla="*/ 0 h 717"/>
                  <a:gd name="T42" fmla="*/ 0 w 1235"/>
                  <a:gd name="T43" fmla="*/ 0 h 717"/>
                  <a:gd name="T44" fmla="*/ 0 w 1235"/>
                  <a:gd name="T45" fmla="*/ 0 h 717"/>
                  <a:gd name="T46" fmla="*/ 0 w 1235"/>
                  <a:gd name="T47" fmla="*/ 0 h 717"/>
                  <a:gd name="T48" fmla="*/ 0 w 1235"/>
                  <a:gd name="T49" fmla="*/ 0 h 717"/>
                  <a:gd name="T50" fmla="*/ 0 w 1235"/>
                  <a:gd name="T51" fmla="*/ 0 h 717"/>
                  <a:gd name="T52" fmla="*/ 0 w 1235"/>
                  <a:gd name="T53" fmla="*/ 0 h 717"/>
                  <a:gd name="T54" fmla="*/ 0 w 1235"/>
                  <a:gd name="T55" fmla="*/ 0 h 717"/>
                  <a:gd name="T56" fmla="*/ 0 w 1235"/>
                  <a:gd name="T57" fmla="*/ 0 h 717"/>
                  <a:gd name="T58" fmla="*/ 0 w 1235"/>
                  <a:gd name="T59" fmla="*/ 0 h 717"/>
                  <a:gd name="T60" fmla="*/ 0 w 1235"/>
                  <a:gd name="T61" fmla="*/ 0 h 717"/>
                  <a:gd name="T62" fmla="*/ 0 w 1235"/>
                  <a:gd name="T63" fmla="*/ 0 h 717"/>
                  <a:gd name="T64" fmla="*/ 0 w 1235"/>
                  <a:gd name="T65" fmla="*/ 0 h 717"/>
                  <a:gd name="T66" fmla="*/ 0 w 1235"/>
                  <a:gd name="T67" fmla="*/ 0 h 717"/>
                  <a:gd name="T68" fmla="*/ 0 w 1235"/>
                  <a:gd name="T69" fmla="*/ 0 h 717"/>
                  <a:gd name="T70" fmla="*/ 0 w 1235"/>
                  <a:gd name="T71" fmla="*/ 0 h 717"/>
                  <a:gd name="T72" fmla="*/ 0 w 1235"/>
                  <a:gd name="T73" fmla="*/ 0 h 717"/>
                  <a:gd name="T74" fmla="*/ 0 w 1235"/>
                  <a:gd name="T75" fmla="*/ 0 h 717"/>
                  <a:gd name="T76" fmla="*/ 0 w 1235"/>
                  <a:gd name="T77" fmla="*/ 0 h 717"/>
                  <a:gd name="T78" fmla="*/ 0 w 1235"/>
                  <a:gd name="T79" fmla="*/ 0 h 717"/>
                  <a:gd name="T80" fmla="*/ 0 w 1235"/>
                  <a:gd name="T81" fmla="*/ 0 h 717"/>
                  <a:gd name="T82" fmla="*/ 0 w 1235"/>
                  <a:gd name="T83" fmla="*/ 0 h 717"/>
                  <a:gd name="T84" fmla="*/ 0 w 1235"/>
                  <a:gd name="T85" fmla="*/ 0 h 717"/>
                  <a:gd name="T86" fmla="*/ 0 w 1235"/>
                  <a:gd name="T87" fmla="*/ 0 h 717"/>
                  <a:gd name="T88" fmla="*/ 0 w 1235"/>
                  <a:gd name="T89" fmla="*/ 0 h 717"/>
                  <a:gd name="T90" fmla="*/ 0 w 1235"/>
                  <a:gd name="T91" fmla="*/ 0 h 717"/>
                  <a:gd name="T92" fmla="*/ 0 w 1235"/>
                  <a:gd name="T93" fmla="*/ 0 h 717"/>
                  <a:gd name="T94" fmla="*/ 0 w 1235"/>
                  <a:gd name="T95" fmla="*/ 0 h 717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1235"/>
                  <a:gd name="T145" fmla="*/ 0 h 717"/>
                  <a:gd name="T146" fmla="*/ 1235 w 1235"/>
                  <a:gd name="T147" fmla="*/ 717 h 717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1235" h="717">
                    <a:moveTo>
                      <a:pt x="876" y="709"/>
                    </a:moveTo>
                    <a:lnTo>
                      <a:pt x="860" y="709"/>
                    </a:lnTo>
                    <a:lnTo>
                      <a:pt x="843" y="709"/>
                    </a:lnTo>
                    <a:lnTo>
                      <a:pt x="827" y="707"/>
                    </a:lnTo>
                    <a:lnTo>
                      <a:pt x="816" y="693"/>
                    </a:lnTo>
                    <a:lnTo>
                      <a:pt x="816" y="679"/>
                    </a:lnTo>
                    <a:lnTo>
                      <a:pt x="855" y="666"/>
                    </a:lnTo>
                    <a:lnTo>
                      <a:pt x="892" y="655"/>
                    </a:lnTo>
                    <a:lnTo>
                      <a:pt x="933" y="647"/>
                    </a:lnTo>
                    <a:lnTo>
                      <a:pt x="974" y="638"/>
                    </a:lnTo>
                    <a:lnTo>
                      <a:pt x="1012" y="627"/>
                    </a:lnTo>
                    <a:lnTo>
                      <a:pt x="1050" y="617"/>
                    </a:lnTo>
                    <a:lnTo>
                      <a:pt x="1085" y="603"/>
                    </a:lnTo>
                    <a:lnTo>
                      <a:pt x="1120" y="584"/>
                    </a:lnTo>
                    <a:lnTo>
                      <a:pt x="1102" y="548"/>
                    </a:lnTo>
                    <a:lnTo>
                      <a:pt x="1077" y="516"/>
                    </a:lnTo>
                    <a:lnTo>
                      <a:pt x="1056" y="483"/>
                    </a:lnTo>
                    <a:lnTo>
                      <a:pt x="1028" y="451"/>
                    </a:lnTo>
                    <a:lnTo>
                      <a:pt x="1004" y="421"/>
                    </a:lnTo>
                    <a:lnTo>
                      <a:pt x="977" y="389"/>
                    </a:lnTo>
                    <a:lnTo>
                      <a:pt x="947" y="359"/>
                    </a:lnTo>
                    <a:lnTo>
                      <a:pt x="917" y="329"/>
                    </a:lnTo>
                    <a:lnTo>
                      <a:pt x="887" y="299"/>
                    </a:lnTo>
                    <a:lnTo>
                      <a:pt x="857" y="269"/>
                    </a:lnTo>
                    <a:lnTo>
                      <a:pt x="827" y="236"/>
                    </a:lnTo>
                    <a:lnTo>
                      <a:pt x="797" y="206"/>
                    </a:lnTo>
                    <a:lnTo>
                      <a:pt x="767" y="176"/>
                    </a:lnTo>
                    <a:lnTo>
                      <a:pt x="737" y="148"/>
                    </a:lnTo>
                    <a:lnTo>
                      <a:pt x="707" y="118"/>
                    </a:lnTo>
                    <a:lnTo>
                      <a:pt x="681" y="84"/>
                    </a:lnTo>
                    <a:lnTo>
                      <a:pt x="640" y="90"/>
                    </a:lnTo>
                    <a:lnTo>
                      <a:pt x="596" y="95"/>
                    </a:lnTo>
                    <a:lnTo>
                      <a:pt x="556" y="104"/>
                    </a:lnTo>
                    <a:lnTo>
                      <a:pt x="515" y="114"/>
                    </a:lnTo>
                    <a:lnTo>
                      <a:pt x="478" y="123"/>
                    </a:lnTo>
                    <a:lnTo>
                      <a:pt x="436" y="134"/>
                    </a:lnTo>
                    <a:lnTo>
                      <a:pt x="398" y="148"/>
                    </a:lnTo>
                    <a:lnTo>
                      <a:pt x="360" y="158"/>
                    </a:lnTo>
                    <a:lnTo>
                      <a:pt x="319" y="171"/>
                    </a:lnTo>
                    <a:lnTo>
                      <a:pt x="282" y="188"/>
                    </a:lnTo>
                    <a:lnTo>
                      <a:pt x="243" y="201"/>
                    </a:lnTo>
                    <a:lnTo>
                      <a:pt x="206" y="218"/>
                    </a:lnTo>
                    <a:lnTo>
                      <a:pt x="171" y="231"/>
                    </a:lnTo>
                    <a:lnTo>
                      <a:pt x="132" y="247"/>
                    </a:lnTo>
                    <a:lnTo>
                      <a:pt x="94" y="264"/>
                    </a:lnTo>
                    <a:lnTo>
                      <a:pt x="56" y="280"/>
                    </a:lnTo>
                    <a:lnTo>
                      <a:pt x="382" y="687"/>
                    </a:lnTo>
                    <a:lnTo>
                      <a:pt x="342" y="717"/>
                    </a:lnTo>
                    <a:lnTo>
                      <a:pt x="293" y="668"/>
                    </a:lnTo>
                    <a:lnTo>
                      <a:pt x="241" y="617"/>
                    </a:lnTo>
                    <a:lnTo>
                      <a:pt x="187" y="562"/>
                    </a:lnTo>
                    <a:lnTo>
                      <a:pt x="132" y="502"/>
                    </a:lnTo>
                    <a:lnTo>
                      <a:pt x="83" y="443"/>
                    </a:lnTo>
                    <a:lnTo>
                      <a:pt x="42" y="381"/>
                    </a:lnTo>
                    <a:lnTo>
                      <a:pt x="12" y="315"/>
                    </a:lnTo>
                    <a:lnTo>
                      <a:pt x="0" y="250"/>
                    </a:lnTo>
                    <a:lnTo>
                      <a:pt x="42" y="229"/>
                    </a:lnTo>
                    <a:lnTo>
                      <a:pt x="86" y="210"/>
                    </a:lnTo>
                    <a:lnTo>
                      <a:pt x="129" y="190"/>
                    </a:lnTo>
                    <a:lnTo>
                      <a:pt x="173" y="174"/>
                    </a:lnTo>
                    <a:lnTo>
                      <a:pt x="219" y="158"/>
                    </a:lnTo>
                    <a:lnTo>
                      <a:pt x="263" y="139"/>
                    </a:lnTo>
                    <a:lnTo>
                      <a:pt x="309" y="125"/>
                    </a:lnTo>
                    <a:lnTo>
                      <a:pt x="355" y="109"/>
                    </a:lnTo>
                    <a:lnTo>
                      <a:pt x="401" y="95"/>
                    </a:lnTo>
                    <a:lnTo>
                      <a:pt x="448" y="79"/>
                    </a:lnTo>
                    <a:lnTo>
                      <a:pt x="494" y="65"/>
                    </a:lnTo>
                    <a:lnTo>
                      <a:pt x="540" y="52"/>
                    </a:lnTo>
                    <a:lnTo>
                      <a:pt x="586" y="38"/>
                    </a:lnTo>
                    <a:lnTo>
                      <a:pt x="631" y="25"/>
                    </a:lnTo>
                    <a:lnTo>
                      <a:pt x="679" y="14"/>
                    </a:lnTo>
                    <a:lnTo>
                      <a:pt x="725" y="0"/>
                    </a:lnTo>
                    <a:lnTo>
                      <a:pt x="751" y="41"/>
                    </a:lnTo>
                    <a:lnTo>
                      <a:pt x="781" y="79"/>
                    </a:lnTo>
                    <a:lnTo>
                      <a:pt x="813" y="120"/>
                    </a:lnTo>
                    <a:lnTo>
                      <a:pt x="850" y="158"/>
                    </a:lnTo>
                    <a:lnTo>
                      <a:pt x="885" y="193"/>
                    </a:lnTo>
                    <a:lnTo>
                      <a:pt x="920" y="231"/>
                    </a:lnTo>
                    <a:lnTo>
                      <a:pt x="955" y="266"/>
                    </a:lnTo>
                    <a:lnTo>
                      <a:pt x="993" y="301"/>
                    </a:lnTo>
                    <a:lnTo>
                      <a:pt x="1028" y="340"/>
                    </a:lnTo>
                    <a:lnTo>
                      <a:pt x="1063" y="375"/>
                    </a:lnTo>
                    <a:lnTo>
                      <a:pt x="1097" y="413"/>
                    </a:lnTo>
                    <a:lnTo>
                      <a:pt x="1129" y="451"/>
                    </a:lnTo>
                    <a:lnTo>
                      <a:pt x="1159" y="490"/>
                    </a:lnTo>
                    <a:lnTo>
                      <a:pt x="1189" y="530"/>
                    </a:lnTo>
                    <a:lnTo>
                      <a:pt x="1213" y="571"/>
                    </a:lnTo>
                    <a:lnTo>
                      <a:pt x="1235" y="611"/>
                    </a:lnTo>
                    <a:lnTo>
                      <a:pt x="1194" y="636"/>
                    </a:lnTo>
                    <a:lnTo>
                      <a:pt x="1150" y="649"/>
                    </a:lnTo>
                    <a:lnTo>
                      <a:pt x="1104" y="657"/>
                    </a:lnTo>
                    <a:lnTo>
                      <a:pt x="1056" y="663"/>
                    </a:lnTo>
                    <a:lnTo>
                      <a:pt x="1007" y="666"/>
                    </a:lnTo>
                    <a:lnTo>
                      <a:pt x="961" y="673"/>
                    </a:lnTo>
                    <a:lnTo>
                      <a:pt x="917" y="687"/>
                    </a:lnTo>
                    <a:lnTo>
                      <a:pt x="876" y="70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09" name="Freeform 398">
                <a:extLst>
                  <a:ext uri="{FF2B5EF4-FFF2-40B4-BE49-F238E27FC236}">
                    <a16:creationId xmlns:a16="http://schemas.microsoft.com/office/drawing/2014/main" id="{53E0975B-42C0-2F40-9049-6E64FA5575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92" y="3992"/>
                <a:ext cx="74" cy="75"/>
              </a:xfrm>
              <a:custGeom>
                <a:avLst/>
                <a:gdLst>
                  <a:gd name="T0" fmla="*/ 0 w 298"/>
                  <a:gd name="T1" fmla="*/ 0 h 304"/>
                  <a:gd name="T2" fmla="*/ 0 w 298"/>
                  <a:gd name="T3" fmla="*/ 0 h 304"/>
                  <a:gd name="T4" fmla="*/ 0 w 298"/>
                  <a:gd name="T5" fmla="*/ 0 h 304"/>
                  <a:gd name="T6" fmla="*/ 0 w 298"/>
                  <a:gd name="T7" fmla="*/ 0 h 304"/>
                  <a:gd name="T8" fmla="*/ 0 w 298"/>
                  <a:gd name="T9" fmla="*/ 0 h 304"/>
                  <a:gd name="T10" fmla="*/ 0 w 298"/>
                  <a:gd name="T11" fmla="*/ 0 h 304"/>
                  <a:gd name="T12" fmla="*/ 0 w 298"/>
                  <a:gd name="T13" fmla="*/ 0 h 304"/>
                  <a:gd name="T14" fmla="*/ 0 w 298"/>
                  <a:gd name="T15" fmla="*/ 0 h 304"/>
                  <a:gd name="T16" fmla="*/ 0 w 298"/>
                  <a:gd name="T17" fmla="*/ 0 h 304"/>
                  <a:gd name="T18" fmla="*/ 0 w 298"/>
                  <a:gd name="T19" fmla="*/ 0 h 304"/>
                  <a:gd name="T20" fmla="*/ 0 w 298"/>
                  <a:gd name="T21" fmla="*/ 0 h 304"/>
                  <a:gd name="T22" fmla="*/ 0 w 298"/>
                  <a:gd name="T23" fmla="*/ 0 h 304"/>
                  <a:gd name="T24" fmla="*/ 0 w 298"/>
                  <a:gd name="T25" fmla="*/ 0 h 304"/>
                  <a:gd name="T26" fmla="*/ 0 w 298"/>
                  <a:gd name="T27" fmla="*/ 0 h 304"/>
                  <a:gd name="T28" fmla="*/ 0 w 298"/>
                  <a:gd name="T29" fmla="*/ 0 h 304"/>
                  <a:gd name="T30" fmla="*/ 0 w 298"/>
                  <a:gd name="T31" fmla="*/ 0 h 304"/>
                  <a:gd name="T32" fmla="*/ 0 w 298"/>
                  <a:gd name="T33" fmla="*/ 0 h 304"/>
                  <a:gd name="T34" fmla="*/ 0 w 298"/>
                  <a:gd name="T35" fmla="*/ 0 h 304"/>
                  <a:gd name="T36" fmla="*/ 0 w 298"/>
                  <a:gd name="T37" fmla="*/ 0 h 304"/>
                  <a:gd name="T38" fmla="*/ 0 w 298"/>
                  <a:gd name="T39" fmla="*/ 0 h 304"/>
                  <a:gd name="T40" fmla="*/ 0 w 298"/>
                  <a:gd name="T41" fmla="*/ 0 h 304"/>
                  <a:gd name="T42" fmla="*/ 0 w 298"/>
                  <a:gd name="T43" fmla="*/ 0 h 304"/>
                  <a:gd name="T44" fmla="*/ 0 w 298"/>
                  <a:gd name="T45" fmla="*/ 0 h 304"/>
                  <a:gd name="T46" fmla="*/ 0 w 298"/>
                  <a:gd name="T47" fmla="*/ 0 h 304"/>
                  <a:gd name="T48" fmla="*/ 0 w 298"/>
                  <a:gd name="T49" fmla="*/ 0 h 304"/>
                  <a:gd name="T50" fmla="*/ 0 w 298"/>
                  <a:gd name="T51" fmla="*/ 0 h 304"/>
                  <a:gd name="T52" fmla="*/ 0 w 298"/>
                  <a:gd name="T53" fmla="*/ 0 h 304"/>
                  <a:gd name="T54" fmla="*/ 0 w 298"/>
                  <a:gd name="T55" fmla="*/ 0 h 304"/>
                  <a:gd name="T56" fmla="*/ 0 w 298"/>
                  <a:gd name="T57" fmla="*/ 0 h 304"/>
                  <a:gd name="T58" fmla="*/ 0 w 298"/>
                  <a:gd name="T59" fmla="*/ 0 h 304"/>
                  <a:gd name="T60" fmla="*/ 0 w 298"/>
                  <a:gd name="T61" fmla="*/ 0 h 304"/>
                  <a:gd name="T62" fmla="*/ 0 w 298"/>
                  <a:gd name="T63" fmla="*/ 0 h 304"/>
                  <a:gd name="T64" fmla="*/ 0 w 298"/>
                  <a:gd name="T65" fmla="*/ 0 h 304"/>
                  <a:gd name="T66" fmla="*/ 0 w 298"/>
                  <a:gd name="T67" fmla="*/ 0 h 304"/>
                  <a:gd name="T68" fmla="*/ 0 w 298"/>
                  <a:gd name="T69" fmla="*/ 0 h 304"/>
                  <a:gd name="T70" fmla="*/ 0 w 298"/>
                  <a:gd name="T71" fmla="*/ 0 h 304"/>
                  <a:gd name="T72" fmla="*/ 0 w 298"/>
                  <a:gd name="T73" fmla="*/ 0 h 304"/>
                  <a:gd name="T74" fmla="*/ 0 w 298"/>
                  <a:gd name="T75" fmla="*/ 0 h 304"/>
                  <a:gd name="T76" fmla="*/ 0 w 298"/>
                  <a:gd name="T77" fmla="*/ 0 h 304"/>
                  <a:gd name="T78" fmla="*/ 0 w 298"/>
                  <a:gd name="T79" fmla="*/ 0 h 304"/>
                  <a:gd name="T80" fmla="*/ 0 w 298"/>
                  <a:gd name="T81" fmla="*/ 0 h 304"/>
                  <a:gd name="T82" fmla="*/ 0 w 298"/>
                  <a:gd name="T83" fmla="*/ 0 h 304"/>
                  <a:gd name="T84" fmla="*/ 0 w 298"/>
                  <a:gd name="T85" fmla="*/ 0 h 304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298"/>
                  <a:gd name="T130" fmla="*/ 0 h 304"/>
                  <a:gd name="T131" fmla="*/ 298 w 298"/>
                  <a:gd name="T132" fmla="*/ 304 h 304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298" h="304">
                    <a:moveTo>
                      <a:pt x="298" y="103"/>
                    </a:moveTo>
                    <a:lnTo>
                      <a:pt x="265" y="101"/>
                    </a:lnTo>
                    <a:lnTo>
                      <a:pt x="233" y="94"/>
                    </a:lnTo>
                    <a:lnTo>
                      <a:pt x="198" y="84"/>
                    </a:lnTo>
                    <a:lnTo>
                      <a:pt x="165" y="76"/>
                    </a:lnTo>
                    <a:lnTo>
                      <a:pt x="133" y="71"/>
                    </a:lnTo>
                    <a:lnTo>
                      <a:pt x="106" y="76"/>
                    </a:lnTo>
                    <a:lnTo>
                      <a:pt x="81" y="94"/>
                    </a:lnTo>
                    <a:lnTo>
                      <a:pt x="64" y="131"/>
                    </a:lnTo>
                    <a:lnTo>
                      <a:pt x="64" y="152"/>
                    </a:lnTo>
                    <a:lnTo>
                      <a:pt x="73" y="173"/>
                    </a:lnTo>
                    <a:lnTo>
                      <a:pt x="81" y="193"/>
                    </a:lnTo>
                    <a:lnTo>
                      <a:pt x="94" y="212"/>
                    </a:lnTo>
                    <a:lnTo>
                      <a:pt x="108" y="225"/>
                    </a:lnTo>
                    <a:lnTo>
                      <a:pt x="124" y="239"/>
                    </a:lnTo>
                    <a:lnTo>
                      <a:pt x="143" y="253"/>
                    </a:lnTo>
                    <a:lnTo>
                      <a:pt x="163" y="260"/>
                    </a:lnTo>
                    <a:lnTo>
                      <a:pt x="179" y="260"/>
                    </a:lnTo>
                    <a:lnTo>
                      <a:pt x="179" y="290"/>
                    </a:lnTo>
                    <a:lnTo>
                      <a:pt x="152" y="302"/>
                    </a:lnTo>
                    <a:lnTo>
                      <a:pt x="127" y="304"/>
                    </a:lnTo>
                    <a:lnTo>
                      <a:pt x="101" y="302"/>
                    </a:lnTo>
                    <a:lnTo>
                      <a:pt x="76" y="293"/>
                    </a:lnTo>
                    <a:lnTo>
                      <a:pt x="54" y="279"/>
                    </a:lnTo>
                    <a:lnTo>
                      <a:pt x="35" y="260"/>
                    </a:lnTo>
                    <a:lnTo>
                      <a:pt x="18" y="239"/>
                    </a:lnTo>
                    <a:lnTo>
                      <a:pt x="5" y="217"/>
                    </a:lnTo>
                    <a:lnTo>
                      <a:pt x="0" y="179"/>
                    </a:lnTo>
                    <a:lnTo>
                      <a:pt x="2" y="141"/>
                    </a:lnTo>
                    <a:lnTo>
                      <a:pt x="11" y="106"/>
                    </a:lnTo>
                    <a:lnTo>
                      <a:pt x="27" y="73"/>
                    </a:lnTo>
                    <a:lnTo>
                      <a:pt x="48" y="46"/>
                    </a:lnTo>
                    <a:lnTo>
                      <a:pt x="76" y="24"/>
                    </a:lnTo>
                    <a:lnTo>
                      <a:pt x="106" y="8"/>
                    </a:lnTo>
                    <a:lnTo>
                      <a:pt x="141" y="0"/>
                    </a:lnTo>
                    <a:lnTo>
                      <a:pt x="163" y="11"/>
                    </a:lnTo>
                    <a:lnTo>
                      <a:pt x="187" y="16"/>
                    </a:lnTo>
                    <a:lnTo>
                      <a:pt x="212" y="24"/>
                    </a:lnTo>
                    <a:lnTo>
                      <a:pt x="235" y="30"/>
                    </a:lnTo>
                    <a:lnTo>
                      <a:pt x="258" y="41"/>
                    </a:lnTo>
                    <a:lnTo>
                      <a:pt x="277" y="54"/>
                    </a:lnTo>
                    <a:lnTo>
                      <a:pt x="290" y="76"/>
                    </a:lnTo>
                    <a:lnTo>
                      <a:pt x="298" y="103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0" name="Freeform 399">
                <a:extLst>
                  <a:ext uri="{FF2B5EF4-FFF2-40B4-BE49-F238E27FC236}">
                    <a16:creationId xmlns:a16="http://schemas.microsoft.com/office/drawing/2014/main" id="{BC99BCF3-06B7-934D-B604-EEF22DEAE0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9" y="3614"/>
                <a:ext cx="284" cy="172"/>
              </a:xfrm>
              <a:custGeom>
                <a:avLst/>
                <a:gdLst>
                  <a:gd name="T0" fmla="*/ 0 w 1138"/>
                  <a:gd name="T1" fmla="*/ 0 h 687"/>
                  <a:gd name="T2" fmla="*/ 0 w 1138"/>
                  <a:gd name="T3" fmla="*/ 0 h 687"/>
                  <a:gd name="T4" fmla="*/ 0 w 1138"/>
                  <a:gd name="T5" fmla="*/ 0 h 687"/>
                  <a:gd name="T6" fmla="*/ 0 w 1138"/>
                  <a:gd name="T7" fmla="*/ 0 h 687"/>
                  <a:gd name="T8" fmla="*/ 0 w 1138"/>
                  <a:gd name="T9" fmla="*/ 0 h 687"/>
                  <a:gd name="T10" fmla="*/ 0 w 1138"/>
                  <a:gd name="T11" fmla="*/ 0 h 687"/>
                  <a:gd name="T12" fmla="*/ 0 w 1138"/>
                  <a:gd name="T13" fmla="*/ 0 h 687"/>
                  <a:gd name="T14" fmla="*/ 0 w 1138"/>
                  <a:gd name="T15" fmla="*/ 0 h 687"/>
                  <a:gd name="T16" fmla="*/ 0 w 1138"/>
                  <a:gd name="T17" fmla="*/ 0 h 687"/>
                  <a:gd name="T18" fmla="*/ 0 w 1138"/>
                  <a:gd name="T19" fmla="*/ 0 h 687"/>
                  <a:gd name="T20" fmla="*/ 0 w 1138"/>
                  <a:gd name="T21" fmla="*/ 0 h 687"/>
                  <a:gd name="T22" fmla="*/ 0 w 1138"/>
                  <a:gd name="T23" fmla="*/ 0 h 687"/>
                  <a:gd name="T24" fmla="*/ 0 w 1138"/>
                  <a:gd name="T25" fmla="*/ 0 h 687"/>
                  <a:gd name="T26" fmla="*/ 0 w 1138"/>
                  <a:gd name="T27" fmla="*/ 0 h 687"/>
                  <a:gd name="T28" fmla="*/ 0 w 1138"/>
                  <a:gd name="T29" fmla="*/ 0 h 687"/>
                  <a:gd name="T30" fmla="*/ 0 w 1138"/>
                  <a:gd name="T31" fmla="*/ 0 h 687"/>
                  <a:gd name="T32" fmla="*/ 0 w 1138"/>
                  <a:gd name="T33" fmla="*/ 0 h 687"/>
                  <a:gd name="T34" fmla="*/ 0 w 1138"/>
                  <a:gd name="T35" fmla="*/ 0 h 687"/>
                  <a:gd name="T36" fmla="*/ 0 w 1138"/>
                  <a:gd name="T37" fmla="*/ 0 h 687"/>
                  <a:gd name="T38" fmla="*/ 0 w 1138"/>
                  <a:gd name="T39" fmla="*/ 0 h 687"/>
                  <a:gd name="T40" fmla="*/ 0 w 1138"/>
                  <a:gd name="T41" fmla="*/ 0 h 687"/>
                  <a:gd name="T42" fmla="*/ 0 w 1138"/>
                  <a:gd name="T43" fmla="*/ 0 h 687"/>
                  <a:gd name="T44" fmla="*/ 0 w 1138"/>
                  <a:gd name="T45" fmla="*/ 0 h 687"/>
                  <a:gd name="T46" fmla="*/ 0 w 1138"/>
                  <a:gd name="T47" fmla="*/ 0 h 687"/>
                  <a:gd name="T48" fmla="*/ 0 w 1138"/>
                  <a:gd name="T49" fmla="*/ 0 h 687"/>
                  <a:gd name="T50" fmla="*/ 0 w 1138"/>
                  <a:gd name="T51" fmla="*/ 0 h 687"/>
                  <a:gd name="T52" fmla="*/ 0 w 1138"/>
                  <a:gd name="T53" fmla="*/ 0 h 687"/>
                  <a:gd name="T54" fmla="*/ 0 w 1138"/>
                  <a:gd name="T55" fmla="*/ 0 h 687"/>
                  <a:gd name="T56" fmla="*/ 0 w 1138"/>
                  <a:gd name="T57" fmla="*/ 0 h 687"/>
                  <a:gd name="T58" fmla="*/ 0 w 1138"/>
                  <a:gd name="T59" fmla="*/ 0 h 687"/>
                  <a:gd name="T60" fmla="*/ 0 w 1138"/>
                  <a:gd name="T61" fmla="*/ 0 h 687"/>
                  <a:gd name="T62" fmla="*/ 0 w 1138"/>
                  <a:gd name="T63" fmla="*/ 0 h 687"/>
                  <a:gd name="T64" fmla="*/ 0 w 1138"/>
                  <a:gd name="T65" fmla="*/ 0 h 687"/>
                  <a:gd name="T66" fmla="*/ 0 w 1138"/>
                  <a:gd name="T67" fmla="*/ 0 h 687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1138"/>
                  <a:gd name="T103" fmla="*/ 0 h 687"/>
                  <a:gd name="T104" fmla="*/ 1138 w 1138"/>
                  <a:gd name="T105" fmla="*/ 687 h 687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1138" h="687">
                    <a:moveTo>
                      <a:pt x="934" y="552"/>
                    </a:moveTo>
                    <a:lnTo>
                      <a:pt x="931" y="525"/>
                    </a:lnTo>
                    <a:lnTo>
                      <a:pt x="940" y="502"/>
                    </a:lnTo>
                    <a:lnTo>
                      <a:pt x="956" y="490"/>
                    </a:lnTo>
                    <a:lnTo>
                      <a:pt x="975" y="478"/>
                    </a:lnTo>
                    <a:lnTo>
                      <a:pt x="996" y="470"/>
                    </a:lnTo>
                    <a:lnTo>
                      <a:pt x="1018" y="460"/>
                    </a:lnTo>
                    <a:lnTo>
                      <a:pt x="1037" y="443"/>
                    </a:lnTo>
                    <a:lnTo>
                      <a:pt x="1051" y="424"/>
                    </a:lnTo>
                    <a:lnTo>
                      <a:pt x="709" y="74"/>
                    </a:lnTo>
                    <a:lnTo>
                      <a:pt x="670" y="79"/>
                    </a:lnTo>
                    <a:lnTo>
                      <a:pt x="630" y="88"/>
                    </a:lnTo>
                    <a:lnTo>
                      <a:pt x="592" y="95"/>
                    </a:lnTo>
                    <a:lnTo>
                      <a:pt x="554" y="104"/>
                    </a:lnTo>
                    <a:lnTo>
                      <a:pt x="513" y="111"/>
                    </a:lnTo>
                    <a:lnTo>
                      <a:pt x="476" y="120"/>
                    </a:lnTo>
                    <a:lnTo>
                      <a:pt x="437" y="128"/>
                    </a:lnTo>
                    <a:lnTo>
                      <a:pt x="399" y="139"/>
                    </a:lnTo>
                    <a:lnTo>
                      <a:pt x="361" y="150"/>
                    </a:lnTo>
                    <a:lnTo>
                      <a:pt x="323" y="160"/>
                    </a:lnTo>
                    <a:lnTo>
                      <a:pt x="288" y="171"/>
                    </a:lnTo>
                    <a:lnTo>
                      <a:pt x="250" y="185"/>
                    </a:lnTo>
                    <a:lnTo>
                      <a:pt x="212" y="199"/>
                    </a:lnTo>
                    <a:lnTo>
                      <a:pt x="176" y="212"/>
                    </a:lnTo>
                    <a:lnTo>
                      <a:pt x="139" y="226"/>
                    </a:lnTo>
                    <a:lnTo>
                      <a:pt x="104" y="239"/>
                    </a:lnTo>
                    <a:lnTo>
                      <a:pt x="413" y="647"/>
                    </a:lnTo>
                    <a:lnTo>
                      <a:pt x="367" y="687"/>
                    </a:lnTo>
                    <a:lnTo>
                      <a:pt x="317" y="638"/>
                    </a:lnTo>
                    <a:lnTo>
                      <a:pt x="271" y="584"/>
                    </a:lnTo>
                    <a:lnTo>
                      <a:pt x="231" y="527"/>
                    </a:lnTo>
                    <a:lnTo>
                      <a:pt x="192" y="470"/>
                    </a:lnTo>
                    <a:lnTo>
                      <a:pt x="152" y="413"/>
                    </a:lnTo>
                    <a:lnTo>
                      <a:pt x="109" y="356"/>
                    </a:lnTo>
                    <a:lnTo>
                      <a:pt x="57" y="301"/>
                    </a:lnTo>
                    <a:lnTo>
                      <a:pt x="0" y="250"/>
                    </a:lnTo>
                    <a:lnTo>
                      <a:pt x="3" y="220"/>
                    </a:lnTo>
                    <a:lnTo>
                      <a:pt x="14" y="204"/>
                    </a:lnTo>
                    <a:lnTo>
                      <a:pt x="30" y="199"/>
                    </a:lnTo>
                    <a:lnTo>
                      <a:pt x="49" y="196"/>
                    </a:lnTo>
                    <a:lnTo>
                      <a:pt x="65" y="196"/>
                    </a:lnTo>
                    <a:lnTo>
                      <a:pt x="81" y="193"/>
                    </a:lnTo>
                    <a:lnTo>
                      <a:pt x="95" y="180"/>
                    </a:lnTo>
                    <a:lnTo>
                      <a:pt x="104" y="153"/>
                    </a:lnTo>
                    <a:lnTo>
                      <a:pt x="144" y="141"/>
                    </a:lnTo>
                    <a:lnTo>
                      <a:pt x="185" y="134"/>
                    </a:lnTo>
                    <a:lnTo>
                      <a:pt x="222" y="123"/>
                    </a:lnTo>
                    <a:lnTo>
                      <a:pt x="263" y="111"/>
                    </a:lnTo>
                    <a:lnTo>
                      <a:pt x="305" y="100"/>
                    </a:lnTo>
                    <a:lnTo>
                      <a:pt x="342" y="90"/>
                    </a:lnTo>
                    <a:lnTo>
                      <a:pt x="383" y="79"/>
                    </a:lnTo>
                    <a:lnTo>
                      <a:pt x="423" y="68"/>
                    </a:lnTo>
                    <a:lnTo>
                      <a:pt x="464" y="58"/>
                    </a:lnTo>
                    <a:lnTo>
                      <a:pt x="505" y="49"/>
                    </a:lnTo>
                    <a:lnTo>
                      <a:pt x="546" y="38"/>
                    </a:lnTo>
                    <a:lnTo>
                      <a:pt x="587" y="30"/>
                    </a:lnTo>
                    <a:lnTo>
                      <a:pt x="628" y="22"/>
                    </a:lnTo>
                    <a:lnTo>
                      <a:pt x="668" y="14"/>
                    </a:lnTo>
                    <a:lnTo>
                      <a:pt x="711" y="5"/>
                    </a:lnTo>
                    <a:lnTo>
                      <a:pt x="753" y="0"/>
                    </a:lnTo>
                    <a:lnTo>
                      <a:pt x="1138" y="424"/>
                    </a:lnTo>
                    <a:lnTo>
                      <a:pt x="1118" y="451"/>
                    </a:lnTo>
                    <a:lnTo>
                      <a:pt x="1097" y="476"/>
                    </a:lnTo>
                    <a:lnTo>
                      <a:pt x="1076" y="495"/>
                    </a:lnTo>
                    <a:lnTo>
                      <a:pt x="1048" y="511"/>
                    </a:lnTo>
                    <a:lnTo>
                      <a:pt x="1021" y="527"/>
                    </a:lnTo>
                    <a:lnTo>
                      <a:pt x="991" y="538"/>
                    </a:lnTo>
                    <a:lnTo>
                      <a:pt x="964" y="546"/>
                    </a:lnTo>
                    <a:lnTo>
                      <a:pt x="934" y="552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1" name="Freeform 400">
                <a:extLst>
                  <a:ext uri="{FF2B5EF4-FFF2-40B4-BE49-F238E27FC236}">
                    <a16:creationId xmlns:a16="http://schemas.microsoft.com/office/drawing/2014/main" id="{DF32C5D9-3DE3-5E48-8635-7145C9BCE9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1" y="3877"/>
                <a:ext cx="96" cy="127"/>
              </a:xfrm>
              <a:custGeom>
                <a:avLst/>
                <a:gdLst>
                  <a:gd name="T0" fmla="*/ 0 w 386"/>
                  <a:gd name="T1" fmla="*/ 0 h 507"/>
                  <a:gd name="T2" fmla="*/ 0 w 386"/>
                  <a:gd name="T3" fmla="*/ 0 h 507"/>
                  <a:gd name="T4" fmla="*/ 0 w 386"/>
                  <a:gd name="T5" fmla="*/ 0 h 507"/>
                  <a:gd name="T6" fmla="*/ 0 w 386"/>
                  <a:gd name="T7" fmla="*/ 0 h 507"/>
                  <a:gd name="T8" fmla="*/ 0 w 386"/>
                  <a:gd name="T9" fmla="*/ 0 h 507"/>
                  <a:gd name="T10" fmla="*/ 0 w 386"/>
                  <a:gd name="T11" fmla="*/ 0 h 507"/>
                  <a:gd name="T12" fmla="*/ 0 w 386"/>
                  <a:gd name="T13" fmla="*/ 0 h 507"/>
                  <a:gd name="T14" fmla="*/ 0 w 386"/>
                  <a:gd name="T15" fmla="*/ 0 h 507"/>
                  <a:gd name="T16" fmla="*/ 0 w 386"/>
                  <a:gd name="T17" fmla="*/ 0 h 507"/>
                  <a:gd name="T18" fmla="*/ 0 w 386"/>
                  <a:gd name="T19" fmla="*/ 0 h 507"/>
                  <a:gd name="T20" fmla="*/ 0 w 386"/>
                  <a:gd name="T21" fmla="*/ 0 h 507"/>
                  <a:gd name="T22" fmla="*/ 0 w 386"/>
                  <a:gd name="T23" fmla="*/ 0 h 507"/>
                  <a:gd name="T24" fmla="*/ 0 w 386"/>
                  <a:gd name="T25" fmla="*/ 0 h 507"/>
                  <a:gd name="T26" fmla="*/ 0 w 386"/>
                  <a:gd name="T27" fmla="*/ 0 h 507"/>
                  <a:gd name="T28" fmla="*/ 0 w 386"/>
                  <a:gd name="T29" fmla="*/ 0 h 507"/>
                  <a:gd name="T30" fmla="*/ 0 w 386"/>
                  <a:gd name="T31" fmla="*/ 0 h 507"/>
                  <a:gd name="T32" fmla="*/ 0 w 386"/>
                  <a:gd name="T33" fmla="*/ 0 h 507"/>
                  <a:gd name="T34" fmla="*/ 0 w 386"/>
                  <a:gd name="T35" fmla="*/ 0 h 507"/>
                  <a:gd name="T36" fmla="*/ 0 w 386"/>
                  <a:gd name="T37" fmla="*/ 0 h 507"/>
                  <a:gd name="T38" fmla="*/ 0 w 386"/>
                  <a:gd name="T39" fmla="*/ 0 h 507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386"/>
                  <a:gd name="T61" fmla="*/ 0 h 507"/>
                  <a:gd name="T62" fmla="*/ 386 w 386"/>
                  <a:gd name="T63" fmla="*/ 507 h 507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386" h="507">
                    <a:moveTo>
                      <a:pt x="372" y="507"/>
                    </a:moveTo>
                    <a:lnTo>
                      <a:pt x="328" y="507"/>
                    </a:lnTo>
                    <a:lnTo>
                      <a:pt x="291" y="445"/>
                    </a:lnTo>
                    <a:lnTo>
                      <a:pt x="245" y="386"/>
                    </a:lnTo>
                    <a:lnTo>
                      <a:pt x="199" y="329"/>
                    </a:lnTo>
                    <a:lnTo>
                      <a:pt x="150" y="269"/>
                    </a:lnTo>
                    <a:lnTo>
                      <a:pt x="100" y="209"/>
                    </a:lnTo>
                    <a:lnTo>
                      <a:pt x="60" y="146"/>
                    </a:lnTo>
                    <a:lnTo>
                      <a:pt x="25" y="82"/>
                    </a:lnTo>
                    <a:lnTo>
                      <a:pt x="0" y="14"/>
                    </a:lnTo>
                    <a:lnTo>
                      <a:pt x="16" y="0"/>
                    </a:lnTo>
                    <a:lnTo>
                      <a:pt x="70" y="57"/>
                    </a:lnTo>
                    <a:lnTo>
                      <a:pt x="122" y="117"/>
                    </a:lnTo>
                    <a:lnTo>
                      <a:pt x="171" y="176"/>
                    </a:lnTo>
                    <a:lnTo>
                      <a:pt x="220" y="236"/>
                    </a:lnTo>
                    <a:lnTo>
                      <a:pt x="266" y="299"/>
                    </a:lnTo>
                    <a:lnTo>
                      <a:pt x="310" y="364"/>
                    </a:lnTo>
                    <a:lnTo>
                      <a:pt x="351" y="429"/>
                    </a:lnTo>
                    <a:lnTo>
                      <a:pt x="386" y="497"/>
                    </a:lnTo>
                    <a:lnTo>
                      <a:pt x="372" y="507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2" name="Freeform 401">
                <a:extLst>
                  <a:ext uri="{FF2B5EF4-FFF2-40B4-BE49-F238E27FC236}">
                    <a16:creationId xmlns:a16="http://schemas.microsoft.com/office/drawing/2014/main" id="{48E9386D-6C2E-0F4C-B7F1-65CBE5CB5D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6" y="3769"/>
                <a:ext cx="55" cy="21"/>
              </a:xfrm>
              <a:custGeom>
                <a:avLst/>
                <a:gdLst>
                  <a:gd name="T0" fmla="*/ 0 w 220"/>
                  <a:gd name="T1" fmla="*/ 0 h 84"/>
                  <a:gd name="T2" fmla="*/ 0 w 220"/>
                  <a:gd name="T3" fmla="*/ 0 h 84"/>
                  <a:gd name="T4" fmla="*/ 0 w 220"/>
                  <a:gd name="T5" fmla="*/ 0 h 84"/>
                  <a:gd name="T6" fmla="*/ 0 w 220"/>
                  <a:gd name="T7" fmla="*/ 0 h 84"/>
                  <a:gd name="T8" fmla="*/ 0 w 220"/>
                  <a:gd name="T9" fmla="*/ 0 h 84"/>
                  <a:gd name="T10" fmla="*/ 0 w 220"/>
                  <a:gd name="T11" fmla="*/ 0 h 84"/>
                  <a:gd name="T12" fmla="*/ 0 w 220"/>
                  <a:gd name="T13" fmla="*/ 0 h 84"/>
                  <a:gd name="T14" fmla="*/ 0 w 220"/>
                  <a:gd name="T15" fmla="*/ 0 h 84"/>
                  <a:gd name="T16" fmla="*/ 0 w 220"/>
                  <a:gd name="T17" fmla="*/ 0 h 84"/>
                  <a:gd name="T18" fmla="*/ 0 w 220"/>
                  <a:gd name="T19" fmla="*/ 0 h 84"/>
                  <a:gd name="T20" fmla="*/ 0 w 220"/>
                  <a:gd name="T21" fmla="*/ 0 h 84"/>
                  <a:gd name="T22" fmla="*/ 0 w 220"/>
                  <a:gd name="T23" fmla="*/ 0 h 84"/>
                  <a:gd name="T24" fmla="*/ 0 w 220"/>
                  <a:gd name="T25" fmla="*/ 0 h 84"/>
                  <a:gd name="T26" fmla="*/ 0 w 220"/>
                  <a:gd name="T27" fmla="*/ 0 h 84"/>
                  <a:gd name="T28" fmla="*/ 0 w 220"/>
                  <a:gd name="T29" fmla="*/ 0 h 84"/>
                  <a:gd name="T30" fmla="*/ 0 w 220"/>
                  <a:gd name="T31" fmla="*/ 0 h 84"/>
                  <a:gd name="T32" fmla="*/ 0 w 220"/>
                  <a:gd name="T33" fmla="*/ 0 h 84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220"/>
                  <a:gd name="T52" fmla="*/ 0 h 84"/>
                  <a:gd name="T53" fmla="*/ 220 w 220"/>
                  <a:gd name="T54" fmla="*/ 84 h 84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220" h="84">
                    <a:moveTo>
                      <a:pt x="0" y="84"/>
                    </a:moveTo>
                    <a:lnTo>
                      <a:pt x="19" y="60"/>
                    </a:lnTo>
                    <a:lnTo>
                      <a:pt x="44" y="38"/>
                    </a:lnTo>
                    <a:lnTo>
                      <a:pt x="71" y="24"/>
                    </a:lnTo>
                    <a:lnTo>
                      <a:pt x="103" y="14"/>
                    </a:lnTo>
                    <a:lnTo>
                      <a:pt x="133" y="6"/>
                    </a:lnTo>
                    <a:lnTo>
                      <a:pt x="163" y="3"/>
                    </a:lnTo>
                    <a:lnTo>
                      <a:pt x="193" y="0"/>
                    </a:lnTo>
                    <a:lnTo>
                      <a:pt x="220" y="0"/>
                    </a:lnTo>
                    <a:lnTo>
                      <a:pt x="203" y="28"/>
                    </a:lnTo>
                    <a:lnTo>
                      <a:pt x="180" y="47"/>
                    </a:lnTo>
                    <a:lnTo>
                      <a:pt x="152" y="60"/>
                    </a:lnTo>
                    <a:lnTo>
                      <a:pt x="122" y="65"/>
                    </a:lnTo>
                    <a:lnTo>
                      <a:pt x="92" y="70"/>
                    </a:lnTo>
                    <a:lnTo>
                      <a:pt x="60" y="74"/>
                    </a:lnTo>
                    <a:lnTo>
                      <a:pt x="30" y="79"/>
                    </a:lnTo>
                    <a:lnTo>
                      <a:pt x="0" y="8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3" name="Freeform 402">
                <a:extLst>
                  <a:ext uri="{FF2B5EF4-FFF2-40B4-BE49-F238E27FC236}">
                    <a16:creationId xmlns:a16="http://schemas.microsoft.com/office/drawing/2014/main" id="{8AE4F362-20F9-4343-B28D-B822D20784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5" y="4003"/>
                <a:ext cx="65" cy="40"/>
              </a:xfrm>
              <a:custGeom>
                <a:avLst/>
                <a:gdLst>
                  <a:gd name="T0" fmla="*/ 0 w 258"/>
                  <a:gd name="T1" fmla="*/ 0 h 161"/>
                  <a:gd name="T2" fmla="*/ 0 w 258"/>
                  <a:gd name="T3" fmla="*/ 0 h 161"/>
                  <a:gd name="T4" fmla="*/ 0 w 258"/>
                  <a:gd name="T5" fmla="*/ 0 h 161"/>
                  <a:gd name="T6" fmla="*/ 0 w 258"/>
                  <a:gd name="T7" fmla="*/ 0 h 161"/>
                  <a:gd name="T8" fmla="*/ 0 w 258"/>
                  <a:gd name="T9" fmla="*/ 0 h 161"/>
                  <a:gd name="T10" fmla="*/ 0 w 258"/>
                  <a:gd name="T11" fmla="*/ 0 h 161"/>
                  <a:gd name="T12" fmla="*/ 0 w 258"/>
                  <a:gd name="T13" fmla="*/ 0 h 161"/>
                  <a:gd name="T14" fmla="*/ 0 w 258"/>
                  <a:gd name="T15" fmla="*/ 0 h 161"/>
                  <a:gd name="T16" fmla="*/ 0 w 258"/>
                  <a:gd name="T17" fmla="*/ 0 h 161"/>
                  <a:gd name="T18" fmla="*/ 0 w 258"/>
                  <a:gd name="T19" fmla="*/ 0 h 161"/>
                  <a:gd name="T20" fmla="*/ 0 w 258"/>
                  <a:gd name="T21" fmla="*/ 0 h 161"/>
                  <a:gd name="T22" fmla="*/ 0 w 258"/>
                  <a:gd name="T23" fmla="*/ 0 h 161"/>
                  <a:gd name="T24" fmla="*/ 0 w 258"/>
                  <a:gd name="T25" fmla="*/ 0 h 161"/>
                  <a:gd name="T26" fmla="*/ 0 w 258"/>
                  <a:gd name="T27" fmla="*/ 0 h 161"/>
                  <a:gd name="T28" fmla="*/ 0 w 258"/>
                  <a:gd name="T29" fmla="*/ 0 h 161"/>
                  <a:gd name="T30" fmla="*/ 0 w 258"/>
                  <a:gd name="T31" fmla="*/ 0 h 161"/>
                  <a:gd name="T32" fmla="*/ 0 w 258"/>
                  <a:gd name="T33" fmla="*/ 0 h 161"/>
                  <a:gd name="T34" fmla="*/ 0 w 258"/>
                  <a:gd name="T35" fmla="*/ 0 h 161"/>
                  <a:gd name="T36" fmla="*/ 0 w 258"/>
                  <a:gd name="T37" fmla="*/ 0 h 16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258"/>
                  <a:gd name="T58" fmla="*/ 0 h 161"/>
                  <a:gd name="T59" fmla="*/ 258 w 258"/>
                  <a:gd name="T60" fmla="*/ 161 h 16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258" h="161">
                    <a:moveTo>
                      <a:pt x="11" y="73"/>
                    </a:moveTo>
                    <a:lnTo>
                      <a:pt x="0" y="57"/>
                    </a:lnTo>
                    <a:lnTo>
                      <a:pt x="16" y="48"/>
                    </a:lnTo>
                    <a:lnTo>
                      <a:pt x="32" y="43"/>
                    </a:lnTo>
                    <a:lnTo>
                      <a:pt x="52" y="43"/>
                    </a:lnTo>
                    <a:lnTo>
                      <a:pt x="68" y="41"/>
                    </a:lnTo>
                    <a:lnTo>
                      <a:pt x="87" y="38"/>
                    </a:lnTo>
                    <a:lnTo>
                      <a:pt x="103" y="30"/>
                    </a:lnTo>
                    <a:lnTo>
                      <a:pt x="117" y="20"/>
                    </a:lnTo>
                    <a:lnTo>
                      <a:pt x="128" y="0"/>
                    </a:lnTo>
                    <a:lnTo>
                      <a:pt x="258" y="147"/>
                    </a:lnTo>
                    <a:lnTo>
                      <a:pt x="219" y="152"/>
                    </a:lnTo>
                    <a:lnTo>
                      <a:pt x="184" y="155"/>
                    </a:lnTo>
                    <a:lnTo>
                      <a:pt x="147" y="161"/>
                    </a:lnTo>
                    <a:lnTo>
                      <a:pt x="114" y="157"/>
                    </a:lnTo>
                    <a:lnTo>
                      <a:pt x="84" y="152"/>
                    </a:lnTo>
                    <a:lnTo>
                      <a:pt x="54" y="138"/>
                    </a:lnTo>
                    <a:lnTo>
                      <a:pt x="30" y="111"/>
                    </a:lnTo>
                    <a:lnTo>
                      <a:pt x="11" y="73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4" name="Freeform 403">
                <a:extLst>
                  <a:ext uri="{FF2B5EF4-FFF2-40B4-BE49-F238E27FC236}">
                    <a16:creationId xmlns:a16="http://schemas.microsoft.com/office/drawing/2014/main" id="{8D90A240-04D3-CB47-ABB1-15B4E6FADD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2" y="3454"/>
                <a:ext cx="262" cy="157"/>
              </a:xfrm>
              <a:custGeom>
                <a:avLst/>
                <a:gdLst>
                  <a:gd name="T0" fmla="*/ 0 w 1049"/>
                  <a:gd name="T1" fmla="*/ 0 h 625"/>
                  <a:gd name="T2" fmla="*/ 0 w 1049"/>
                  <a:gd name="T3" fmla="*/ 0 h 625"/>
                  <a:gd name="T4" fmla="*/ 0 w 1049"/>
                  <a:gd name="T5" fmla="*/ 0 h 625"/>
                  <a:gd name="T6" fmla="*/ 0 w 1049"/>
                  <a:gd name="T7" fmla="*/ 0 h 625"/>
                  <a:gd name="T8" fmla="*/ 0 w 1049"/>
                  <a:gd name="T9" fmla="*/ 0 h 625"/>
                  <a:gd name="T10" fmla="*/ 0 w 1049"/>
                  <a:gd name="T11" fmla="*/ 0 h 625"/>
                  <a:gd name="T12" fmla="*/ 0 w 1049"/>
                  <a:gd name="T13" fmla="*/ 0 h 625"/>
                  <a:gd name="T14" fmla="*/ 0 w 1049"/>
                  <a:gd name="T15" fmla="*/ 0 h 625"/>
                  <a:gd name="T16" fmla="*/ 0 w 1049"/>
                  <a:gd name="T17" fmla="*/ 0 h 625"/>
                  <a:gd name="T18" fmla="*/ 0 w 1049"/>
                  <a:gd name="T19" fmla="*/ 0 h 625"/>
                  <a:gd name="T20" fmla="*/ 0 w 1049"/>
                  <a:gd name="T21" fmla="*/ 0 h 625"/>
                  <a:gd name="T22" fmla="*/ 0 w 1049"/>
                  <a:gd name="T23" fmla="*/ 0 h 625"/>
                  <a:gd name="T24" fmla="*/ 0 w 1049"/>
                  <a:gd name="T25" fmla="*/ 0 h 625"/>
                  <a:gd name="T26" fmla="*/ 0 w 1049"/>
                  <a:gd name="T27" fmla="*/ 0 h 625"/>
                  <a:gd name="T28" fmla="*/ 0 w 1049"/>
                  <a:gd name="T29" fmla="*/ 0 h 625"/>
                  <a:gd name="T30" fmla="*/ 0 w 1049"/>
                  <a:gd name="T31" fmla="*/ 0 h 625"/>
                  <a:gd name="T32" fmla="*/ 0 w 1049"/>
                  <a:gd name="T33" fmla="*/ 0 h 625"/>
                  <a:gd name="T34" fmla="*/ 0 w 1049"/>
                  <a:gd name="T35" fmla="*/ 0 h 625"/>
                  <a:gd name="T36" fmla="*/ 0 w 1049"/>
                  <a:gd name="T37" fmla="*/ 0 h 625"/>
                  <a:gd name="T38" fmla="*/ 0 w 1049"/>
                  <a:gd name="T39" fmla="*/ 0 h 625"/>
                  <a:gd name="T40" fmla="*/ 0 w 1049"/>
                  <a:gd name="T41" fmla="*/ 0 h 625"/>
                  <a:gd name="T42" fmla="*/ 0 w 1049"/>
                  <a:gd name="T43" fmla="*/ 0 h 625"/>
                  <a:gd name="T44" fmla="*/ 0 w 1049"/>
                  <a:gd name="T45" fmla="*/ 0 h 625"/>
                  <a:gd name="T46" fmla="*/ 0 w 1049"/>
                  <a:gd name="T47" fmla="*/ 0 h 625"/>
                  <a:gd name="T48" fmla="*/ 0 w 1049"/>
                  <a:gd name="T49" fmla="*/ 0 h 625"/>
                  <a:gd name="T50" fmla="*/ 0 w 1049"/>
                  <a:gd name="T51" fmla="*/ 0 h 625"/>
                  <a:gd name="T52" fmla="*/ 0 w 1049"/>
                  <a:gd name="T53" fmla="*/ 0 h 625"/>
                  <a:gd name="T54" fmla="*/ 0 w 1049"/>
                  <a:gd name="T55" fmla="*/ 0 h 625"/>
                  <a:gd name="T56" fmla="*/ 0 w 1049"/>
                  <a:gd name="T57" fmla="*/ 0 h 625"/>
                  <a:gd name="T58" fmla="*/ 0 w 1049"/>
                  <a:gd name="T59" fmla="*/ 0 h 625"/>
                  <a:gd name="T60" fmla="*/ 0 w 1049"/>
                  <a:gd name="T61" fmla="*/ 0 h 625"/>
                  <a:gd name="T62" fmla="*/ 0 w 1049"/>
                  <a:gd name="T63" fmla="*/ 0 h 625"/>
                  <a:gd name="T64" fmla="*/ 0 w 1049"/>
                  <a:gd name="T65" fmla="*/ 0 h 625"/>
                  <a:gd name="T66" fmla="*/ 0 w 1049"/>
                  <a:gd name="T67" fmla="*/ 0 h 625"/>
                  <a:gd name="T68" fmla="*/ 0 w 1049"/>
                  <a:gd name="T69" fmla="*/ 0 h 625"/>
                  <a:gd name="T70" fmla="*/ 0 w 1049"/>
                  <a:gd name="T71" fmla="*/ 0 h 625"/>
                  <a:gd name="T72" fmla="*/ 0 w 1049"/>
                  <a:gd name="T73" fmla="*/ 0 h 625"/>
                  <a:gd name="T74" fmla="*/ 0 w 1049"/>
                  <a:gd name="T75" fmla="*/ 0 h 625"/>
                  <a:gd name="T76" fmla="*/ 0 w 1049"/>
                  <a:gd name="T77" fmla="*/ 0 h 625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w 1049"/>
                  <a:gd name="T118" fmla="*/ 0 h 625"/>
                  <a:gd name="T119" fmla="*/ 1049 w 1049"/>
                  <a:gd name="T120" fmla="*/ 625 h 625"/>
                </a:gdLst>
                <a:ahLst/>
                <a:cxnLst>
                  <a:cxn ang="T78">
                    <a:pos x="T0" y="T1"/>
                  </a:cxn>
                  <a:cxn ang="T79">
                    <a:pos x="T2" y="T3"/>
                  </a:cxn>
                  <a:cxn ang="T80">
                    <a:pos x="T4" y="T5"/>
                  </a:cxn>
                  <a:cxn ang="T81">
                    <a:pos x="T6" y="T7"/>
                  </a:cxn>
                  <a:cxn ang="T82">
                    <a:pos x="T8" y="T9"/>
                  </a:cxn>
                  <a:cxn ang="T83">
                    <a:pos x="T10" y="T11"/>
                  </a:cxn>
                  <a:cxn ang="T84">
                    <a:pos x="T12" y="T13"/>
                  </a:cxn>
                  <a:cxn ang="T85">
                    <a:pos x="T14" y="T15"/>
                  </a:cxn>
                  <a:cxn ang="T86">
                    <a:pos x="T16" y="T17"/>
                  </a:cxn>
                  <a:cxn ang="T87">
                    <a:pos x="T18" y="T19"/>
                  </a:cxn>
                  <a:cxn ang="T88">
                    <a:pos x="T20" y="T21"/>
                  </a:cxn>
                  <a:cxn ang="T89">
                    <a:pos x="T22" y="T23"/>
                  </a:cxn>
                  <a:cxn ang="T90">
                    <a:pos x="T24" y="T25"/>
                  </a:cxn>
                  <a:cxn ang="T91">
                    <a:pos x="T26" y="T27"/>
                  </a:cxn>
                  <a:cxn ang="T92">
                    <a:pos x="T28" y="T29"/>
                  </a:cxn>
                  <a:cxn ang="T93">
                    <a:pos x="T30" y="T31"/>
                  </a:cxn>
                  <a:cxn ang="T94">
                    <a:pos x="T32" y="T33"/>
                  </a:cxn>
                  <a:cxn ang="T95">
                    <a:pos x="T34" y="T35"/>
                  </a:cxn>
                  <a:cxn ang="T96">
                    <a:pos x="T36" y="T37"/>
                  </a:cxn>
                  <a:cxn ang="T97">
                    <a:pos x="T38" y="T39"/>
                  </a:cxn>
                  <a:cxn ang="T98">
                    <a:pos x="T40" y="T41"/>
                  </a:cxn>
                  <a:cxn ang="T99">
                    <a:pos x="T42" y="T43"/>
                  </a:cxn>
                  <a:cxn ang="T100">
                    <a:pos x="T44" y="T45"/>
                  </a:cxn>
                  <a:cxn ang="T101">
                    <a:pos x="T46" y="T47"/>
                  </a:cxn>
                  <a:cxn ang="T102">
                    <a:pos x="T48" y="T49"/>
                  </a:cxn>
                  <a:cxn ang="T103">
                    <a:pos x="T50" y="T51"/>
                  </a:cxn>
                  <a:cxn ang="T104">
                    <a:pos x="T52" y="T53"/>
                  </a:cxn>
                  <a:cxn ang="T105">
                    <a:pos x="T54" y="T55"/>
                  </a:cxn>
                  <a:cxn ang="T106">
                    <a:pos x="T56" y="T57"/>
                  </a:cxn>
                  <a:cxn ang="T107">
                    <a:pos x="T58" y="T59"/>
                  </a:cxn>
                  <a:cxn ang="T108">
                    <a:pos x="T60" y="T61"/>
                  </a:cxn>
                  <a:cxn ang="T109">
                    <a:pos x="T62" y="T63"/>
                  </a:cxn>
                  <a:cxn ang="T110">
                    <a:pos x="T64" y="T65"/>
                  </a:cxn>
                  <a:cxn ang="T111">
                    <a:pos x="T66" y="T67"/>
                  </a:cxn>
                  <a:cxn ang="T112">
                    <a:pos x="T68" y="T69"/>
                  </a:cxn>
                  <a:cxn ang="T113">
                    <a:pos x="T70" y="T71"/>
                  </a:cxn>
                  <a:cxn ang="T114">
                    <a:pos x="T72" y="T73"/>
                  </a:cxn>
                  <a:cxn ang="T115">
                    <a:pos x="T74" y="T75"/>
                  </a:cxn>
                  <a:cxn ang="T116">
                    <a:pos x="T76" y="T77"/>
                  </a:cxn>
                </a:cxnLst>
                <a:rect l="T117" t="T118" r="T119" b="T120"/>
                <a:pathLst>
                  <a:path w="1049" h="625">
                    <a:moveTo>
                      <a:pt x="858" y="519"/>
                    </a:moveTo>
                    <a:lnTo>
                      <a:pt x="850" y="511"/>
                    </a:lnTo>
                    <a:lnTo>
                      <a:pt x="844" y="500"/>
                    </a:lnTo>
                    <a:lnTo>
                      <a:pt x="844" y="486"/>
                    </a:lnTo>
                    <a:lnTo>
                      <a:pt x="844" y="476"/>
                    </a:lnTo>
                    <a:lnTo>
                      <a:pt x="860" y="465"/>
                    </a:lnTo>
                    <a:lnTo>
                      <a:pt x="880" y="454"/>
                    </a:lnTo>
                    <a:lnTo>
                      <a:pt x="896" y="442"/>
                    </a:lnTo>
                    <a:lnTo>
                      <a:pt x="915" y="432"/>
                    </a:lnTo>
                    <a:lnTo>
                      <a:pt x="931" y="421"/>
                    </a:lnTo>
                    <a:lnTo>
                      <a:pt x="948" y="407"/>
                    </a:lnTo>
                    <a:lnTo>
                      <a:pt x="964" y="394"/>
                    </a:lnTo>
                    <a:lnTo>
                      <a:pt x="978" y="377"/>
                    </a:lnTo>
                    <a:lnTo>
                      <a:pt x="689" y="70"/>
                    </a:lnTo>
                    <a:lnTo>
                      <a:pt x="649" y="77"/>
                    </a:lnTo>
                    <a:lnTo>
                      <a:pt x="606" y="82"/>
                    </a:lnTo>
                    <a:lnTo>
                      <a:pt x="564" y="90"/>
                    </a:lnTo>
                    <a:lnTo>
                      <a:pt x="524" y="98"/>
                    </a:lnTo>
                    <a:lnTo>
                      <a:pt x="483" y="106"/>
                    </a:lnTo>
                    <a:lnTo>
                      <a:pt x="442" y="117"/>
                    </a:lnTo>
                    <a:lnTo>
                      <a:pt x="405" y="130"/>
                    </a:lnTo>
                    <a:lnTo>
                      <a:pt x="364" y="141"/>
                    </a:lnTo>
                    <a:lnTo>
                      <a:pt x="326" y="155"/>
                    </a:lnTo>
                    <a:lnTo>
                      <a:pt x="285" y="169"/>
                    </a:lnTo>
                    <a:lnTo>
                      <a:pt x="247" y="185"/>
                    </a:lnTo>
                    <a:lnTo>
                      <a:pt x="209" y="199"/>
                    </a:lnTo>
                    <a:lnTo>
                      <a:pt x="171" y="215"/>
                    </a:lnTo>
                    <a:lnTo>
                      <a:pt x="133" y="231"/>
                    </a:lnTo>
                    <a:lnTo>
                      <a:pt x="95" y="248"/>
                    </a:lnTo>
                    <a:lnTo>
                      <a:pt x="57" y="264"/>
                    </a:lnTo>
                    <a:lnTo>
                      <a:pt x="86" y="304"/>
                    </a:lnTo>
                    <a:lnTo>
                      <a:pt x="119" y="345"/>
                    </a:lnTo>
                    <a:lnTo>
                      <a:pt x="151" y="384"/>
                    </a:lnTo>
                    <a:lnTo>
                      <a:pt x="185" y="424"/>
                    </a:lnTo>
                    <a:lnTo>
                      <a:pt x="215" y="465"/>
                    </a:lnTo>
                    <a:lnTo>
                      <a:pt x="241" y="508"/>
                    </a:lnTo>
                    <a:lnTo>
                      <a:pt x="266" y="551"/>
                    </a:lnTo>
                    <a:lnTo>
                      <a:pt x="282" y="597"/>
                    </a:lnTo>
                    <a:lnTo>
                      <a:pt x="252" y="625"/>
                    </a:lnTo>
                    <a:lnTo>
                      <a:pt x="217" y="573"/>
                    </a:lnTo>
                    <a:lnTo>
                      <a:pt x="176" y="521"/>
                    </a:lnTo>
                    <a:lnTo>
                      <a:pt x="133" y="470"/>
                    </a:lnTo>
                    <a:lnTo>
                      <a:pt x="89" y="416"/>
                    </a:lnTo>
                    <a:lnTo>
                      <a:pt x="54" y="364"/>
                    </a:lnTo>
                    <a:lnTo>
                      <a:pt x="24" y="310"/>
                    </a:lnTo>
                    <a:lnTo>
                      <a:pt x="5" y="253"/>
                    </a:lnTo>
                    <a:lnTo>
                      <a:pt x="0" y="193"/>
                    </a:lnTo>
                    <a:lnTo>
                      <a:pt x="43" y="183"/>
                    </a:lnTo>
                    <a:lnTo>
                      <a:pt x="89" y="169"/>
                    </a:lnTo>
                    <a:lnTo>
                      <a:pt x="133" y="158"/>
                    </a:lnTo>
                    <a:lnTo>
                      <a:pt x="176" y="144"/>
                    </a:lnTo>
                    <a:lnTo>
                      <a:pt x="220" y="128"/>
                    </a:lnTo>
                    <a:lnTo>
                      <a:pt x="264" y="114"/>
                    </a:lnTo>
                    <a:lnTo>
                      <a:pt x="307" y="100"/>
                    </a:lnTo>
                    <a:lnTo>
                      <a:pt x="350" y="88"/>
                    </a:lnTo>
                    <a:lnTo>
                      <a:pt x="393" y="74"/>
                    </a:lnTo>
                    <a:lnTo>
                      <a:pt x="437" y="60"/>
                    </a:lnTo>
                    <a:lnTo>
                      <a:pt x="483" y="47"/>
                    </a:lnTo>
                    <a:lnTo>
                      <a:pt x="527" y="35"/>
                    </a:lnTo>
                    <a:lnTo>
                      <a:pt x="571" y="24"/>
                    </a:lnTo>
                    <a:lnTo>
                      <a:pt x="617" y="14"/>
                    </a:lnTo>
                    <a:lnTo>
                      <a:pt x="659" y="5"/>
                    </a:lnTo>
                    <a:lnTo>
                      <a:pt x="706" y="0"/>
                    </a:lnTo>
                    <a:lnTo>
                      <a:pt x="749" y="49"/>
                    </a:lnTo>
                    <a:lnTo>
                      <a:pt x="795" y="95"/>
                    </a:lnTo>
                    <a:lnTo>
                      <a:pt x="848" y="144"/>
                    </a:lnTo>
                    <a:lnTo>
                      <a:pt x="899" y="190"/>
                    </a:lnTo>
                    <a:lnTo>
                      <a:pt x="945" y="241"/>
                    </a:lnTo>
                    <a:lnTo>
                      <a:pt x="989" y="294"/>
                    </a:lnTo>
                    <a:lnTo>
                      <a:pt x="1024" y="348"/>
                    </a:lnTo>
                    <a:lnTo>
                      <a:pt x="1049" y="405"/>
                    </a:lnTo>
                    <a:lnTo>
                      <a:pt x="1029" y="430"/>
                    </a:lnTo>
                    <a:lnTo>
                      <a:pt x="1007" y="448"/>
                    </a:lnTo>
                    <a:lnTo>
                      <a:pt x="983" y="465"/>
                    </a:lnTo>
                    <a:lnTo>
                      <a:pt x="961" y="481"/>
                    </a:lnTo>
                    <a:lnTo>
                      <a:pt x="936" y="492"/>
                    </a:lnTo>
                    <a:lnTo>
                      <a:pt x="910" y="502"/>
                    </a:lnTo>
                    <a:lnTo>
                      <a:pt x="885" y="511"/>
                    </a:lnTo>
                    <a:lnTo>
                      <a:pt x="858" y="51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5" name="Freeform 404">
                <a:extLst>
                  <a:ext uri="{FF2B5EF4-FFF2-40B4-BE49-F238E27FC236}">
                    <a16:creationId xmlns:a16="http://schemas.microsoft.com/office/drawing/2014/main" id="{87B0EFBF-B811-5C49-BCA1-5132E475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37" y="3687"/>
                <a:ext cx="113" cy="139"/>
              </a:xfrm>
              <a:custGeom>
                <a:avLst/>
                <a:gdLst>
                  <a:gd name="T0" fmla="*/ 0 w 450"/>
                  <a:gd name="T1" fmla="*/ 0 h 556"/>
                  <a:gd name="T2" fmla="*/ 0 w 450"/>
                  <a:gd name="T3" fmla="*/ 0 h 556"/>
                  <a:gd name="T4" fmla="*/ 0 w 450"/>
                  <a:gd name="T5" fmla="*/ 0 h 556"/>
                  <a:gd name="T6" fmla="*/ 0 w 450"/>
                  <a:gd name="T7" fmla="*/ 0 h 556"/>
                  <a:gd name="T8" fmla="*/ 0 w 450"/>
                  <a:gd name="T9" fmla="*/ 0 h 556"/>
                  <a:gd name="T10" fmla="*/ 0 w 450"/>
                  <a:gd name="T11" fmla="*/ 0 h 556"/>
                  <a:gd name="T12" fmla="*/ 0 w 450"/>
                  <a:gd name="T13" fmla="*/ 0 h 556"/>
                  <a:gd name="T14" fmla="*/ 0 w 450"/>
                  <a:gd name="T15" fmla="*/ 0 h 556"/>
                  <a:gd name="T16" fmla="*/ 0 w 450"/>
                  <a:gd name="T17" fmla="*/ 0 h 556"/>
                  <a:gd name="T18" fmla="*/ 0 w 450"/>
                  <a:gd name="T19" fmla="*/ 0 h 556"/>
                  <a:gd name="T20" fmla="*/ 0 w 450"/>
                  <a:gd name="T21" fmla="*/ 0 h 556"/>
                  <a:gd name="T22" fmla="*/ 0 w 450"/>
                  <a:gd name="T23" fmla="*/ 0 h 556"/>
                  <a:gd name="T24" fmla="*/ 0 w 450"/>
                  <a:gd name="T25" fmla="*/ 0 h 556"/>
                  <a:gd name="T26" fmla="*/ 0 w 450"/>
                  <a:gd name="T27" fmla="*/ 0 h 556"/>
                  <a:gd name="T28" fmla="*/ 0 w 450"/>
                  <a:gd name="T29" fmla="*/ 0 h 556"/>
                  <a:gd name="T30" fmla="*/ 0 w 450"/>
                  <a:gd name="T31" fmla="*/ 0 h 556"/>
                  <a:gd name="T32" fmla="*/ 0 w 450"/>
                  <a:gd name="T33" fmla="*/ 0 h 556"/>
                  <a:gd name="T34" fmla="*/ 0 w 450"/>
                  <a:gd name="T35" fmla="*/ 0 h 55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450"/>
                  <a:gd name="T55" fmla="*/ 0 h 556"/>
                  <a:gd name="T56" fmla="*/ 450 w 450"/>
                  <a:gd name="T57" fmla="*/ 556 h 55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450" h="556">
                    <a:moveTo>
                      <a:pt x="380" y="554"/>
                    </a:moveTo>
                    <a:lnTo>
                      <a:pt x="342" y="480"/>
                    </a:lnTo>
                    <a:lnTo>
                      <a:pt x="296" y="413"/>
                    </a:lnTo>
                    <a:lnTo>
                      <a:pt x="242" y="347"/>
                    </a:lnTo>
                    <a:lnTo>
                      <a:pt x="187" y="284"/>
                    </a:lnTo>
                    <a:lnTo>
                      <a:pt x="131" y="219"/>
                    </a:lnTo>
                    <a:lnTo>
                      <a:pt x="78" y="154"/>
                    </a:lnTo>
                    <a:lnTo>
                      <a:pt x="32" y="87"/>
                    </a:lnTo>
                    <a:lnTo>
                      <a:pt x="0" y="16"/>
                    </a:lnTo>
                    <a:lnTo>
                      <a:pt x="11" y="2"/>
                    </a:lnTo>
                    <a:lnTo>
                      <a:pt x="27" y="0"/>
                    </a:lnTo>
                    <a:lnTo>
                      <a:pt x="43" y="0"/>
                    </a:lnTo>
                    <a:lnTo>
                      <a:pt x="57" y="0"/>
                    </a:lnTo>
                    <a:lnTo>
                      <a:pt x="450" y="524"/>
                    </a:lnTo>
                    <a:lnTo>
                      <a:pt x="440" y="538"/>
                    </a:lnTo>
                    <a:lnTo>
                      <a:pt x="424" y="548"/>
                    </a:lnTo>
                    <a:lnTo>
                      <a:pt x="404" y="556"/>
                    </a:lnTo>
                    <a:lnTo>
                      <a:pt x="380" y="55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6" name="Freeform 405">
                <a:extLst>
                  <a:ext uri="{FF2B5EF4-FFF2-40B4-BE49-F238E27FC236}">
                    <a16:creationId xmlns:a16="http://schemas.microsoft.com/office/drawing/2014/main" id="{E22A7A22-5850-E444-9697-DD4C3B93D5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1" y="3305"/>
                <a:ext cx="267" cy="165"/>
              </a:xfrm>
              <a:custGeom>
                <a:avLst/>
                <a:gdLst>
                  <a:gd name="T0" fmla="*/ 0 w 1067"/>
                  <a:gd name="T1" fmla="*/ 0 h 660"/>
                  <a:gd name="T2" fmla="*/ 0 w 1067"/>
                  <a:gd name="T3" fmla="*/ 0 h 660"/>
                  <a:gd name="T4" fmla="*/ 0 w 1067"/>
                  <a:gd name="T5" fmla="*/ 0 h 660"/>
                  <a:gd name="T6" fmla="*/ 0 w 1067"/>
                  <a:gd name="T7" fmla="*/ 0 h 660"/>
                  <a:gd name="T8" fmla="*/ 0 w 1067"/>
                  <a:gd name="T9" fmla="*/ 0 h 660"/>
                  <a:gd name="T10" fmla="*/ 0 w 1067"/>
                  <a:gd name="T11" fmla="*/ 0 h 660"/>
                  <a:gd name="T12" fmla="*/ 0 w 1067"/>
                  <a:gd name="T13" fmla="*/ 0 h 660"/>
                  <a:gd name="T14" fmla="*/ 0 w 1067"/>
                  <a:gd name="T15" fmla="*/ 0 h 660"/>
                  <a:gd name="T16" fmla="*/ 0 w 1067"/>
                  <a:gd name="T17" fmla="*/ 0 h 660"/>
                  <a:gd name="T18" fmla="*/ 0 w 1067"/>
                  <a:gd name="T19" fmla="*/ 0 h 660"/>
                  <a:gd name="T20" fmla="*/ 0 w 1067"/>
                  <a:gd name="T21" fmla="*/ 0 h 660"/>
                  <a:gd name="T22" fmla="*/ 0 w 1067"/>
                  <a:gd name="T23" fmla="*/ 0 h 660"/>
                  <a:gd name="T24" fmla="*/ 0 w 1067"/>
                  <a:gd name="T25" fmla="*/ 0 h 660"/>
                  <a:gd name="T26" fmla="*/ 0 w 1067"/>
                  <a:gd name="T27" fmla="*/ 0 h 660"/>
                  <a:gd name="T28" fmla="*/ 0 w 1067"/>
                  <a:gd name="T29" fmla="*/ 0 h 660"/>
                  <a:gd name="T30" fmla="*/ 0 w 1067"/>
                  <a:gd name="T31" fmla="*/ 0 h 660"/>
                  <a:gd name="T32" fmla="*/ 0 w 1067"/>
                  <a:gd name="T33" fmla="*/ 0 h 660"/>
                  <a:gd name="T34" fmla="*/ 0 w 1067"/>
                  <a:gd name="T35" fmla="*/ 0 h 660"/>
                  <a:gd name="T36" fmla="*/ 0 w 1067"/>
                  <a:gd name="T37" fmla="*/ 0 h 660"/>
                  <a:gd name="T38" fmla="*/ 0 w 1067"/>
                  <a:gd name="T39" fmla="*/ 0 h 660"/>
                  <a:gd name="T40" fmla="*/ 0 w 1067"/>
                  <a:gd name="T41" fmla="*/ 0 h 660"/>
                  <a:gd name="T42" fmla="*/ 0 w 1067"/>
                  <a:gd name="T43" fmla="*/ 0 h 660"/>
                  <a:gd name="T44" fmla="*/ 0 w 1067"/>
                  <a:gd name="T45" fmla="*/ 0 h 660"/>
                  <a:gd name="T46" fmla="*/ 0 w 1067"/>
                  <a:gd name="T47" fmla="*/ 0 h 660"/>
                  <a:gd name="T48" fmla="*/ 0 w 1067"/>
                  <a:gd name="T49" fmla="*/ 0 h 660"/>
                  <a:gd name="T50" fmla="*/ 0 w 1067"/>
                  <a:gd name="T51" fmla="*/ 0 h 660"/>
                  <a:gd name="T52" fmla="*/ 0 w 1067"/>
                  <a:gd name="T53" fmla="*/ 0 h 660"/>
                  <a:gd name="T54" fmla="*/ 0 w 1067"/>
                  <a:gd name="T55" fmla="*/ 0 h 660"/>
                  <a:gd name="T56" fmla="*/ 0 w 1067"/>
                  <a:gd name="T57" fmla="*/ 0 h 660"/>
                  <a:gd name="T58" fmla="*/ 0 w 1067"/>
                  <a:gd name="T59" fmla="*/ 0 h 660"/>
                  <a:gd name="T60" fmla="*/ 0 w 1067"/>
                  <a:gd name="T61" fmla="*/ 0 h 660"/>
                  <a:gd name="T62" fmla="*/ 0 w 1067"/>
                  <a:gd name="T63" fmla="*/ 0 h 660"/>
                  <a:gd name="T64" fmla="*/ 0 w 1067"/>
                  <a:gd name="T65" fmla="*/ 0 h 660"/>
                  <a:gd name="T66" fmla="*/ 0 w 1067"/>
                  <a:gd name="T67" fmla="*/ 0 h 660"/>
                  <a:gd name="T68" fmla="*/ 0 w 1067"/>
                  <a:gd name="T69" fmla="*/ 0 h 660"/>
                  <a:gd name="T70" fmla="*/ 0 w 1067"/>
                  <a:gd name="T71" fmla="*/ 0 h 660"/>
                  <a:gd name="T72" fmla="*/ 0 w 1067"/>
                  <a:gd name="T73" fmla="*/ 0 h 660"/>
                  <a:gd name="T74" fmla="*/ 0 w 1067"/>
                  <a:gd name="T75" fmla="*/ 0 h 660"/>
                  <a:gd name="T76" fmla="*/ 0 w 1067"/>
                  <a:gd name="T77" fmla="*/ 0 h 660"/>
                  <a:gd name="T78" fmla="*/ 0 w 1067"/>
                  <a:gd name="T79" fmla="*/ 0 h 660"/>
                  <a:gd name="T80" fmla="*/ 0 w 1067"/>
                  <a:gd name="T81" fmla="*/ 0 h 660"/>
                  <a:gd name="T82" fmla="*/ 0 w 1067"/>
                  <a:gd name="T83" fmla="*/ 0 h 660"/>
                  <a:gd name="T84" fmla="*/ 0 w 1067"/>
                  <a:gd name="T85" fmla="*/ 0 h 660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1067"/>
                  <a:gd name="T130" fmla="*/ 0 h 660"/>
                  <a:gd name="T131" fmla="*/ 1067 w 1067"/>
                  <a:gd name="T132" fmla="*/ 660 h 660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1067" h="660">
                    <a:moveTo>
                      <a:pt x="791" y="448"/>
                    </a:moveTo>
                    <a:lnTo>
                      <a:pt x="801" y="420"/>
                    </a:lnTo>
                    <a:lnTo>
                      <a:pt x="820" y="401"/>
                    </a:lnTo>
                    <a:lnTo>
                      <a:pt x="842" y="385"/>
                    </a:lnTo>
                    <a:lnTo>
                      <a:pt x="870" y="375"/>
                    </a:lnTo>
                    <a:lnTo>
                      <a:pt x="900" y="366"/>
                    </a:lnTo>
                    <a:lnTo>
                      <a:pt x="926" y="355"/>
                    </a:lnTo>
                    <a:lnTo>
                      <a:pt x="956" y="348"/>
                    </a:lnTo>
                    <a:lnTo>
                      <a:pt x="981" y="334"/>
                    </a:lnTo>
                    <a:lnTo>
                      <a:pt x="954" y="320"/>
                    </a:lnTo>
                    <a:lnTo>
                      <a:pt x="926" y="302"/>
                    </a:lnTo>
                    <a:lnTo>
                      <a:pt x="900" y="277"/>
                    </a:lnTo>
                    <a:lnTo>
                      <a:pt x="875" y="247"/>
                    </a:lnTo>
                    <a:lnTo>
                      <a:pt x="848" y="217"/>
                    </a:lnTo>
                    <a:lnTo>
                      <a:pt x="824" y="184"/>
                    </a:lnTo>
                    <a:lnTo>
                      <a:pt x="799" y="152"/>
                    </a:lnTo>
                    <a:lnTo>
                      <a:pt x="771" y="122"/>
                    </a:lnTo>
                    <a:lnTo>
                      <a:pt x="748" y="94"/>
                    </a:lnTo>
                    <a:lnTo>
                      <a:pt x="720" y="73"/>
                    </a:lnTo>
                    <a:lnTo>
                      <a:pt x="690" y="57"/>
                    </a:lnTo>
                    <a:lnTo>
                      <a:pt x="660" y="49"/>
                    </a:lnTo>
                    <a:lnTo>
                      <a:pt x="628" y="46"/>
                    </a:lnTo>
                    <a:lnTo>
                      <a:pt x="595" y="57"/>
                    </a:lnTo>
                    <a:lnTo>
                      <a:pt x="560" y="78"/>
                    </a:lnTo>
                    <a:lnTo>
                      <a:pt x="522" y="112"/>
                    </a:lnTo>
                    <a:lnTo>
                      <a:pt x="471" y="122"/>
                    </a:lnTo>
                    <a:lnTo>
                      <a:pt x="416" y="133"/>
                    </a:lnTo>
                    <a:lnTo>
                      <a:pt x="364" y="144"/>
                    </a:lnTo>
                    <a:lnTo>
                      <a:pt x="313" y="152"/>
                    </a:lnTo>
                    <a:lnTo>
                      <a:pt x="261" y="166"/>
                    </a:lnTo>
                    <a:lnTo>
                      <a:pt x="212" y="179"/>
                    </a:lnTo>
                    <a:lnTo>
                      <a:pt x="164" y="198"/>
                    </a:lnTo>
                    <a:lnTo>
                      <a:pt x="117" y="223"/>
                    </a:lnTo>
                    <a:lnTo>
                      <a:pt x="155" y="274"/>
                    </a:lnTo>
                    <a:lnTo>
                      <a:pt x="191" y="325"/>
                    </a:lnTo>
                    <a:lnTo>
                      <a:pt x="228" y="378"/>
                    </a:lnTo>
                    <a:lnTo>
                      <a:pt x="263" y="429"/>
                    </a:lnTo>
                    <a:lnTo>
                      <a:pt x="300" y="480"/>
                    </a:lnTo>
                    <a:lnTo>
                      <a:pt x="335" y="530"/>
                    </a:lnTo>
                    <a:lnTo>
                      <a:pt x="372" y="581"/>
                    </a:lnTo>
                    <a:lnTo>
                      <a:pt x="413" y="630"/>
                    </a:lnTo>
                    <a:lnTo>
                      <a:pt x="408" y="635"/>
                    </a:lnTo>
                    <a:lnTo>
                      <a:pt x="402" y="641"/>
                    </a:lnTo>
                    <a:lnTo>
                      <a:pt x="397" y="649"/>
                    </a:lnTo>
                    <a:lnTo>
                      <a:pt x="397" y="660"/>
                    </a:lnTo>
                    <a:lnTo>
                      <a:pt x="356" y="660"/>
                    </a:lnTo>
                    <a:lnTo>
                      <a:pt x="307" y="605"/>
                    </a:lnTo>
                    <a:lnTo>
                      <a:pt x="267" y="549"/>
                    </a:lnTo>
                    <a:lnTo>
                      <a:pt x="226" y="491"/>
                    </a:lnTo>
                    <a:lnTo>
                      <a:pt x="187" y="431"/>
                    </a:lnTo>
                    <a:lnTo>
                      <a:pt x="147" y="375"/>
                    </a:lnTo>
                    <a:lnTo>
                      <a:pt x="104" y="320"/>
                    </a:lnTo>
                    <a:lnTo>
                      <a:pt x="55" y="269"/>
                    </a:lnTo>
                    <a:lnTo>
                      <a:pt x="0" y="223"/>
                    </a:lnTo>
                    <a:lnTo>
                      <a:pt x="0" y="179"/>
                    </a:lnTo>
                    <a:lnTo>
                      <a:pt x="44" y="166"/>
                    </a:lnTo>
                    <a:lnTo>
                      <a:pt x="87" y="149"/>
                    </a:lnTo>
                    <a:lnTo>
                      <a:pt x="134" y="138"/>
                    </a:lnTo>
                    <a:lnTo>
                      <a:pt x="177" y="124"/>
                    </a:lnTo>
                    <a:lnTo>
                      <a:pt x="223" y="114"/>
                    </a:lnTo>
                    <a:lnTo>
                      <a:pt x="267" y="101"/>
                    </a:lnTo>
                    <a:lnTo>
                      <a:pt x="313" y="89"/>
                    </a:lnTo>
                    <a:lnTo>
                      <a:pt x="359" y="82"/>
                    </a:lnTo>
                    <a:lnTo>
                      <a:pt x="406" y="71"/>
                    </a:lnTo>
                    <a:lnTo>
                      <a:pt x="452" y="59"/>
                    </a:lnTo>
                    <a:lnTo>
                      <a:pt x="498" y="52"/>
                    </a:lnTo>
                    <a:lnTo>
                      <a:pt x="544" y="41"/>
                    </a:lnTo>
                    <a:lnTo>
                      <a:pt x="590" y="30"/>
                    </a:lnTo>
                    <a:lnTo>
                      <a:pt x="633" y="22"/>
                    </a:lnTo>
                    <a:lnTo>
                      <a:pt x="679" y="11"/>
                    </a:lnTo>
                    <a:lnTo>
                      <a:pt x="725" y="0"/>
                    </a:lnTo>
                    <a:lnTo>
                      <a:pt x="764" y="46"/>
                    </a:lnTo>
                    <a:lnTo>
                      <a:pt x="810" y="89"/>
                    </a:lnTo>
                    <a:lnTo>
                      <a:pt x="856" y="130"/>
                    </a:lnTo>
                    <a:lnTo>
                      <a:pt x="902" y="174"/>
                    </a:lnTo>
                    <a:lnTo>
                      <a:pt x="949" y="214"/>
                    </a:lnTo>
                    <a:lnTo>
                      <a:pt x="992" y="258"/>
                    </a:lnTo>
                    <a:lnTo>
                      <a:pt x="1032" y="304"/>
                    </a:lnTo>
                    <a:lnTo>
                      <a:pt x="1067" y="350"/>
                    </a:lnTo>
                    <a:lnTo>
                      <a:pt x="1038" y="375"/>
                    </a:lnTo>
                    <a:lnTo>
                      <a:pt x="1008" y="396"/>
                    </a:lnTo>
                    <a:lnTo>
                      <a:pt x="972" y="410"/>
                    </a:lnTo>
                    <a:lnTo>
                      <a:pt x="940" y="424"/>
                    </a:lnTo>
                    <a:lnTo>
                      <a:pt x="905" y="431"/>
                    </a:lnTo>
                    <a:lnTo>
                      <a:pt x="866" y="440"/>
                    </a:lnTo>
                    <a:lnTo>
                      <a:pt x="829" y="445"/>
                    </a:lnTo>
                    <a:lnTo>
                      <a:pt x="791" y="448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7" name="Freeform 406">
                <a:extLst>
                  <a:ext uri="{FF2B5EF4-FFF2-40B4-BE49-F238E27FC236}">
                    <a16:creationId xmlns:a16="http://schemas.microsoft.com/office/drawing/2014/main" id="{86F4F923-7560-1548-84F8-EA6DCBAF51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10" y="3527"/>
                <a:ext cx="85" cy="105"/>
              </a:xfrm>
              <a:custGeom>
                <a:avLst/>
                <a:gdLst>
                  <a:gd name="T0" fmla="*/ 0 w 342"/>
                  <a:gd name="T1" fmla="*/ 0 h 421"/>
                  <a:gd name="T2" fmla="*/ 0 w 342"/>
                  <a:gd name="T3" fmla="*/ 0 h 421"/>
                  <a:gd name="T4" fmla="*/ 0 w 342"/>
                  <a:gd name="T5" fmla="*/ 0 h 421"/>
                  <a:gd name="T6" fmla="*/ 0 w 342"/>
                  <a:gd name="T7" fmla="*/ 0 h 421"/>
                  <a:gd name="T8" fmla="*/ 0 w 342"/>
                  <a:gd name="T9" fmla="*/ 0 h 421"/>
                  <a:gd name="T10" fmla="*/ 0 w 342"/>
                  <a:gd name="T11" fmla="*/ 0 h 421"/>
                  <a:gd name="T12" fmla="*/ 0 w 342"/>
                  <a:gd name="T13" fmla="*/ 0 h 421"/>
                  <a:gd name="T14" fmla="*/ 0 w 342"/>
                  <a:gd name="T15" fmla="*/ 0 h 421"/>
                  <a:gd name="T16" fmla="*/ 0 w 342"/>
                  <a:gd name="T17" fmla="*/ 0 h 421"/>
                  <a:gd name="T18" fmla="*/ 0 w 342"/>
                  <a:gd name="T19" fmla="*/ 0 h 421"/>
                  <a:gd name="T20" fmla="*/ 0 w 342"/>
                  <a:gd name="T21" fmla="*/ 0 h 421"/>
                  <a:gd name="T22" fmla="*/ 0 w 342"/>
                  <a:gd name="T23" fmla="*/ 0 h 421"/>
                  <a:gd name="T24" fmla="*/ 0 w 342"/>
                  <a:gd name="T25" fmla="*/ 0 h 421"/>
                  <a:gd name="T26" fmla="*/ 0 w 342"/>
                  <a:gd name="T27" fmla="*/ 0 h 421"/>
                  <a:gd name="T28" fmla="*/ 0 w 342"/>
                  <a:gd name="T29" fmla="*/ 0 h 421"/>
                  <a:gd name="T30" fmla="*/ 0 w 342"/>
                  <a:gd name="T31" fmla="*/ 0 h 421"/>
                  <a:gd name="T32" fmla="*/ 0 w 342"/>
                  <a:gd name="T33" fmla="*/ 0 h 421"/>
                  <a:gd name="T34" fmla="*/ 0 w 342"/>
                  <a:gd name="T35" fmla="*/ 0 h 421"/>
                  <a:gd name="T36" fmla="*/ 0 w 342"/>
                  <a:gd name="T37" fmla="*/ 0 h 42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342"/>
                  <a:gd name="T58" fmla="*/ 0 h 421"/>
                  <a:gd name="T59" fmla="*/ 342 w 342"/>
                  <a:gd name="T60" fmla="*/ 421 h 42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342" h="421">
                    <a:moveTo>
                      <a:pt x="296" y="421"/>
                    </a:moveTo>
                    <a:lnTo>
                      <a:pt x="250" y="377"/>
                    </a:lnTo>
                    <a:lnTo>
                      <a:pt x="210" y="334"/>
                    </a:lnTo>
                    <a:lnTo>
                      <a:pt x="166" y="287"/>
                    </a:lnTo>
                    <a:lnTo>
                      <a:pt x="129" y="239"/>
                    </a:lnTo>
                    <a:lnTo>
                      <a:pt x="93" y="187"/>
                    </a:lnTo>
                    <a:lnTo>
                      <a:pt x="58" y="135"/>
                    </a:lnTo>
                    <a:lnTo>
                      <a:pt x="28" y="81"/>
                    </a:lnTo>
                    <a:lnTo>
                      <a:pt x="0" y="27"/>
                    </a:lnTo>
                    <a:lnTo>
                      <a:pt x="30" y="0"/>
                    </a:lnTo>
                    <a:lnTo>
                      <a:pt x="69" y="49"/>
                    </a:lnTo>
                    <a:lnTo>
                      <a:pt x="109" y="95"/>
                    </a:lnTo>
                    <a:lnTo>
                      <a:pt x="153" y="144"/>
                    </a:lnTo>
                    <a:lnTo>
                      <a:pt x="199" y="193"/>
                    </a:lnTo>
                    <a:lnTo>
                      <a:pt x="240" y="244"/>
                    </a:lnTo>
                    <a:lnTo>
                      <a:pt x="280" y="299"/>
                    </a:lnTo>
                    <a:lnTo>
                      <a:pt x="316" y="352"/>
                    </a:lnTo>
                    <a:lnTo>
                      <a:pt x="342" y="410"/>
                    </a:lnTo>
                    <a:lnTo>
                      <a:pt x="296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8" name="Freeform 407">
                <a:extLst>
                  <a:ext uri="{FF2B5EF4-FFF2-40B4-BE49-F238E27FC236}">
                    <a16:creationId xmlns:a16="http://schemas.microsoft.com/office/drawing/2014/main" id="{3D7AD437-F049-9D42-B796-BADFD1F0B5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8" y="3159"/>
                <a:ext cx="256" cy="123"/>
              </a:xfrm>
              <a:custGeom>
                <a:avLst/>
                <a:gdLst>
                  <a:gd name="T0" fmla="*/ 0 w 1024"/>
                  <a:gd name="T1" fmla="*/ 0 h 489"/>
                  <a:gd name="T2" fmla="*/ 0 w 1024"/>
                  <a:gd name="T3" fmla="*/ 0 h 489"/>
                  <a:gd name="T4" fmla="*/ 0 w 1024"/>
                  <a:gd name="T5" fmla="*/ 0 h 489"/>
                  <a:gd name="T6" fmla="*/ 0 w 1024"/>
                  <a:gd name="T7" fmla="*/ 0 h 489"/>
                  <a:gd name="T8" fmla="*/ 0 w 1024"/>
                  <a:gd name="T9" fmla="*/ 0 h 489"/>
                  <a:gd name="T10" fmla="*/ 0 w 1024"/>
                  <a:gd name="T11" fmla="*/ 0 h 489"/>
                  <a:gd name="T12" fmla="*/ 0 w 1024"/>
                  <a:gd name="T13" fmla="*/ 0 h 489"/>
                  <a:gd name="T14" fmla="*/ 0 w 1024"/>
                  <a:gd name="T15" fmla="*/ 0 h 489"/>
                  <a:gd name="T16" fmla="*/ 0 w 1024"/>
                  <a:gd name="T17" fmla="*/ 0 h 489"/>
                  <a:gd name="T18" fmla="*/ 0 w 1024"/>
                  <a:gd name="T19" fmla="*/ 0 h 489"/>
                  <a:gd name="T20" fmla="*/ 0 w 1024"/>
                  <a:gd name="T21" fmla="*/ 0 h 489"/>
                  <a:gd name="T22" fmla="*/ 0 w 1024"/>
                  <a:gd name="T23" fmla="*/ 0 h 489"/>
                  <a:gd name="T24" fmla="*/ 0 w 1024"/>
                  <a:gd name="T25" fmla="*/ 0 h 489"/>
                  <a:gd name="T26" fmla="*/ 0 w 1024"/>
                  <a:gd name="T27" fmla="*/ 0 h 489"/>
                  <a:gd name="T28" fmla="*/ 0 w 1024"/>
                  <a:gd name="T29" fmla="*/ 0 h 489"/>
                  <a:gd name="T30" fmla="*/ 0 w 1024"/>
                  <a:gd name="T31" fmla="*/ 0 h 489"/>
                  <a:gd name="T32" fmla="*/ 0 w 1024"/>
                  <a:gd name="T33" fmla="*/ 0 h 489"/>
                  <a:gd name="T34" fmla="*/ 0 w 1024"/>
                  <a:gd name="T35" fmla="*/ 0 h 489"/>
                  <a:gd name="T36" fmla="*/ 0 w 1024"/>
                  <a:gd name="T37" fmla="*/ 0 h 489"/>
                  <a:gd name="T38" fmla="*/ 0 w 1024"/>
                  <a:gd name="T39" fmla="*/ 0 h 489"/>
                  <a:gd name="T40" fmla="*/ 0 w 1024"/>
                  <a:gd name="T41" fmla="*/ 0 h 489"/>
                  <a:gd name="T42" fmla="*/ 0 w 1024"/>
                  <a:gd name="T43" fmla="*/ 0 h 489"/>
                  <a:gd name="T44" fmla="*/ 0 w 1024"/>
                  <a:gd name="T45" fmla="*/ 0 h 489"/>
                  <a:gd name="T46" fmla="*/ 0 w 1024"/>
                  <a:gd name="T47" fmla="*/ 0 h 489"/>
                  <a:gd name="T48" fmla="*/ 0 w 1024"/>
                  <a:gd name="T49" fmla="*/ 0 h 489"/>
                  <a:gd name="T50" fmla="*/ 0 w 1024"/>
                  <a:gd name="T51" fmla="*/ 0 h 489"/>
                  <a:gd name="T52" fmla="*/ 0 w 1024"/>
                  <a:gd name="T53" fmla="*/ 0 h 489"/>
                  <a:gd name="T54" fmla="*/ 0 w 1024"/>
                  <a:gd name="T55" fmla="*/ 0 h 489"/>
                  <a:gd name="T56" fmla="*/ 0 w 1024"/>
                  <a:gd name="T57" fmla="*/ 0 h 489"/>
                  <a:gd name="T58" fmla="*/ 0 w 1024"/>
                  <a:gd name="T59" fmla="*/ 0 h 489"/>
                  <a:gd name="T60" fmla="*/ 0 w 1024"/>
                  <a:gd name="T61" fmla="*/ 0 h 489"/>
                  <a:gd name="T62" fmla="*/ 0 w 1024"/>
                  <a:gd name="T63" fmla="*/ 0 h 489"/>
                  <a:gd name="T64" fmla="*/ 0 w 1024"/>
                  <a:gd name="T65" fmla="*/ 0 h 489"/>
                  <a:gd name="T66" fmla="*/ 0 w 1024"/>
                  <a:gd name="T67" fmla="*/ 0 h 489"/>
                  <a:gd name="T68" fmla="*/ 0 w 1024"/>
                  <a:gd name="T69" fmla="*/ 0 h 489"/>
                  <a:gd name="T70" fmla="*/ 0 w 1024"/>
                  <a:gd name="T71" fmla="*/ 0 h 489"/>
                  <a:gd name="T72" fmla="*/ 0 w 1024"/>
                  <a:gd name="T73" fmla="*/ 0 h 489"/>
                  <a:gd name="T74" fmla="*/ 0 w 1024"/>
                  <a:gd name="T75" fmla="*/ 0 h 489"/>
                  <a:gd name="T76" fmla="*/ 0 w 1024"/>
                  <a:gd name="T77" fmla="*/ 0 h 489"/>
                  <a:gd name="T78" fmla="*/ 0 w 1024"/>
                  <a:gd name="T79" fmla="*/ 0 h 489"/>
                  <a:gd name="T80" fmla="*/ 0 w 1024"/>
                  <a:gd name="T81" fmla="*/ 0 h 489"/>
                  <a:gd name="T82" fmla="*/ 0 w 1024"/>
                  <a:gd name="T83" fmla="*/ 0 h 489"/>
                  <a:gd name="T84" fmla="*/ 0 w 1024"/>
                  <a:gd name="T85" fmla="*/ 0 h 489"/>
                  <a:gd name="T86" fmla="*/ 0 w 1024"/>
                  <a:gd name="T87" fmla="*/ 0 h 489"/>
                  <a:gd name="T88" fmla="*/ 0 w 1024"/>
                  <a:gd name="T89" fmla="*/ 0 h 489"/>
                  <a:gd name="T90" fmla="*/ 0 w 1024"/>
                  <a:gd name="T91" fmla="*/ 0 h 489"/>
                  <a:gd name="T92" fmla="*/ 0 w 1024"/>
                  <a:gd name="T93" fmla="*/ 0 h 489"/>
                  <a:gd name="T94" fmla="*/ 0 w 1024"/>
                  <a:gd name="T95" fmla="*/ 0 h 489"/>
                  <a:gd name="T96" fmla="*/ 0 w 1024"/>
                  <a:gd name="T97" fmla="*/ 0 h 489"/>
                  <a:gd name="T98" fmla="*/ 0 w 1024"/>
                  <a:gd name="T99" fmla="*/ 0 h 489"/>
                  <a:gd name="T100" fmla="*/ 0 w 1024"/>
                  <a:gd name="T101" fmla="*/ 0 h 489"/>
                  <a:gd name="T102" fmla="*/ 0 w 1024"/>
                  <a:gd name="T103" fmla="*/ 0 h 489"/>
                  <a:gd name="T104" fmla="*/ 0 w 1024"/>
                  <a:gd name="T105" fmla="*/ 0 h 489"/>
                  <a:gd name="T106" fmla="*/ 0 w 1024"/>
                  <a:gd name="T107" fmla="*/ 0 h 489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1024"/>
                  <a:gd name="T163" fmla="*/ 0 h 489"/>
                  <a:gd name="T164" fmla="*/ 1024 w 1024"/>
                  <a:gd name="T165" fmla="*/ 489 h 489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1024" h="489">
                    <a:moveTo>
                      <a:pt x="820" y="421"/>
                    </a:moveTo>
                    <a:lnTo>
                      <a:pt x="763" y="421"/>
                    </a:lnTo>
                    <a:lnTo>
                      <a:pt x="765" y="386"/>
                    </a:lnTo>
                    <a:lnTo>
                      <a:pt x="779" y="370"/>
                    </a:lnTo>
                    <a:lnTo>
                      <a:pt x="800" y="361"/>
                    </a:lnTo>
                    <a:lnTo>
                      <a:pt x="828" y="361"/>
                    </a:lnTo>
                    <a:lnTo>
                      <a:pt x="855" y="364"/>
                    </a:lnTo>
                    <a:lnTo>
                      <a:pt x="883" y="364"/>
                    </a:lnTo>
                    <a:lnTo>
                      <a:pt x="904" y="356"/>
                    </a:lnTo>
                    <a:lnTo>
                      <a:pt x="923" y="336"/>
                    </a:lnTo>
                    <a:lnTo>
                      <a:pt x="665" y="73"/>
                    </a:lnTo>
                    <a:lnTo>
                      <a:pt x="627" y="79"/>
                    </a:lnTo>
                    <a:lnTo>
                      <a:pt x="589" y="87"/>
                    </a:lnTo>
                    <a:lnTo>
                      <a:pt x="551" y="90"/>
                    </a:lnTo>
                    <a:lnTo>
                      <a:pt x="513" y="95"/>
                    </a:lnTo>
                    <a:lnTo>
                      <a:pt x="475" y="98"/>
                    </a:lnTo>
                    <a:lnTo>
                      <a:pt x="437" y="103"/>
                    </a:lnTo>
                    <a:lnTo>
                      <a:pt x="398" y="107"/>
                    </a:lnTo>
                    <a:lnTo>
                      <a:pt x="361" y="112"/>
                    </a:lnTo>
                    <a:lnTo>
                      <a:pt x="323" y="117"/>
                    </a:lnTo>
                    <a:lnTo>
                      <a:pt x="287" y="123"/>
                    </a:lnTo>
                    <a:lnTo>
                      <a:pt x="250" y="128"/>
                    </a:lnTo>
                    <a:lnTo>
                      <a:pt x="215" y="135"/>
                    </a:lnTo>
                    <a:lnTo>
                      <a:pt x="176" y="144"/>
                    </a:lnTo>
                    <a:lnTo>
                      <a:pt x="141" y="155"/>
                    </a:lnTo>
                    <a:lnTo>
                      <a:pt x="109" y="165"/>
                    </a:lnTo>
                    <a:lnTo>
                      <a:pt x="73" y="179"/>
                    </a:lnTo>
                    <a:lnTo>
                      <a:pt x="100" y="223"/>
                    </a:lnTo>
                    <a:lnTo>
                      <a:pt x="135" y="261"/>
                    </a:lnTo>
                    <a:lnTo>
                      <a:pt x="174" y="296"/>
                    </a:lnTo>
                    <a:lnTo>
                      <a:pt x="215" y="329"/>
                    </a:lnTo>
                    <a:lnTo>
                      <a:pt x="250" y="364"/>
                    </a:lnTo>
                    <a:lnTo>
                      <a:pt x="285" y="400"/>
                    </a:lnTo>
                    <a:lnTo>
                      <a:pt x="312" y="440"/>
                    </a:lnTo>
                    <a:lnTo>
                      <a:pt x="328" y="489"/>
                    </a:lnTo>
                    <a:lnTo>
                      <a:pt x="280" y="470"/>
                    </a:lnTo>
                    <a:lnTo>
                      <a:pt x="236" y="442"/>
                    </a:lnTo>
                    <a:lnTo>
                      <a:pt x="195" y="410"/>
                    </a:lnTo>
                    <a:lnTo>
                      <a:pt x="155" y="370"/>
                    </a:lnTo>
                    <a:lnTo>
                      <a:pt x="116" y="329"/>
                    </a:lnTo>
                    <a:lnTo>
                      <a:pt x="79" y="285"/>
                    </a:lnTo>
                    <a:lnTo>
                      <a:pt x="40" y="245"/>
                    </a:lnTo>
                    <a:lnTo>
                      <a:pt x="0" y="209"/>
                    </a:lnTo>
                    <a:lnTo>
                      <a:pt x="3" y="123"/>
                    </a:lnTo>
                    <a:lnTo>
                      <a:pt x="682" y="0"/>
                    </a:lnTo>
                    <a:lnTo>
                      <a:pt x="1024" y="336"/>
                    </a:lnTo>
                    <a:lnTo>
                      <a:pt x="1019" y="366"/>
                    </a:lnTo>
                    <a:lnTo>
                      <a:pt x="999" y="386"/>
                    </a:lnTo>
                    <a:lnTo>
                      <a:pt x="975" y="400"/>
                    </a:lnTo>
                    <a:lnTo>
                      <a:pt x="947" y="405"/>
                    </a:lnTo>
                    <a:lnTo>
                      <a:pt x="912" y="407"/>
                    </a:lnTo>
                    <a:lnTo>
                      <a:pt x="880" y="410"/>
                    </a:lnTo>
                    <a:lnTo>
                      <a:pt x="848" y="413"/>
                    </a:lnTo>
                    <a:lnTo>
                      <a:pt x="820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19" name="Freeform 408">
                <a:extLst>
                  <a:ext uri="{FF2B5EF4-FFF2-40B4-BE49-F238E27FC236}">
                    <a16:creationId xmlns:a16="http://schemas.microsoft.com/office/drawing/2014/main" id="{3D68A06D-8CD8-9D40-A0BC-C0B47BFC6E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3" y="3379"/>
                <a:ext cx="86" cy="102"/>
              </a:xfrm>
              <a:custGeom>
                <a:avLst/>
                <a:gdLst>
                  <a:gd name="T0" fmla="*/ 0 w 342"/>
                  <a:gd name="T1" fmla="*/ 0 h 410"/>
                  <a:gd name="T2" fmla="*/ 0 w 342"/>
                  <a:gd name="T3" fmla="*/ 0 h 410"/>
                  <a:gd name="T4" fmla="*/ 0 w 342"/>
                  <a:gd name="T5" fmla="*/ 0 h 410"/>
                  <a:gd name="T6" fmla="*/ 0 w 342"/>
                  <a:gd name="T7" fmla="*/ 0 h 410"/>
                  <a:gd name="T8" fmla="*/ 0 w 342"/>
                  <a:gd name="T9" fmla="*/ 0 h 410"/>
                  <a:gd name="T10" fmla="*/ 0 w 342"/>
                  <a:gd name="T11" fmla="*/ 0 h 410"/>
                  <a:gd name="T12" fmla="*/ 0 w 342"/>
                  <a:gd name="T13" fmla="*/ 0 h 410"/>
                  <a:gd name="T14" fmla="*/ 0 w 342"/>
                  <a:gd name="T15" fmla="*/ 0 h 410"/>
                  <a:gd name="T16" fmla="*/ 0 w 342"/>
                  <a:gd name="T17" fmla="*/ 0 h 410"/>
                  <a:gd name="T18" fmla="*/ 0 w 342"/>
                  <a:gd name="T19" fmla="*/ 0 h 410"/>
                  <a:gd name="T20" fmla="*/ 0 w 342"/>
                  <a:gd name="T21" fmla="*/ 0 h 410"/>
                  <a:gd name="T22" fmla="*/ 0 w 342"/>
                  <a:gd name="T23" fmla="*/ 0 h 410"/>
                  <a:gd name="T24" fmla="*/ 0 w 342"/>
                  <a:gd name="T25" fmla="*/ 0 h 410"/>
                  <a:gd name="T26" fmla="*/ 0 w 342"/>
                  <a:gd name="T27" fmla="*/ 0 h 410"/>
                  <a:gd name="T28" fmla="*/ 0 w 342"/>
                  <a:gd name="T29" fmla="*/ 0 h 410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342"/>
                  <a:gd name="T46" fmla="*/ 0 h 410"/>
                  <a:gd name="T47" fmla="*/ 342 w 342"/>
                  <a:gd name="T48" fmla="*/ 410 h 410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342" h="410">
                    <a:moveTo>
                      <a:pt x="295" y="410"/>
                    </a:moveTo>
                    <a:lnTo>
                      <a:pt x="0" y="30"/>
                    </a:lnTo>
                    <a:lnTo>
                      <a:pt x="12" y="16"/>
                    </a:lnTo>
                    <a:lnTo>
                      <a:pt x="26" y="6"/>
                    </a:lnTo>
                    <a:lnTo>
                      <a:pt x="40" y="0"/>
                    </a:lnTo>
                    <a:lnTo>
                      <a:pt x="56" y="0"/>
                    </a:lnTo>
                    <a:lnTo>
                      <a:pt x="97" y="46"/>
                    </a:lnTo>
                    <a:lnTo>
                      <a:pt x="138" y="92"/>
                    </a:lnTo>
                    <a:lnTo>
                      <a:pt x="178" y="141"/>
                    </a:lnTo>
                    <a:lnTo>
                      <a:pt x="217" y="187"/>
                    </a:lnTo>
                    <a:lnTo>
                      <a:pt x="252" y="239"/>
                    </a:lnTo>
                    <a:lnTo>
                      <a:pt x="284" y="288"/>
                    </a:lnTo>
                    <a:lnTo>
                      <a:pt x="314" y="339"/>
                    </a:lnTo>
                    <a:lnTo>
                      <a:pt x="342" y="394"/>
                    </a:lnTo>
                    <a:lnTo>
                      <a:pt x="295" y="41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0" name="Freeform 409">
                <a:extLst>
                  <a:ext uri="{FF2B5EF4-FFF2-40B4-BE49-F238E27FC236}">
                    <a16:creationId xmlns:a16="http://schemas.microsoft.com/office/drawing/2014/main" id="{B7E99B2D-4A75-5C4D-8BCB-960FBE7992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2" y="3036"/>
                <a:ext cx="249" cy="107"/>
              </a:xfrm>
              <a:custGeom>
                <a:avLst/>
                <a:gdLst>
                  <a:gd name="T0" fmla="*/ 0 w 994"/>
                  <a:gd name="T1" fmla="*/ 0 h 429"/>
                  <a:gd name="T2" fmla="*/ 0 w 994"/>
                  <a:gd name="T3" fmla="*/ 0 h 429"/>
                  <a:gd name="T4" fmla="*/ 0 w 994"/>
                  <a:gd name="T5" fmla="*/ 0 h 429"/>
                  <a:gd name="T6" fmla="*/ 0 w 994"/>
                  <a:gd name="T7" fmla="*/ 0 h 429"/>
                  <a:gd name="T8" fmla="*/ 0 w 994"/>
                  <a:gd name="T9" fmla="*/ 0 h 429"/>
                  <a:gd name="T10" fmla="*/ 0 w 994"/>
                  <a:gd name="T11" fmla="*/ 0 h 429"/>
                  <a:gd name="T12" fmla="*/ 0 w 994"/>
                  <a:gd name="T13" fmla="*/ 0 h 429"/>
                  <a:gd name="T14" fmla="*/ 0 w 994"/>
                  <a:gd name="T15" fmla="*/ 0 h 429"/>
                  <a:gd name="T16" fmla="*/ 0 w 994"/>
                  <a:gd name="T17" fmla="*/ 0 h 429"/>
                  <a:gd name="T18" fmla="*/ 0 w 994"/>
                  <a:gd name="T19" fmla="*/ 0 h 429"/>
                  <a:gd name="T20" fmla="*/ 0 w 994"/>
                  <a:gd name="T21" fmla="*/ 0 h 429"/>
                  <a:gd name="T22" fmla="*/ 0 w 994"/>
                  <a:gd name="T23" fmla="*/ 0 h 429"/>
                  <a:gd name="T24" fmla="*/ 0 w 994"/>
                  <a:gd name="T25" fmla="*/ 0 h 429"/>
                  <a:gd name="T26" fmla="*/ 0 w 994"/>
                  <a:gd name="T27" fmla="*/ 0 h 429"/>
                  <a:gd name="T28" fmla="*/ 0 w 994"/>
                  <a:gd name="T29" fmla="*/ 0 h 429"/>
                  <a:gd name="T30" fmla="*/ 0 w 994"/>
                  <a:gd name="T31" fmla="*/ 0 h 429"/>
                  <a:gd name="T32" fmla="*/ 0 w 994"/>
                  <a:gd name="T33" fmla="*/ 0 h 429"/>
                  <a:gd name="T34" fmla="*/ 0 w 994"/>
                  <a:gd name="T35" fmla="*/ 0 h 429"/>
                  <a:gd name="T36" fmla="*/ 0 w 994"/>
                  <a:gd name="T37" fmla="*/ 0 h 429"/>
                  <a:gd name="T38" fmla="*/ 0 w 994"/>
                  <a:gd name="T39" fmla="*/ 0 h 429"/>
                  <a:gd name="T40" fmla="*/ 0 w 994"/>
                  <a:gd name="T41" fmla="*/ 0 h 429"/>
                  <a:gd name="T42" fmla="*/ 0 w 994"/>
                  <a:gd name="T43" fmla="*/ 0 h 429"/>
                  <a:gd name="T44" fmla="*/ 0 w 994"/>
                  <a:gd name="T45" fmla="*/ 0 h 429"/>
                  <a:gd name="T46" fmla="*/ 0 w 994"/>
                  <a:gd name="T47" fmla="*/ 0 h 429"/>
                  <a:gd name="T48" fmla="*/ 0 w 994"/>
                  <a:gd name="T49" fmla="*/ 0 h 429"/>
                  <a:gd name="T50" fmla="*/ 0 w 994"/>
                  <a:gd name="T51" fmla="*/ 0 h 429"/>
                  <a:gd name="T52" fmla="*/ 0 w 994"/>
                  <a:gd name="T53" fmla="*/ 0 h 429"/>
                  <a:gd name="T54" fmla="*/ 0 w 994"/>
                  <a:gd name="T55" fmla="*/ 0 h 429"/>
                  <a:gd name="T56" fmla="*/ 0 w 994"/>
                  <a:gd name="T57" fmla="*/ 0 h 429"/>
                  <a:gd name="T58" fmla="*/ 0 w 994"/>
                  <a:gd name="T59" fmla="*/ 0 h 429"/>
                  <a:gd name="T60" fmla="*/ 0 w 994"/>
                  <a:gd name="T61" fmla="*/ 0 h 429"/>
                  <a:gd name="T62" fmla="*/ 0 w 994"/>
                  <a:gd name="T63" fmla="*/ 0 h 429"/>
                  <a:gd name="T64" fmla="*/ 0 w 994"/>
                  <a:gd name="T65" fmla="*/ 0 h 429"/>
                  <a:gd name="T66" fmla="*/ 0 w 994"/>
                  <a:gd name="T67" fmla="*/ 0 h 429"/>
                  <a:gd name="T68" fmla="*/ 0 w 994"/>
                  <a:gd name="T69" fmla="*/ 0 h 429"/>
                  <a:gd name="T70" fmla="*/ 0 w 994"/>
                  <a:gd name="T71" fmla="*/ 0 h 429"/>
                  <a:gd name="T72" fmla="*/ 0 w 994"/>
                  <a:gd name="T73" fmla="*/ 0 h 429"/>
                  <a:gd name="T74" fmla="*/ 0 w 994"/>
                  <a:gd name="T75" fmla="*/ 0 h 429"/>
                  <a:gd name="T76" fmla="*/ 0 w 994"/>
                  <a:gd name="T77" fmla="*/ 0 h 429"/>
                  <a:gd name="T78" fmla="*/ 0 w 994"/>
                  <a:gd name="T79" fmla="*/ 0 h 429"/>
                  <a:gd name="T80" fmla="*/ 0 w 994"/>
                  <a:gd name="T81" fmla="*/ 0 h 429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994"/>
                  <a:gd name="T124" fmla="*/ 0 h 429"/>
                  <a:gd name="T125" fmla="*/ 994 w 994"/>
                  <a:gd name="T126" fmla="*/ 429 h 429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994" h="429">
                    <a:moveTo>
                      <a:pt x="690" y="391"/>
                    </a:moveTo>
                    <a:lnTo>
                      <a:pt x="663" y="396"/>
                    </a:lnTo>
                    <a:lnTo>
                      <a:pt x="635" y="400"/>
                    </a:lnTo>
                    <a:lnTo>
                      <a:pt x="608" y="405"/>
                    </a:lnTo>
                    <a:lnTo>
                      <a:pt x="580" y="410"/>
                    </a:lnTo>
                    <a:lnTo>
                      <a:pt x="554" y="413"/>
                    </a:lnTo>
                    <a:lnTo>
                      <a:pt x="529" y="418"/>
                    </a:lnTo>
                    <a:lnTo>
                      <a:pt x="502" y="423"/>
                    </a:lnTo>
                    <a:lnTo>
                      <a:pt x="475" y="429"/>
                    </a:lnTo>
                    <a:lnTo>
                      <a:pt x="472" y="402"/>
                    </a:lnTo>
                    <a:lnTo>
                      <a:pt x="478" y="383"/>
                    </a:lnTo>
                    <a:lnTo>
                      <a:pt x="492" y="372"/>
                    </a:lnTo>
                    <a:lnTo>
                      <a:pt x="510" y="364"/>
                    </a:lnTo>
                    <a:lnTo>
                      <a:pt x="529" y="361"/>
                    </a:lnTo>
                    <a:lnTo>
                      <a:pt x="552" y="356"/>
                    </a:lnTo>
                    <a:lnTo>
                      <a:pt x="573" y="353"/>
                    </a:lnTo>
                    <a:lnTo>
                      <a:pt x="592" y="345"/>
                    </a:lnTo>
                    <a:lnTo>
                      <a:pt x="627" y="340"/>
                    </a:lnTo>
                    <a:lnTo>
                      <a:pt x="660" y="334"/>
                    </a:lnTo>
                    <a:lnTo>
                      <a:pt x="695" y="331"/>
                    </a:lnTo>
                    <a:lnTo>
                      <a:pt x="730" y="326"/>
                    </a:lnTo>
                    <a:lnTo>
                      <a:pt x="765" y="321"/>
                    </a:lnTo>
                    <a:lnTo>
                      <a:pt x="799" y="312"/>
                    </a:lnTo>
                    <a:lnTo>
                      <a:pt x="831" y="305"/>
                    </a:lnTo>
                    <a:lnTo>
                      <a:pt x="864" y="291"/>
                    </a:lnTo>
                    <a:lnTo>
                      <a:pt x="836" y="215"/>
                    </a:lnTo>
                    <a:lnTo>
                      <a:pt x="804" y="155"/>
                    </a:lnTo>
                    <a:lnTo>
                      <a:pt x="765" y="111"/>
                    </a:lnTo>
                    <a:lnTo>
                      <a:pt x="725" y="81"/>
                    </a:lnTo>
                    <a:lnTo>
                      <a:pt x="681" y="63"/>
                    </a:lnTo>
                    <a:lnTo>
                      <a:pt x="633" y="54"/>
                    </a:lnTo>
                    <a:lnTo>
                      <a:pt x="584" y="54"/>
                    </a:lnTo>
                    <a:lnTo>
                      <a:pt x="532" y="63"/>
                    </a:lnTo>
                    <a:lnTo>
                      <a:pt x="478" y="74"/>
                    </a:lnTo>
                    <a:lnTo>
                      <a:pt x="421" y="90"/>
                    </a:lnTo>
                    <a:lnTo>
                      <a:pt x="367" y="109"/>
                    </a:lnTo>
                    <a:lnTo>
                      <a:pt x="312" y="125"/>
                    </a:lnTo>
                    <a:lnTo>
                      <a:pt x="255" y="141"/>
                    </a:lnTo>
                    <a:lnTo>
                      <a:pt x="203" y="155"/>
                    </a:lnTo>
                    <a:lnTo>
                      <a:pt x="150" y="163"/>
                    </a:lnTo>
                    <a:lnTo>
                      <a:pt x="100" y="166"/>
                    </a:lnTo>
                    <a:lnTo>
                      <a:pt x="90" y="192"/>
                    </a:lnTo>
                    <a:lnTo>
                      <a:pt x="92" y="220"/>
                    </a:lnTo>
                    <a:lnTo>
                      <a:pt x="106" y="247"/>
                    </a:lnTo>
                    <a:lnTo>
                      <a:pt x="125" y="275"/>
                    </a:lnTo>
                    <a:lnTo>
                      <a:pt x="150" y="301"/>
                    </a:lnTo>
                    <a:lnTo>
                      <a:pt x="174" y="328"/>
                    </a:lnTo>
                    <a:lnTo>
                      <a:pt x="196" y="358"/>
                    </a:lnTo>
                    <a:lnTo>
                      <a:pt x="215" y="386"/>
                    </a:lnTo>
                    <a:lnTo>
                      <a:pt x="185" y="410"/>
                    </a:lnTo>
                    <a:lnTo>
                      <a:pt x="152" y="383"/>
                    </a:lnTo>
                    <a:lnTo>
                      <a:pt x="120" y="353"/>
                    </a:lnTo>
                    <a:lnTo>
                      <a:pt x="86" y="321"/>
                    </a:lnTo>
                    <a:lnTo>
                      <a:pt x="60" y="285"/>
                    </a:lnTo>
                    <a:lnTo>
                      <a:pt x="32" y="247"/>
                    </a:lnTo>
                    <a:lnTo>
                      <a:pt x="14" y="209"/>
                    </a:lnTo>
                    <a:lnTo>
                      <a:pt x="3" y="171"/>
                    </a:lnTo>
                    <a:lnTo>
                      <a:pt x="0" y="134"/>
                    </a:lnTo>
                    <a:lnTo>
                      <a:pt x="40" y="122"/>
                    </a:lnTo>
                    <a:lnTo>
                      <a:pt x="81" y="111"/>
                    </a:lnTo>
                    <a:lnTo>
                      <a:pt x="122" y="100"/>
                    </a:lnTo>
                    <a:lnTo>
                      <a:pt x="166" y="90"/>
                    </a:lnTo>
                    <a:lnTo>
                      <a:pt x="206" y="79"/>
                    </a:lnTo>
                    <a:lnTo>
                      <a:pt x="250" y="68"/>
                    </a:lnTo>
                    <a:lnTo>
                      <a:pt x="293" y="57"/>
                    </a:lnTo>
                    <a:lnTo>
                      <a:pt x="337" y="49"/>
                    </a:lnTo>
                    <a:lnTo>
                      <a:pt x="380" y="38"/>
                    </a:lnTo>
                    <a:lnTo>
                      <a:pt x="423" y="30"/>
                    </a:lnTo>
                    <a:lnTo>
                      <a:pt x="467" y="24"/>
                    </a:lnTo>
                    <a:lnTo>
                      <a:pt x="510" y="16"/>
                    </a:lnTo>
                    <a:lnTo>
                      <a:pt x="557" y="11"/>
                    </a:lnTo>
                    <a:lnTo>
                      <a:pt x="603" y="5"/>
                    </a:lnTo>
                    <a:lnTo>
                      <a:pt x="649" y="3"/>
                    </a:lnTo>
                    <a:lnTo>
                      <a:pt x="695" y="0"/>
                    </a:lnTo>
                    <a:lnTo>
                      <a:pt x="994" y="321"/>
                    </a:lnTo>
                    <a:lnTo>
                      <a:pt x="964" y="342"/>
                    </a:lnTo>
                    <a:lnTo>
                      <a:pt x="931" y="356"/>
                    </a:lnTo>
                    <a:lnTo>
                      <a:pt x="894" y="367"/>
                    </a:lnTo>
                    <a:lnTo>
                      <a:pt x="852" y="372"/>
                    </a:lnTo>
                    <a:lnTo>
                      <a:pt x="811" y="375"/>
                    </a:lnTo>
                    <a:lnTo>
                      <a:pt x="769" y="377"/>
                    </a:lnTo>
                    <a:lnTo>
                      <a:pt x="728" y="383"/>
                    </a:lnTo>
                    <a:lnTo>
                      <a:pt x="690" y="39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1" name="Freeform 410">
                <a:extLst>
                  <a:ext uri="{FF2B5EF4-FFF2-40B4-BE49-F238E27FC236}">
                    <a16:creationId xmlns:a16="http://schemas.microsoft.com/office/drawing/2014/main" id="{9E98C273-6BCA-9142-A31D-2BCB1EE5C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97" y="3221"/>
                <a:ext cx="78" cy="92"/>
              </a:xfrm>
              <a:custGeom>
                <a:avLst/>
                <a:gdLst>
                  <a:gd name="T0" fmla="*/ 0 w 312"/>
                  <a:gd name="T1" fmla="*/ 0 h 366"/>
                  <a:gd name="T2" fmla="*/ 0 w 312"/>
                  <a:gd name="T3" fmla="*/ 0 h 366"/>
                  <a:gd name="T4" fmla="*/ 0 w 312"/>
                  <a:gd name="T5" fmla="*/ 0 h 366"/>
                  <a:gd name="T6" fmla="*/ 0 w 312"/>
                  <a:gd name="T7" fmla="*/ 0 h 366"/>
                  <a:gd name="T8" fmla="*/ 0 w 312"/>
                  <a:gd name="T9" fmla="*/ 0 h 366"/>
                  <a:gd name="T10" fmla="*/ 0 w 312"/>
                  <a:gd name="T11" fmla="*/ 0 h 366"/>
                  <a:gd name="T12" fmla="*/ 0 w 312"/>
                  <a:gd name="T13" fmla="*/ 0 h 366"/>
                  <a:gd name="T14" fmla="*/ 0 w 312"/>
                  <a:gd name="T15" fmla="*/ 0 h 36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312"/>
                  <a:gd name="T25" fmla="*/ 0 h 366"/>
                  <a:gd name="T26" fmla="*/ 312 w 312"/>
                  <a:gd name="T27" fmla="*/ 366 h 36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312" h="366">
                    <a:moveTo>
                      <a:pt x="0" y="46"/>
                    </a:moveTo>
                    <a:lnTo>
                      <a:pt x="11" y="30"/>
                    </a:lnTo>
                    <a:lnTo>
                      <a:pt x="21" y="10"/>
                    </a:lnTo>
                    <a:lnTo>
                      <a:pt x="35" y="0"/>
                    </a:lnTo>
                    <a:lnTo>
                      <a:pt x="57" y="2"/>
                    </a:lnTo>
                    <a:lnTo>
                      <a:pt x="312" y="325"/>
                    </a:lnTo>
                    <a:lnTo>
                      <a:pt x="272" y="366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2" name="Freeform 411">
                <a:extLst>
                  <a:ext uri="{FF2B5EF4-FFF2-40B4-BE49-F238E27FC236}">
                    <a16:creationId xmlns:a16="http://schemas.microsoft.com/office/drawing/2014/main" id="{75A20FD3-5714-924C-A22C-FDB357F297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38" y="3127"/>
                <a:ext cx="169" cy="218"/>
              </a:xfrm>
              <a:custGeom>
                <a:avLst/>
                <a:gdLst>
                  <a:gd name="T0" fmla="*/ 0 w 674"/>
                  <a:gd name="T1" fmla="*/ 0 h 874"/>
                  <a:gd name="T2" fmla="*/ 0 w 674"/>
                  <a:gd name="T3" fmla="*/ 0 h 874"/>
                  <a:gd name="T4" fmla="*/ 0 w 674"/>
                  <a:gd name="T5" fmla="*/ 0 h 874"/>
                  <a:gd name="T6" fmla="*/ 0 w 674"/>
                  <a:gd name="T7" fmla="*/ 0 h 874"/>
                  <a:gd name="T8" fmla="*/ 0 w 674"/>
                  <a:gd name="T9" fmla="*/ 0 h 874"/>
                  <a:gd name="T10" fmla="*/ 0 w 674"/>
                  <a:gd name="T11" fmla="*/ 0 h 874"/>
                  <a:gd name="T12" fmla="*/ 0 w 674"/>
                  <a:gd name="T13" fmla="*/ 0 h 874"/>
                  <a:gd name="T14" fmla="*/ 0 w 674"/>
                  <a:gd name="T15" fmla="*/ 0 h 874"/>
                  <a:gd name="T16" fmla="*/ 0 w 674"/>
                  <a:gd name="T17" fmla="*/ 0 h 874"/>
                  <a:gd name="T18" fmla="*/ 0 w 674"/>
                  <a:gd name="T19" fmla="*/ 0 h 874"/>
                  <a:gd name="T20" fmla="*/ 0 w 674"/>
                  <a:gd name="T21" fmla="*/ 0 h 874"/>
                  <a:gd name="T22" fmla="*/ 0 w 674"/>
                  <a:gd name="T23" fmla="*/ 0 h 874"/>
                  <a:gd name="T24" fmla="*/ 0 w 674"/>
                  <a:gd name="T25" fmla="*/ 0 h 87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74"/>
                  <a:gd name="T40" fmla="*/ 0 h 874"/>
                  <a:gd name="T41" fmla="*/ 674 w 674"/>
                  <a:gd name="T42" fmla="*/ 874 h 87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74" h="874">
                    <a:moveTo>
                      <a:pt x="658" y="874"/>
                    </a:moveTo>
                    <a:lnTo>
                      <a:pt x="614" y="872"/>
                    </a:lnTo>
                    <a:lnTo>
                      <a:pt x="0" y="57"/>
                    </a:lnTo>
                    <a:lnTo>
                      <a:pt x="3" y="41"/>
                    </a:lnTo>
                    <a:lnTo>
                      <a:pt x="0" y="24"/>
                    </a:lnTo>
                    <a:lnTo>
                      <a:pt x="5" y="11"/>
                    </a:lnTo>
                    <a:lnTo>
                      <a:pt x="16" y="0"/>
                    </a:lnTo>
                    <a:lnTo>
                      <a:pt x="62" y="0"/>
                    </a:lnTo>
                    <a:lnTo>
                      <a:pt x="670" y="815"/>
                    </a:lnTo>
                    <a:lnTo>
                      <a:pt x="670" y="828"/>
                    </a:lnTo>
                    <a:lnTo>
                      <a:pt x="674" y="844"/>
                    </a:lnTo>
                    <a:lnTo>
                      <a:pt x="668" y="861"/>
                    </a:lnTo>
                    <a:lnTo>
                      <a:pt x="658" y="87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3" name="Freeform 412">
                <a:extLst>
                  <a:ext uri="{FF2B5EF4-FFF2-40B4-BE49-F238E27FC236}">
                    <a16:creationId xmlns:a16="http://schemas.microsoft.com/office/drawing/2014/main" id="{2663D4D6-8230-E949-9B1F-27927DEA93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00" y="3091"/>
                <a:ext cx="64" cy="91"/>
              </a:xfrm>
              <a:custGeom>
                <a:avLst/>
                <a:gdLst>
                  <a:gd name="T0" fmla="*/ 0 w 258"/>
                  <a:gd name="T1" fmla="*/ 0 h 364"/>
                  <a:gd name="T2" fmla="*/ 0 w 258"/>
                  <a:gd name="T3" fmla="*/ 0 h 364"/>
                  <a:gd name="T4" fmla="*/ 0 w 258"/>
                  <a:gd name="T5" fmla="*/ 0 h 364"/>
                  <a:gd name="T6" fmla="*/ 0 w 258"/>
                  <a:gd name="T7" fmla="*/ 0 h 364"/>
                  <a:gd name="T8" fmla="*/ 0 w 258"/>
                  <a:gd name="T9" fmla="*/ 0 h 364"/>
                  <a:gd name="T10" fmla="*/ 0 w 258"/>
                  <a:gd name="T11" fmla="*/ 0 h 364"/>
                  <a:gd name="T12" fmla="*/ 0 w 258"/>
                  <a:gd name="T13" fmla="*/ 0 h 364"/>
                  <a:gd name="T14" fmla="*/ 0 w 258"/>
                  <a:gd name="T15" fmla="*/ 0 h 364"/>
                  <a:gd name="T16" fmla="*/ 0 w 258"/>
                  <a:gd name="T17" fmla="*/ 0 h 364"/>
                  <a:gd name="T18" fmla="*/ 0 w 258"/>
                  <a:gd name="T19" fmla="*/ 0 h 364"/>
                  <a:gd name="T20" fmla="*/ 0 w 258"/>
                  <a:gd name="T21" fmla="*/ 0 h 364"/>
                  <a:gd name="T22" fmla="*/ 0 w 258"/>
                  <a:gd name="T23" fmla="*/ 0 h 364"/>
                  <a:gd name="T24" fmla="*/ 0 w 258"/>
                  <a:gd name="T25" fmla="*/ 0 h 364"/>
                  <a:gd name="T26" fmla="*/ 0 w 258"/>
                  <a:gd name="T27" fmla="*/ 0 h 364"/>
                  <a:gd name="T28" fmla="*/ 0 w 258"/>
                  <a:gd name="T29" fmla="*/ 0 h 364"/>
                  <a:gd name="T30" fmla="*/ 0 w 258"/>
                  <a:gd name="T31" fmla="*/ 0 h 364"/>
                  <a:gd name="T32" fmla="*/ 0 w 258"/>
                  <a:gd name="T33" fmla="*/ 0 h 364"/>
                  <a:gd name="T34" fmla="*/ 0 w 258"/>
                  <a:gd name="T35" fmla="*/ 0 h 364"/>
                  <a:gd name="T36" fmla="*/ 0 w 258"/>
                  <a:gd name="T37" fmla="*/ 0 h 364"/>
                  <a:gd name="T38" fmla="*/ 0 w 258"/>
                  <a:gd name="T39" fmla="*/ 0 h 364"/>
                  <a:gd name="T40" fmla="*/ 0 w 258"/>
                  <a:gd name="T41" fmla="*/ 0 h 364"/>
                  <a:gd name="T42" fmla="*/ 0 w 258"/>
                  <a:gd name="T43" fmla="*/ 0 h 364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258"/>
                  <a:gd name="T67" fmla="*/ 0 h 364"/>
                  <a:gd name="T68" fmla="*/ 258 w 258"/>
                  <a:gd name="T69" fmla="*/ 364 h 364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258" h="364">
                    <a:moveTo>
                      <a:pt x="231" y="364"/>
                    </a:moveTo>
                    <a:lnTo>
                      <a:pt x="196" y="334"/>
                    </a:lnTo>
                    <a:lnTo>
                      <a:pt x="164" y="298"/>
                    </a:lnTo>
                    <a:lnTo>
                      <a:pt x="130" y="261"/>
                    </a:lnTo>
                    <a:lnTo>
                      <a:pt x="104" y="222"/>
                    </a:lnTo>
                    <a:lnTo>
                      <a:pt x="76" y="182"/>
                    </a:lnTo>
                    <a:lnTo>
                      <a:pt x="49" y="141"/>
                    </a:lnTo>
                    <a:lnTo>
                      <a:pt x="25" y="101"/>
                    </a:lnTo>
                    <a:lnTo>
                      <a:pt x="0" y="60"/>
                    </a:lnTo>
                    <a:lnTo>
                      <a:pt x="9" y="44"/>
                    </a:lnTo>
                    <a:lnTo>
                      <a:pt x="14" y="27"/>
                    </a:lnTo>
                    <a:lnTo>
                      <a:pt x="21" y="11"/>
                    </a:lnTo>
                    <a:lnTo>
                      <a:pt x="33" y="0"/>
                    </a:lnTo>
                    <a:lnTo>
                      <a:pt x="60" y="44"/>
                    </a:lnTo>
                    <a:lnTo>
                      <a:pt x="90" y="85"/>
                    </a:lnTo>
                    <a:lnTo>
                      <a:pt x="120" y="125"/>
                    </a:lnTo>
                    <a:lnTo>
                      <a:pt x="150" y="168"/>
                    </a:lnTo>
                    <a:lnTo>
                      <a:pt x="180" y="209"/>
                    </a:lnTo>
                    <a:lnTo>
                      <a:pt x="210" y="250"/>
                    </a:lnTo>
                    <a:lnTo>
                      <a:pt x="234" y="293"/>
                    </a:lnTo>
                    <a:lnTo>
                      <a:pt x="258" y="337"/>
                    </a:lnTo>
                    <a:lnTo>
                      <a:pt x="231" y="36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24" name="Freeform 413">
                <a:extLst>
                  <a:ext uri="{FF2B5EF4-FFF2-40B4-BE49-F238E27FC236}">
                    <a16:creationId xmlns:a16="http://schemas.microsoft.com/office/drawing/2014/main" id="{97D1637E-C973-E542-9CC7-21F771F3F1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3" y="3030"/>
                <a:ext cx="144" cy="27"/>
              </a:xfrm>
              <a:custGeom>
                <a:avLst/>
                <a:gdLst>
                  <a:gd name="T0" fmla="*/ 0 w 579"/>
                  <a:gd name="T1" fmla="*/ 0 h 111"/>
                  <a:gd name="T2" fmla="*/ 0 w 579"/>
                  <a:gd name="T3" fmla="*/ 0 h 111"/>
                  <a:gd name="T4" fmla="*/ 0 w 579"/>
                  <a:gd name="T5" fmla="*/ 0 h 111"/>
                  <a:gd name="T6" fmla="*/ 0 w 579"/>
                  <a:gd name="T7" fmla="*/ 0 h 111"/>
                  <a:gd name="T8" fmla="*/ 0 w 579"/>
                  <a:gd name="T9" fmla="*/ 0 h 111"/>
                  <a:gd name="T10" fmla="*/ 0 w 579"/>
                  <a:gd name="T11" fmla="*/ 0 h 111"/>
                  <a:gd name="T12" fmla="*/ 0 w 579"/>
                  <a:gd name="T13" fmla="*/ 0 h 111"/>
                  <a:gd name="T14" fmla="*/ 0 w 579"/>
                  <a:gd name="T15" fmla="*/ 0 h 111"/>
                  <a:gd name="T16" fmla="*/ 0 w 579"/>
                  <a:gd name="T17" fmla="*/ 0 h 111"/>
                  <a:gd name="T18" fmla="*/ 0 w 579"/>
                  <a:gd name="T19" fmla="*/ 0 h 111"/>
                  <a:gd name="T20" fmla="*/ 0 w 579"/>
                  <a:gd name="T21" fmla="*/ 0 h 111"/>
                  <a:gd name="T22" fmla="*/ 0 w 579"/>
                  <a:gd name="T23" fmla="*/ 0 h 111"/>
                  <a:gd name="T24" fmla="*/ 0 w 579"/>
                  <a:gd name="T25" fmla="*/ 0 h 111"/>
                  <a:gd name="T26" fmla="*/ 0 w 579"/>
                  <a:gd name="T27" fmla="*/ 0 h 111"/>
                  <a:gd name="T28" fmla="*/ 0 w 579"/>
                  <a:gd name="T29" fmla="*/ 0 h 111"/>
                  <a:gd name="T30" fmla="*/ 0 w 579"/>
                  <a:gd name="T31" fmla="*/ 0 h 111"/>
                  <a:gd name="T32" fmla="*/ 0 w 579"/>
                  <a:gd name="T33" fmla="*/ 0 h 111"/>
                  <a:gd name="T34" fmla="*/ 0 w 579"/>
                  <a:gd name="T35" fmla="*/ 0 h 111"/>
                  <a:gd name="T36" fmla="*/ 0 w 579"/>
                  <a:gd name="T37" fmla="*/ 0 h 111"/>
                  <a:gd name="T38" fmla="*/ 0 w 579"/>
                  <a:gd name="T39" fmla="*/ 0 h 111"/>
                  <a:gd name="T40" fmla="*/ 0 w 579"/>
                  <a:gd name="T41" fmla="*/ 0 h 111"/>
                  <a:gd name="T42" fmla="*/ 0 w 579"/>
                  <a:gd name="T43" fmla="*/ 0 h 111"/>
                  <a:gd name="T44" fmla="*/ 0 w 579"/>
                  <a:gd name="T45" fmla="*/ 0 h 111"/>
                  <a:gd name="T46" fmla="*/ 0 w 579"/>
                  <a:gd name="T47" fmla="*/ 0 h 111"/>
                  <a:gd name="T48" fmla="*/ 0 w 579"/>
                  <a:gd name="T49" fmla="*/ 0 h 111"/>
                  <a:gd name="T50" fmla="*/ 0 w 579"/>
                  <a:gd name="T51" fmla="*/ 0 h 111"/>
                  <a:gd name="T52" fmla="*/ 0 w 579"/>
                  <a:gd name="T53" fmla="*/ 0 h 111"/>
                  <a:gd name="T54" fmla="*/ 0 w 579"/>
                  <a:gd name="T55" fmla="*/ 0 h 111"/>
                  <a:gd name="T56" fmla="*/ 0 w 579"/>
                  <a:gd name="T57" fmla="*/ 0 h 111"/>
                  <a:gd name="T58" fmla="*/ 0 w 579"/>
                  <a:gd name="T59" fmla="*/ 0 h 111"/>
                  <a:gd name="T60" fmla="*/ 0 w 579"/>
                  <a:gd name="T61" fmla="*/ 0 h 111"/>
                  <a:gd name="T62" fmla="*/ 0 w 579"/>
                  <a:gd name="T63" fmla="*/ 0 h 111"/>
                  <a:gd name="T64" fmla="*/ 0 w 579"/>
                  <a:gd name="T65" fmla="*/ 0 h 111"/>
                  <a:gd name="T66" fmla="*/ 0 w 579"/>
                  <a:gd name="T67" fmla="*/ 0 h 111"/>
                  <a:gd name="T68" fmla="*/ 0 w 579"/>
                  <a:gd name="T69" fmla="*/ 0 h 111"/>
                  <a:gd name="T70" fmla="*/ 0 w 579"/>
                  <a:gd name="T71" fmla="*/ 0 h 111"/>
                  <a:gd name="T72" fmla="*/ 0 w 579"/>
                  <a:gd name="T73" fmla="*/ 0 h 111"/>
                  <a:gd name="T74" fmla="*/ 0 w 579"/>
                  <a:gd name="T75" fmla="*/ 0 h 111"/>
                  <a:gd name="T76" fmla="*/ 0 w 579"/>
                  <a:gd name="T77" fmla="*/ 0 h 111"/>
                  <a:gd name="T78" fmla="*/ 0 w 579"/>
                  <a:gd name="T79" fmla="*/ 0 h 111"/>
                  <a:gd name="T80" fmla="*/ 0 w 579"/>
                  <a:gd name="T81" fmla="*/ 0 h 111"/>
                  <a:gd name="T82" fmla="*/ 0 w 579"/>
                  <a:gd name="T83" fmla="*/ 0 h 111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579"/>
                  <a:gd name="T127" fmla="*/ 0 h 111"/>
                  <a:gd name="T128" fmla="*/ 579 w 579"/>
                  <a:gd name="T129" fmla="*/ 111 h 111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579" h="111">
                    <a:moveTo>
                      <a:pt x="535" y="60"/>
                    </a:moveTo>
                    <a:lnTo>
                      <a:pt x="503" y="63"/>
                    </a:lnTo>
                    <a:lnTo>
                      <a:pt x="468" y="66"/>
                    </a:lnTo>
                    <a:lnTo>
                      <a:pt x="434" y="69"/>
                    </a:lnTo>
                    <a:lnTo>
                      <a:pt x="402" y="71"/>
                    </a:lnTo>
                    <a:lnTo>
                      <a:pt x="367" y="71"/>
                    </a:lnTo>
                    <a:lnTo>
                      <a:pt x="332" y="74"/>
                    </a:lnTo>
                    <a:lnTo>
                      <a:pt x="299" y="76"/>
                    </a:lnTo>
                    <a:lnTo>
                      <a:pt x="263" y="76"/>
                    </a:lnTo>
                    <a:lnTo>
                      <a:pt x="231" y="79"/>
                    </a:lnTo>
                    <a:lnTo>
                      <a:pt x="196" y="82"/>
                    </a:lnTo>
                    <a:lnTo>
                      <a:pt x="163" y="88"/>
                    </a:lnTo>
                    <a:lnTo>
                      <a:pt x="131" y="90"/>
                    </a:lnTo>
                    <a:lnTo>
                      <a:pt x="98" y="95"/>
                    </a:lnTo>
                    <a:lnTo>
                      <a:pt x="65" y="99"/>
                    </a:lnTo>
                    <a:lnTo>
                      <a:pt x="32" y="106"/>
                    </a:lnTo>
                    <a:lnTo>
                      <a:pt x="0" y="111"/>
                    </a:lnTo>
                    <a:lnTo>
                      <a:pt x="0" y="95"/>
                    </a:lnTo>
                    <a:lnTo>
                      <a:pt x="2" y="82"/>
                    </a:lnTo>
                    <a:lnTo>
                      <a:pt x="11" y="71"/>
                    </a:lnTo>
                    <a:lnTo>
                      <a:pt x="22" y="63"/>
                    </a:lnTo>
                    <a:lnTo>
                      <a:pt x="36" y="58"/>
                    </a:lnTo>
                    <a:lnTo>
                      <a:pt x="49" y="53"/>
                    </a:lnTo>
                    <a:lnTo>
                      <a:pt x="62" y="46"/>
                    </a:lnTo>
                    <a:lnTo>
                      <a:pt x="73" y="41"/>
                    </a:lnTo>
                    <a:lnTo>
                      <a:pt x="103" y="36"/>
                    </a:lnTo>
                    <a:lnTo>
                      <a:pt x="133" y="30"/>
                    </a:lnTo>
                    <a:lnTo>
                      <a:pt x="166" y="25"/>
                    </a:lnTo>
                    <a:lnTo>
                      <a:pt x="196" y="20"/>
                    </a:lnTo>
                    <a:lnTo>
                      <a:pt x="228" y="14"/>
                    </a:lnTo>
                    <a:lnTo>
                      <a:pt x="258" y="9"/>
                    </a:lnTo>
                    <a:lnTo>
                      <a:pt x="291" y="6"/>
                    </a:lnTo>
                    <a:lnTo>
                      <a:pt x="323" y="4"/>
                    </a:lnTo>
                    <a:lnTo>
                      <a:pt x="356" y="0"/>
                    </a:lnTo>
                    <a:lnTo>
                      <a:pt x="386" y="0"/>
                    </a:lnTo>
                    <a:lnTo>
                      <a:pt x="418" y="0"/>
                    </a:lnTo>
                    <a:lnTo>
                      <a:pt x="450" y="0"/>
                    </a:lnTo>
                    <a:lnTo>
                      <a:pt x="484" y="4"/>
                    </a:lnTo>
                    <a:lnTo>
                      <a:pt x="516" y="6"/>
                    </a:lnTo>
                    <a:lnTo>
                      <a:pt x="546" y="11"/>
                    </a:lnTo>
                    <a:lnTo>
                      <a:pt x="579" y="17"/>
                    </a:lnTo>
                    <a:lnTo>
                      <a:pt x="535" y="6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</p:grpSp>
        <p:grpSp>
          <p:nvGrpSpPr>
            <p:cNvPr id="102" name="Group 414">
              <a:extLst>
                <a:ext uri="{FF2B5EF4-FFF2-40B4-BE49-F238E27FC236}">
                  <a16:creationId xmlns:a16="http://schemas.microsoft.com/office/drawing/2014/main" id="{07068B2D-40F2-1549-82C0-7FF456B33321}"/>
                </a:ext>
              </a:extLst>
            </p:cNvPr>
            <p:cNvGrpSpPr>
              <a:grpSpLocks/>
            </p:cNvGrpSpPr>
            <p:nvPr/>
          </p:nvGrpSpPr>
          <p:grpSpPr bwMode="auto">
            <a:xfrm rot="18385562">
              <a:off x="4508740" y="2776772"/>
              <a:ext cx="571937" cy="629130"/>
              <a:chOff x="3481" y="3030"/>
              <a:chExt cx="1115" cy="1118"/>
            </a:xfrm>
          </p:grpSpPr>
          <p:sp>
            <p:nvSpPr>
              <p:cNvPr id="103" name="Freeform 415">
                <a:extLst>
                  <a:ext uri="{FF2B5EF4-FFF2-40B4-BE49-F238E27FC236}">
                    <a16:creationId xmlns:a16="http://schemas.microsoft.com/office/drawing/2014/main" id="{F6DF819E-E7D1-354B-8192-55CA28061C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02" y="3068"/>
                <a:ext cx="1045" cy="1051"/>
              </a:xfrm>
              <a:custGeom>
                <a:avLst/>
                <a:gdLst>
                  <a:gd name="T0" fmla="*/ 0 w 4179"/>
                  <a:gd name="T1" fmla="*/ 0 h 4201"/>
                  <a:gd name="T2" fmla="*/ 0 w 4179"/>
                  <a:gd name="T3" fmla="*/ 0 h 4201"/>
                  <a:gd name="T4" fmla="*/ 0 w 4179"/>
                  <a:gd name="T5" fmla="*/ 0 h 4201"/>
                  <a:gd name="T6" fmla="*/ 0 w 4179"/>
                  <a:gd name="T7" fmla="*/ 0 h 4201"/>
                  <a:gd name="T8" fmla="*/ 0 w 4179"/>
                  <a:gd name="T9" fmla="*/ 0 h 4201"/>
                  <a:gd name="T10" fmla="*/ 0 w 4179"/>
                  <a:gd name="T11" fmla="*/ 0 h 4201"/>
                  <a:gd name="T12" fmla="*/ 0 w 4179"/>
                  <a:gd name="T13" fmla="*/ 0 h 4201"/>
                  <a:gd name="T14" fmla="*/ 0 w 4179"/>
                  <a:gd name="T15" fmla="*/ 0 h 4201"/>
                  <a:gd name="T16" fmla="*/ 0 w 4179"/>
                  <a:gd name="T17" fmla="*/ 0 h 4201"/>
                  <a:gd name="T18" fmla="*/ 0 w 4179"/>
                  <a:gd name="T19" fmla="*/ 0 h 4201"/>
                  <a:gd name="T20" fmla="*/ 0 w 4179"/>
                  <a:gd name="T21" fmla="*/ 0 h 4201"/>
                  <a:gd name="T22" fmla="*/ 0 w 4179"/>
                  <a:gd name="T23" fmla="*/ 0 h 4201"/>
                  <a:gd name="T24" fmla="*/ 0 w 4179"/>
                  <a:gd name="T25" fmla="*/ 0 h 4201"/>
                  <a:gd name="T26" fmla="*/ 0 w 4179"/>
                  <a:gd name="T27" fmla="*/ 0 h 4201"/>
                  <a:gd name="T28" fmla="*/ 0 w 4179"/>
                  <a:gd name="T29" fmla="*/ 0 h 4201"/>
                  <a:gd name="T30" fmla="*/ 0 w 4179"/>
                  <a:gd name="T31" fmla="*/ 0 h 4201"/>
                  <a:gd name="T32" fmla="*/ 0 w 4179"/>
                  <a:gd name="T33" fmla="*/ 0 h 4201"/>
                  <a:gd name="T34" fmla="*/ 0 w 4179"/>
                  <a:gd name="T35" fmla="*/ 0 h 4201"/>
                  <a:gd name="T36" fmla="*/ 0 w 4179"/>
                  <a:gd name="T37" fmla="*/ 0 h 4201"/>
                  <a:gd name="T38" fmla="*/ 0 w 4179"/>
                  <a:gd name="T39" fmla="*/ 0 h 4201"/>
                  <a:gd name="T40" fmla="*/ 0 w 4179"/>
                  <a:gd name="T41" fmla="*/ 0 h 4201"/>
                  <a:gd name="T42" fmla="*/ 0 w 4179"/>
                  <a:gd name="T43" fmla="*/ 0 h 4201"/>
                  <a:gd name="T44" fmla="*/ 0 w 4179"/>
                  <a:gd name="T45" fmla="*/ 0 h 4201"/>
                  <a:gd name="T46" fmla="*/ 0 w 4179"/>
                  <a:gd name="T47" fmla="*/ 0 h 4201"/>
                  <a:gd name="T48" fmla="*/ 0 w 4179"/>
                  <a:gd name="T49" fmla="*/ 0 h 4201"/>
                  <a:gd name="T50" fmla="*/ 0 w 4179"/>
                  <a:gd name="T51" fmla="*/ 0 h 4201"/>
                  <a:gd name="T52" fmla="*/ 0 w 4179"/>
                  <a:gd name="T53" fmla="*/ 0 h 4201"/>
                  <a:gd name="T54" fmla="*/ 0 w 4179"/>
                  <a:gd name="T55" fmla="*/ 0 h 4201"/>
                  <a:gd name="T56" fmla="*/ 0 w 4179"/>
                  <a:gd name="T57" fmla="*/ 0 h 4201"/>
                  <a:gd name="T58" fmla="*/ 0 w 4179"/>
                  <a:gd name="T59" fmla="*/ 0 h 4201"/>
                  <a:gd name="T60" fmla="*/ 0 w 4179"/>
                  <a:gd name="T61" fmla="*/ 0 h 4201"/>
                  <a:gd name="T62" fmla="*/ 0 w 4179"/>
                  <a:gd name="T63" fmla="*/ 0 h 4201"/>
                  <a:gd name="T64" fmla="*/ 0 w 4179"/>
                  <a:gd name="T65" fmla="*/ 0 h 4201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4179"/>
                  <a:gd name="T100" fmla="*/ 0 h 4201"/>
                  <a:gd name="T101" fmla="*/ 4179 w 4179"/>
                  <a:gd name="T102" fmla="*/ 4201 h 4201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4179" h="4201">
                    <a:moveTo>
                      <a:pt x="3876" y="3410"/>
                    </a:moveTo>
                    <a:lnTo>
                      <a:pt x="3181" y="3544"/>
                    </a:lnTo>
                    <a:lnTo>
                      <a:pt x="2895" y="3172"/>
                    </a:lnTo>
                    <a:lnTo>
                      <a:pt x="3061" y="3147"/>
                    </a:lnTo>
                    <a:lnTo>
                      <a:pt x="3045" y="3126"/>
                    </a:lnTo>
                    <a:lnTo>
                      <a:pt x="3617" y="3068"/>
                    </a:lnTo>
                    <a:lnTo>
                      <a:pt x="3213" y="2534"/>
                    </a:lnTo>
                    <a:lnTo>
                      <a:pt x="3197" y="2534"/>
                    </a:lnTo>
                    <a:lnTo>
                      <a:pt x="3269" y="2634"/>
                    </a:lnTo>
                    <a:lnTo>
                      <a:pt x="2567" y="2767"/>
                    </a:lnTo>
                    <a:lnTo>
                      <a:pt x="2287" y="2395"/>
                    </a:lnTo>
                    <a:lnTo>
                      <a:pt x="2449" y="2371"/>
                    </a:lnTo>
                    <a:lnTo>
                      <a:pt x="2433" y="2349"/>
                    </a:lnTo>
                    <a:lnTo>
                      <a:pt x="3015" y="2289"/>
                    </a:lnTo>
                    <a:lnTo>
                      <a:pt x="3068" y="2343"/>
                    </a:lnTo>
                    <a:lnTo>
                      <a:pt x="2724" y="1890"/>
                    </a:lnTo>
                    <a:lnTo>
                      <a:pt x="2689" y="1893"/>
                    </a:lnTo>
                    <a:lnTo>
                      <a:pt x="2762" y="1991"/>
                    </a:lnTo>
                    <a:lnTo>
                      <a:pt x="2061" y="2126"/>
                    </a:lnTo>
                    <a:lnTo>
                      <a:pt x="1779" y="1751"/>
                    </a:lnTo>
                    <a:lnTo>
                      <a:pt x="1945" y="1730"/>
                    </a:lnTo>
                    <a:lnTo>
                      <a:pt x="1929" y="1708"/>
                    </a:lnTo>
                    <a:lnTo>
                      <a:pt x="2507" y="1651"/>
                    </a:lnTo>
                    <a:lnTo>
                      <a:pt x="2654" y="1793"/>
                    </a:lnTo>
                    <a:lnTo>
                      <a:pt x="2246" y="1252"/>
                    </a:lnTo>
                    <a:lnTo>
                      <a:pt x="2243" y="1252"/>
                    </a:lnTo>
                    <a:lnTo>
                      <a:pt x="2317" y="1352"/>
                    </a:lnTo>
                    <a:lnTo>
                      <a:pt x="1613" y="1486"/>
                    </a:lnTo>
                    <a:lnTo>
                      <a:pt x="1331" y="1114"/>
                    </a:lnTo>
                    <a:lnTo>
                      <a:pt x="1497" y="1090"/>
                    </a:lnTo>
                    <a:lnTo>
                      <a:pt x="1481" y="1067"/>
                    </a:lnTo>
                    <a:lnTo>
                      <a:pt x="2061" y="1010"/>
                    </a:lnTo>
                    <a:lnTo>
                      <a:pt x="1846" y="728"/>
                    </a:lnTo>
                    <a:lnTo>
                      <a:pt x="1168" y="859"/>
                    </a:lnTo>
                    <a:lnTo>
                      <a:pt x="885" y="483"/>
                    </a:lnTo>
                    <a:lnTo>
                      <a:pt x="1049" y="462"/>
                    </a:lnTo>
                    <a:lnTo>
                      <a:pt x="1035" y="441"/>
                    </a:lnTo>
                    <a:lnTo>
                      <a:pt x="1586" y="383"/>
                    </a:lnTo>
                    <a:lnTo>
                      <a:pt x="1405" y="141"/>
                    </a:lnTo>
                    <a:lnTo>
                      <a:pt x="1347" y="147"/>
                    </a:lnTo>
                    <a:lnTo>
                      <a:pt x="1421" y="247"/>
                    </a:lnTo>
                    <a:lnTo>
                      <a:pt x="717" y="381"/>
                    </a:lnTo>
                    <a:lnTo>
                      <a:pt x="435" y="9"/>
                    </a:lnTo>
                    <a:lnTo>
                      <a:pt x="475" y="4"/>
                    </a:lnTo>
                    <a:lnTo>
                      <a:pt x="459" y="0"/>
                    </a:lnTo>
                    <a:lnTo>
                      <a:pt x="437" y="0"/>
                    </a:lnTo>
                    <a:lnTo>
                      <a:pt x="407" y="4"/>
                    </a:lnTo>
                    <a:lnTo>
                      <a:pt x="375" y="9"/>
                    </a:lnTo>
                    <a:lnTo>
                      <a:pt x="336" y="14"/>
                    </a:lnTo>
                    <a:lnTo>
                      <a:pt x="299" y="20"/>
                    </a:lnTo>
                    <a:lnTo>
                      <a:pt x="255" y="27"/>
                    </a:lnTo>
                    <a:lnTo>
                      <a:pt x="215" y="36"/>
                    </a:lnTo>
                    <a:lnTo>
                      <a:pt x="174" y="44"/>
                    </a:lnTo>
                    <a:lnTo>
                      <a:pt x="133" y="52"/>
                    </a:lnTo>
                    <a:lnTo>
                      <a:pt x="98" y="60"/>
                    </a:lnTo>
                    <a:lnTo>
                      <a:pt x="65" y="66"/>
                    </a:lnTo>
                    <a:lnTo>
                      <a:pt x="38" y="74"/>
                    </a:lnTo>
                    <a:lnTo>
                      <a:pt x="19" y="76"/>
                    </a:lnTo>
                    <a:lnTo>
                      <a:pt x="6" y="82"/>
                    </a:lnTo>
                    <a:lnTo>
                      <a:pt x="0" y="82"/>
                    </a:lnTo>
                    <a:lnTo>
                      <a:pt x="913" y="1442"/>
                    </a:lnTo>
                    <a:lnTo>
                      <a:pt x="1151" y="1456"/>
                    </a:lnTo>
                    <a:lnTo>
                      <a:pt x="2211" y="2826"/>
                    </a:lnTo>
                    <a:lnTo>
                      <a:pt x="2017" y="2976"/>
                    </a:lnTo>
                    <a:lnTo>
                      <a:pt x="2925" y="4201"/>
                    </a:lnTo>
                    <a:lnTo>
                      <a:pt x="4179" y="3812"/>
                    </a:lnTo>
                    <a:lnTo>
                      <a:pt x="3876" y="3410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4" name="Freeform 416">
                <a:extLst>
                  <a:ext uri="{FF2B5EF4-FFF2-40B4-BE49-F238E27FC236}">
                    <a16:creationId xmlns:a16="http://schemas.microsoft.com/office/drawing/2014/main" id="{5724D3FA-0871-C741-88DD-F543472FD7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1" y="3064"/>
                <a:ext cx="33" cy="5"/>
              </a:xfrm>
              <a:custGeom>
                <a:avLst/>
                <a:gdLst>
                  <a:gd name="T0" fmla="*/ 0 w 133"/>
                  <a:gd name="T1" fmla="*/ 0 h 20"/>
                  <a:gd name="T2" fmla="*/ 0 w 133"/>
                  <a:gd name="T3" fmla="*/ 0 h 20"/>
                  <a:gd name="T4" fmla="*/ 0 w 133"/>
                  <a:gd name="T5" fmla="*/ 0 h 20"/>
                  <a:gd name="T6" fmla="*/ 0 w 133"/>
                  <a:gd name="T7" fmla="*/ 0 h 20"/>
                  <a:gd name="T8" fmla="*/ 0 w 133"/>
                  <a:gd name="T9" fmla="*/ 0 h 20"/>
                  <a:gd name="T10" fmla="*/ 0 w 133"/>
                  <a:gd name="T11" fmla="*/ 0 h 2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33"/>
                  <a:gd name="T19" fmla="*/ 0 h 20"/>
                  <a:gd name="T20" fmla="*/ 133 w 133"/>
                  <a:gd name="T21" fmla="*/ 20 h 2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33" h="20">
                    <a:moveTo>
                      <a:pt x="133" y="11"/>
                    </a:moveTo>
                    <a:lnTo>
                      <a:pt x="126" y="0"/>
                    </a:lnTo>
                    <a:lnTo>
                      <a:pt x="0" y="20"/>
                    </a:lnTo>
                    <a:lnTo>
                      <a:pt x="3" y="20"/>
                    </a:lnTo>
                    <a:lnTo>
                      <a:pt x="6" y="20"/>
                    </a:lnTo>
                    <a:lnTo>
                      <a:pt x="133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5" name="Freeform 417">
                <a:extLst>
                  <a:ext uri="{FF2B5EF4-FFF2-40B4-BE49-F238E27FC236}">
                    <a16:creationId xmlns:a16="http://schemas.microsoft.com/office/drawing/2014/main" id="{448097EE-91BA-2B4F-A6C9-28F4D2C884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1" y="3067"/>
                <a:ext cx="246" cy="96"/>
              </a:xfrm>
              <a:custGeom>
                <a:avLst/>
                <a:gdLst>
                  <a:gd name="T0" fmla="*/ 0 w 986"/>
                  <a:gd name="T1" fmla="*/ 0 h 386"/>
                  <a:gd name="T2" fmla="*/ 0 w 986"/>
                  <a:gd name="T3" fmla="*/ 0 h 386"/>
                  <a:gd name="T4" fmla="*/ 0 w 986"/>
                  <a:gd name="T5" fmla="*/ 0 h 386"/>
                  <a:gd name="T6" fmla="*/ 0 w 986"/>
                  <a:gd name="T7" fmla="*/ 0 h 386"/>
                  <a:gd name="T8" fmla="*/ 0 w 986"/>
                  <a:gd name="T9" fmla="*/ 0 h 386"/>
                  <a:gd name="T10" fmla="*/ 0 w 986"/>
                  <a:gd name="T11" fmla="*/ 0 h 386"/>
                  <a:gd name="T12" fmla="*/ 0 w 986"/>
                  <a:gd name="T13" fmla="*/ 0 h 386"/>
                  <a:gd name="T14" fmla="*/ 0 w 986"/>
                  <a:gd name="T15" fmla="*/ 0 h 386"/>
                  <a:gd name="T16" fmla="*/ 0 w 986"/>
                  <a:gd name="T17" fmla="*/ 0 h 386"/>
                  <a:gd name="T18" fmla="*/ 0 w 986"/>
                  <a:gd name="T19" fmla="*/ 0 h 38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86"/>
                  <a:gd name="T31" fmla="*/ 0 h 386"/>
                  <a:gd name="T32" fmla="*/ 986 w 986"/>
                  <a:gd name="T33" fmla="*/ 386 h 38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86" h="386">
                    <a:moveTo>
                      <a:pt x="282" y="386"/>
                    </a:moveTo>
                    <a:lnTo>
                      <a:pt x="986" y="252"/>
                    </a:lnTo>
                    <a:lnTo>
                      <a:pt x="912" y="152"/>
                    </a:lnTo>
                    <a:lnTo>
                      <a:pt x="328" y="206"/>
                    </a:lnTo>
                    <a:lnTo>
                      <a:pt x="173" y="0"/>
                    </a:lnTo>
                    <a:lnTo>
                      <a:pt x="46" y="9"/>
                    </a:lnTo>
                    <a:lnTo>
                      <a:pt x="43" y="9"/>
                    </a:lnTo>
                    <a:lnTo>
                      <a:pt x="40" y="9"/>
                    </a:lnTo>
                    <a:lnTo>
                      <a:pt x="0" y="14"/>
                    </a:lnTo>
                    <a:lnTo>
                      <a:pt x="282" y="386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6" name="Freeform 418">
                <a:extLst>
                  <a:ext uri="{FF2B5EF4-FFF2-40B4-BE49-F238E27FC236}">
                    <a16:creationId xmlns:a16="http://schemas.microsoft.com/office/drawing/2014/main" id="{B40ED1FB-7CAE-9744-ADB6-4040735B10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8" y="3044"/>
                <a:ext cx="146" cy="20"/>
              </a:xfrm>
              <a:custGeom>
                <a:avLst/>
                <a:gdLst>
                  <a:gd name="T0" fmla="*/ 0 w 580"/>
                  <a:gd name="T1" fmla="*/ 0 h 81"/>
                  <a:gd name="T2" fmla="*/ 0 w 580"/>
                  <a:gd name="T3" fmla="*/ 0 h 81"/>
                  <a:gd name="T4" fmla="*/ 0 w 580"/>
                  <a:gd name="T5" fmla="*/ 0 h 81"/>
                  <a:gd name="T6" fmla="*/ 0 w 580"/>
                  <a:gd name="T7" fmla="*/ 0 h 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1"/>
                  <a:gd name="T14" fmla="*/ 580 w 580"/>
                  <a:gd name="T15" fmla="*/ 81 h 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1">
                    <a:moveTo>
                      <a:pt x="0" y="60"/>
                    </a:moveTo>
                    <a:lnTo>
                      <a:pt x="16" y="81"/>
                    </a:lnTo>
                    <a:lnTo>
                      <a:pt x="580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7" name="Freeform 419">
                <a:extLst>
                  <a:ext uri="{FF2B5EF4-FFF2-40B4-BE49-F238E27FC236}">
                    <a16:creationId xmlns:a16="http://schemas.microsoft.com/office/drawing/2014/main" id="{BB6D16FD-1970-154D-A38A-7C9B0CDEB8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4" y="3044"/>
                <a:ext cx="59" cy="60"/>
              </a:xfrm>
              <a:custGeom>
                <a:avLst/>
                <a:gdLst>
                  <a:gd name="T0" fmla="*/ 0 w 240"/>
                  <a:gd name="T1" fmla="*/ 0 h 238"/>
                  <a:gd name="T2" fmla="*/ 0 w 240"/>
                  <a:gd name="T3" fmla="*/ 0 h 238"/>
                  <a:gd name="T4" fmla="*/ 0 w 240"/>
                  <a:gd name="T5" fmla="*/ 0 h 238"/>
                  <a:gd name="T6" fmla="*/ 0 w 240"/>
                  <a:gd name="T7" fmla="*/ 0 h 23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40"/>
                  <a:gd name="T13" fmla="*/ 0 h 238"/>
                  <a:gd name="T14" fmla="*/ 240 w 240"/>
                  <a:gd name="T15" fmla="*/ 238 h 23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40" h="238">
                    <a:moveTo>
                      <a:pt x="240" y="238"/>
                    </a:moveTo>
                    <a:lnTo>
                      <a:pt x="0" y="0"/>
                    </a:lnTo>
                    <a:lnTo>
                      <a:pt x="117" y="157"/>
                    </a:lnTo>
                    <a:lnTo>
                      <a:pt x="240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8" name="Freeform 420">
                <a:extLst>
                  <a:ext uri="{FF2B5EF4-FFF2-40B4-BE49-F238E27FC236}">
                    <a16:creationId xmlns:a16="http://schemas.microsoft.com/office/drawing/2014/main" id="{4C096D2B-DF9D-CB4C-A85A-81074100EB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3" y="3083"/>
                <a:ext cx="30" cy="22"/>
              </a:xfrm>
              <a:custGeom>
                <a:avLst/>
                <a:gdLst>
                  <a:gd name="T0" fmla="*/ 0 w 123"/>
                  <a:gd name="T1" fmla="*/ 0 h 87"/>
                  <a:gd name="T2" fmla="*/ 0 w 123"/>
                  <a:gd name="T3" fmla="*/ 0 h 87"/>
                  <a:gd name="T4" fmla="*/ 0 w 123"/>
                  <a:gd name="T5" fmla="*/ 0 h 87"/>
                  <a:gd name="T6" fmla="*/ 0 w 123"/>
                  <a:gd name="T7" fmla="*/ 0 h 8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3"/>
                  <a:gd name="T13" fmla="*/ 0 h 87"/>
                  <a:gd name="T14" fmla="*/ 123 w 123"/>
                  <a:gd name="T15" fmla="*/ 87 h 8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3" h="87">
                    <a:moveTo>
                      <a:pt x="65" y="87"/>
                    </a:moveTo>
                    <a:lnTo>
                      <a:pt x="123" y="81"/>
                    </a:lnTo>
                    <a:lnTo>
                      <a:pt x="0" y="0"/>
                    </a:lnTo>
                    <a:lnTo>
                      <a:pt x="65" y="8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09" name="Freeform 421">
                <a:extLst>
                  <a:ext uri="{FF2B5EF4-FFF2-40B4-BE49-F238E27FC236}">
                    <a16:creationId xmlns:a16="http://schemas.microsoft.com/office/drawing/2014/main" id="{7A3E7E75-2C3C-2144-B125-C8B8967CEC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2" y="3044"/>
                <a:ext cx="171" cy="39"/>
              </a:xfrm>
              <a:custGeom>
                <a:avLst/>
                <a:gdLst>
                  <a:gd name="T0" fmla="*/ 0 w 681"/>
                  <a:gd name="T1" fmla="*/ 0 h 157"/>
                  <a:gd name="T2" fmla="*/ 0 w 681"/>
                  <a:gd name="T3" fmla="*/ 0 h 157"/>
                  <a:gd name="T4" fmla="*/ 0 w 681"/>
                  <a:gd name="T5" fmla="*/ 0 h 157"/>
                  <a:gd name="T6" fmla="*/ 0 w 681"/>
                  <a:gd name="T7" fmla="*/ 0 h 157"/>
                  <a:gd name="T8" fmla="*/ 0 w 681"/>
                  <a:gd name="T9" fmla="*/ 0 h 157"/>
                  <a:gd name="T10" fmla="*/ 0 w 681"/>
                  <a:gd name="T11" fmla="*/ 0 h 15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81"/>
                  <a:gd name="T19" fmla="*/ 0 h 157"/>
                  <a:gd name="T20" fmla="*/ 681 w 681"/>
                  <a:gd name="T21" fmla="*/ 157 h 15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81" h="157">
                    <a:moveTo>
                      <a:pt x="534" y="60"/>
                    </a:moveTo>
                    <a:lnTo>
                      <a:pt x="681" y="157"/>
                    </a:lnTo>
                    <a:lnTo>
                      <a:pt x="564" y="0"/>
                    </a:lnTo>
                    <a:lnTo>
                      <a:pt x="0" y="81"/>
                    </a:lnTo>
                    <a:lnTo>
                      <a:pt x="7" y="92"/>
                    </a:lnTo>
                    <a:lnTo>
                      <a:pt x="534" y="60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0" name="Freeform 422">
                <a:extLst>
                  <a:ext uri="{FF2B5EF4-FFF2-40B4-BE49-F238E27FC236}">
                    <a16:creationId xmlns:a16="http://schemas.microsoft.com/office/drawing/2014/main" id="{65D7ABB0-A342-0642-9BB3-84D950737C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4" y="3059"/>
                <a:ext cx="185" cy="60"/>
              </a:xfrm>
              <a:custGeom>
                <a:avLst/>
                <a:gdLst>
                  <a:gd name="T0" fmla="*/ 0 w 739"/>
                  <a:gd name="T1" fmla="*/ 0 h 238"/>
                  <a:gd name="T2" fmla="*/ 0 w 739"/>
                  <a:gd name="T3" fmla="*/ 0 h 238"/>
                  <a:gd name="T4" fmla="*/ 0 w 739"/>
                  <a:gd name="T5" fmla="*/ 0 h 238"/>
                  <a:gd name="T6" fmla="*/ 0 w 739"/>
                  <a:gd name="T7" fmla="*/ 0 h 238"/>
                  <a:gd name="T8" fmla="*/ 0 w 739"/>
                  <a:gd name="T9" fmla="*/ 0 h 238"/>
                  <a:gd name="T10" fmla="*/ 0 w 739"/>
                  <a:gd name="T11" fmla="*/ 0 h 238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39"/>
                  <a:gd name="T19" fmla="*/ 0 h 238"/>
                  <a:gd name="T20" fmla="*/ 739 w 739"/>
                  <a:gd name="T21" fmla="*/ 238 h 238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39" h="238">
                    <a:moveTo>
                      <a:pt x="527" y="0"/>
                    </a:moveTo>
                    <a:lnTo>
                      <a:pt x="0" y="32"/>
                    </a:lnTo>
                    <a:lnTo>
                      <a:pt x="155" y="238"/>
                    </a:lnTo>
                    <a:lnTo>
                      <a:pt x="739" y="184"/>
                    </a:lnTo>
                    <a:lnTo>
                      <a:pt x="674" y="97"/>
                    </a:lnTo>
                    <a:lnTo>
                      <a:pt x="527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1" name="Freeform 423">
                <a:extLst>
                  <a:ext uri="{FF2B5EF4-FFF2-40B4-BE49-F238E27FC236}">
                    <a16:creationId xmlns:a16="http://schemas.microsoft.com/office/drawing/2014/main" id="{E9414ACB-63A8-9145-BAD8-8E47A40E0E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5" y="3224"/>
                <a:ext cx="25" cy="26"/>
              </a:xfrm>
              <a:custGeom>
                <a:avLst/>
                <a:gdLst>
                  <a:gd name="T0" fmla="*/ 0 w 101"/>
                  <a:gd name="T1" fmla="*/ 0 h 103"/>
                  <a:gd name="T2" fmla="*/ 0 w 101"/>
                  <a:gd name="T3" fmla="*/ 0 h 103"/>
                  <a:gd name="T4" fmla="*/ 0 w 101"/>
                  <a:gd name="T5" fmla="*/ 0 h 103"/>
                  <a:gd name="T6" fmla="*/ 0 w 101"/>
                  <a:gd name="T7" fmla="*/ 0 h 103"/>
                  <a:gd name="T8" fmla="*/ 0 w 101"/>
                  <a:gd name="T9" fmla="*/ 0 h 10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1"/>
                  <a:gd name="T16" fmla="*/ 0 h 103"/>
                  <a:gd name="T17" fmla="*/ 101 w 101"/>
                  <a:gd name="T18" fmla="*/ 103 h 10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1" h="103">
                    <a:moveTo>
                      <a:pt x="76" y="103"/>
                    </a:moveTo>
                    <a:lnTo>
                      <a:pt x="101" y="98"/>
                    </a:lnTo>
                    <a:lnTo>
                      <a:pt x="28" y="0"/>
                    </a:lnTo>
                    <a:lnTo>
                      <a:pt x="0" y="3"/>
                    </a:lnTo>
                    <a:lnTo>
                      <a:pt x="76" y="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2" name="Freeform 424">
                <a:extLst>
                  <a:ext uri="{FF2B5EF4-FFF2-40B4-BE49-F238E27FC236}">
                    <a16:creationId xmlns:a16="http://schemas.microsoft.com/office/drawing/2014/main" id="{CD0E6560-A682-7E43-B6BF-67DD2C67A0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24" y="3184"/>
                <a:ext cx="240" cy="99"/>
              </a:xfrm>
              <a:custGeom>
                <a:avLst/>
                <a:gdLst>
                  <a:gd name="T0" fmla="*/ 0 w 961"/>
                  <a:gd name="T1" fmla="*/ 0 h 397"/>
                  <a:gd name="T2" fmla="*/ 0 w 961"/>
                  <a:gd name="T3" fmla="*/ 0 h 397"/>
                  <a:gd name="T4" fmla="*/ 0 w 961"/>
                  <a:gd name="T5" fmla="*/ 0 h 397"/>
                  <a:gd name="T6" fmla="*/ 0 w 961"/>
                  <a:gd name="T7" fmla="*/ 0 h 397"/>
                  <a:gd name="T8" fmla="*/ 0 w 961"/>
                  <a:gd name="T9" fmla="*/ 0 h 397"/>
                  <a:gd name="T10" fmla="*/ 0 w 961"/>
                  <a:gd name="T11" fmla="*/ 0 h 397"/>
                  <a:gd name="T12" fmla="*/ 0 w 96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61"/>
                  <a:gd name="T22" fmla="*/ 0 h 397"/>
                  <a:gd name="T23" fmla="*/ 961 w 96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61" h="397">
                    <a:moveTo>
                      <a:pt x="329" y="217"/>
                    </a:moveTo>
                    <a:lnTo>
                      <a:pt x="164" y="0"/>
                    </a:lnTo>
                    <a:lnTo>
                      <a:pt x="0" y="21"/>
                    </a:lnTo>
                    <a:lnTo>
                      <a:pt x="283" y="397"/>
                    </a:lnTo>
                    <a:lnTo>
                      <a:pt x="961" y="266"/>
                    </a:lnTo>
                    <a:lnTo>
                      <a:pt x="885" y="166"/>
                    </a:lnTo>
                    <a:lnTo>
                      <a:pt x="329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3" name="Freeform 425">
                <a:extLst>
                  <a:ext uri="{FF2B5EF4-FFF2-40B4-BE49-F238E27FC236}">
                    <a16:creationId xmlns:a16="http://schemas.microsoft.com/office/drawing/2014/main" id="{C1C6F635-C97E-2642-95CB-3261A974CA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7" cy="1"/>
              </a:xfrm>
              <a:custGeom>
                <a:avLst/>
                <a:gdLst>
                  <a:gd name="T0" fmla="*/ 0 w 30"/>
                  <a:gd name="T1" fmla="*/ 0 h 2"/>
                  <a:gd name="T2" fmla="*/ 0 w 30"/>
                  <a:gd name="T3" fmla="*/ 1 h 2"/>
                  <a:gd name="T4" fmla="*/ 0 w 30"/>
                  <a:gd name="T5" fmla="*/ 1 h 2"/>
                  <a:gd name="T6" fmla="*/ 0 w 30"/>
                  <a:gd name="T7" fmla="*/ 0 h 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0"/>
                  <a:gd name="T13" fmla="*/ 0 h 2"/>
                  <a:gd name="T14" fmla="*/ 30 w 30"/>
                  <a:gd name="T15" fmla="*/ 2 h 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0" h="2">
                    <a:moveTo>
                      <a:pt x="30" y="0"/>
                    </a:moveTo>
                    <a:lnTo>
                      <a:pt x="0" y="2"/>
                    </a:lnTo>
                    <a:lnTo>
                      <a:pt x="3" y="2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4" name="Freeform 426">
                <a:extLst>
                  <a:ext uri="{FF2B5EF4-FFF2-40B4-BE49-F238E27FC236}">
                    <a16:creationId xmlns:a16="http://schemas.microsoft.com/office/drawing/2014/main" id="{D3D413F1-C25A-284D-A450-625854EA69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6" y="3163"/>
                <a:ext cx="60" cy="61"/>
              </a:xfrm>
              <a:custGeom>
                <a:avLst/>
                <a:gdLst>
                  <a:gd name="T0" fmla="*/ 0 w 239"/>
                  <a:gd name="T1" fmla="*/ 0 h 244"/>
                  <a:gd name="T2" fmla="*/ 0 w 239"/>
                  <a:gd name="T3" fmla="*/ 0 h 244"/>
                  <a:gd name="T4" fmla="*/ 0 w 239"/>
                  <a:gd name="T5" fmla="*/ 0 h 244"/>
                  <a:gd name="T6" fmla="*/ 0 w 239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9"/>
                  <a:gd name="T13" fmla="*/ 0 h 244"/>
                  <a:gd name="T14" fmla="*/ 239 w 239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9" h="244">
                    <a:moveTo>
                      <a:pt x="239" y="238"/>
                    </a:moveTo>
                    <a:lnTo>
                      <a:pt x="0" y="0"/>
                    </a:lnTo>
                    <a:lnTo>
                      <a:pt x="182" y="244"/>
                    </a:lnTo>
                    <a:lnTo>
                      <a:pt x="239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5" name="Freeform 427">
                <a:extLst>
                  <a:ext uri="{FF2B5EF4-FFF2-40B4-BE49-F238E27FC236}">
                    <a16:creationId xmlns:a16="http://schemas.microsoft.com/office/drawing/2014/main" id="{235EC733-230D-144E-ACF2-027C48E560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1" y="3164"/>
                <a:ext cx="138" cy="20"/>
              </a:xfrm>
              <a:custGeom>
                <a:avLst/>
                <a:gdLst>
                  <a:gd name="T0" fmla="*/ 0 w 554"/>
                  <a:gd name="T1" fmla="*/ 0 h 79"/>
                  <a:gd name="T2" fmla="*/ 0 w 554"/>
                  <a:gd name="T3" fmla="*/ 0 h 79"/>
                  <a:gd name="T4" fmla="*/ 0 w 554"/>
                  <a:gd name="T5" fmla="*/ 0 h 79"/>
                  <a:gd name="T6" fmla="*/ 0 w 554"/>
                  <a:gd name="T7" fmla="*/ 0 h 79"/>
                  <a:gd name="T8" fmla="*/ 0 w 554"/>
                  <a:gd name="T9" fmla="*/ 0 h 7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54"/>
                  <a:gd name="T16" fmla="*/ 0 h 79"/>
                  <a:gd name="T17" fmla="*/ 554 w 554"/>
                  <a:gd name="T18" fmla="*/ 79 h 7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54" h="79">
                    <a:moveTo>
                      <a:pt x="14" y="79"/>
                    </a:moveTo>
                    <a:lnTo>
                      <a:pt x="554" y="0"/>
                    </a:lnTo>
                    <a:lnTo>
                      <a:pt x="551" y="0"/>
                    </a:lnTo>
                    <a:lnTo>
                      <a:pt x="0" y="58"/>
                    </a:lnTo>
                    <a:lnTo>
                      <a:pt x="14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6" name="Freeform 428">
                <a:extLst>
                  <a:ext uri="{FF2B5EF4-FFF2-40B4-BE49-F238E27FC236}">
                    <a16:creationId xmlns:a16="http://schemas.microsoft.com/office/drawing/2014/main" id="{AAAFC42A-64E2-9E42-BD2B-7FE8F0A620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9" y="3163"/>
                <a:ext cx="53" cy="62"/>
              </a:xfrm>
              <a:custGeom>
                <a:avLst/>
                <a:gdLst>
                  <a:gd name="T0" fmla="*/ 0 w 209"/>
                  <a:gd name="T1" fmla="*/ 0 h 247"/>
                  <a:gd name="T2" fmla="*/ 0 w 209"/>
                  <a:gd name="T3" fmla="*/ 0 h 247"/>
                  <a:gd name="T4" fmla="*/ 0 w 209"/>
                  <a:gd name="T5" fmla="*/ 0 h 247"/>
                  <a:gd name="T6" fmla="*/ 0 w 209"/>
                  <a:gd name="T7" fmla="*/ 0 h 247"/>
                  <a:gd name="T8" fmla="*/ 0 w 209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9"/>
                  <a:gd name="T16" fmla="*/ 0 h 247"/>
                  <a:gd name="T17" fmla="*/ 209 w 209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9" h="247">
                    <a:moveTo>
                      <a:pt x="181" y="247"/>
                    </a:moveTo>
                    <a:lnTo>
                      <a:pt x="209" y="244"/>
                    </a:lnTo>
                    <a:lnTo>
                      <a:pt x="27" y="0"/>
                    </a:lnTo>
                    <a:lnTo>
                      <a:pt x="0" y="2"/>
                    </a:lnTo>
                    <a:lnTo>
                      <a:pt x="181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7" name="Freeform 429">
                <a:extLst>
                  <a:ext uri="{FF2B5EF4-FFF2-40B4-BE49-F238E27FC236}">
                    <a16:creationId xmlns:a16="http://schemas.microsoft.com/office/drawing/2014/main" id="{7AF97EC3-16F7-D447-8767-9B584D47FC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4" y="3164"/>
                <a:ext cx="181" cy="74"/>
              </a:xfrm>
              <a:custGeom>
                <a:avLst/>
                <a:gdLst>
                  <a:gd name="T0" fmla="*/ 0 w 721"/>
                  <a:gd name="T1" fmla="*/ 0 h 296"/>
                  <a:gd name="T2" fmla="*/ 0 w 721"/>
                  <a:gd name="T3" fmla="*/ 0 h 296"/>
                  <a:gd name="T4" fmla="*/ 0 w 721"/>
                  <a:gd name="T5" fmla="*/ 0 h 296"/>
                  <a:gd name="T6" fmla="*/ 0 w 721"/>
                  <a:gd name="T7" fmla="*/ 0 h 296"/>
                  <a:gd name="T8" fmla="*/ 0 w 72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296"/>
                  <a:gd name="T17" fmla="*/ 721 w 72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296">
                    <a:moveTo>
                      <a:pt x="721" y="245"/>
                    </a:moveTo>
                    <a:lnTo>
                      <a:pt x="540" y="0"/>
                    </a:lnTo>
                    <a:lnTo>
                      <a:pt x="0" y="79"/>
                    </a:lnTo>
                    <a:lnTo>
                      <a:pt x="165" y="296"/>
                    </a:lnTo>
                    <a:lnTo>
                      <a:pt x="72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8" name="Freeform 430">
                <a:extLst>
                  <a:ext uri="{FF2B5EF4-FFF2-40B4-BE49-F238E27FC236}">
                    <a16:creationId xmlns:a16="http://schemas.microsoft.com/office/drawing/2014/main" id="{D43C1205-37CD-9F45-92D8-87CA01A144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35" y="3341"/>
                <a:ext cx="246" cy="99"/>
              </a:xfrm>
              <a:custGeom>
                <a:avLst/>
                <a:gdLst>
                  <a:gd name="T0" fmla="*/ 0 w 986"/>
                  <a:gd name="T1" fmla="*/ 0 h 396"/>
                  <a:gd name="T2" fmla="*/ 0 w 986"/>
                  <a:gd name="T3" fmla="*/ 0 h 396"/>
                  <a:gd name="T4" fmla="*/ 0 w 986"/>
                  <a:gd name="T5" fmla="*/ 0 h 396"/>
                  <a:gd name="T6" fmla="*/ 0 w 986"/>
                  <a:gd name="T7" fmla="*/ 0 h 396"/>
                  <a:gd name="T8" fmla="*/ 0 w 986"/>
                  <a:gd name="T9" fmla="*/ 0 h 396"/>
                  <a:gd name="T10" fmla="*/ 0 w 986"/>
                  <a:gd name="T11" fmla="*/ 0 h 396"/>
                  <a:gd name="T12" fmla="*/ 0 w 986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6"/>
                  <a:gd name="T22" fmla="*/ 0 h 396"/>
                  <a:gd name="T23" fmla="*/ 986 w 986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6" h="396">
                    <a:moveTo>
                      <a:pt x="166" y="0"/>
                    </a:moveTo>
                    <a:lnTo>
                      <a:pt x="0" y="24"/>
                    </a:lnTo>
                    <a:lnTo>
                      <a:pt x="282" y="396"/>
                    </a:lnTo>
                    <a:lnTo>
                      <a:pt x="986" y="262"/>
                    </a:lnTo>
                    <a:lnTo>
                      <a:pt x="912" y="162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19" name="Freeform 431">
                <a:extLst>
                  <a:ext uri="{FF2B5EF4-FFF2-40B4-BE49-F238E27FC236}">
                    <a16:creationId xmlns:a16="http://schemas.microsoft.com/office/drawing/2014/main" id="{196CDBD9-B3FA-074A-A005-C020D768EA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1" cy="1"/>
              </a:xfrm>
              <a:custGeom>
                <a:avLst/>
                <a:gdLst>
                  <a:gd name="T0" fmla="*/ 0 w 1"/>
                  <a:gd name="T1" fmla="*/ 0 h 3"/>
                  <a:gd name="T2" fmla="*/ 0 w 1"/>
                  <a:gd name="T3" fmla="*/ 0 h 3"/>
                  <a:gd name="T4" fmla="*/ 0 w 1"/>
                  <a:gd name="T5" fmla="*/ 0 h 3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3"/>
                  <a:gd name="T11" fmla="*/ 1 w 1"/>
                  <a:gd name="T12" fmla="*/ 3 h 3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3">
                    <a:moveTo>
                      <a:pt x="0" y="0"/>
                    </a:move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0" name="Freeform 432">
                <a:extLst>
                  <a:ext uri="{FF2B5EF4-FFF2-40B4-BE49-F238E27FC236}">
                    <a16:creationId xmlns:a16="http://schemas.microsoft.com/office/drawing/2014/main" id="{41BB2708-F624-D745-9470-7669424F7F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59" cy="61"/>
              </a:xfrm>
              <a:custGeom>
                <a:avLst/>
                <a:gdLst>
                  <a:gd name="T0" fmla="*/ 0 w 240"/>
                  <a:gd name="T1" fmla="*/ 0 h 245"/>
                  <a:gd name="T2" fmla="*/ 0 w 240"/>
                  <a:gd name="T3" fmla="*/ 0 h 245"/>
                  <a:gd name="T4" fmla="*/ 0 w 240"/>
                  <a:gd name="T5" fmla="*/ 0 h 245"/>
                  <a:gd name="T6" fmla="*/ 0 w 240"/>
                  <a:gd name="T7" fmla="*/ 0 h 245"/>
                  <a:gd name="T8" fmla="*/ 0 w 240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0"/>
                  <a:gd name="T16" fmla="*/ 0 h 245"/>
                  <a:gd name="T17" fmla="*/ 240 w 240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0" h="245">
                    <a:moveTo>
                      <a:pt x="185" y="245"/>
                    </a:moveTo>
                    <a:lnTo>
                      <a:pt x="240" y="240"/>
                    </a:lnTo>
                    <a:lnTo>
                      <a:pt x="0" y="0"/>
                    </a:lnTo>
                    <a:lnTo>
                      <a:pt x="95" y="131"/>
                    </a:lnTo>
                    <a:lnTo>
                      <a:pt x="185" y="24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1" name="Freeform 433">
                <a:extLst>
                  <a:ext uri="{FF2B5EF4-FFF2-40B4-BE49-F238E27FC236}">
                    <a16:creationId xmlns:a16="http://schemas.microsoft.com/office/drawing/2014/main" id="{302A83F7-AA1D-144A-8563-591B284BF5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3321"/>
                <a:ext cx="146" cy="20"/>
              </a:xfrm>
              <a:custGeom>
                <a:avLst/>
                <a:gdLst>
                  <a:gd name="T0" fmla="*/ 0 w 580"/>
                  <a:gd name="T1" fmla="*/ 0 h 80"/>
                  <a:gd name="T2" fmla="*/ 0 w 580"/>
                  <a:gd name="T3" fmla="*/ 0 h 80"/>
                  <a:gd name="T4" fmla="*/ 0 w 580"/>
                  <a:gd name="T5" fmla="*/ 0 h 80"/>
                  <a:gd name="T6" fmla="*/ 0 w 580"/>
                  <a:gd name="T7" fmla="*/ 0 h 8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0"/>
                  <a:gd name="T13" fmla="*/ 0 h 80"/>
                  <a:gd name="T14" fmla="*/ 580 w 580"/>
                  <a:gd name="T15" fmla="*/ 80 h 8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0" h="80">
                    <a:moveTo>
                      <a:pt x="16" y="80"/>
                    </a:moveTo>
                    <a:lnTo>
                      <a:pt x="580" y="0"/>
                    </a:lnTo>
                    <a:lnTo>
                      <a:pt x="0" y="57"/>
                    </a:lnTo>
                    <a:lnTo>
                      <a:pt x="16" y="8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2" name="Freeform 434">
                <a:extLst>
                  <a:ext uri="{FF2B5EF4-FFF2-40B4-BE49-F238E27FC236}">
                    <a16:creationId xmlns:a16="http://schemas.microsoft.com/office/drawing/2014/main" id="{707567F0-11C8-FA4F-BDE6-26A47C154C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41" y="3353"/>
                <a:ext cx="23" cy="28"/>
              </a:xfrm>
              <a:custGeom>
                <a:avLst/>
                <a:gdLst>
                  <a:gd name="T0" fmla="*/ 0 w 90"/>
                  <a:gd name="T1" fmla="*/ 0 h 114"/>
                  <a:gd name="T2" fmla="*/ 0 w 90"/>
                  <a:gd name="T3" fmla="*/ 0 h 114"/>
                  <a:gd name="T4" fmla="*/ 0 w 90"/>
                  <a:gd name="T5" fmla="*/ 0 h 114"/>
                  <a:gd name="T6" fmla="*/ 0 w 90"/>
                  <a:gd name="T7" fmla="*/ 0 h 11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0"/>
                  <a:gd name="T13" fmla="*/ 0 h 114"/>
                  <a:gd name="T14" fmla="*/ 90 w 90"/>
                  <a:gd name="T15" fmla="*/ 114 h 11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0" h="114">
                    <a:moveTo>
                      <a:pt x="87" y="114"/>
                    </a:moveTo>
                    <a:lnTo>
                      <a:pt x="90" y="114"/>
                    </a:lnTo>
                    <a:lnTo>
                      <a:pt x="0" y="0"/>
                    </a:lnTo>
                    <a:lnTo>
                      <a:pt x="87" y="114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3" name="Freeform 435">
                <a:extLst>
                  <a:ext uri="{FF2B5EF4-FFF2-40B4-BE49-F238E27FC236}">
                    <a16:creationId xmlns:a16="http://schemas.microsoft.com/office/drawing/2014/main" id="{FED4FA99-52DB-3B46-A697-2C93109B5E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18" y="3320"/>
                <a:ext cx="23" cy="33"/>
              </a:xfrm>
              <a:custGeom>
                <a:avLst/>
                <a:gdLst>
                  <a:gd name="T0" fmla="*/ 0 w 95"/>
                  <a:gd name="T1" fmla="*/ 0 h 131"/>
                  <a:gd name="T2" fmla="*/ 0 w 95"/>
                  <a:gd name="T3" fmla="*/ 0 h 131"/>
                  <a:gd name="T4" fmla="*/ 0 w 95"/>
                  <a:gd name="T5" fmla="*/ 0 h 131"/>
                  <a:gd name="T6" fmla="*/ 0 w 95"/>
                  <a:gd name="T7" fmla="*/ 0 h 13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5"/>
                  <a:gd name="T13" fmla="*/ 0 h 131"/>
                  <a:gd name="T14" fmla="*/ 95 w 95"/>
                  <a:gd name="T15" fmla="*/ 131 h 13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5" h="131">
                    <a:moveTo>
                      <a:pt x="95" y="131"/>
                    </a:moveTo>
                    <a:lnTo>
                      <a:pt x="0" y="0"/>
                    </a:lnTo>
                    <a:lnTo>
                      <a:pt x="0" y="3"/>
                    </a:lnTo>
                    <a:lnTo>
                      <a:pt x="95" y="131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4" name="Freeform 436">
                <a:extLst>
                  <a:ext uri="{FF2B5EF4-FFF2-40B4-BE49-F238E27FC236}">
                    <a16:creationId xmlns:a16="http://schemas.microsoft.com/office/drawing/2014/main" id="{59FB7870-B806-7E4B-9F30-756236DFFB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6" y="3321"/>
                <a:ext cx="187" cy="74"/>
              </a:xfrm>
              <a:custGeom>
                <a:avLst/>
                <a:gdLst>
                  <a:gd name="T0" fmla="*/ 0 w 746"/>
                  <a:gd name="T1" fmla="*/ 0 h 297"/>
                  <a:gd name="T2" fmla="*/ 0 w 746"/>
                  <a:gd name="T3" fmla="*/ 0 h 297"/>
                  <a:gd name="T4" fmla="*/ 0 w 746"/>
                  <a:gd name="T5" fmla="*/ 0 h 297"/>
                  <a:gd name="T6" fmla="*/ 0 w 746"/>
                  <a:gd name="T7" fmla="*/ 0 h 297"/>
                  <a:gd name="T8" fmla="*/ 0 w 746"/>
                  <a:gd name="T9" fmla="*/ 0 h 297"/>
                  <a:gd name="T10" fmla="*/ 0 w 746"/>
                  <a:gd name="T11" fmla="*/ 0 h 2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746"/>
                  <a:gd name="T19" fmla="*/ 0 h 297"/>
                  <a:gd name="T20" fmla="*/ 746 w 746"/>
                  <a:gd name="T21" fmla="*/ 297 h 2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746" h="297">
                    <a:moveTo>
                      <a:pt x="564" y="0"/>
                    </a:moveTo>
                    <a:lnTo>
                      <a:pt x="0" y="80"/>
                    </a:lnTo>
                    <a:lnTo>
                      <a:pt x="162" y="297"/>
                    </a:lnTo>
                    <a:lnTo>
                      <a:pt x="746" y="242"/>
                    </a:lnTo>
                    <a:lnTo>
                      <a:pt x="659" y="128"/>
                    </a:lnTo>
                    <a:lnTo>
                      <a:pt x="564" y="0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5" name="Freeform 437">
                <a:extLst>
                  <a:ext uri="{FF2B5EF4-FFF2-40B4-BE49-F238E27FC236}">
                    <a16:creationId xmlns:a16="http://schemas.microsoft.com/office/drawing/2014/main" id="{23016D21-E94E-994F-A14A-B5F0860BF1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7" y="3501"/>
                <a:ext cx="246" cy="99"/>
              </a:xfrm>
              <a:custGeom>
                <a:avLst/>
                <a:gdLst>
                  <a:gd name="T0" fmla="*/ 0 w 983"/>
                  <a:gd name="T1" fmla="*/ 0 h 396"/>
                  <a:gd name="T2" fmla="*/ 0 w 983"/>
                  <a:gd name="T3" fmla="*/ 0 h 396"/>
                  <a:gd name="T4" fmla="*/ 0 w 983"/>
                  <a:gd name="T5" fmla="*/ 0 h 396"/>
                  <a:gd name="T6" fmla="*/ 0 w 983"/>
                  <a:gd name="T7" fmla="*/ 0 h 396"/>
                  <a:gd name="T8" fmla="*/ 0 w 983"/>
                  <a:gd name="T9" fmla="*/ 0 h 396"/>
                  <a:gd name="T10" fmla="*/ 0 w 983"/>
                  <a:gd name="T11" fmla="*/ 0 h 396"/>
                  <a:gd name="T12" fmla="*/ 0 w 983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3"/>
                  <a:gd name="T22" fmla="*/ 0 h 396"/>
                  <a:gd name="T23" fmla="*/ 983 w 983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3" h="396">
                    <a:moveTo>
                      <a:pt x="166" y="0"/>
                    </a:moveTo>
                    <a:lnTo>
                      <a:pt x="0" y="21"/>
                    </a:lnTo>
                    <a:lnTo>
                      <a:pt x="282" y="396"/>
                    </a:lnTo>
                    <a:lnTo>
                      <a:pt x="983" y="261"/>
                    </a:lnTo>
                    <a:lnTo>
                      <a:pt x="910" y="163"/>
                    </a:lnTo>
                    <a:lnTo>
                      <a:pt x="328" y="217"/>
                    </a:lnTo>
                    <a:lnTo>
                      <a:pt x="166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6" name="Freeform 438">
                <a:extLst>
                  <a:ext uri="{FF2B5EF4-FFF2-40B4-BE49-F238E27FC236}">
                    <a16:creationId xmlns:a16="http://schemas.microsoft.com/office/drawing/2014/main" id="{5B068FC7-AAB4-AC43-B299-AF114FCDB7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6" y="3516"/>
                <a:ext cx="23" cy="25"/>
              </a:xfrm>
              <a:custGeom>
                <a:avLst/>
                <a:gdLst>
                  <a:gd name="T0" fmla="*/ 0 w 91"/>
                  <a:gd name="T1" fmla="*/ 0 h 97"/>
                  <a:gd name="T2" fmla="*/ 0 w 91"/>
                  <a:gd name="T3" fmla="*/ 0 h 97"/>
                  <a:gd name="T4" fmla="*/ 0 w 91"/>
                  <a:gd name="T5" fmla="*/ 0 h 97"/>
                  <a:gd name="T6" fmla="*/ 0 w 91"/>
                  <a:gd name="T7" fmla="*/ 0 h 9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1"/>
                  <a:gd name="T13" fmla="*/ 0 h 97"/>
                  <a:gd name="T14" fmla="*/ 91 w 91"/>
                  <a:gd name="T15" fmla="*/ 97 h 9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1" h="97">
                    <a:moveTo>
                      <a:pt x="91" y="94"/>
                    </a:moveTo>
                    <a:lnTo>
                      <a:pt x="0" y="0"/>
                    </a:lnTo>
                    <a:lnTo>
                      <a:pt x="70" y="97"/>
                    </a:lnTo>
                    <a:lnTo>
                      <a:pt x="91" y="94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7" name="Freeform 439">
                <a:extLst>
                  <a:ext uri="{FF2B5EF4-FFF2-40B4-BE49-F238E27FC236}">
                    <a16:creationId xmlns:a16="http://schemas.microsoft.com/office/drawing/2014/main" id="{B178C9B1-F754-994C-906B-3820657FE9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3481"/>
                <a:ext cx="145" cy="20"/>
              </a:xfrm>
              <a:custGeom>
                <a:avLst/>
                <a:gdLst>
                  <a:gd name="T0" fmla="*/ 0 w 578"/>
                  <a:gd name="T1" fmla="*/ 0 h 79"/>
                  <a:gd name="T2" fmla="*/ 0 w 578"/>
                  <a:gd name="T3" fmla="*/ 0 h 79"/>
                  <a:gd name="T4" fmla="*/ 0 w 578"/>
                  <a:gd name="T5" fmla="*/ 0 h 79"/>
                  <a:gd name="T6" fmla="*/ 0 w 578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8"/>
                  <a:gd name="T13" fmla="*/ 0 h 79"/>
                  <a:gd name="T14" fmla="*/ 578 w 578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8" h="79">
                    <a:moveTo>
                      <a:pt x="0" y="57"/>
                    </a:moveTo>
                    <a:lnTo>
                      <a:pt x="16" y="79"/>
                    </a:lnTo>
                    <a:lnTo>
                      <a:pt x="578" y="0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8" name="Freeform 440">
                <a:extLst>
                  <a:ext uri="{FF2B5EF4-FFF2-40B4-BE49-F238E27FC236}">
                    <a16:creationId xmlns:a16="http://schemas.microsoft.com/office/drawing/2014/main" id="{656D66ED-A37E-8548-8A6F-FE00D525DE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29" y="3481"/>
                <a:ext cx="54" cy="61"/>
              </a:xfrm>
              <a:custGeom>
                <a:avLst/>
                <a:gdLst>
                  <a:gd name="T0" fmla="*/ 0 w 217"/>
                  <a:gd name="T1" fmla="*/ 0 h 242"/>
                  <a:gd name="T2" fmla="*/ 0 w 217"/>
                  <a:gd name="T3" fmla="*/ 0 h 242"/>
                  <a:gd name="T4" fmla="*/ 0 w 217"/>
                  <a:gd name="T5" fmla="*/ 0 h 242"/>
                  <a:gd name="T6" fmla="*/ 0 w 217"/>
                  <a:gd name="T7" fmla="*/ 0 h 242"/>
                  <a:gd name="T8" fmla="*/ 0 w 217"/>
                  <a:gd name="T9" fmla="*/ 0 h 2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7"/>
                  <a:gd name="T16" fmla="*/ 0 h 242"/>
                  <a:gd name="T17" fmla="*/ 217 w 217"/>
                  <a:gd name="T18" fmla="*/ 242 h 2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7" h="242">
                    <a:moveTo>
                      <a:pt x="182" y="242"/>
                    </a:moveTo>
                    <a:lnTo>
                      <a:pt x="217" y="239"/>
                    </a:lnTo>
                    <a:lnTo>
                      <a:pt x="147" y="142"/>
                    </a:lnTo>
                    <a:lnTo>
                      <a:pt x="0" y="0"/>
                    </a:lnTo>
                    <a:lnTo>
                      <a:pt x="182" y="242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29" name="Freeform 441">
                <a:extLst>
                  <a:ext uri="{FF2B5EF4-FFF2-40B4-BE49-F238E27FC236}">
                    <a16:creationId xmlns:a16="http://schemas.microsoft.com/office/drawing/2014/main" id="{A799AC43-F9B1-8F45-B9A1-6FC4450F0E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8" y="3481"/>
                <a:ext cx="186" cy="74"/>
              </a:xfrm>
              <a:custGeom>
                <a:avLst/>
                <a:gdLst>
                  <a:gd name="T0" fmla="*/ 0 w 744"/>
                  <a:gd name="T1" fmla="*/ 0 h 296"/>
                  <a:gd name="T2" fmla="*/ 0 w 744"/>
                  <a:gd name="T3" fmla="*/ 0 h 296"/>
                  <a:gd name="T4" fmla="*/ 0 w 744"/>
                  <a:gd name="T5" fmla="*/ 0 h 296"/>
                  <a:gd name="T6" fmla="*/ 0 w 744"/>
                  <a:gd name="T7" fmla="*/ 0 h 296"/>
                  <a:gd name="T8" fmla="*/ 0 w 744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4"/>
                  <a:gd name="T16" fmla="*/ 0 h 296"/>
                  <a:gd name="T17" fmla="*/ 744 w 744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4" h="296">
                    <a:moveTo>
                      <a:pt x="0" y="79"/>
                    </a:moveTo>
                    <a:lnTo>
                      <a:pt x="162" y="296"/>
                    </a:lnTo>
                    <a:lnTo>
                      <a:pt x="744" y="242"/>
                    </a:lnTo>
                    <a:lnTo>
                      <a:pt x="562" y="0"/>
                    </a:lnTo>
                    <a:lnTo>
                      <a:pt x="0" y="79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0" name="Freeform 442">
                <a:extLst>
                  <a:ext uri="{FF2B5EF4-FFF2-40B4-BE49-F238E27FC236}">
                    <a16:creationId xmlns:a16="http://schemas.microsoft.com/office/drawing/2014/main" id="{DA92B8C1-9477-2F43-BF04-963A2B8805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4" y="3661"/>
                <a:ext cx="246" cy="99"/>
              </a:xfrm>
              <a:custGeom>
                <a:avLst/>
                <a:gdLst>
                  <a:gd name="T0" fmla="*/ 0 w 982"/>
                  <a:gd name="T1" fmla="*/ 0 h 396"/>
                  <a:gd name="T2" fmla="*/ 0 w 982"/>
                  <a:gd name="T3" fmla="*/ 0 h 396"/>
                  <a:gd name="T4" fmla="*/ 0 w 982"/>
                  <a:gd name="T5" fmla="*/ 0 h 396"/>
                  <a:gd name="T6" fmla="*/ 0 w 982"/>
                  <a:gd name="T7" fmla="*/ 0 h 396"/>
                  <a:gd name="T8" fmla="*/ 0 w 982"/>
                  <a:gd name="T9" fmla="*/ 0 h 396"/>
                  <a:gd name="T10" fmla="*/ 0 w 982"/>
                  <a:gd name="T11" fmla="*/ 0 h 396"/>
                  <a:gd name="T12" fmla="*/ 0 w 982"/>
                  <a:gd name="T13" fmla="*/ 0 h 39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2"/>
                  <a:gd name="T22" fmla="*/ 0 h 396"/>
                  <a:gd name="T23" fmla="*/ 982 w 982"/>
                  <a:gd name="T24" fmla="*/ 396 h 39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2" h="396">
                    <a:moveTo>
                      <a:pt x="162" y="0"/>
                    </a:moveTo>
                    <a:lnTo>
                      <a:pt x="0" y="24"/>
                    </a:lnTo>
                    <a:lnTo>
                      <a:pt x="280" y="396"/>
                    </a:lnTo>
                    <a:lnTo>
                      <a:pt x="982" y="263"/>
                    </a:lnTo>
                    <a:lnTo>
                      <a:pt x="910" y="163"/>
                    </a:lnTo>
                    <a:lnTo>
                      <a:pt x="326" y="217"/>
                    </a:lnTo>
                    <a:lnTo>
                      <a:pt x="162" y="0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1" name="Freeform 443">
                <a:extLst>
                  <a:ext uri="{FF2B5EF4-FFF2-40B4-BE49-F238E27FC236}">
                    <a16:creationId xmlns:a16="http://schemas.microsoft.com/office/drawing/2014/main" id="{8D71317E-5C56-7F4B-B361-0A52CBEEF7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9" y="3654"/>
                <a:ext cx="47" cy="48"/>
              </a:xfrm>
              <a:custGeom>
                <a:avLst/>
                <a:gdLst>
                  <a:gd name="T0" fmla="*/ 0 w 185"/>
                  <a:gd name="T1" fmla="*/ 0 h 191"/>
                  <a:gd name="T2" fmla="*/ 0 w 185"/>
                  <a:gd name="T3" fmla="*/ 0 h 191"/>
                  <a:gd name="T4" fmla="*/ 0 w 185"/>
                  <a:gd name="T5" fmla="*/ 0 h 191"/>
                  <a:gd name="T6" fmla="*/ 0 w 185"/>
                  <a:gd name="T7" fmla="*/ 0 h 19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85"/>
                  <a:gd name="T13" fmla="*/ 0 h 191"/>
                  <a:gd name="T14" fmla="*/ 185 w 185"/>
                  <a:gd name="T15" fmla="*/ 191 h 19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85" h="191">
                    <a:moveTo>
                      <a:pt x="185" y="185"/>
                    </a:moveTo>
                    <a:lnTo>
                      <a:pt x="0" y="0"/>
                    </a:lnTo>
                    <a:lnTo>
                      <a:pt x="145" y="191"/>
                    </a:lnTo>
                    <a:lnTo>
                      <a:pt x="185" y="185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2" name="Freeform 444">
                <a:extLst>
                  <a:ext uri="{FF2B5EF4-FFF2-40B4-BE49-F238E27FC236}">
                    <a16:creationId xmlns:a16="http://schemas.microsoft.com/office/drawing/2014/main" id="{F4B08537-0C51-B241-979E-8A7678DB69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1" y="3640"/>
                <a:ext cx="145" cy="21"/>
              </a:xfrm>
              <a:custGeom>
                <a:avLst/>
                <a:gdLst>
                  <a:gd name="T0" fmla="*/ 0 w 582"/>
                  <a:gd name="T1" fmla="*/ 0 h 82"/>
                  <a:gd name="T2" fmla="*/ 0 w 582"/>
                  <a:gd name="T3" fmla="*/ 0 h 82"/>
                  <a:gd name="T4" fmla="*/ 0 w 582"/>
                  <a:gd name="T5" fmla="*/ 0 h 82"/>
                  <a:gd name="T6" fmla="*/ 0 w 582"/>
                  <a:gd name="T7" fmla="*/ 0 h 8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82"/>
                  <a:gd name="T13" fmla="*/ 0 h 82"/>
                  <a:gd name="T14" fmla="*/ 582 w 582"/>
                  <a:gd name="T15" fmla="*/ 82 h 8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82" h="82">
                    <a:moveTo>
                      <a:pt x="0" y="60"/>
                    </a:moveTo>
                    <a:lnTo>
                      <a:pt x="16" y="82"/>
                    </a:lnTo>
                    <a:lnTo>
                      <a:pt x="582" y="0"/>
                    </a:lnTo>
                    <a:lnTo>
                      <a:pt x="0" y="60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3" name="Freeform 445">
                <a:extLst>
                  <a:ext uri="{FF2B5EF4-FFF2-40B4-BE49-F238E27FC236}">
                    <a16:creationId xmlns:a16="http://schemas.microsoft.com/office/drawing/2014/main" id="{41D0B202-C8B5-0842-BD22-AF8EFB401D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56" y="3640"/>
                <a:ext cx="49" cy="62"/>
              </a:xfrm>
              <a:custGeom>
                <a:avLst/>
                <a:gdLst>
                  <a:gd name="T0" fmla="*/ 0 w 198"/>
                  <a:gd name="T1" fmla="*/ 0 h 245"/>
                  <a:gd name="T2" fmla="*/ 0 w 198"/>
                  <a:gd name="T3" fmla="*/ 0 h 245"/>
                  <a:gd name="T4" fmla="*/ 0 w 198"/>
                  <a:gd name="T5" fmla="*/ 0 h 245"/>
                  <a:gd name="T6" fmla="*/ 0 w 198"/>
                  <a:gd name="T7" fmla="*/ 0 h 245"/>
                  <a:gd name="T8" fmla="*/ 0 w 198"/>
                  <a:gd name="T9" fmla="*/ 0 h 24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8"/>
                  <a:gd name="T16" fmla="*/ 0 h 245"/>
                  <a:gd name="T17" fmla="*/ 198 w 198"/>
                  <a:gd name="T18" fmla="*/ 245 h 24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8" h="245">
                    <a:moveTo>
                      <a:pt x="182" y="245"/>
                    </a:moveTo>
                    <a:lnTo>
                      <a:pt x="198" y="245"/>
                    </a:lnTo>
                    <a:lnTo>
                      <a:pt x="53" y="54"/>
                    </a:lnTo>
                    <a:lnTo>
                      <a:pt x="0" y="0"/>
                    </a:lnTo>
                    <a:lnTo>
                      <a:pt x="182" y="245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4" name="Freeform 446">
                <a:extLst>
                  <a:ext uri="{FF2B5EF4-FFF2-40B4-BE49-F238E27FC236}">
                    <a16:creationId xmlns:a16="http://schemas.microsoft.com/office/drawing/2014/main" id="{BD8FE05C-8BAB-ED4B-A221-53293E573E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5" y="3640"/>
                <a:ext cx="186" cy="75"/>
              </a:xfrm>
              <a:custGeom>
                <a:avLst/>
                <a:gdLst>
                  <a:gd name="T0" fmla="*/ 0 w 748"/>
                  <a:gd name="T1" fmla="*/ 0 h 299"/>
                  <a:gd name="T2" fmla="*/ 0 w 748"/>
                  <a:gd name="T3" fmla="*/ 0 h 299"/>
                  <a:gd name="T4" fmla="*/ 0 w 748"/>
                  <a:gd name="T5" fmla="*/ 0 h 299"/>
                  <a:gd name="T6" fmla="*/ 0 w 748"/>
                  <a:gd name="T7" fmla="*/ 0 h 299"/>
                  <a:gd name="T8" fmla="*/ 0 w 748"/>
                  <a:gd name="T9" fmla="*/ 0 h 2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8"/>
                  <a:gd name="T16" fmla="*/ 0 h 299"/>
                  <a:gd name="T17" fmla="*/ 748 w 748"/>
                  <a:gd name="T18" fmla="*/ 299 h 2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8" h="299">
                    <a:moveTo>
                      <a:pt x="0" y="82"/>
                    </a:moveTo>
                    <a:lnTo>
                      <a:pt x="164" y="299"/>
                    </a:lnTo>
                    <a:lnTo>
                      <a:pt x="748" y="245"/>
                    </a:lnTo>
                    <a:lnTo>
                      <a:pt x="566" y="0"/>
                    </a:ln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5" name="Freeform 447">
                <a:extLst>
                  <a:ext uri="{FF2B5EF4-FFF2-40B4-BE49-F238E27FC236}">
                    <a16:creationId xmlns:a16="http://schemas.microsoft.com/office/drawing/2014/main" id="{BE93E357-BDFF-0C4E-8AAA-05CA13D9FC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53" y="3896"/>
                <a:ext cx="20" cy="25"/>
              </a:xfrm>
              <a:custGeom>
                <a:avLst/>
                <a:gdLst>
                  <a:gd name="T0" fmla="*/ 0 w 79"/>
                  <a:gd name="T1" fmla="*/ 0 h 100"/>
                  <a:gd name="T2" fmla="*/ 0 w 79"/>
                  <a:gd name="T3" fmla="*/ 0 h 100"/>
                  <a:gd name="T4" fmla="*/ 0 w 79"/>
                  <a:gd name="T5" fmla="*/ 0 h 100"/>
                  <a:gd name="T6" fmla="*/ 0 w 79"/>
                  <a:gd name="T7" fmla="*/ 0 h 100"/>
                  <a:gd name="T8" fmla="*/ 0 w 79"/>
                  <a:gd name="T9" fmla="*/ 0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100"/>
                  <a:gd name="T17" fmla="*/ 79 w 7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100">
                    <a:moveTo>
                      <a:pt x="74" y="100"/>
                    </a:moveTo>
                    <a:lnTo>
                      <a:pt x="79" y="100"/>
                    </a:lnTo>
                    <a:lnTo>
                      <a:pt x="5" y="0"/>
                    </a:lnTo>
                    <a:lnTo>
                      <a:pt x="0" y="3"/>
                    </a:lnTo>
                    <a:lnTo>
                      <a:pt x="74" y="10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6" name="Freeform 448">
                <a:extLst>
                  <a:ext uri="{FF2B5EF4-FFF2-40B4-BE49-F238E27FC236}">
                    <a16:creationId xmlns:a16="http://schemas.microsoft.com/office/drawing/2014/main" id="{D94183EA-7490-2344-A4E1-8FDE258B56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26" y="3855"/>
                <a:ext cx="245" cy="99"/>
              </a:xfrm>
              <a:custGeom>
                <a:avLst/>
                <a:gdLst>
                  <a:gd name="T0" fmla="*/ 0 w 981"/>
                  <a:gd name="T1" fmla="*/ 0 h 397"/>
                  <a:gd name="T2" fmla="*/ 0 w 981"/>
                  <a:gd name="T3" fmla="*/ 0 h 397"/>
                  <a:gd name="T4" fmla="*/ 0 w 981"/>
                  <a:gd name="T5" fmla="*/ 0 h 397"/>
                  <a:gd name="T6" fmla="*/ 0 w 981"/>
                  <a:gd name="T7" fmla="*/ 0 h 397"/>
                  <a:gd name="T8" fmla="*/ 0 w 981"/>
                  <a:gd name="T9" fmla="*/ 0 h 397"/>
                  <a:gd name="T10" fmla="*/ 0 w 981"/>
                  <a:gd name="T11" fmla="*/ 0 h 397"/>
                  <a:gd name="T12" fmla="*/ 0 w 981"/>
                  <a:gd name="T13" fmla="*/ 0 h 397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81"/>
                  <a:gd name="T22" fmla="*/ 0 h 397"/>
                  <a:gd name="T23" fmla="*/ 981 w 981"/>
                  <a:gd name="T24" fmla="*/ 397 h 397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81" h="397">
                    <a:moveTo>
                      <a:pt x="328" y="217"/>
                    </a:moveTo>
                    <a:lnTo>
                      <a:pt x="166" y="0"/>
                    </a:lnTo>
                    <a:lnTo>
                      <a:pt x="0" y="25"/>
                    </a:lnTo>
                    <a:lnTo>
                      <a:pt x="286" y="397"/>
                    </a:lnTo>
                    <a:lnTo>
                      <a:pt x="981" y="263"/>
                    </a:lnTo>
                    <a:lnTo>
                      <a:pt x="907" y="166"/>
                    </a:lnTo>
                    <a:lnTo>
                      <a:pt x="328" y="217"/>
                    </a:lnTo>
                    <a:close/>
                  </a:path>
                </a:pathLst>
              </a:custGeom>
              <a:solidFill>
                <a:srgbClr val="0F42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7" name="Freeform 449">
                <a:extLst>
                  <a:ext uri="{FF2B5EF4-FFF2-40B4-BE49-F238E27FC236}">
                    <a16:creationId xmlns:a16="http://schemas.microsoft.com/office/drawing/2014/main" id="{395F0093-D064-3548-9EA0-A52C60856D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9" y="3835"/>
                <a:ext cx="60" cy="61"/>
              </a:xfrm>
              <a:custGeom>
                <a:avLst/>
                <a:gdLst>
                  <a:gd name="T0" fmla="*/ 0 w 238"/>
                  <a:gd name="T1" fmla="*/ 0 h 244"/>
                  <a:gd name="T2" fmla="*/ 0 w 238"/>
                  <a:gd name="T3" fmla="*/ 0 h 244"/>
                  <a:gd name="T4" fmla="*/ 0 w 238"/>
                  <a:gd name="T5" fmla="*/ 0 h 244"/>
                  <a:gd name="T6" fmla="*/ 0 w 238"/>
                  <a:gd name="T7" fmla="*/ 0 h 24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38"/>
                  <a:gd name="T13" fmla="*/ 0 h 244"/>
                  <a:gd name="T14" fmla="*/ 238 w 238"/>
                  <a:gd name="T15" fmla="*/ 244 h 24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38" h="244">
                    <a:moveTo>
                      <a:pt x="238" y="238"/>
                    </a:moveTo>
                    <a:lnTo>
                      <a:pt x="0" y="0"/>
                    </a:lnTo>
                    <a:lnTo>
                      <a:pt x="178" y="244"/>
                    </a:lnTo>
                    <a:lnTo>
                      <a:pt x="238" y="238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8" name="Freeform 450">
                <a:extLst>
                  <a:ext uri="{FF2B5EF4-FFF2-40B4-BE49-F238E27FC236}">
                    <a16:creationId xmlns:a16="http://schemas.microsoft.com/office/drawing/2014/main" id="{DD1EF987-9173-D843-87C5-137BD58F25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3" cy="1"/>
              </a:xfrm>
              <a:custGeom>
                <a:avLst/>
                <a:gdLst>
                  <a:gd name="T0" fmla="*/ 0 w 12"/>
                  <a:gd name="T1" fmla="*/ 0 h 2"/>
                  <a:gd name="T2" fmla="*/ 0 w 12"/>
                  <a:gd name="T3" fmla="*/ 1 h 2"/>
                  <a:gd name="T4" fmla="*/ 0 w 12"/>
                  <a:gd name="T5" fmla="*/ 0 h 2"/>
                  <a:gd name="T6" fmla="*/ 0 60000 65536"/>
                  <a:gd name="T7" fmla="*/ 0 60000 65536"/>
                  <a:gd name="T8" fmla="*/ 0 60000 65536"/>
                  <a:gd name="T9" fmla="*/ 0 w 12"/>
                  <a:gd name="T10" fmla="*/ 0 h 2"/>
                  <a:gd name="T11" fmla="*/ 12 w 12"/>
                  <a:gd name="T12" fmla="*/ 2 h 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" h="2">
                    <a:moveTo>
                      <a:pt x="12" y="0"/>
                    </a:moveTo>
                    <a:lnTo>
                      <a:pt x="0" y="2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F6882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39" name="Freeform 451">
                <a:extLst>
                  <a:ext uri="{FF2B5EF4-FFF2-40B4-BE49-F238E27FC236}">
                    <a16:creationId xmlns:a16="http://schemas.microsoft.com/office/drawing/2014/main" id="{2D4D69CF-6889-B845-A678-EB8DCB67E3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3" y="3835"/>
                <a:ext cx="143" cy="20"/>
              </a:xfrm>
              <a:custGeom>
                <a:avLst/>
                <a:gdLst>
                  <a:gd name="T0" fmla="*/ 0 w 572"/>
                  <a:gd name="T1" fmla="*/ 0 h 79"/>
                  <a:gd name="T2" fmla="*/ 0 w 572"/>
                  <a:gd name="T3" fmla="*/ 0 h 79"/>
                  <a:gd name="T4" fmla="*/ 0 w 572"/>
                  <a:gd name="T5" fmla="*/ 0 h 79"/>
                  <a:gd name="T6" fmla="*/ 0 w 572"/>
                  <a:gd name="T7" fmla="*/ 0 h 7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2"/>
                  <a:gd name="T13" fmla="*/ 0 h 79"/>
                  <a:gd name="T14" fmla="*/ 572 w 572"/>
                  <a:gd name="T15" fmla="*/ 79 h 7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2" h="79">
                    <a:moveTo>
                      <a:pt x="16" y="79"/>
                    </a:moveTo>
                    <a:lnTo>
                      <a:pt x="572" y="0"/>
                    </a:lnTo>
                    <a:lnTo>
                      <a:pt x="0" y="58"/>
                    </a:lnTo>
                    <a:lnTo>
                      <a:pt x="16" y="79"/>
                    </a:lnTo>
                    <a:close/>
                  </a:path>
                </a:pathLst>
              </a:custGeom>
              <a:solidFill>
                <a:srgbClr val="60915E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0" name="Freeform 452">
                <a:extLst>
                  <a:ext uri="{FF2B5EF4-FFF2-40B4-BE49-F238E27FC236}">
                    <a16:creationId xmlns:a16="http://schemas.microsoft.com/office/drawing/2014/main" id="{5B538FF4-53B5-994F-B325-36DC0C2F15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06" y="3835"/>
                <a:ext cx="48" cy="61"/>
              </a:xfrm>
              <a:custGeom>
                <a:avLst/>
                <a:gdLst>
                  <a:gd name="T0" fmla="*/ 0 w 190"/>
                  <a:gd name="T1" fmla="*/ 0 h 247"/>
                  <a:gd name="T2" fmla="*/ 0 w 190"/>
                  <a:gd name="T3" fmla="*/ 0 h 247"/>
                  <a:gd name="T4" fmla="*/ 0 w 190"/>
                  <a:gd name="T5" fmla="*/ 0 h 247"/>
                  <a:gd name="T6" fmla="*/ 0 w 190"/>
                  <a:gd name="T7" fmla="*/ 0 h 247"/>
                  <a:gd name="T8" fmla="*/ 0 w 190"/>
                  <a:gd name="T9" fmla="*/ 0 h 2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0"/>
                  <a:gd name="T16" fmla="*/ 0 h 247"/>
                  <a:gd name="T17" fmla="*/ 190 w 190"/>
                  <a:gd name="T18" fmla="*/ 247 h 2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0" h="247">
                    <a:moveTo>
                      <a:pt x="185" y="247"/>
                    </a:moveTo>
                    <a:lnTo>
                      <a:pt x="190" y="244"/>
                    </a:lnTo>
                    <a:lnTo>
                      <a:pt x="12" y="0"/>
                    </a:lnTo>
                    <a:lnTo>
                      <a:pt x="0" y="2"/>
                    </a:lnTo>
                    <a:lnTo>
                      <a:pt x="185" y="247"/>
                    </a:lnTo>
                    <a:close/>
                  </a:path>
                </a:pathLst>
              </a:custGeom>
              <a:solidFill>
                <a:srgbClr val="26423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1" name="Freeform 453">
                <a:extLst>
                  <a:ext uri="{FF2B5EF4-FFF2-40B4-BE49-F238E27FC236}">
                    <a16:creationId xmlns:a16="http://schemas.microsoft.com/office/drawing/2014/main" id="{C23E185B-FBD4-3F4E-83A7-6E410589CE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67" y="3835"/>
                <a:ext cx="186" cy="74"/>
              </a:xfrm>
              <a:custGeom>
                <a:avLst/>
                <a:gdLst>
                  <a:gd name="T0" fmla="*/ 0 w 741"/>
                  <a:gd name="T1" fmla="*/ 0 h 296"/>
                  <a:gd name="T2" fmla="*/ 0 w 741"/>
                  <a:gd name="T3" fmla="*/ 0 h 296"/>
                  <a:gd name="T4" fmla="*/ 0 w 741"/>
                  <a:gd name="T5" fmla="*/ 0 h 296"/>
                  <a:gd name="T6" fmla="*/ 0 w 741"/>
                  <a:gd name="T7" fmla="*/ 0 h 296"/>
                  <a:gd name="T8" fmla="*/ 0 w 741"/>
                  <a:gd name="T9" fmla="*/ 0 h 2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41"/>
                  <a:gd name="T16" fmla="*/ 0 h 296"/>
                  <a:gd name="T17" fmla="*/ 741 w 741"/>
                  <a:gd name="T18" fmla="*/ 296 h 2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41" h="296">
                    <a:moveTo>
                      <a:pt x="741" y="245"/>
                    </a:moveTo>
                    <a:lnTo>
                      <a:pt x="556" y="0"/>
                    </a:lnTo>
                    <a:lnTo>
                      <a:pt x="0" y="79"/>
                    </a:lnTo>
                    <a:lnTo>
                      <a:pt x="162" y="296"/>
                    </a:lnTo>
                    <a:lnTo>
                      <a:pt x="741" y="245"/>
                    </a:lnTo>
                    <a:close/>
                  </a:path>
                </a:pathLst>
              </a:custGeom>
              <a:solidFill>
                <a:srgbClr val="33593A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2" name="Freeform 454">
                <a:extLst>
                  <a:ext uri="{FF2B5EF4-FFF2-40B4-BE49-F238E27FC236}">
                    <a16:creationId xmlns:a16="http://schemas.microsoft.com/office/drawing/2014/main" id="{BEE8B35C-8624-B94B-988B-E06D5ED720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6" y="3085"/>
                <a:ext cx="247" cy="383"/>
              </a:xfrm>
              <a:custGeom>
                <a:avLst/>
                <a:gdLst>
                  <a:gd name="T0" fmla="*/ 0 w 986"/>
                  <a:gd name="T1" fmla="*/ 0 h 1530"/>
                  <a:gd name="T2" fmla="*/ 0 w 986"/>
                  <a:gd name="T3" fmla="*/ 0 h 1530"/>
                  <a:gd name="T4" fmla="*/ 0 w 986"/>
                  <a:gd name="T5" fmla="*/ 0 h 1530"/>
                  <a:gd name="T6" fmla="*/ 0 w 986"/>
                  <a:gd name="T7" fmla="*/ 0 h 1530"/>
                  <a:gd name="T8" fmla="*/ 0 w 986"/>
                  <a:gd name="T9" fmla="*/ 0 h 1530"/>
                  <a:gd name="T10" fmla="*/ 0 w 986"/>
                  <a:gd name="T11" fmla="*/ 0 h 1530"/>
                  <a:gd name="T12" fmla="*/ 0 w 986"/>
                  <a:gd name="T13" fmla="*/ 0 h 1530"/>
                  <a:gd name="T14" fmla="*/ 0 w 986"/>
                  <a:gd name="T15" fmla="*/ 0 h 1530"/>
                  <a:gd name="T16" fmla="*/ 0 w 986"/>
                  <a:gd name="T17" fmla="*/ 0 h 1530"/>
                  <a:gd name="T18" fmla="*/ 0 w 986"/>
                  <a:gd name="T19" fmla="*/ 0 h 1530"/>
                  <a:gd name="T20" fmla="*/ 0 w 986"/>
                  <a:gd name="T21" fmla="*/ 0 h 1530"/>
                  <a:gd name="T22" fmla="*/ 0 w 986"/>
                  <a:gd name="T23" fmla="*/ 0 h 1530"/>
                  <a:gd name="T24" fmla="*/ 0 w 986"/>
                  <a:gd name="T25" fmla="*/ 0 h 1530"/>
                  <a:gd name="T26" fmla="*/ 0 w 986"/>
                  <a:gd name="T27" fmla="*/ 0 h 1530"/>
                  <a:gd name="T28" fmla="*/ 0 w 986"/>
                  <a:gd name="T29" fmla="*/ 0 h 1530"/>
                  <a:gd name="T30" fmla="*/ 0 w 986"/>
                  <a:gd name="T31" fmla="*/ 0 h 1530"/>
                  <a:gd name="T32" fmla="*/ 0 w 986"/>
                  <a:gd name="T33" fmla="*/ 0 h 1530"/>
                  <a:gd name="T34" fmla="*/ 0 w 986"/>
                  <a:gd name="T35" fmla="*/ 0 h 1530"/>
                  <a:gd name="T36" fmla="*/ 0 w 986"/>
                  <a:gd name="T37" fmla="*/ 0 h 1530"/>
                  <a:gd name="T38" fmla="*/ 0 w 986"/>
                  <a:gd name="T39" fmla="*/ 0 h 1530"/>
                  <a:gd name="T40" fmla="*/ 0 w 986"/>
                  <a:gd name="T41" fmla="*/ 0 h 1530"/>
                  <a:gd name="T42" fmla="*/ 0 w 986"/>
                  <a:gd name="T43" fmla="*/ 0 h 1530"/>
                  <a:gd name="T44" fmla="*/ 0 w 986"/>
                  <a:gd name="T45" fmla="*/ 0 h 1530"/>
                  <a:gd name="T46" fmla="*/ 0 w 986"/>
                  <a:gd name="T47" fmla="*/ 0 h 1530"/>
                  <a:gd name="T48" fmla="*/ 0 w 986"/>
                  <a:gd name="T49" fmla="*/ 0 h 1530"/>
                  <a:gd name="T50" fmla="*/ 0 w 986"/>
                  <a:gd name="T51" fmla="*/ 0 h 1530"/>
                  <a:gd name="T52" fmla="*/ 0 w 986"/>
                  <a:gd name="T53" fmla="*/ 0 h 1530"/>
                  <a:gd name="T54" fmla="*/ 0 w 986"/>
                  <a:gd name="T55" fmla="*/ 0 h 1530"/>
                  <a:gd name="T56" fmla="*/ 0 w 986"/>
                  <a:gd name="T57" fmla="*/ 0 h 1530"/>
                  <a:gd name="T58" fmla="*/ 0 w 986"/>
                  <a:gd name="T59" fmla="*/ 0 h 1530"/>
                  <a:gd name="T60" fmla="*/ 0 w 986"/>
                  <a:gd name="T61" fmla="*/ 0 h 1530"/>
                  <a:gd name="T62" fmla="*/ 0 w 986"/>
                  <a:gd name="T63" fmla="*/ 0 h 1530"/>
                  <a:gd name="T64" fmla="*/ 0 w 986"/>
                  <a:gd name="T65" fmla="*/ 0 h 1530"/>
                  <a:gd name="T66" fmla="*/ 0 w 986"/>
                  <a:gd name="T67" fmla="*/ 0 h 1530"/>
                  <a:gd name="T68" fmla="*/ 0 w 986"/>
                  <a:gd name="T69" fmla="*/ 0 h 1530"/>
                  <a:gd name="T70" fmla="*/ 0 w 986"/>
                  <a:gd name="T71" fmla="*/ 0 h 1530"/>
                  <a:gd name="T72" fmla="*/ 0 w 986"/>
                  <a:gd name="T73" fmla="*/ 0 h 1530"/>
                  <a:gd name="T74" fmla="*/ 0 w 986"/>
                  <a:gd name="T75" fmla="*/ 0 h 1530"/>
                  <a:gd name="T76" fmla="*/ 0 w 986"/>
                  <a:gd name="T77" fmla="*/ 0 h 1530"/>
                  <a:gd name="T78" fmla="*/ 0 w 986"/>
                  <a:gd name="T79" fmla="*/ 0 h 1530"/>
                  <a:gd name="T80" fmla="*/ 0 w 986"/>
                  <a:gd name="T81" fmla="*/ 0 h 1530"/>
                  <a:gd name="T82" fmla="*/ 0 w 986"/>
                  <a:gd name="T83" fmla="*/ 0 h 1530"/>
                  <a:gd name="T84" fmla="*/ 0 w 986"/>
                  <a:gd name="T85" fmla="*/ 0 h 1530"/>
                  <a:gd name="T86" fmla="*/ 0 w 986"/>
                  <a:gd name="T87" fmla="*/ 0 h 1530"/>
                  <a:gd name="T88" fmla="*/ 0 w 986"/>
                  <a:gd name="T89" fmla="*/ 0 h 1530"/>
                  <a:gd name="T90" fmla="*/ 0 w 986"/>
                  <a:gd name="T91" fmla="*/ 0 h 1530"/>
                  <a:gd name="T92" fmla="*/ 0 w 986"/>
                  <a:gd name="T93" fmla="*/ 0 h 1530"/>
                  <a:gd name="T94" fmla="*/ 0 w 986"/>
                  <a:gd name="T95" fmla="*/ 0 h 1530"/>
                  <a:gd name="T96" fmla="*/ 0 w 986"/>
                  <a:gd name="T97" fmla="*/ 0 h 1530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986"/>
                  <a:gd name="T148" fmla="*/ 0 h 1530"/>
                  <a:gd name="T149" fmla="*/ 986 w 986"/>
                  <a:gd name="T150" fmla="*/ 1530 h 1530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986" h="1530">
                    <a:moveTo>
                      <a:pt x="6" y="65"/>
                    </a:moveTo>
                    <a:lnTo>
                      <a:pt x="58" y="157"/>
                    </a:lnTo>
                    <a:lnTo>
                      <a:pt x="111" y="249"/>
                    </a:lnTo>
                    <a:lnTo>
                      <a:pt x="166" y="342"/>
                    </a:lnTo>
                    <a:lnTo>
                      <a:pt x="220" y="430"/>
                    </a:lnTo>
                    <a:lnTo>
                      <a:pt x="277" y="520"/>
                    </a:lnTo>
                    <a:lnTo>
                      <a:pt x="332" y="613"/>
                    </a:lnTo>
                    <a:lnTo>
                      <a:pt x="388" y="702"/>
                    </a:lnTo>
                    <a:lnTo>
                      <a:pt x="446" y="792"/>
                    </a:lnTo>
                    <a:lnTo>
                      <a:pt x="503" y="882"/>
                    </a:lnTo>
                    <a:lnTo>
                      <a:pt x="559" y="971"/>
                    </a:lnTo>
                    <a:lnTo>
                      <a:pt x="619" y="1061"/>
                    </a:lnTo>
                    <a:lnTo>
                      <a:pt x="677" y="1151"/>
                    </a:lnTo>
                    <a:lnTo>
                      <a:pt x="734" y="1240"/>
                    </a:lnTo>
                    <a:lnTo>
                      <a:pt x="790" y="1329"/>
                    </a:lnTo>
                    <a:lnTo>
                      <a:pt x="848" y="1419"/>
                    </a:lnTo>
                    <a:lnTo>
                      <a:pt x="905" y="1509"/>
                    </a:lnTo>
                    <a:lnTo>
                      <a:pt x="916" y="1523"/>
                    </a:lnTo>
                    <a:lnTo>
                      <a:pt x="932" y="1530"/>
                    </a:lnTo>
                    <a:lnTo>
                      <a:pt x="949" y="1530"/>
                    </a:lnTo>
                    <a:lnTo>
                      <a:pt x="965" y="1525"/>
                    </a:lnTo>
                    <a:lnTo>
                      <a:pt x="979" y="1511"/>
                    </a:lnTo>
                    <a:lnTo>
                      <a:pt x="986" y="1498"/>
                    </a:lnTo>
                    <a:lnTo>
                      <a:pt x="986" y="1479"/>
                    </a:lnTo>
                    <a:lnTo>
                      <a:pt x="981" y="1463"/>
                    </a:lnTo>
                    <a:lnTo>
                      <a:pt x="924" y="1373"/>
                    </a:lnTo>
                    <a:lnTo>
                      <a:pt x="866" y="1283"/>
                    </a:lnTo>
                    <a:lnTo>
                      <a:pt x="813" y="1194"/>
                    </a:lnTo>
                    <a:lnTo>
                      <a:pt x="755" y="1104"/>
                    </a:lnTo>
                    <a:lnTo>
                      <a:pt x="695" y="1017"/>
                    </a:lnTo>
                    <a:lnTo>
                      <a:pt x="639" y="928"/>
                    </a:lnTo>
                    <a:lnTo>
                      <a:pt x="582" y="838"/>
                    </a:lnTo>
                    <a:lnTo>
                      <a:pt x="524" y="749"/>
                    </a:lnTo>
                    <a:lnTo>
                      <a:pt x="467" y="659"/>
                    </a:lnTo>
                    <a:lnTo>
                      <a:pt x="413" y="569"/>
                    </a:lnTo>
                    <a:lnTo>
                      <a:pt x="356" y="480"/>
                    </a:lnTo>
                    <a:lnTo>
                      <a:pt x="302" y="388"/>
                    </a:lnTo>
                    <a:lnTo>
                      <a:pt x="245" y="298"/>
                    </a:lnTo>
                    <a:lnTo>
                      <a:pt x="191" y="208"/>
                    </a:lnTo>
                    <a:lnTo>
                      <a:pt x="136" y="116"/>
                    </a:lnTo>
                    <a:lnTo>
                      <a:pt x="85" y="23"/>
                    </a:lnTo>
                    <a:lnTo>
                      <a:pt x="74" y="10"/>
                    </a:lnTo>
                    <a:lnTo>
                      <a:pt x="60" y="2"/>
                    </a:lnTo>
                    <a:lnTo>
                      <a:pt x="41" y="0"/>
                    </a:lnTo>
                    <a:lnTo>
                      <a:pt x="25" y="5"/>
                    </a:lnTo>
                    <a:lnTo>
                      <a:pt x="11" y="16"/>
                    </a:lnTo>
                    <a:lnTo>
                      <a:pt x="3" y="30"/>
                    </a:lnTo>
                    <a:lnTo>
                      <a:pt x="0" y="48"/>
                    </a:lnTo>
                    <a:lnTo>
                      <a:pt x="6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3" name="Freeform 455">
                <a:extLst>
                  <a:ext uri="{FF2B5EF4-FFF2-40B4-BE49-F238E27FC236}">
                    <a16:creationId xmlns:a16="http://schemas.microsoft.com/office/drawing/2014/main" id="{B6A82B51-A711-8149-BBFC-8096ED2198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2" y="3453"/>
                <a:ext cx="281" cy="353"/>
              </a:xfrm>
              <a:custGeom>
                <a:avLst/>
                <a:gdLst>
                  <a:gd name="T0" fmla="*/ 0 w 1122"/>
                  <a:gd name="T1" fmla="*/ 0 h 1409"/>
                  <a:gd name="T2" fmla="*/ 0 w 1122"/>
                  <a:gd name="T3" fmla="*/ 0 h 1409"/>
                  <a:gd name="T4" fmla="*/ 0 w 1122"/>
                  <a:gd name="T5" fmla="*/ 0 h 1409"/>
                  <a:gd name="T6" fmla="*/ 0 w 1122"/>
                  <a:gd name="T7" fmla="*/ 0 h 1409"/>
                  <a:gd name="T8" fmla="*/ 0 w 1122"/>
                  <a:gd name="T9" fmla="*/ 0 h 1409"/>
                  <a:gd name="T10" fmla="*/ 0 w 1122"/>
                  <a:gd name="T11" fmla="*/ 0 h 1409"/>
                  <a:gd name="T12" fmla="*/ 0 w 1122"/>
                  <a:gd name="T13" fmla="*/ 0 h 1409"/>
                  <a:gd name="T14" fmla="*/ 0 w 1122"/>
                  <a:gd name="T15" fmla="*/ 0 h 1409"/>
                  <a:gd name="T16" fmla="*/ 0 w 1122"/>
                  <a:gd name="T17" fmla="*/ 0 h 1409"/>
                  <a:gd name="T18" fmla="*/ 0 w 1122"/>
                  <a:gd name="T19" fmla="*/ 0 h 1409"/>
                  <a:gd name="T20" fmla="*/ 0 w 1122"/>
                  <a:gd name="T21" fmla="*/ 0 h 1409"/>
                  <a:gd name="T22" fmla="*/ 0 w 1122"/>
                  <a:gd name="T23" fmla="*/ 0 h 1409"/>
                  <a:gd name="T24" fmla="*/ 0 w 1122"/>
                  <a:gd name="T25" fmla="*/ 0 h 1409"/>
                  <a:gd name="T26" fmla="*/ 0 w 1122"/>
                  <a:gd name="T27" fmla="*/ 0 h 1409"/>
                  <a:gd name="T28" fmla="*/ 0 w 1122"/>
                  <a:gd name="T29" fmla="*/ 0 h 1409"/>
                  <a:gd name="T30" fmla="*/ 0 w 1122"/>
                  <a:gd name="T31" fmla="*/ 0 h 1409"/>
                  <a:gd name="T32" fmla="*/ 0 w 1122"/>
                  <a:gd name="T33" fmla="*/ 0 h 1409"/>
                  <a:gd name="T34" fmla="*/ 0 w 1122"/>
                  <a:gd name="T35" fmla="*/ 0 h 1409"/>
                  <a:gd name="T36" fmla="*/ 0 w 1122"/>
                  <a:gd name="T37" fmla="*/ 0 h 1409"/>
                  <a:gd name="T38" fmla="*/ 0 w 1122"/>
                  <a:gd name="T39" fmla="*/ 0 h 1409"/>
                  <a:gd name="T40" fmla="*/ 0 w 1122"/>
                  <a:gd name="T41" fmla="*/ 0 h 1409"/>
                  <a:gd name="T42" fmla="*/ 0 w 1122"/>
                  <a:gd name="T43" fmla="*/ 0 h 1409"/>
                  <a:gd name="T44" fmla="*/ 0 w 1122"/>
                  <a:gd name="T45" fmla="*/ 0 h 1409"/>
                  <a:gd name="T46" fmla="*/ 0 w 1122"/>
                  <a:gd name="T47" fmla="*/ 0 h 1409"/>
                  <a:gd name="T48" fmla="*/ 0 w 1122"/>
                  <a:gd name="T49" fmla="*/ 0 h 1409"/>
                  <a:gd name="T50" fmla="*/ 0 w 1122"/>
                  <a:gd name="T51" fmla="*/ 0 h 1409"/>
                  <a:gd name="T52" fmla="*/ 0 w 1122"/>
                  <a:gd name="T53" fmla="*/ 0 h 1409"/>
                  <a:gd name="T54" fmla="*/ 0 w 1122"/>
                  <a:gd name="T55" fmla="*/ 0 h 1409"/>
                  <a:gd name="T56" fmla="*/ 0 w 1122"/>
                  <a:gd name="T57" fmla="*/ 0 h 1409"/>
                  <a:gd name="T58" fmla="*/ 0 w 1122"/>
                  <a:gd name="T59" fmla="*/ 0 h 1409"/>
                  <a:gd name="T60" fmla="*/ 0 w 1122"/>
                  <a:gd name="T61" fmla="*/ 0 h 1409"/>
                  <a:gd name="T62" fmla="*/ 0 w 1122"/>
                  <a:gd name="T63" fmla="*/ 0 h 1409"/>
                  <a:gd name="T64" fmla="*/ 0 w 1122"/>
                  <a:gd name="T65" fmla="*/ 0 h 1409"/>
                  <a:gd name="T66" fmla="*/ 0 w 1122"/>
                  <a:gd name="T67" fmla="*/ 0 h 1409"/>
                  <a:gd name="T68" fmla="*/ 0 w 1122"/>
                  <a:gd name="T69" fmla="*/ 0 h 1409"/>
                  <a:gd name="T70" fmla="*/ 0 w 1122"/>
                  <a:gd name="T71" fmla="*/ 0 h 1409"/>
                  <a:gd name="T72" fmla="*/ 0 w 1122"/>
                  <a:gd name="T73" fmla="*/ 0 h 1409"/>
                  <a:gd name="T74" fmla="*/ 0 w 1122"/>
                  <a:gd name="T75" fmla="*/ 0 h 1409"/>
                  <a:gd name="T76" fmla="*/ 0 w 1122"/>
                  <a:gd name="T77" fmla="*/ 0 h 1409"/>
                  <a:gd name="T78" fmla="*/ 0 w 1122"/>
                  <a:gd name="T79" fmla="*/ 0 h 1409"/>
                  <a:gd name="T80" fmla="*/ 0 w 1122"/>
                  <a:gd name="T81" fmla="*/ 0 h 1409"/>
                  <a:gd name="T82" fmla="*/ 0 w 1122"/>
                  <a:gd name="T83" fmla="*/ 0 h 1409"/>
                  <a:gd name="T84" fmla="*/ 0 w 1122"/>
                  <a:gd name="T85" fmla="*/ 0 h 1409"/>
                  <a:gd name="T86" fmla="*/ 0 w 1122"/>
                  <a:gd name="T87" fmla="*/ 0 h 1409"/>
                  <a:gd name="T88" fmla="*/ 0 w 1122"/>
                  <a:gd name="T89" fmla="*/ 0 h 1409"/>
                  <a:gd name="T90" fmla="*/ 0 w 1122"/>
                  <a:gd name="T91" fmla="*/ 0 h 1409"/>
                  <a:gd name="T92" fmla="*/ 0 w 1122"/>
                  <a:gd name="T93" fmla="*/ 0 h 1409"/>
                  <a:gd name="T94" fmla="*/ 0 w 1122"/>
                  <a:gd name="T95" fmla="*/ 0 h 1409"/>
                  <a:gd name="T96" fmla="*/ 0 w 1122"/>
                  <a:gd name="T97" fmla="*/ 0 h 1409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1122"/>
                  <a:gd name="T148" fmla="*/ 0 h 1409"/>
                  <a:gd name="T149" fmla="*/ 1122 w 1122"/>
                  <a:gd name="T150" fmla="*/ 1409 h 1409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1122" h="1409">
                    <a:moveTo>
                      <a:pt x="9" y="73"/>
                    </a:moveTo>
                    <a:lnTo>
                      <a:pt x="76" y="152"/>
                    </a:lnTo>
                    <a:lnTo>
                      <a:pt x="145" y="234"/>
                    </a:lnTo>
                    <a:lnTo>
                      <a:pt x="210" y="312"/>
                    </a:lnTo>
                    <a:lnTo>
                      <a:pt x="277" y="394"/>
                    </a:lnTo>
                    <a:lnTo>
                      <a:pt x="343" y="477"/>
                    </a:lnTo>
                    <a:lnTo>
                      <a:pt x="408" y="560"/>
                    </a:lnTo>
                    <a:lnTo>
                      <a:pt x="470" y="641"/>
                    </a:lnTo>
                    <a:lnTo>
                      <a:pt x="535" y="725"/>
                    </a:lnTo>
                    <a:lnTo>
                      <a:pt x="598" y="809"/>
                    </a:lnTo>
                    <a:lnTo>
                      <a:pt x="663" y="890"/>
                    </a:lnTo>
                    <a:lnTo>
                      <a:pt x="725" y="974"/>
                    </a:lnTo>
                    <a:lnTo>
                      <a:pt x="788" y="1059"/>
                    </a:lnTo>
                    <a:lnTo>
                      <a:pt x="854" y="1143"/>
                    </a:lnTo>
                    <a:lnTo>
                      <a:pt x="916" y="1227"/>
                    </a:lnTo>
                    <a:lnTo>
                      <a:pt x="978" y="1309"/>
                    </a:lnTo>
                    <a:lnTo>
                      <a:pt x="1043" y="1392"/>
                    </a:lnTo>
                    <a:lnTo>
                      <a:pt x="1057" y="1404"/>
                    </a:lnTo>
                    <a:lnTo>
                      <a:pt x="1076" y="1409"/>
                    </a:lnTo>
                    <a:lnTo>
                      <a:pt x="1092" y="1406"/>
                    </a:lnTo>
                    <a:lnTo>
                      <a:pt x="1108" y="1398"/>
                    </a:lnTo>
                    <a:lnTo>
                      <a:pt x="1119" y="1385"/>
                    </a:lnTo>
                    <a:lnTo>
                      <a:pt x="1122" y="1366"/>
                    </a:lnTo>
                    <a:lnTo>
                      <a:pt x="1119" y="1350"/>
                    </a:lnTo>
                    <a:lnTo>
                      <a:pt x="1111" y="1332"/>
                    </a:lnTo>
                    <a:lnTo>
                      <a:pt x="1046" y="1251"/>
                    </a:lnTo>
                    <a:lnTo>
                      <a:pt x="983" y="1168"/>
                    </a:lnTo>
                    <a:lnTo>
                      <a:pt x="921" y="1083"/>
                    </a:lnTo>
                    <a:lnTo>
                      <a:pt x="856" y="1002"/>
                    </a:lnTo>
                    <a:lnTo>
                      <a:pt x="794" y="918"/>
                    </a:lnTo>
                    <a:lnTo>
                      <a:pt x="731" y="836"/>
                    </a:lnTo>
                    <a:lnTo>
                      <a:pt x="669" y="752"/>
                    </a:lnTo>
                    <a:lnTo>
                      <a:pt x="603" y="668"/>
                    </a:lnTo>
                    <a:lnTo>
                      <a:pt x="540" y="586"/>
                    </a:lnTo>
                    <a:lnTo>
                      <a:pt x="475" y="505"/>
                    </a:lnTo>
                    <a:lnTo>
                      <a:pt x="413" y="421"/>
                    </a:lnTo>
                    <a:lnTo>
                      <a:pt x="348" y="339"/>
                    </a:lnTo>
                    <a:lnTo>
                      <a:pt x="281" y="258"/>
                    </a:lnTo>
                    <a:lnTo>
                      <a:pt x="215" y="179"/>
                    </a:lnTo>
                    <a:lnTo>
                      <a:pt x="147" y="98"/>
                    </a:lnTo>
                    <a:lnTo>
                      <a:pt x="80" y="19"/>
                    </a:lnTo>
                    <a:lnTo>
                      <a:pt x="66" y="5"/>
                    </a:lnTo>
                    <a:lnTo>
                      <a:pt x="50" y="0"/>
                    </a:lnTo>
                    <a:lnTo>
                      <a:pt x="34" y="3"/>
                    </a:lnTo>
                    <a:lnTo>
                      <a:pt x="16" y="10"/>
                    </a:lnTo>
                    <a:lnTo>
                      <a:pt x="6" y="24"/>
                    </a:lnTo>
                    <a:lnTo>
                      <a:pt x="0" y="40"/>
                    </a:lnTo>
                    <a:lnTo>
                      <a:pt x="0" y="57"/>
                    </a:lnTo>
                    <a:lnTo>
                      <a:pt x="9" y="73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4" name="Freeform 456">
                <a:extLst>
                  <a:ext uri="{FF2B5EF4-FFF2-40B4-BE49-F238E27FC236}">
                    <a16:creationId xmlns:a16="http://schemas.microsoft.com/office/drawing/2014/main" id="{8D099B02-47A2-D24B-96A3-185AD3C617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3847"/>
                <a:ext cx="189" cy="254"/>
              </a:xfrm>
              <a:custGeom>
                <a:avLst/>
                <a:gdLst>
                  <a:gd name="T0" fmla="*/ 0 w 755"/>
                  <a:gd name="T1" fmla="*/ 0 h 1016"/>
                  <a:gd name="T2" fmla="*/ 0 w 755"/>
                  <a:gd name="T3" fmla="*/ 0 h 1016"/>
                  <a:gd name="T4" fmla="*/ 0 w 755"/>
                  <a:gd name="T5" fmla="*/ 0 h 1016"/>
                  <a:gd name="T6" fmla="*/ 0 w 755"/>
                  <a:gd name="T7" fmla="*/ 0 h 1016"/>
                  <a:gd name="T8" fmla="*/ 0 w 755"/>
                  <a:gd name="T9" fmla="*/ 0 h 1016"/>
                  <a:gd name="T10" fmla="*/ 0 w 755"/>
                  <a:gd name="T11" fmla="*/ 0 h 1016"/>
                  <a:gd name="T12" fmla="*/ 0 w 755"/>
                  <a:gd name="T13" fmla="*/ 0 h 1016"/>
                  <a:gd name="T14" fmla="*/ 0 w 755"/>
                  <a:gd name="T15" fmla="*/ 0 h 1016"/>
                  <a:gd name="T16" fmla="*/ 0 w 755"/>
                  <a:gd name="T17" fmla="*/ 0 h 1016"/>
                  <a:gd name="T18" fmla="*/ 0 w 755"/>
                  <a:gd name="T19" fmla="*/ 0 h 1016"/>
                  <a:gd name="T20" fmla="*/ 0 w 755"/>
                  <a:gd name="T21" fmla="*/ 0 h 1016"/>
                  <a:gd name="T22" fmla="*/ 0 w 755"/>
                  <a:gd name="T23" fmla="*/ 0 h 1016"/>
                  <a:gd name="T24" fmla="*/ 0 w 755"/>
                  <a:gd name="T25" fmla="*/ 0 h 1016"/>
                  <a:gd name="T26" fmla="*/ 0 w 755"/>
                  <a:gd name="T27" fmla="*/ 0 h 1016"/>
                  <a:gd name="T28" fmla="*/ 0 w 755"/>
                  <a:gd name="T29" fmla="*/ 0 h 1016"/>
                  <a:gd name="T30" fmla="*/ 0 w 755"/>
                  <a:gd name="T31" fmla="*/ 0 h 1016"/>
                  <a:gd name="T32" fmla="*/ 0 w 755"/>
                  <a:gd name="T33" fmla="*/ 0 h 1016"/>
                  <a:gd name="T34" fmla="*/ 0 w 755"/>
                  <a:gd name="T35" fmla="*/ 0 h 1016"/>
                  <a:gd name="T36" fmla="*/ 0 w 755"/>
                  <a:gd name="T37" fmla="*/ 0 h 1016"/>
                  <a:gd name="T38" fmla="*/ 0 w 755"/>
                  <a:gd name="T39" fmla="*/ 0 h 1016"/>
                  <a:gd name="T40" fmla="*/ 0 w 755"/>
                  <a:gd name="T41" fmla="*/ 0 h 1016"/>
                  <a:gd name="T42" fmla="*/ 0 w 755"/>
                  <a:gd name="T43" fmla="*/ 0 h 1016"/>
                  <a:gd name="T44" fmla="*/ 0 w 755"/>
                  <a:gd name="T45" fmla="*/ 0 h 1016"/>
                  <a:gd name="T46" fmla="*/ 0 w 755"/>
                  <a:gd name="T47" fmla="*/ 0 h 1016"/>
                  <a:gd name="T48" fmla="*/ 0 w 755"/>
                  <a:gd name="T49" fmla="*/ 0 h 1016"/>
                  <a:gd name="T50" fmla="*/ 0 w 755"/>
                  <a:gd name="T51" fmla="*/ 0 h 1016"/>
                  <a:gd name="T52" fmla="*/ 0 w 755"/>
                  <a:gd name="T53" fmla="*/ 0 h 1016"/>
                  <a:gd name="T54" fmla="*/ 0 w 755"/>
                  <a:gd name="T55" fmla="*/ 0 h 1016"/>
                  <a:gd name="T56" fmla="*/ 0 w 755"/>
                  <a:gd name="T57" fmla="*/ 0 h 1016"/>
                  <a:gd name="T58" fmla="*/ 0 w 755"/>
                  <a:gd name="T59" fmla="*/ 0 h 1016"/>
                  <a:gd name="T60" fmla="*/ 0 w 755"/>
                  <a:gd name="T61" fmla="*/ 0 h 1016"/>
                  <a:gd name="T62" fmla="*/ 0 w 755"/>
                  <a:gd name="T63" fmla="*/ 0 h 1016"/>
                  <a:gd name="T64" fmla="*/ 0 w 755"/>
                  <a:gd name="T65" fmla="*/ 0 h 1016"/>
                  <a:gd name="T66" fmla="*/ 0 w 755"/>
                  <a:gd name="T67" fmla="*/ 0 h 1016"/>
                  <a:gd name="T68" fmla="*/ 0 w 755"/>
                  <a:gd name="T69" fmla="*/ 0 h 1016"/>
                  <a:gd name="T70" fmla="*/ 0 w 755"/>
                  <a:gd name="T71" fmla="*/ 0 h 1016"/>
                  <a:gd name="T72" fmla="*/ 0 w 755"/>
                  <a:gd name="T73" fmla="*/ 0 h 1016"/>
                  <a:gd name="T74" fmla="*/ 0 w 755"/>
                  <a:gd name="T75" fmla="*/ 0 h 1016"/>
                  <a:gd name="T76" fmla="*/ 0 w 755"/>
                  <a:gd name="T77" fmla="*/ 0 h 1016"/>
                  <a:gd name="T78" fmla="*/ 0 w 755"/>
                  <a:gd name="T79" fmla="*/ 0 h 1016"/>
                  <a:gd name="T80" fmla="*/ 0 w 755"/>
                  <a:gd name="T81" fmla="*/ 0 h 1016"/>
                  <a:gd name="T82" fmla="*/ 0 w 755"/>
                  <a:gd name="T83" fmla="*/ 0 h 1016"/>
                  <a:gd name="T84" fmla="*/ 0 w 755"/>
                  <a:gd name="T85" fmla="*/ 0 h 1016"/>
                  <a:gd name="T86" fmla="*/ 0 w 755"/>
                  <a:gd name="T87" fmla="*/ 0 h 1016"/>
                  <a:gd name="T88" fmla="*/ 0 w 755"/>
                  <a:gd name="T89" fmla="*/ 0 h 1016"/>
                  <a:gd name="T90" fmla="*/ 0 w 755"/>
                  <a:gd name="T91" fmla="*/ 0 h 1016"/>
                  <a:gd name="T92" fmla="*/ 0 w 755"/>
                  <a:gd name="T93" fmla="*/ 0 h 1016"/>
                  <a:gd name="T94" fmla="*/ 0 w 755"/>
                  <a:gd name="T95" fmla="*/ 0 h 1016"/>
                  <a:gd name="T96" fmla="*/ 0 w 755"/>
                  <a:gd name="T97" fmla="*/ 0 h 101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755"/>
                  <a:gd name="T148" fmla="*/ 0 h 1016"/>
                  <a:gd name="T149" fmla="*/ 755 w 755"/>
                  <a:gd name="T150" fmla="*/ 1016 h 1016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755" h="1016">
                    <a:moveTo>
                      <a:pt x="5" y="65"/>
                    </a:moveTo>
                    <a:lnTo>
                      <a:pt x="47" y="124"/>
                    </a:lnTo>
                    <a:lnTo>
                      <a:pt x="84" y="184"/>
                    </a:lnTo>
                    <a:lnTo>
                      <a:pt x="125" y="244"/>
                    </a:lnTo>
                    <a:lnTo>
                      <a:pt x="165" y="304"/>
                    </a:lnTo>
                    <a:lnTo>
                      <a:pt x="206" y="363"/>
                    </a:lnTo>
                    <a:lnTo>
                      <a:pt x="248" y="423"/>
                    </a:lnTo>
                    <a:lnTo>
                      <a:pt x="288" y="480"/>
                    </a:lnTo>
                    <a:lnTo>
                      <a:pt x="331" y="540"/>
                    </a:lnTo>
                    <a:lnTo>
                      <a:pt x="372" y="600"/>
                    </a:lnTo>
                    <a:lnTo>
                      <a:pt x="416" y="656"/>
                    </a:lnTo>
                    <a:lnTo>
                      <a:pt x="456" y="714"/>
                    </a:lnTo>
                    <a:lnTo>
                      <a:pt x="500" y="771"/>
                    </a:lnTo>
                    <a:lnTo>
                      <a:pt x="543" y="831"/>
                    </a:lnTo>
                    <a:lnTo>
                      <a:pt x="587" y="885"/>
                    </a:lnTo>
                    <a:lnTo>
                      <a:pt x="633" y="942"/>
                    </a:lnTo>
                    <a:lnTo>
                      <a:pt x="676" y="998"/>
                    </a:lnTo>
                    <a:lnTo>
                      <a:pt x="689" y="1009"/>
                    </a:lnTo>
                    <a:lnTo>
                      <a:pt x="709" y="1016"/>
                    </a:lnTo>
                    <a:lnTo>
                      <a:pt x="726" y="1012"/>
                    </a:lnTo>
                    <a:lnTo>
                      <a:pt x="742" y="1004"/>
                    </a:lnTo>
                    <a:lnTo>
                      <a:pt x="752" y="991"/>
                    </a:lnTo>
                    <a:lnTo>
                      <a:pt x="755" y="972"/>
                    </a:lnTo>
                    <a:lnTo>
                      <a:pt x="752" y="956"/>
                    </a:lnTo>
                    <a:lnTo>
                      <a:pt x="744" y="939"/>
                    </a:lnTo>
                    <a:lnTo>
                      <a:pt x="701" y="885"/>
                    </a:lnTo>
                    <a:lnTo>
                      <a:pt x="657" y="827"/>
                    </a:lnTo>
                    <a:lnTo>
                      <a:pt x="613" y="771"/>
                    </a:lnTo>
                    <a:lnTo>
                      <a:pt x="571" y="714"/>
                    </a:lnTo>
                    <a:lnTo>
                      <a:pt x="527" y="656"/>
                    </a:lnTo>
                    <a:lnTo>
                      <a:pt x="486" y="600"/>
                    </a:lnTo>
                    <a:lnTo>
                      <a:pt x="442" y="543"/>
                    </a:lnTo>
                    <a:lnTo>
                      <a:pt x="402" y="485"/>
                    </a:lnTo>
                    <a:lnTo>
                      <a:pt x="361" y="429"/>
                    </a:lnTo>
                    <a:lnTo>
                      <a:pt x="320" y="369"/>
                    </a:lnTo>
                    <a:lnTo>
                      <a:pt x="280" y="312"/>
                    </a:lnTo>
                    <a:lnTo>
                      <a:pt x="239" y="254"/>
                    </a:lnTo>
                    <a:lnTo>
                      <a:pt x="201" y="195"/>
                    </a:lnTo>
                    <a:lnTo>
                      <a:pt x="160" y="136"/>
                    </a:lnTo>
                    <a:lnTo>
                      <a:pt x="119" y="78"/>
                    </a:lnTo>
                    <a:lnTo>
                      <a:pt x="82" y="18"/>
                    </a:lnTo>
                    <a:lnTo>
                      <a:pt x="68" y="5"/>
                    </a:lnTo>
                    <a:lnTo>
                      <a:pt x="54" y="0"/>
                    </a:lnTo>
                    <a:lnTo>
                      <a:pt x="35" y="0"/>
                    </a:lnTo>
                    <a:lnTo>
                      <a:pt x="19" y="5"/>
                    </a:lnTo>
                    <a:lnTo>
                      <a:pt x="5" y="18"/>
                    </a:lnTo>
                    <a:lnTo>
                      <a:pt x="0" y="32"/>
                    </a:lnTo>
                    <a:lnTo>
                      <a:pt x="0" y="48"/>
                    </a:lnTo>
                    <a:lnTo>
                      <a:pt x="5" y="65"/>
                    </a:lnTo>
                    <a:close/>
                  </a:path>
                </a:pathLst>
              </a:custGeom>
              <a:solidFill>
                <a:srgbClr val="CEF2A5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Freeform 457">
                <a:extLst>
                  <a:ext uri="{FF2B5EF4-FFF2-40B4-BE49-F238E27FC236}">
                    <a16:creationId xmlns:a16="http://schemas.microsoft.com/office/drawing/2014/main" id="{AA304AC9-CA1B-EF43-B14F-E224648BB2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07" y="3135"/>
                <a:ext cx="689" cy="862"/>
              </a:xfrm>
              <a:custGeom>
                <a:avLst/>
                <a:gdLst>
                  <a:gd name="T0" fmla="*/ 0 w 2756"/>
                  <a:gd name="T1" fmla="*/ 0 h 3451"/>
                  <a:gd name="T2" fmla="*/ 0 w 2756"/>
                  <a:gd name="T3" fmla="*/ 0 h 3451"/>
                  <a:gd name="T4" fmla="*/ 0 w 2756"/>
                  <a:gd name="T5" fmla="*/ 0 h 3451"/>
                  <a:gd name="T6" fmla="*/ 0 w 2756"/>
                  <a:gd name="T7" fmla="*/ 0 h 3451"/>
                  <a:gd name="T8" fmla="*/ 0 w 2756"/>
                  <a:gd name="T9" fmla="*/ 0 h 3451"/>
                  <a:gd name="T10" fmla="*/ 0 w 2756"/>
                  <a:gd name="T11" fmla="*/ 0 h 3451"/>
                  <a:gd name="T12" fmla="*/ 0 w 2756"/>
                  <a:gd name="T13" fmla="*/ 0 h 3451"/>
                  <a:gd name="T14" fmla="*/ 0 w 2756"/>
                  <a:gd name="T15" fmla="*/ 0 h 3451"/>
                  <a:gd name="T16" fmla="*/ 0 w 2756"/>
                  <a:gd name="T17" fmla="*/ 0 h 3451"/>
                  <a:gd name="T18" fmla="*/ 0 w 2756"/>
                  <a:gd name="T19" fmla="*/ 0 h 3451"/>
                  <a:gd name="T20" fmla="*/ 0 w 2756"/>
                  <a:gd name="T21" fmla="*/ 0 h 3451"/>
                  <a:gd name="T22" fmla="*/ 0 w 2756"/>
                  <a:gd name="T23" fmla="*/ 0 h 3451"/>
                  <a:gd name="T24" fmla="*/ 0 w 2756"/>
                  <a:gd name="T25" fmla="*/ 0 h 3451"/>
                  <a:gd name="T26" fmla="*/ 0 w 2756"/>
                  <a:gd name="T27" fmla="*/ 0 h 3451"/>
                  <a:gd name="T28" fmla="*/ 0 w 2756"/>
                  <a:gd name="T29" fmla="*/ 0 h 3451"/>
                  <a:gd name="T30" fmla="*/ 0 w 2756"/>
                  <a:gd name="T31" fmla="*/ 0 h 3451"/>
                  <a:gd name="T32" fmla="*/ 0 w 2756"/>
                  <a:gd name="T33" fmla="*/ 0 h 3451"/>
                  <a:gd name="T34" fmla="*/ 0 w 2756"/>
                  <a:gd name="T35" fmla="*/ 0 h 3451"/>
                  <a:gd name="T36" fmla="*/ 0 w 2756"/>
                  <a:gd name="T37" fmla="*/ 0 h 3451"/>
                  <a:gd name="T38" fmla="*/ 0 w 2756"/>
                  <a:gd name="T39" fmla="*/ 0 h 3451"/>
                  <a:gd name="T40" fmla="*/ 0 w 2756"/>
                  <a:gd name="T41" fmla="*/ 0 h 3451"/>
                  <a:gd name="T42" fmla="*/ 0 w 2756"/>
                  <a:gd name="T43" fmla="*/ 0 h 3451"/>
                  <a:gd name="T44" fmla="*/ 0 w 2756"/>
                  <a:gd name="T45" fmla="*/ 0 h 3451"/>
                  <a:gd name="T46" fmla="*/ 0 w 2756"/>
                  <a:gd name="T47" fmla="*/ 0 h 3451"/>
                  <a:gd name="T48" fmla="*/ 0 w 2756"/>
                  <a:gd name="T49" fmla="*/ 0 h 3451"/>
                  <a:gd name="T50" fmla="*/ 0 w 2756"/>
                  <a:gd name="T51" fmla="*/ 0 h 3451"/>
                  <a:gd name="T52" fmla="*/ 0 w 2756"/>
                  <a:gd name="T53" fmla="*/ 0 h 3451"/>
                  <a:gd name="T54" fmla="*/ 0 w 2756"/>
                  <a:gd name="T55" fmla="*/ 0 h 3451"/>
                  <a:gd name="T56" fmla="*/ 0 w 2756"/>
                  <a:gd name="T57" fmla="*/ 0 h 3451"/>
                  <a:gd name="T58" fmla="*/ 0 w 2756"/>
                  <a:gd name="T59" fmla="*/ 0 h 3451"/>
                  <a:gd name="T60" fmla="*/ 0 w 2756"/>
                  <a:gd name="T61" fmla="*/ 0 h 3451"/>
                  <a:gd name="T62" fmla="*/ 0 w 2756"/>
                  <a:gd name="T63" fmla="*/ 0 h 3451"/>
                  <a:gd name="T64" fmla="*/ 0 w 2756"/>
                  <a:gd name="T65" fmla="*/ 0 h 3451"/>
                  <a:gd name="T66" fmla="*/ 0 w 2756"/>
                  <a:gd name="T67" fmla="*/ 0 h 3451"/>
                  <a:gd name="T68" fmla="*/ 0 w 2756"/>
                  <a:gd name="T69" fmla="*/ 0 h 3451"/>
                  <a:gd name="T70" fmla="*/ 0 w 2756"/>
                  <a:gd name="T71" fmla="*/ 0 h 3451"/>
                  <a:gd name="T72" fmla="*/ 0 w 2756"/>
                  <a:gd name="T73" fmla="*/ 0 h 3451"/>
                  <a:gd name="T74" fmla="*/ 0 w 2756"/>
                  <a:gd name="T75" fmla="*/ 0 h 3451"/>
                  <a:gd name="T76" fmla="*/ 0 w 2756"/>
                  <a:gd name="T77" fmla="*/ 0 h 3451"/>
                  <a:gd name="T78" fmla="*/ 0 w 2756"/>
                  <a:gd name="T79" fmla="*/ 0 h 3451"/>
                  <a:gd name="T80" fmla="*/ 0 w 2756"/>
                  <a:gd name="T81" fmla="*/ 0 h 3451"/>
                  <a:gd name="T82" fmla="*/ 0 w 2756"/>
                  <a:gd name="T83" fmla="*/ 0 h 3451"/>
                  <a:gd name="T84" fmla="*/ 0 w 2756"/>
                  <a:gd name="T85" fmla="*/ 0 h 3451"/>
                  <a:gd name="T86" fmla="*/ 0 w 2756"/>
                  <a:gd name="T87" fmla="*/ 0 h 3451"/>
                  <a:gd name="T88" fmla="*/ 0 w 2756"/>
                  <a:gd name="T89" fmla="*/ 0 h 3451"/>
                  <a:gd name="T90" fmla="*/ 0 w 2756"/>
                  <a:gd name="T91" fmla="*/ 0 h 3451"/>
                  <a:gd name="T92" fmla="*/ 0 w 2756"/>
                  <a:gd name="T93" fmla="*/ 0 h 3451"/>
                  <a:gd name="T94" fmla="*/ 0 w 2756"/>
                  <a:gd name="T95" fmla="*/ 0 h 3451"/>
                  <a:gd name="T96" fmla="*/ 0 w 2756"/>
                  <a:gd name="T97" fmla="*/ 0 h 3451"/>
                  <a:gd name="T98" fmla="*/ 0 w 2756"/>
                  <a:gd name="T99" fmla="*/ 0 h 345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2756"/>
                  <a:gd name="T151" fmla="*/ 0 h 3451"/>
                  <a:gd name="T152" fmla="*/ 2756 w 2756"/>
                  <a:gd name="T153" fmla="*/ 3451 h 3451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2756" h="3451">
                    <a:moveTo>
                      <a:pt x="2742" y="3451"/>
                    </a:moveTo>
                    <a:lnTo>
                      <a:pt x="2696" y="3449"/>
                    </a:lnTo>
                    <a:lnTo>
                      <a:pt x="2612" y="3343"/>
                    </a:lnTo>
                    <a:lnTo>
                      <a:pt x="2528" y="3237"/>
                    </a:lnTo>
                    <a:lnTo>
                      <a:pt x="2446" y="3128"/>
                    </a:lnTo>
                    <a:lnTo>
                      <a:pt x="2363" y="3022"/>
                    </a:lnTo>
                    <a:lnTo>
                      <a:pt x="2281" y="2916"/>
                    </a:lnTo>
                    <a:lnTo>
                      <a:pt x="2197" y="2807"/>
                    </a:lnTo>
                    <a:lnTo>
                      <a:pt x="2116" y="2702"/>
                    </a:lnTo>
                    <a:lnTo>
                      <a:pt x="2033" y="2594"/>
                    </a:lnTo>
                    <a:lnTo>
                      <a:pt x="1950" y="2488"/>
                    </a:lnTo>
                    <a:lnTo>
                      <a:pt x="1869" y="2379"/>
                    </a:lnTo>
                    <a:lnTo>
                      <a:pt x="1786" y="2273"/>
                    </a:lnTo>
                    <a:lnTo>
                      <a:pt x="1705" y="2164"/>
                    </a:lnTo>
                    <a:lnTo>
                      <a:pt x="1620" y="2058"/>
                    </a:lnTo>
                    <a:lnTo>
                      <a:pt x="1539" y="1950"/>
                    </a:lnTo>
                    <a:lnTo>
                      <a:pt x="1458" y="1844"/>
                    </a:lnTo>
                    <a:lnTo>
                      <a:pt x="1373" y="1735"/>
                    </a:lnTo>
                    <a:lnTo>
                      <a:pt x="1292" y="1629"/>
                    </a:lnTo>
                    <a:lnTo>
                      <a:pt x="1208" y="1524"/>
                    </a:lnTo>
                    <a:lnTo>
                      <a:pt x="1124" y="1418"/>
                    </a:lnTo>
                    <a:lnTo>
                      <a:pt x="1042" y="1309"/>
                    </a:lnTo>
                    <a:lnTo>
                      <a:pt x="959" y="1203"/>
                    </a:lnTo>
                    <a:lnTo>
                      <a:pt x="874" y="1097"/>
                    </a:lnTo>
                    <a:lnTo>
                      <a:pt x="788" y="991"/>
                    </a:lnTo>
                    <a:lnTo>
                      <a:pt x="703" y="889"/>
                    </a:lnTo>
                    <a:lnTo>
                      <a:pt x="616" y="783"/>
                    </a:lnTo>
                    <a:lnTo>
                      <a:pt x="532" y="676"/>
                    </a:lnTo>
                    <a:lnTo>
                      <a:pt x="445" y="573"/>
                    </a:lnTo>
                    <a:lnTo>
                      <a:pt x="356" y="470"/>
                    </a:lnTo>
                    <a:lnTo>
                      <a:pt x="269" y="367"/>
                    </a:lnTo>
                    <a:lnTo>
                      <a:pt x="179" y="263"/>
                    </a:lnTo>
                    <a:lnTo>
                      <a:pt x="89" y="161"/>
                    </a:lnTo>
                    <a:lnTo>
                      <a:pt x="0" y="57"/>
                    </a:lnTo>
                    <a:lnTo>
                      <a:pt x="0" y="41"/>
                    </a:lnTo>
                    <a:lnTo>
                      <a:pt x="0" y="25"/>
                    </a:lnTo>
                    <a:lnTo>
                      <a:pt x="3" y="11"/>
                    </a:lnTo>
                    <a:lnTo>
                      <a:pt x="13" y="0"/>
                    </a:lnTo>
                    <a:lnTo>
                      <a:pt x="59" y="11"/>
                    </a:lnTo>
                    <a:lnTo>
                      <a:pt x="853" y="948"/>
                    </a:lnTo>
                    <a:lnTo>
                      <a:pt x="2357" y="2911"/>
                    </a:lnTo>
                    <a:lnTo>
                      <a:pt x="2403" y="2978"/>
                    </a:lnTo>
                    <a:lnTo>
                      <a:pt x="2452" y="3044"/>
                    </a:lnTo>
                    <a:lnTo>
                      <a:pt x="2504" y="3109"/>
                    </a:lnTo>
                    <a:lnTo>
                      <a:pt x="2558" y="3172"/>
                    </a:lnTo>
                    <a:lnTo>
                      <a:pt x="2610" y="3237"/>
                    </a:lnTo>
                    <a:lnTo>
                      <a:pt x="2661" y="3302"/>
                    </a:lnTo>
                    <a:lnTo>
                      <a:pt x="2710" y="3367"/>
                    </a:lnTo>
                    <a:lnTo>
                      <a:pt x="2756" y="3435"/>
                    </a:lnTo>
                    <a:lnTo>
                      <a:pt x="2742" y="345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6" name="Freeform 458">
                <a:extLst>
                  <a:ext uri="{FF2B5EF4-FFF2-40B4-BE49-F238E27FC236}">
                    <a16:creationId xmlns:a16="http://schemas.microsoft.com/office/drawing/2014/main" id="{49C51BFF-56A8-3645-8F30-A9E49F8788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81" y="3125"/>
                <a:ext cx="1114" cy="1023"/>
              </a:xfrm>
              <a:custGeom>
                <a:avLst/>
                <a:gdLst>
                  <a:gd name="T0" fmla="*/ 0 w 4456"/>
                  <a:gd name="T1" fmla="*/ 0 h 4092"/>
                  <a:gd name="T2" fmla="*/ 0 w 4456"/>
                  <a:gd name="T3" fmla="*/ 0 h 4092"/>
                  <a:gd name="T4" fmla="*/ 0 w 4456"/>
                  <a:gd name="T5" fmla="*/ 0 h 4092"/>
                  <a:gd name="T6" fmla="*/ 0 w 4456"/>
                  <a:gd name="T7" fmla="*/ 0 h 4092"/>
                  <a:gd name="T8" fmla="*/ 0 w 4456"/>
                  <a:gd name="T9" fmla="*/ 0 h 4092"/>
                  <a:gd name="T10" fmla="*/ 0 w 4456"/>
                  <a:gd name="T11" fmla="*/ 0 h 4092"/>
                  <a:gd name="T12" fmla="*/ 0 w 4456"/>
                  <a:gd name="T13" fmla="*/ 0 h 4092"/>
                  <a:gd name="T14" fmla="*/ 0 w 4456"/>
                  <a:gd name="T15" fmla="*/ 0 h 4092"/>
                  <a:gd name="T16" fmla="*/ 0 w 4456"/>
                  <a:gd name="T17" fmla="*/ 0 h 4092"/>
                  <a:gd name="T18" fmla="*/ 0 w 4456"/>
                  <a:gd name="T19" fmla="*/ 0 h 4092"/>
                  <a:gd name="T20" fmla="*/ 0 w 4456"/>
                  <a:gd name="T21" fmla="*/ 0 h 4092"/>
                  <a:gd name="T22" fmla="*/ 0 w 4456"/>
                  <a:gd name="T23" fmla="*/ 0 h 4092"/>
                  <a:gd name="T24" fmla="*/ 0 w 4456"/>
                  <a:gd name="T25" fmla="*/ 0 h 4092"/>
                  <a:gd name="T26" fmla="*/ 0 w 4456"/>
                  <a:gd name="T27" fmla="*/ 0 h 4092"/>
                  <a:gd name="T28" fmla="*/ 0 w 4456"/>
                  <a:gd name="T29" fmla="*/ 0 h 4092"/>
                  <a:gd name="T30" fmla="*/ 0 w 4456"/>
                  <a:gd name="T31" fmla="*/ 0 h 4092"/>
                  <a:gd name="T32" fmla="*/ 0 w 4456"/>
                  <a:gd name="T33" fmla="*/ 0 h 4092"/>
                  <a:gd name="T34" fmla="*/ 0 w 4456"/>
                  <a:gd name="T35" fmla="*/ 0 h 4092"/>
                  <a:gd name="T36" fmla="*/ 0 w 4456"/>
                  <a:gd name="T37" fmla="*/ 0 h 4092"/>
                  <a:gd name="T38" fmla="*/ 0 w 4456"/>
                  <a:gd name="T39" fmla="*/ 0 h 4092"/>
                  <a:gd name="T40" fmla="*/ 0 w 4456"/>
                  <a:gd name="T41" fmla="*/ 0 h 4092"/>
                  <a:gd name="T42" fmla="*/ 0 w 4456"/>
                  <a:gd name="T43" fmla="*/ 0 h 4092"/>
                  <a:gd name="T44" fmla="*/ 0 w 4456"/>
                  <a:gd name="T45" fmla="*/ 0 h 4092"/>
                  <a:gd name="T46" fmla="*/ 0 w 4456"/>
                  <a:gd name="T47" fmla="*/ 0 h 4092"/>
                  <a:gd name="T48" fmla="*/ 0 w 4456"/>
                  <a:gd name="T49" fmla="*/ 0 h 4092"/>
                  <a:gd name="T50" fmla="*/ 0 w 4456"/>
                  <a:gd name="T51" fmla="*/ 0 h 4092"/>
                  <a:gd name="T52" fmla="*/ 0 w 4456"/>
                  <a:gd name="T53" fmla="*/ 0 h 4092"/>
                  <a:gd name="T54" fmla="*/ 0 w 4456"/>
                  <a:gd name="T55" fmla="*/ 0 h 4092"/>
                  <a:gd name="T56" fmla="*/ 0 w 4456"/>
                  <a:gd name="T57" fmla="*/ 0 h 4092"/>
                  <a:gd name="T58" fmla="*/ 0 w 4456"/>
                  <a:gd name="T59" fmla="*/ 0 h 4092"/>
                  <a:gd name="T60" fmla="*/ 0 w 4456"/>
                  <a:gd name="T61" fmla="*/ 0 h 4092"/>
                  <a:gd name="T62" fmla="*/ 0 w 4456"/>
                  <a:gd name="T63" fmla="*/ 0 h 4092"/>
                  <a:gd name="T64" fmla="*/ 0 w 4456"/>
                  <a:gd name="T65" fmla="*/ 0 h 4092"/>
                  <a:gd name="T66" fmla="*/ 0 w 4456"/>
                  <a:gd name="T67" fmla="*/ 0 h 4092"/>
                  <a:gd name="T68" fmla="*/ 0 w 4456"/>
                  <a:gd name="T69" fmla="*/ 0 h 4092"/>
                  <a:gd name="T70" fmla="*/ 0 w 4456"/>
                  <a:gd name="T71" fmla="*/ 0 h 4092"/>
                  <a:gd name="T72" fmla="*/ 0 w 4456"/>
                  <a:gd name="T73" fmla="*/ 0 h 4092"/>
                  <a:gd name="T74" fmla="*/ 0 w 4456"/>
                  <a:gd name="T75" fmla="*/ 0 h 4092"/>
                  <a:gd name="T76" fmla="*/ 0 w 4456"/>
                  <a:gd name="T77" fmla="*/ 0 h 4092"/>
                  <a:gd name="T78" fmla="*/ 0 w 4456"/>
                  <a:gd name="T79" fmla="*/ 0 h 4092"/>
                  <a:gd name="T80" fmla="*/ 0 w 4456"/>
                  <a:gd name="T81" fmla="*/ 0 h 4092"/>
                  <a:gd name="T82" fmla="*/ 0 w 4456"/>
                  <a:gd name="T83" fmla="*/ 0 h 4092"/>
                  <a:gd name="T84" fmla="*/ 0 w 4456"/>
                  <a:gd name="T85" fmla="*/ 0 h 4092"/>
                  <a:gd name="T86" fmla="*/ 0 w 4456"/>
                  <a:gd name="T87" fmla="*/ 0 h 4092"/>
                  <a:gd name="T88" fmla="*/ 0 w 4456"/>
                  <a:gd name="T89" fmla="*/ 0 h 4092"/>
                  <a:gd name="T90" fmla="*/ 0 w 4456"/>
                  <a:gd name="T91" fmla="*/ 0 h 4092"/>
                  <a:gd name="T92" fmla="*/ 0 w 4456"/>
                  <a:gd name="T93" fmla="*/ 0 h 4092"/>
                  <a:gd name="T94" fmla="*/ 0 w 4456"/>
                  <a:gd name="T95" fmla="*/ 0 h 4092"/>
                  <a:gd name="T96" fmla="*/ 0 w 4456"/>
                  <a:gd name="T97" fmla="*/ 0 h 4092"/>
                  <a:gd name="T98" fmla="*/ 0 w 4456"/>
                  <a:gd name="T99" fmla="*/ 0 h 4092"/>
                  <a:gd name="T100" fmla="*/ 0 w 4456"/>
                  <a:gd name="T101" fmla="*/ 0 h 4092"/>
                  <a:gd name="T102" fmla="*/ 0 w 4456"/>
                  <a:gd name="T103" fmla="*/ 0 h 4092"/>
                  <a:gd name="T104" fmla="*/ 0 w 4456"/>
                  <a:gd name="T105" fmla="*/ 0 h 4092"/>
                  <a:gd name="T106" fmla="*/ 0 w 4456"/>
                  <a:gd name="T107" fmla="*/ 0 h 4092"/>
                  <a:gd name="T108" fmla="*/ 0 w 4456"/>
                  <a:gd name="T109" fmla="*/ 0 h 4092"/>
                  <a:gd name="T110" fmla="*/ 0 w 4456"/>
                  <a:gd name="T111" fmla="*/ 0 h 4092"/>
                  <a:gd name="T112" fmla="*/ 0 w 4456"/>
                  <a:gd name="T113" fmla="*/ 0 h 4092"/>
                  <a:gd name="T114" fmla="*/ 0 w 4456"/>
                  <a:gd name="T115" fmla="*/ 0 h 4092"/>
                  <a:gd name="T116" fmla="*/ 0 w 4456"/>
                  <a:gd name="T117" fmla="*/ 0 h 4092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w 4456"/>
                  <a:gd name="T178" fmla="*/ 0 h 4092"/>
                  <a:gd name="T179" fmla="*/ 4456 w 4456"/>
                  <a:gd name="T180" fmla="*/ 4092 h 4092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T177" t="T178" r="T179" b="T180"/>
                <a:pathLst>
                  <a:path w="4456" h="4092">
                    <a:moveTo>
                      <a:pt x="3343" y="4035"/>
                    </a:moveTo>
                    <a:lnTo>
                      <a:pt x="3316" y="4060"/>
                    </a:lnTo>
                    <a:lnTo>
                      <a:pt x="3288" y="4074"/>
                    </a:lnTo>
                    <a:lnTo>
                      <a:pt x="3256" y="4079"/>
                    </a:lnTo>
                    <a:lnTo>
                      <a:pt x="3223" y="4079"/>
                    </a:lnTo>
                    <a:lnTo>
                      <a:pt x="3188" y="4079"/>
                    </a:lnTo>
                    <a:lnTo>
                      <a:pt x="3152" y="4079"/>
                    </a:lnTo>
                    <a:lnTo>
                      <a:pt x="3117" y="4081"/>
                    </a:lnTo>
                    <a:lnTo>
                      <a:pt x="3082" y="4092"/>
                    </a:lnTo>
                    <a:lnTo>
                      <a:pt x="3036" y="4092"/>
                    </a:lnTo>
                    <a:lnTo>
                      <a:pt x="3039" y="4062"/>
                    </a:lnTo>
                    <a:lnTo>
                      <a:pt x="3050" y="4044"/>
                    </a:lnTo>
                    <a:lnTo>
                      <a:pt x="3071" y="4032"/>
                    </a:lnTo>
                    <a:lnTo>
                      <a:pt x="3096" y="4024"/>
                    </a:lnTo>
                    <a:lnTo>
                      <a:pt x="3122" y="4021"/>
                    </a:lnTo>
                    <a:lnTo>
                      <a:pt x="3150" y="4016"/>
                    </a:lnTo>
                    <a:lnTo>
                      <a:pt x="3177" y="4008"/>
                    </a:lnTo>
                    <a:lnTo>
                      <a:pt x="3196" y="3991"/>
                    </a:lnTo>
                    <a:lnTo>
                      <a:pt x="3172" y="3954"/>
                    </a:lnTo>
                    <a:lnTo>
                      <a:pt x="3142" y="3913"/>
                    </a:lnTo>
                    <a:lnTo>
                      <a:pt x="3112" y="3875"/>
                    </a:lnTo>
                    <a:lnTo>
                      <a:pt x="3082" y="3837"/>
                    </a:lnTo>
                    <a:lnTo>
                      <a:pt x="3050" y="3799"/>
                    </a:lnTo>
                    <a:lnTo>
                      <a:pt x="3017" y="3760"/>
                    </a:lnTo>
                    <a:lnTo>
                      <a:pt x="2985" y="3723"/>
                    </a:lnTo>
                    <a:lnTo>
                      <a:pt x="2955" y="3684"/>
                    </a:lnTo>
                    <a:lnTo>
                      <a:pt x="2939" y="3718"/>
                    </a:lnTo>
                    <a:lnTo>
                      <a:pt x="2909" y="3734"/>
                    </a:lnTo>
                    <a:lnTo>
                      <a:pt x="2870" y="3742"/>
                    </a:lnTo>
                    <a:lnTo>
                      <a:pt x="2833" y="3748"/>
                    </a:lnTo>
                    <a:lnTo>
                      <a:pt x="2803" y="3753"/>
                    </a:lnTo>
                    <a:lnTo>
                      <a:pt x="2789" y="3764"/>
                    </a:lnTo>
                    <a:lnTo>
                      <a:pt x="2797" y="3788"/>
                    </a:lnTo>
                    <a:lnTo>
                      <a:pt x="2838" y="3832"/>
                    </a:lnTo>
                    <a:lnTo>
                      <a:pt x="2849" y="3853"/>
                    </a:lnTo>
                    <a:lnTo>
                      <a:pt x="2865" y="3864"/>
                    </a:lnTo>
                    <a:lnTo>
                      <a:pt x="2884" y="3873"/>
                    </a:lnTo>
                    <a:lnTo>
                      <a:pt x="2903" y="3873"/>
                    </a:lnTo>
                    <a:lnTo>
                      <a:pt x="2925" y="3873"/>
                    </a:lnTo>
                    <a:lnTo>
                      <a:pt x="2946" y="3875"/>
                    </a:lnTo>
                    <a:lnTo>
                      <a:pt x="2965" y="3878"/>
                    </a:lnTo>
                    <a:lnTo>
                      <a:pt x="2981" y="3889"/>
                    </a:lnTo>
                    <a:lnTo>
                      <a:pt x="2960" y="3908"/>
                    </a:lnTo>
                    <a:lnTo>
                      <a:pt x="2944" y="3931"/>
                    </a:lnTo>
                    <a:lnTo>
                      <a:pt x="2935" y="3959"/>
                    </a:lnTo>
                    <a:lnTo>
                      <a:pt x="2935" y="3989"/>
                    </a:lnTo>
                    <a:lnTo>
                      <a:pt x="2903" y="3997"/>
                    </a:lnTo>
                    <a:lnTo>
                      <a:pt x="2875" y="3991"/>
                    </a:lnTo>
                    <a:lnTo>
                      <a:pt x="2854" y="3981"/>
                    </a:lnTo>
                    <a:lnTo>
                      <a:pt x="2838" y="3961"/>
                    </a:lnTo>
                    <a:lnTo>
                      <a:pt x="2822" y="3943"/>
                    </a:lnTo>
                    <a:lnTo>
                      <a:pt x="2803" y="3926"/>
                    </a:lnTo>
                    <a:lnTo>
                      <a:pt x="2778" y="3915"/>
                    </a:lnTo>
                    <a:lnTo>
                      <a:pt x="2748" y="3915"/>
                    </a:lnTo>
                    <a:lnTo>
                      <a:pt x="2778" y="3885"/>
                    </a:lnTo>
                    <a:lnTo>
                      <a:pt x="2745" y="3845"/>
                    </a:lnTo>
                    <a:lnTo>
                      <a:pt x="2718" y="3802"/>
                    </a:lnTo>
                    <a:lnTo>
                      <a:pt x="2688" y="3758"/>
                    </a:lnTo>
                    <a:lnTo>
                      <a:pt x="2658" y="3712"/>
                    </a:lnTo>
                    <a:lnTo>
                      <a:pt x="2628" y="3672"/>
                    </a:lnTo>
                    <a:lnTo>
                      <a:pt x="2593" y="3636"/>
                    </a:lnTo>
                    <a:lnTo>
                      <a:pt x="2553" y="3603"/>
                    </a:lnTo>
                    <a:lnTo>
                      <a:pt x="2509" y="3582"/>
                    </a:lnTo>
                    <a:lnTo>
                      <a:pt x="2523" y="3552"/>
                    </a:lnTo>
                    <a:lnTo>
                      <a:pt x="2526" y="3522"/>
                    </a:lnTo>
                    <a:lnTo>
                      <a:pt x="2515" y="3497"/>
                    </a:lnTo>
                    <a:lnTo>
                      <a:pt x="2498" y="3471"/>
                    </a:lnTo>
                    <a:lnTo>
                      <a:pt x="2477" y="3448"/>
                    </a:lnTo>
                    <a:lnTo>
                      <a:pt x="2452" y="3424"/>
                    </a:lnTo>
                    <a:lnTo>
                      <a:pt x="2431" y="3402"/>
                    </a:lnTo>
                    <a:lnTo>
                      <a:pt x="2411" y="3378"/>
                    </a:lnTo>
                    <a:lnTo>
                      <a:pt x="2403" y="3383"/>
                    </a:lnTo>
                    <a:lnTo>
                      <a:pt x="2392" y="3386"/>
                    </a:lnTo>
                    <a:lnTo>
                      <a:pt x="2381" y="3388"/>
                    </a:lnTo>
                    <a:lnTo>
                      <a:pt x="2368" y="3388"/>
                    </a:lnTo>
                    <a:lnTo>
                      <a:pt x="2357" y="3388"/>
                    </a:lnTo>
                    <a:lnTo>
                      <a:pt x="2346" y="3392"/>
                    </a:lnTo>
                    <a:lnTo>
                      <a:pt x="2335" y="3397"/>
                    </a:lnTo>
                    <a:lnTo>
                      <a:pt x="2325" y="3405"/>
                    </a:lnTo>
                    <a:lnTo>
                      <a:pt x="2314" y="3397"/>
                    </a:lnTo>
                    <a:lnTo>
                      <a:pt x="2311" y="3386"/>
                    </a:lnTo>
                    <a:lnTo>
                      <a:pt x="2314" y="3372"/>
                    </a:lnTo>
                    <a:lnTo>
                      <a:pt x="2314" y="3362"/>
                    </a:lnTo>
                    <a:lnTo>
                      <a:pt x="2327" y="3351"/>
                    </a:lnTo>
                    <a:lnTo>
                      <a:pt x="2344" y="3342"/>
                    </a:lnTo>
                    <a:lnTo>
                      <a:pt x="2357" y="3332"/>
                    </a:lnTo>
                    <a:lnTo>
                      <a:pt x="2371" y="3318"/>
                    </a:lnTo>
                    <a:lnTo>
                      <a:pt x="2352" y="3283"/>
                    </a:lnTo>
                    <a:lnTo>
                      <a:pt x="2327" y="3261"/>
                    </a:lnTo>
                    <a:lnTo>
                      <a:pt x="2302" y="3253"/>
                    </a:lnTo>
                    <a:lnTo>
                      <a:pt x="2276" y="3250"/>
                    </a:lnTo>
                    <a:lnTo>
                      <a:pt x="2246" y="3256"/>
                    </a:lnTo>
                    <a:lnTo>
                      <a:pt x="2216" y="3261"/>
                    </a:lnTo>
                    <a:lnTo>
                      <a:pt x="2184" y="3270"/>
                    </a:lnTo>
                    <a:lnTo>
                      <a:pt x="2154" y="3272"/>
                    </a:lnTo>
                    <a:lnTo>
                      <a:pt x="2154" y="3253"/>
                    </a:lnTo>
                    <a:lnTo>
                      <a:pt x="2161" y="3240"/>
                    </a:lnTo>
                    <a:lnTo>
                      <a:pt x="2173" y="3229"/>
                    </a:lnTo>
                    <a:lnTo>
                      <a:pt x="2186" y="3217"/>
                    </a:lnTo>
                    <a:lnTo>
                      <a:pt x="2200" y="3212"/>
                    </a:lnTo>
                    <a:lnTo>
                      <a:pt x="2216" y="3205"/>
                    </a:lnTo>
                    <a:lnTo>
                      <a:pt x="2230" y="3196"/>
                    </a:lnTo>
                    <a:lnTo>
                      <a:pt x="2240" y="3188"/>
                    </a:lnTo>
                    <a:lnTo>
                      <a:pt x="2230" y="3164"/>
                    </a:lnTo>
                    <a:lnTo>
                      <a:pt x="2221" y="3139"/>
                    </a:lnTo>
                    <a:lnTo>
                      <a:pt x="2208" y="3117"/>
                    </a:lnTo>
                    <a:lnTo>
                      <a:pt x="2186" y="3099"/>
                    </a:lnTo>
                    <a:lnTo>
                      <a:pt x="2173" y="3095"/>
                    </a:lnTo>
                    <a:lnTo>
                      <a:pt x="2156" y="3095"/>
                    </a:lnTo>
                    <a:lnTo>
                      <a:pt x="2145" y="3101"/>
                    </a:lnTo>
                    <a:lnTo>
                      <a:pt x="2131" y="3106"/>
                    </a:lnTo>
                    <a:lnTo>
                      <a:pt x="2118" y="3109"/>
                    </a:lnTo>
                    <a:lnTo>
                      <a:pt x="2108" y="3112"/>
                    </a:lnTo>
                    <a:lnTo>
                      <a:pt x="2094" y="3106"/>
                    </a:lnTo>
                    <a:lnTo>
                      <a:pt x="2083" y="3099"/>
                    </a:lnTo>
                    <a:lnTo>
                      <a:pt x="2129" y="3028"/>
                    </a:lnTo>
                    <a:lnTo>
                      <a:pt x="2099" y="2988"/>
                    </a:lnTo>
                    <a:lnTo>
                      <a:pt x="2066" y="2946"/>
                    </a:lnTo>
                    <a:lnTo>
                      <a:pt x="2031" y="2908"/>
                    </a:lnTo>
                    <a:lnTo>
                      <a:pt x="1999" y="2868"/>
                    </a:lnTo>
                    <a:lnTo>
                      <a:pt x="1969" y="2827"/>
                    </a:lnTo>
                    <a:lnTo>
                      <a:pt x="1947" y="2783"/>
                    </a:lnTo>
                    <a:lnTo>
                      <a:pt x="1933" y="2740"/>
                    </a:lnTo>
                    <a:lnTo>
                      <a:pt x="1930" y="2694"/>
                    </a:lnTo>
                    <a:lnTo>
                      <a:pt x="1955" y="2691"/>
                    </a:lnTo>
                    <a:lnTo>
                      <a:pt x="1977" y="2686"/>
                    </a:lnTo>
                    <a:lnTo>
                      <a:pt x="1999" y="2674"/>
                    </a:lnTo>
                    <a:lnTo>
                      <a:pt x="2018" y="2662"/>
                    </a:lnTo>
                    <a:lnTo>
                      <a:pt x="2037" y="2644"/>
                    </a:lnTo>
                    <a:lnTo>
                      <a:pt x="2055" y="2628"/>
                    </a:lnTo>
                    <a:lnTo>
                      <a:pt x="2072" y="2612"/>
                    </a:lnTo>
                    <a:lnTo>
                      <a:pt x="2089" y="2593"/>
                    </a:lnTo>
                    <a:lnTo>
                      <a:pt x="2043" y="2526"/>
                    </a:lnTo>
                    <a:lnTo>
                      <a:pt x="1995" y="2455"/>
                    </a:lnTo>
                    <a:lnTo>
                      <a:pt x="1950" y="2387"/>
                    </a:lnTo>
                    <a:lnTo>
                      <a:pt x="1901" y="2319"/>
                    </a:lnTo>
                    <a:lnTo>
                      <a:pt x="1852" y="2251"/>
                    </a:lnTo>
                    <a:lnTo>
                      <a:pt x="1801" y="2186"/>
                    </a:lnTo>
                    <a:lnTo>
                      <a:pt x="1748" y="2119"/>
                    </a:lnTo>
                    <a:lnTo>
                      <a:pt x="1697" y="2050"/>
                    </a:lnTo>
                    <a:lnTo>
                      <a:pt x="1646" y="1985"/>
                    </a:lnTo>
                    <a:lnTo>
                      <a:pt x="1595" y="1918"/>
                    </a:lnTo>
                    <a:lnTo>
                      <a:pt x="1540" y="1852"/>
                    </a:lnTo>
                    <a:lnTo>
                      <a:pt x="1489" y="1784"/>
                    </a:lnTo>
                    <a:lnTo>
                      <a:pt x="1436" y="1717"/>
                    </a:lnTo>
                    <a:lnTo>
                      <a:pt x="1385" y="1651"/>
                    </a:lnTo>
                    <a:lnTo>
                      <a:pt x="1334" y="1583"/>
                    </a:lnTo>
                    <a:lnTo>
                      <a:pt x="1281" y="1516"/>
                    </a:lnTo>
                    <a:lnTo>
                      <a:pt x="1249" y="1480"/>
                    </a:lnTo>
                    <a:lnTo>
                      <a:pt x="1214" y="1445"/>
                    </a:lnTo>
                    <a:lnTo>
                      <a:pt x="1179" y="1412"/>
                    </a:lnTo>
                    <a:lnTo>
                      <a:pt x="1140" y="1382"/>
                    </a:lnTo>
                    <a:lnTo>
                      <a:pt x="1103" y="1361"/>
                    </a:lnTo>
                    <a:lnTo>
                      <a:pt x="1062" y="1350"/>
                    </a:lnTo>
                    <a:lnTo>
                      <a:pt x="1016" y="1350"/>
                    </a:lnTo>
                    <a:lnTo>
                      <a:pt x="967" y="1369"/>
                    </a:lnTo>
                    <a:lnTo>
                      <a:pt x="939" y="1329"/>
                    </a:lnTo>
                    <a:lnTo>
                      <a:pt x="910" y="1290"/>
                    </a:lnTo>
                    <a:lnTo>
                      <a:pt x="880" y="1252"/>
                    </a:lnTo>
                    <a:lnTo>
                      <a:pt x="850" y="1214"/>
                    </a:lnTo>
                    <a:lnTo>
                      <a:pt x="817" y="1176"/>
                    </a:lnTo>
                    <a:lnTo>
                      <a:pt x="787" y="1140"/>
                    </a:lnTo>
                    <a:lnTo>
                      <a:pt x="757" y="1103"/>
                    </a:lnTo>
                    <a:lnTo>
                      <a:pt x="725" y="1068"/>
                    </a:lnTo>
                    <a:lnTo>
                      <a:pt x="695" y="1029"/>
                    </a:lnTo>
                    <a:lnTo>
                      <a:pt x="665" y="994"/>
                    </a:lnTo>
                    <a:lnTo>
                      <a:pt x="635" y="957"/>
                    </a:lnTo>
                    <a:lnTo>
                      <a:pt x="605" y="918"/>
                    </a:lnTo>
                    <a:lnTo>
                      <a:pt x="576" y="880"/>
                    </a:lnTo>
                    <a:lnTo>
                      <a:pt x="549" y="839"/>
                    </a:lnTo>
                    <a:lnTo>
                      <a:pt x="521" y="798"/>
                    </a:lnTo>
                    <a:lnTo>
                      <a:pt x="496" y="758"/>
                    </a:lnTo>
                    <a:lnTo>
                      <a:pt x="380" y="756"/>
                    </a:lnTo>
                    <a:lnTo>
                      <a:pt x="378" y="733"/>
                    </a:lnTo>
                    <a:lnTo>
                      <a:pt x="385" y="720"/>
                    </a:lnTo>
                    <a:lnTo>
                      <a:pt x="404" y="712"/>
                    </a:lnTo>
                    <a:lnTo>
                      <a:pt x="424" y="703"/>
                    </a:lnTo>
                    <a:lnTo>
                      <a:pt x="443" y="696"/>
                    </a:lnTo>
                    <a:lnTo>
                      <a:pt x="456" y="685"/>
                    </a:lnTo>
                    <a:lnTo>
                      <a:pt x="456" y="666"/>
                    </a:lnTo>
                    <a:lnTo>
                      <a:pt x="440" y="641"/>
                    </a:lnTo>
                    <a:lnTo>
                      <a:pt x="426" y="603"/>
                    </a:lnTo>
                    <a:lnTo>
                      <a:pt x="404" y="581"/>
                    </a:lnTo>
                    <a:lnTo>
                      <a:pt x="380" y="571"/>
                    </a:lnTo>
                    <a:lnTo>
                      <a:pt x="353" y="568"/>
                    </a:lnTo>
                    <a:lnTo>
                      <a:pt x="325" y="568"/>
                    </a:lnTo>
                    <a:lnTo>
                      <a:pt x="296" y="568"/>
                    </a:lnTo>
                    <a:lnTo>
                      <a:pt x="267" y="562"/>
                    </a:lnTo>
                    <a:lnTo>
                      <a:pt x="239" y="552"/>
                    </a:lnTo>
                    <a:lnTo>
                      <a:pt x="247" y="538"/>
                    </a:lnTo>
                    <a:lnTo>
                      <a:pt x="261" y="527"/>
                    </a:lnTo>
                    <a:lnTo>
                      <a:pt x="279" y="514"/>
                    </a:lnTo>
                    <a:lnTo>
                      <a:pt x="296" y="502"/>
                    </a:lnTo>
                    <a:lnTo>
                      <a:pt x="307" y="490"/>
                    </a:lnTo>
                    <a:lnTo>
                      <a:pt x="313" y="476"/>
                    </a:lnTo>
                    <a:lnTo>
                      <a:pt x="307" y="460"/>
                    </a:lnTo>
                    <a:lnTo>
                      <a:pt x="285" y="437"/>
                    </a:lnTo>
                    <a:lnTo>
                      <a:pt x="272" y="414"/>
                    </a:lnTo>
                    <a:lnTo>
                      <a:pt x="255" y="400"/>
                    </a:lnTo>
                    <a:lnTo>
                      <a:pt x="237" y="394"/>
                    </a:lnTo>
                    <a:lnTo>
                      <a:pt x="214" y="391"/>
                    </a:lnTo>
                    <a:lnTo>
                      <a:pt x="193" y="391"/>
                    </a:lnTo>
                    <a:lnTo>
                      <a:pt x="168" y="394"/>
                    </a:lnTo>
                    <a:lnTo>
                      <a:pt x="147" y="394"/>
                    </a:lnTo>
                    <a:lnTo>
                      <a:pt x="125" y="391"/>
                    </a:lnTo>
                    <a:lnTo>
                      <a:pt x="133" y="372"/>
                    </a:lnTo>
                    <a:lnTo>
                      <a:pt x="149" y="356"/>
                    </a:lnTo>
                    <a:lnTo>
                      <a:pt x="168" y="340"/>
                    </a:lnTo>
                    <a:lnTo>
                      <a:pt x="184" y="321"/>
                    </a:lnTo>
                    <a:lnTo>
                      <a:pt x="0" y="44"/>
                    </a:lnTo>
                    <a:lnTo>
                      <a:pt x="11" y="30"/>
                    </a:lnTo>
                    <a:lnTo>
                      <a:pt x="22" y="12"/>
                    </a:lnTo>
                    <a:lnTo>
                      <a:pt x="36" y="0"/>
                    </a:lnTo>
                    <a:lnTo>
                      <a:pt x="57" y="3"/>
                    </a:lnTo>
                    <a:lnTo>
                      <a:pt x="285" y="321"/>
                    </a:lnTo>
                    <a:lnTo>
                      <a:pt x="342" y="324"/>
                    </a:lnTo>
                    <a:lnTo>
                      <a:pt x="355" y="410"/>
                    </a:lnTo>
                    <a:lnTo>
                      <a:pt x="391" y="467"/>
                    </a:lnTo>
                    <a:lnTo>
                      <a:pt x="429" y="525"/>
                    </a:lnTo>
                    <a:lnTo>
                      <a:pt x="464" y="581"/>
                    </a:lnTo>
                    <a:lnTo>
                      <a:pt x="503" y="638"/>
                    </a:lnTo>
                    <a:lnTo>
                      <a:pt x="540" y="696"/>
                    </a:lnTo>
                    <a:lnTo>
                      <a:pt x="579" y="752"/>
                    </a:lnTo>
                    <a:lnTo>
                      <a:pt x="619" y="807"/>
                    </a:lnTo>
                    <a:lnTo>
                      <a:pt x="660" y="864"/>
                    </a:lnTo>
                    <a:lnTo>
                      <a:pt x="701" y="918"/>
                    </a:lnTo>
                    <a:lnTo>
                      <a:pt x="741" y="975"/>
                    </a:lnTo>
                    <a:lnTo>
                      <a:pt x="785" y="1029"/>
                    </a:lnTo>
                    <a:lnTo>
                      <a:pt x="828" y="1084"/>
                    </a:lnTo>
                    <a:lnTo>
                      <a:pt x="872" y="1138"/>
                    </a:lnTo>
                    <a:lnTo>
                      <a:pt x="918" y="1193"/>
                    </a:lnTo>
                    <a:lnTo>
                      <a:pt x="964" y="1244"/>
                    </a:lnTo>
                    <a:lnTo>
                      <a:pt x="1011" y="1299"/>
                    </a:lnTo>
                    <a:lnTo>
                      <a:pt x="1064" y="1285"/>
                    </a:lnTo>
                    <a:lnTo>
                      <a:pt x="1117" y="1287"/>
                    </a:lnTo>
                    <a:lnTo>
                      <a:pt x="1163" y="1306"/>
                    </a:lnTo>
                    <a:lnTo>
                      <a:pt x="1209" y="1334"/>
                    </a:lnTo>
                    <a:lnTo>
                      <a:pt x="1249" y="1369"/>
                    </a:lnTo>
                    <a:lnTo>
                      <a:pt x="1290" y="1407"/>
                    </a:lnTo>
                    <a:lnTo>
                      <a:pt x="1330" y="1447"/>
                    </a:lnTo>
                    <a:lnTo>
                      <a:pt x="1369" y="1488"/>
                    </a:lnTo>
                    <a:lnTo>
                      <a:pt x="2161" y="2536"/>
                    </a:lnTo>
                    <a:lnTo>
                      <a:pt x="2159" y="2566"/>
                    </a:lnTo>
                    <a:lnTo>
                      <a:pt x="2148" y="2596"/>
                    </a:lnTo>
                    <a:lnTo>
                      <a:pt x="2134" y="2626"/>
                    </a:lnTo>
                    <a:lnTo>
                      <a:pt x="2118" y="2651"/>
                    </a:lnTo>
                    <a:lnTo>
                      <a:pt x="2096" y="2674"/>
                    </a:lnTo>
                    <a:lnTo>
                      <a:pt x="2072" y="2694"/>
                    </a:lnTo>
                    <a:lnTo>
                      <a:pt x="2045" y="2710"/>
                    </a:lnTo>
                    <a:lnTo>
                      <a:pt x="2015" y="2721"/>
                    </a:lnTo>
                    <a:lnTo>
                      <a:pt x="2034" y="2762"/>
                    </a:lnTo>
                    <a:lnTo>
                      <a:pt x="2055" y="2803"/>
                    </a:lnTo>
                    <a:lnTo>
                      <a:pt x="2080" y="2843"/>
                    </a:lnTo>
                    <a:lnTo>
                      <a:pt x="2110" y="2881"/>
                    </a:lnTo>
                    <a:lnTo>
                      <a:pt x="2138" y="2916"/>
                    </a:lnTo>
                    <a:lnTo>
                      <a:pt x="2170" y="2954"/>
                    </a:lnTo>
                    <a:lnTo>
                      <a:pt x="2200" y="2993"/>
                    </a:lnTo>
                    <a:lnTo>
                      <a:pt x="2230" y="3028"/>
                    </a:lnTo>
                    <a:lnTo>
                      <a:pt x="2344" y="3014"/>
                    </a:lnTo>
                    <a:lnTo>
                      <a:pt x="2272" y="3085"/>
                    </a:lnTo>
                    <a:lnTo>
                      <a:pt x="2290" y="3099"/>
                    </a:lnTo>
                    <a:lnTo>
                      <a:pt x="2302" y="3115"/>
                    </a:lnTo>
                    <a:lnTo>
                      <a:pt x="2316" y="3134"/>
                    </a:lnTo>
                    <a:lnTo>
                      <a:pt x="2330" y="3150"/>
                    </a:lnTo>
                    <a:lnTo>
                      <a:pt x="2346" y="3164"/>
                    </a:lnTo>
                    <a:lnTo>
                      <a:pt x="2362" y="3171"/>
                    </a:lnTo>
                    <a:lnTo>
                      <a:pt x="2381" y="3171"/>
                    </a:lnTo>
                    <a:lnTo>
                      <a:pt x="2403" y="3159"/>
                    </a:lnTo>
                    <a:lnTo>
                      <a:pt x="2411" y="3159"/>
                    </a:lnTo>
                    <a:lnTo>
                      <a:pt x="2417" y="3164"/>
                    </a:lnTo>
                    <a:lnTo>
                      <a:pt x="2422" y="3169"/>
                    </a:lnTo>
                    <a:lnTo>
                      <a:pt x="2427" y="3175"/>
                    </a:lnTo>
                    <a:lnTo>
                      <a:pt x="2408" y="3191"/>
                    </a:lnTo>
                    <a:lnTo>
                      <a:pt x="2401" y="3207"/>
                    </a:lnTo>
                    <a:lnTo>
                      <a:pt x="2403" y="3224"/>
                    </a:lnTo>
                    <a:lnTo>
                      <a:pt x="2411" y="3240"/>
                    </a:lnTo>
                    <a:lnTo>
                      <a:pt x="2425" y="3256"/>
                    </a:lnTo>
                    <a:lnTo>
                      <a:pt x="2438" y="3272"/>
                    </a:lnTo>
                    <a:lnTo>
                      <a:pt x="2450" y="3288"/>
                    </a:lnTo>
                    <a:lnTo>
                      <a:pt x="2457" y="3305"/>
                    </a:lnTo>
                    <a:lnTo>
                      <a:pt x="2556" y="3321"/>
                    </a:lnTo>
                    <a:lnTo>
                      <a:pt x="2553" y="3335"/>
                    </a:lnTo>
                    <a:lnTo>
                      <a:pt x="2544" y="3346"/>
                    </a:lnTo>
                    <a:lnTo>
                      <a:pt x="2533" y="3356"/>
                    </a:lnTo>
                    <a:lnTo>
                      <a:pt x="2523" y="3365"/>
                    </a:lnTo>
                    <a:lnTo>
                      <a:pt x="2515" y="3372"/>
                    </a:lnTo>
                    <a:lnTo>
                      <a:pt x="2509" y="3383"/>
                    </a:lnTo>
                    <a:lnTo>
                      <a:pt x="2512" y="3395"/>
                    </a:lnTo>
                    <a:lnTo>
                      <a:pt x="2526" y="3408"/>
                    </a:lnTo>
                    <a:lnTo>
                      <a:pt x="2537" y="3432"/>
                    </a:lnTo>
                    <a:lnTo>
                      <a:pt x="2556" y="3454"/>
                    </a:lnTo>
                    <a:lnTo>
                      <a:pt x="2577" y="3473"/>
                    </a:lnTo>
                    <a:lnTo>
                      <a:pt x="2596" y="3495"/>
                    </a:lnTo>
                    <a:lnTo>
                      <a:pt x="2612" y="3487"/>
                    </a:lnTo>
                    <a:lnTo>
                      <a:pt x="2634" y="3481"/>
                    </a:lnTo>
                    <a:lnTo>
                      <a:pt x="2653" y="3481"/>
                    </a:lnTo>
                    <a:lnTo>
                      <a:pt x="2674" y="3481"/>
                    </a:lnTo>
                    <a:lnTo>
                      <a:pt x="2697" y="3481"/>
                    </a:lnTo>
                    <a:lnTo>
                      <a:pt x="2718" y="3481"/>
                    </a:lnTo>
                    <a:lnTo>
                      <a:pt x="2738" y="3476"/>
                    </a:lnTo>
                    <a:lnTo>
                      <a:pt x="2754" y="3467"/>
                    </a:lnTo>
                    <a:lnTo>
                      <a:pt x="2732" y="3430"/>
                    </a:lnTo>
                    <a:lnTo>
                      <a:pt x="2710" y="3397"/>
                    </a:lnTo>
                    <a:lnTo>
                      <a:pt x="2686" y="3365"/>
                    </a:lnTo>
                    <a:lnTo>
                      <a:pt x="2662" y="3332"/>
                    </a:lnTo>
                    <a:lnTo>
                      <a:pt x="2637" y="3302"/>
                    </a:lnTo>
                    <a:lnTo>
                      <a:pt x="2607" y="3270"/>
                    </a:lnTo>
                    <a:lnTo>
                      <a:pt x="2577" y="3237"/>
                    </a:lnTo>
                    <a:lnTo>
                      <a:pt x="2542" y="3205"/>
                    </a:lnTo>
                    <a:lnTo>
                      <a:pt x="2509" y="3141"/>
                    </a:lnTo>
                    <a:lnTo>
                      <a:pt x="2468" y="3082"/>
                    </a:lnTo>
                    <a:lnTo>
                      <a:pt x="2427" y="3023"/>
                    </a:lnTo>
                    <a:lnTo>
                      <a:pt x="2385" y="2963"/>
                    </a:lnTo>
                    <a:lnTo>
                      <a:pt x="2341" y="2903"/>
                    </a:lnTo>
                    <a:lnTo>
                      <a:pt x="2302" y="2843"/>
                    </a:lnTo>
                    <a:lnTo>
                      <a:pt x="2270" y="2778"/>
                    </a:lnTo>
                    <a:lnTo>
                      <a:pt x="2246" y="2713"/>
                    </a:lnTo>
                    <a:lnTo>
                      <a:pt x="2256" y="2702"/>
                    </a:lnTo>
                    <a:lnTo>
                      <a:pt x="2267" y="2697"/>
                    </a:lnTo>
                    <a:lnTo>
                      <a:pt x="2279" y="2697"/>
                    </a:lnTo>
                    <a:lnTo>
                      <a:pt x="2292" y="2697"/>
                    </a:lnTo>
                    <a:lnTo>
                      <a:pt x="2341" y="2780"/>
                    </a:lnTo>
                    <a:lnTo>
                      <a:pt x="2392" y="2865"/>
                    </a:lnTo>
                    <a:lnTo>
                      <a:pt x="2447" y="2946"/>
                    </a:lnTo>
                    <a:lnTo>
                      <a:pt x="2503" y="3028"/>
                    </a:lnTo>
                    <a:lnTo>
                      <a:pt x="2566" y="3106"/>
                    </a:lnTo>
                    <a:lnTo>
                      <a:pt x="2628" y="3185"/>
                    </a:lnTo>
                    <a:lnTo>
                      <a:pt x="2692" y="3264"/>
                    </a:lnTo>
                    <a:lnTo>
                      <a:pt x="2757" y="3340"/>
                    </a:lnTo>
                    <a:lnTo>
                      <a:pt x="2822" y="3418"/>
                    </a:lnTo>
                    <a:lnTo>
                      <a:pt x="2886" y="3495"/>
                    </a:lnTo>
                    <a:lnTo>
                      <a:pt x="2955" y="3573"/>
                    </a:lnTo>
                    <a:lnTo>
                      <a:pt x="3020" y="3649"/>
                    </a:lnTo>
                    <a:lnTo>
                      <a:pt x="3082" y="3728"/>
                    </a:lnTo>
                    <a:lnTo>
                      <a:pt x="3147" y="3804"/>
                    </a:lnTo>
                    <a:lnTo>
                      <a:pt x="3207" y="3885"/>
                    </a:lnTo>
                    <a:lnTo>
                      <a:pt x="3267" y="3965"/>
                    </a:lnTo>
                    <a:lnTo>
                      <a:pt x="3302" y="3968"/>
                    </a:lnTo>
                    <a:lnTo>
                      <a:pt x="3337" y="3968"/>
                    </a:lnTo>
                    <a:lnTo>
                      <a:pt x="3371" y="3968"/>
                    </a:lnTo>
                    <a:lnTo>
                      <a:pt x="3406" y="3961"/>
                    </a:lnTo>
                    <a:lnTo>
                      <a:pt x="3438" y="3954"/>
                    </a:lnTo>
                    <a:lnTo>
                      <a:pt x="3471" y="3945"/>
                    </a:lnTo>
                    <a:lnTo>
                      <a:pt x="3503" y="3938"/>
                    </a:lnTo>
                    <a:lnTo>
                      <a:pt x="3535" y="3926"/>
                    </a:lnTo>
                    <a:lnTo>
                      <a:pt x="3568" y="3915"/>
                    </a:lnTo>
                    <a:lnTo>
                      <a:pt x="3600" y="3905"/>
                    </a:lnTo>
                    <a:lnTo>
                      <a:pt x="3634" y="3894"/>
                    </a:lnTo>
                    <a:lnTo>
                      <a:pt x="3666" y="3883"/>
                    </a:lnTo>
                    <a:lnTo>
                      <a:pt x="3701" y="3875"/>
                    </a:lnTo>
                    <a:lnTo>
                      <a:pt x="3734" y="3867"/>
                    </a:lnTo>
                    <a:lnTo>
                      <a:pt x="3769" y="3861"/>
                    </a:lnTo>
                    <a:lnTo>
                      <a:pt x="3805" y="3855"/>
                    </a:lnTo>
                    <a:lnTo>
                      <a:pt x="4456" y="3704"/>
                    </a:lnTo>
                    <a:lnTo>
                      <a:pt x="4397" y="3764"/>
                    </a:lnTo>
                    <a:lnTo>
                      <a:pt x="3343" y="4035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7" name="Freeform 459">
                <a:extLst>
                  <a:ext uri="{FF2B5EF4-FFF2-40B4-BE49-F238E27FC236}">
                    <a16:creationId xmlns:a16="http://schemas.microsoft.com/office/drawing/2014/main" id="{136E36C9-49C3-4E4F-AB16-C8F2930909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04" y="3793"/>
                <a:ext cx="309" cy="179"/>
              </a:xfrm>
              <a:custGeom>
                <a:avLst/>
                <a:gdLst>
                  <a:gd name="T0" fmla="*/ 0 w 1235"/>
                  <a:gd name="T1" fmla="*/ 0 h 717"/>
                  <a:gd name="T2" fmla="*/ 0 w 1235"/>
                  <a:gd name="T3" fmla="*/ 0 h 717"/>
                  <a:gd name="T4" fmla="*/ 0 w 1235"/>
                  <a:gd name="T5" fmla="*/ 0 h 717"/>
                  <a:gd name="T6" fmla="*/ 0 w 1235"/>
                  <a:gd name="T7" fmla="*/ 0 h 717"/>
                  <a:gd name="T8" fmla="*/ 0 w 1235"/>
                  <a:gd name="T9" fmla="*/ 0 h 717"/>
                  <a:gd name="T10" fmla="*/ 0 w 1235"/>
                  <a:gd name="T11" fmla="*/ 0 h 717"/>
                  <a:gd name="T12" fmla="*/ 0 w 1235"/>
                  <a:gd name="T13" fmla="*/ 0 h 717"/>
                  <a:gd name="T14" fmla="*/ 0 w 1235"/>
                  <a:gd name="T15" fmla="*/ 0 h 717"/>
                  <a:gd name="T16" fmla="*/ 0 w 1235"/>
                  <a:gd name="T17" fmla="*/ 0 h 717"/>
                  <a:gd name="T18" fmla="*/ 0 w 1235"/>
                  <a:gd name="T19" fmla="*/ 0 h 717"/>
                  <a:gd name="T20" fmla="*/ 0 w 1235"/>
                  <a:gd name="T21" fmla="*/ 0 h 717"/>
                  <a:gd name="T22" fmla="*/ 0 w 1235"/>
                  <a:gd name="T23" fmla="*/ 0 h 717"/>
                  <a:gd name="T24" fmla="*/ 0 w 1235"/>
                  <a:gd name="T25" fmla="*/ 0 h 717"/>
                  <a:gd name="T26" fmla="*/ 0 w 1235"/>
                  <a:gd name="T27" fmla="*/ 0 h 717"/>
                  <a:gd name="T28" fmla="*/ 0 w 1235"/>
                  <a:gd name="T29" fmla="*/ 0 h 717"/>
                  <a:gd name="T30" fmla="*/ 0 w 1235"/>
                  <a:gd name="T31" fmla="*/ 0 h 717"/>
                  <a:gd name="T32" fmla="*/ 0 w 1235"/>
                  <a:gd name="T33" fmla="*/ 0 h 717"/>
                  <a:gd name="T34" fmla="*/ 0 w 1235"/>
                  <a:gd name="T35" fmla="*/ 0 h 717"/>
                  <a:gd name="T36" fmla="*/ 0 w 1235"/>
                  <a:gd name="T37" fmla="*/ 0 h 717"/>
                  <a:gd name="T38" fmla="*/ 0 w 1235"/>
                  <a:gd name="T39" fmla="*/ 0 h 717"/>
                  <a:gd name="T40" fmla="*/ 0 w 1235"/>
                  <a:gd name="T41" fmla="*/ 0 h 717"/>
                  <a:gd name="T42" fmla="*/ 0 w 1235"/>
                  <a:gd name="T43" fmla="*/ 0 h 717"/>
                  <a:gd name="T44" fmla="*/ 0 w 1235"/>
                  <a:gd name="T45" fmla="*/ 0 h 717"/>
                  <a:gd name="T46" fmla="*/ 0 w 1235"/>
                  <a:gd name="T47" fmla="*/ 0 h 717"/>
                  <a:gd name="T48" fmla="*/ 0 w 1235"/>
                  <a:gd name="T49" fmla="*/ 0 h 717"/>
                  <a:gd name="T50" fmla="*/ 0 w 1235"/>
                  <a:gd name="T51" fmla="*/ 0 h 717"/>
                  <a:gd name="T52" fmla="*/ 0 w 1235"/>
                  <a:gd name="T53" fmla="*/ 0 h 717"/>
                  <a:gd name="T54" fmla="*/ 0 w 1235"/>
                  <a:gd name="T55" fmla="*/ 0 h 717"/>
                  <a:gd name="T56" fmla="*/ 0 w 1235"/>
                  <a:gd name="T57" fmla="*/ 0 h 717"/>
                  <a:gd name="T58" fmla="*/ 0 w 1235"/>
                  <a:gd name="T59" fmla="*/ 0 h 717"/>
                  <a:gd name="T60" fmla="*/ 0 w 1235"/>
                  <a:gd name="T61" fmla="*/ 0 h 717"/>
                  <a:gd name="T62" fmla="*/ 0 w 1235"/>
                  <a:gd name="T63" fmla="*/ 0 h 717"/>
                  <a:gd name="T64" fmla="*/ 0 w 1235"/>
                  <a:gd name="T65" fmla="*/ 0 h 717"/>
                  <a:gd name="T66" fmla="*/ 0 w 1235"/>
                  <a:gd name="T67" fmla="*/ 0 h 717"/>
                  <a:gd name="T68" fmla="*/ 0 w 1235"/>
                  <a:gd name="T69" fmla="*/ 0 h 717"/>
                  <a:gd name="T70" fmla="*/ 0 w 1235"/>
                  <a:gd name="T71" fmla="*/ 0 h 717"/>
                  <a:gd name="T72" fmla="*/ 0 w 1235"/>
                  <a:gd name="T73" fmla="*/ 0 h 717"/>
                  <a:gd name="T74" fmla="*/ 0 w 1235"/>
                  <a:gd name="T75" fmla="*/ 0 h 717"/>
                  <a:gd name="T76" fmla="*/ 0 w 1235"/>
                  <a:gd name="T77" fmla="*/ 0 h 717"/>
                  <a:gd name="T78" fmla="*/ 0 w 1235"/>
                  <a:gd name="T79" fmla="*/ 0 h 717"/>
                  <a:gd name="T80" fmla="*/ 0 w 1235"/>
                  <a:gd name="T81" fmla="*/ 0 h 717"/>
                  <a:gd name="T82" fmla="*/ 0 w 1235"/>
                  <a:gd name="T83" fmla="*/ 0 h 717"/>
                  <a:gd name="T84" fmla="*/ 0 w 1235"/>
                  <a:gd name="T85" fmla="*/ 0 h 717"/>
                  <a:gd name="T86" fmla="*/ 0 w 1235"/>
                  <a:gd name="T87" fmla="*/ 0 h 717"/>
                  <a:gd name="T88" fmla="*/ 0 w 1235"/>
                  <a:gd name="T89" fmla="*/ 0 h 717"/>
                  <a:gd name="T90" fmla="*/ 0 w 1235"/>
                  <a:gd name="T91" fmla="*/ 0 h 717"/>
                  <a:gd name="T92" fmla="*/ 0 w 1235"/>
                  <a:gd name="T93" fmla="*/ 0 h 717"/>
                  <a:gd name="T94" fmla="*/ 0 w 1235"/>
                  <a:gd name="T95" fmla="*/ 0 h 717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w 1235"/>
                  <a:gd name="T145" fmla="*/ 0 h 717"/>
                  <a:gd name="T146" fmla="*/ 1235 w 1235"/>
                  <a:gd name="T147" fmla="*/ 717 h 717"/>
                </a:gdLst>
                <a:ahLst/>
                <a:cxnLst>
                  <a:cxn ang="T96">
                    <a:pos x="T0" y="T1"/>
                  </a:cxn>
                  <a:cxn ang="T97">
                    <a:pos x="T2" y="T3"/>
                  </a:cxn>
                  <a:cxn ang="T98">
                    <a:pos x="T4" y="T5"/>
                  </a:cxn>
                  <a:cxn ang="T99">
                    <a:pos x="T6" y="T7"/>
                  </a:cxn>
                  <a:cxn ang="T100">
                    <a:pos x="T8" y="T9"/>
                  </a:cxn>
                  <a:cxn ang="T101">
                    <a:pos x="T10" y="T11"/>
                  </a:cxn>
                  <a:cxn ang="T102">
                    <a:pos x="T12" y="T13"/>
                  </a:cxn>
                  <a:cxn ang="T103">
                    <a:pos x="T14" y="T15"/>
                  </a:cxn>
                  <a:cxn ang="T104">
                    <a:pos x="T16" y="T17"/>
                  </a:cxn>
                  <a:cxn ang="T105">
                    <a:pos x="T18" y="T19"/>
                  </a:cxn>
                  <a:cxn ang="T106">
                    <a:pos x="T20" y="T21"/>
                  </a:cxn>
                  <a:cxn ang="T107">
                    <a:pos x="T22" y="T23"/>
                  </a:cxn>
                  <a:cxn ang="T108">
                    <a:pos x="T24" y="T25"/>
                  </a:cxn>
                  <a:cxn ang="T109">
                    <a:pos x="T26" y="T27"/>
                  </a:cxn>
                  <a:cxn ang="T110">
                    <a:pos x="T28" y="T29"/>
                  </a:cxn>
                  <a:cxn ang="T111">
                    <a:pos x="T30" y="T31"/>
                  </a:cxn>
                  <a:cxn ang="T112">
                    <a:pos x="T32" y="T33"/>
                  </a:cxn>
                  <a:cxn ang="T113">
                    <a:pos x="T34" y="T35"/>
                  </a:cxn>
                  <a:cxn ang="T114">
                    <a:pos x="T36" y="T37"/>
                  </a:cxn>
                  <a:cxn ang="T115">
                    <a:pos x="T38" y="T39"/>
                  </a:cxn>
                  <a:cxn ang="T116">
                    <a:pos x="T40" y="T41"/>
                  </a:cxn>
                  <a:cxn ang="T117">
                    <a:pos x="T42" y="T43"/>
                  </a:cxn>
                  <a:cxn ang="T118">
                    <a:pos x="T44" y="T45"/>
                  </a:cxn>
                  <a:cxn ang="T119">
                    <a:pos x="T46" y="T47"/>
                  </a:cxn>
                  <a:cxn ang="T120">
                    <a:pos x="T48" y="T49"/>
                  </a:cxn>
                  <a:cxn ang="T121">
                    <a:pos x="T50" y="T51"/>
                  </a:cxn>
                  <a:cxn ang="T122">
                    <a:pos x="T52" y="T53"/>
                  </a:cxn>
                  <a:cxn ang="T123">
                    <a:pos x="T54" y="T55"/>
                  </a:cxn>
                  <a:cxn ang="T124">
                    <a:pos x="T56" y="T57"/>
                  </a:cxn>
                  <a:cxn ang="T125">
                    <a:pos x="T58" y="T59"/>
                  </a:cxn>
                  <a:cxn ang="T126">
                    <a:pos x="T60" y="T61"/>
                  </a:cxn>
                  <a:cxn ang="T127">
                    <a:pos x="T62" y="T63"/>
                  </a:cxn>
                  <a:cxn ang="T128">
                    <a:pos x="T64" y="T65"/>
                  </a:cxn>
                  <a:cxn ang="T129">
                    <a:pos x="T66" y="T67"/>
                  </a:cxn>
                  <a:cxn ang="T130">
                    <a:pos x="T68" y="T69"/>
                  </a:cxn>
                  <a:cxn ang="T131">
                    <a:pos x="T70" y="T71"/>
                  </a:cxn>
                  <a:cxn ang="T132">
                    <a:pos x="T72" y="T73"/>
                  </a:cxn>
                  <a:cxn ang="T133">
                    <a:pos x="T74" y="T75"/>
                  </a:cxn>
                  <a:cxn ang="T134">
                    <a:pos x="T76" y="T77"/>
                  </a:cxn>
                  <a:cxn ang="T135">
                    <a:pos x="T78" y="T79"/>
                  </a:cxn>
                  <a:cxn ang="T136">
                    <a:pos x="T80" y="T81"/>
                  </a:cxn>
                  <a:cxn ang="T137">
                    <a:pos x="T82" y="T83"/>
                  </a:cxn>
                  <a:cxn ang="T138">
                    <a:pos x="T84" y="T85"/>
                  </a:cxn>
                  <a:cxn ang="T139">
                    <a:pos x="T86" y="T87"/>
                  </a:cxn>
                  <a:cxn ang="T140">
                    <a:pos x="T88" y="T89"/>
                  </a:cxn>
                  <a:cxn ang="T141">
                    <a:pos x="T90" y="T91"/>
                  </a:cxn>
                  <a:cxn ang="T142">
                    <a:pos x="T92" y="T93"/>
                  </a:cxn>
                  <a:cxn ang="T143">
                    <a:pos x="T94" y="T95"/>
                  </a:cxn>
                </a:cxnLst>
                <a:rect l="T144" t="T145" r="T146" b="T147"/>
                <a:pathLst>
                  <a:path w="1235" h="717">
                    <a:moveTo>
                      <a:pt x="876" y="709"/>
                    </a:moveTo>
                    <a:lnTo>
                      <a:pt x="860" y="709"/>
                    </a:lnTo>
                    <a:lnTo>
                      <a:pt x="843" y="709"/>
                    </a:lnTo>
                    <a:lnTo>
                      <a:pt x="827" y="707"/>
                    </a:lnTo>
                    <a:lnTo>
                      <a:pt x="816" y="693"/>
                    </a:lnTo>
                    <a:lnTo>
                      <a:pt x="816" y="679"/>
                    </a:lnTo>
                    <a:lnTo>
                      <a:pt x="855" y="666"/>
                    </a:lnTo>
                    <a:lnTo>
                      <a:pt x="892" y="655"/>
                    </a:lnTo>
                    <a:lnTo>
                      <a:pt x="933" y="647"/>
                    </a:lnTo>
                    <a:lnTo>
                      <a:pt x="974" y="638"/>
                    </a:lnTo>
                    <a:lnTo>
                      <a:pt x="1012" y="627"/>
                    </a:lnTo>
                    <a:lnTo>
                      <a:pt x="1050" y="617"/>
                    </a:lnTo>
                    <a:lnTo>
                      <a:pt x="1085" y="603"/>
                    </a:lnTo>
                    <a:lnTo>
                      <a:pt x="1120" y="584"/>
                    </a:lnTo>
                    <a:lnTo>
                      <a:pt x="1102" y="548"/>
                    </a:lnTo>
                    <a:lnTo>
                      <a:pt x="1077" y="516"/>
                    </a:lnTo>
                    <a:lnTo>
                      <a:pt x="1056" y="483"/>
                    </a:lnTo>
                    <a:lnTo>
                      <a:pt x="1028" y="451"/>
                    </a:lnTo>
                    <a:lnTo>
                      <a:pt x="1004" y="421"/>
                    </a:lnTo>
                    <a:lnTo>
                      <a:pt x="977" y="389"/>
                    </a:lnTo>
                    <a:lnTo>
                      <a:pt x="947" y="359"/>
                    </a:lnTo>
                    <a:lnTo>
                      <a:pt x="917" y="329"/>
                    </a:lnTo>
                    <a:lnTo>
                      <a:pt x="887" y="299"/>
                    </a:lnTo>
                    <a:lnTo>
                      <a:pt x="857" y="269"/>
                    </a:lnTo>
                    <a:lnTo>
                      <a:pt x="827" y="236"/>
                    </a:lnTo>
                    <a:lnTo>
                      <a:pt x="797" y="206"/>
                    </a:lnTo>
                    <a:lnTo>
                      <a:pt x="767" y="176"/>
                    </a:lnTo>
                    <a:lnTo>
                      <a:pt x="737" y="148"/>
                    </a:lnTo>
                    <a:lnTo>
                      <a:pt x="707" y="118"/>
                    </a:lnTo>
                    <a:lnTo>
                      <a:pt x="681" y="84"/>
                    </a:lnTo>
                    <a:lnTo>
                      <a:pt x="640" y="90"/>
                    </a:lnTo>
                    <a:lnTo>
                      <a:pt x="596" y="95"/>
                    </a:lnTo>
                    <a:lnTo>
                      <a:pt x="556" y="104"/>
                    </a:lnTo>
                    <a:lnTo>
                      <a:pt x="515" y="114"/>
                    </a:lnTo>
                    <a:lnTo>
                      <a:pt x="478" y="123"/>
                    </a:lnTo>
                    <a:lnTo>
                      <a:pt x="436" y="134"/>
                    </a:lnTo>
                    <a:lnTo>
                      <a:pt x="398" y="148"/>
                    </a:lnTo>
                    <a:lnTo>
                      <a:pt x="360" y="158"/>
                    </a:lnTo>
                    <a:lnTo>
                      <a:pt x="319" y="171"/>
                    </a:lnTo>
                    <a:lnTo>
                      <a:pt x="282" y="188"/>
                    </a:lnTo>
                    <a:lnTo>
                      <a:pt x="243" y="201"/>
                    </a:lnTo>
                    <a:lnTo>
                      <a:pt x="206" y="218"/>
                    </a:lnTo>
                    <a:lnTo>
                      <a:pt x="171" y="231"/>
                    </a:lnTo>
                    <a:lnTo>
                      <a:pt x="132" y="247"/>
                    </a:lnTo>
                    <a:lnTo>
                      <a:pt x="94" y="264"/>
                    </a:lnTo>
                    <a:lnTo>
                      <a:pt x="56" y="280"/>
                    </a:lnTo>
                    <a:lnTo>
                      <a:pt x="382" y="687"/>
                    </a:lnTo>
                    <a:lnTo>
                      <a:pt x="342" y="717"/>
                    </a:lnTo>
                    <a:lnTo>
                      <a:pt x="293" y="668"/>
                    </a:lnTo>
                    <a:lnTo>
                      <a:pt x="241" y="617"/>
                    </a:lnTo>
                    <a:lnTo>
                      <a:pt x="187" y="562"/>
                    </a:lnTo>
                    <a:lnTo>
                      <a:pt x="132" y="502"/>
                    </a:lnTo>
                    <a:lnTo>
                      <a:pt x="83" y="443"/>
                    </a:lnTo>
                    <a:lnTo>
                      <a:pt x="42" y="381"/>
                    </a:lnTo>
                    <a:lnTo>
                      <a:pt x="12" y="315"/>
                    </a:lnTo>
                    <a:lnTo>
                      <a:pt x="0" y="250"/>
                    </a:lnTo>
                    <a:lnTo>
                      <a:pt x="42" y="229"/>
                    </a:lnTo>
                    <a:lnTo>
                      <a:pt x="86" y="210"/>
                    </a:lnTo>
                    <a:lnTo>
                      <a:pt x="129" y="190"/>
                    </a:lnTo>
                    <a:lnTo>
                      <a:pt x="173" y="174"/>
                    </a:lnTo>
                    <a:lnTo>
                      <a:pt x="219" y="158"/>
                    </a:lnTo>
                    <a:lnTo>
                      <a:pt x="263" y="139"/>
                    </a:lnTo>
                    <a:lnTo>
                      <a:pt x="309" y="125"/>
                    </a:lnTo>
                    <a:lnTo>
                      <a:pt x="355" y="109"/>
                    </a:lnTo>
                    <a:lnTo>
                      <a:pt x="401" y="95"/>
                    </a:lnTo>
                    <a:lnTo>
                      <a:pt x="448" y="79"/>
                    </a:lnTo>
                    <a:lnTo>
                      <a:pt x="494" y="65"/>
                    </a:lnTo>
                    <a:lnTo>
                      <a:pt x="540" y="52"/>
                    </a:lnTo>
                    <a:lnTo>
                      <a:pt x="586" y="38"/>
                    </a:lnTo>
                    <a:lnTo>
                      <a:pt x="631" y="25"/>
                    </a:lnTo>
                    <a:lnTo>
                      <a:pt x="679" y="14"/>
                    </a:lnTo>
                    <a:lnTo>
                      <a:pt x="725" y="0"/>
                    </a:lnTo>
                    <a:lnTo>
                      <a:pt x="751" y="41"/>
                    </a:lnTo>
                    <a:lnTo>
                      <a:pt x="781" y="79"/>
                    </a:lnTo>
                    <a:lnTo>
                      <a:pt x="813" y="120"/>
                    </a:lnTo>
                    <a:lnTo>
                      <a:pt x="850" y="158"/>
                    </a:lnTo>
                    <a:lnTo>
                      <a:pt x="885" y="193"/>
                    </a:lnTo>
                    <a:lnTo>
                      <a:pt x="920" y="231"/>
                    </a:lnTo>
                    <a:lnTo>
                      <a:pt x="955" y="266"/>
                    </a:lnTo>
                    <a:lnTo>
                      <a:pt x="993" y="301"/>
                    </a:lnTo>
                    <a:lnTo>
                      <a:pt x="1028" y="340"/>
                    </a:lnTo>
                    <a:lnTo>
                      <a:pt x="1063" y="375"/>
                    </a:lnTo>
                    <a:lnTo>
                      <a:pt x="1097" y="413"/>
                    </a:lnTo>
                    <a:lnTo>
                      <a:pt x="1129" y="451"/>
                    </a:lnTo>
                    <a:lnTo>
                      <a:pt x="1159" y="490"/>
                    </a:lnTo>
                    <a:lnTo>
                      <a:pt x="1189" y="530"/>
                    </a:lnTo>
                    <a:lnTo>
                      <a:pt x="1213" y="571"/>
                    </a:lnTo>
                    <a:lnTo>
                      <a:pt x="1235" y="611"/>
                    </a:lnTo>
                    <a:lnTo>
                      <a:pt x="1194" y="636"/>
                    </a:lnTo>
                    <a:lnTo>
                      <a:pt x="1150" y="649"/>
                    </a:lnTo>
                    <a:lnTo>
                      <a:pt x="1104" y="657"/>
                    </a:lnTo>
                    <a:lnTo>
                      <a:pt x="1056" y="663"/>
                    </a:lnTo>
                    <a:lnTo>
                      <a:pt x="1007" y="666"/>
                    </a:lnTo>
                    <a:lnTo>
                      <a:pt x="961" y="673"/>
                    </a:lnTo>
                    <a:lnTo>
                      <a:pt x="917" y="687"/>
                    </a:lnTo>
                    <a:lnTo>
                      <a:pt x="876" y="70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8" name="Freeform 460">
                <a:extLst>
                  <a:ext uri="{FF2B5EF4-FFF2-40B4-BE49-F238E27FC236}">
                    <a16:creationId xmlns:a16="http://schemas.microsoft.com/office/drawing/2014/main" id="{AACB3E7D-51B0-3C4D-908C-5BE52A3A0F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92" y="3992"/>
                <a:ext cx="74" cy="75"/>
              </a:xfrm>
              <a:custGeom>
                <a:avLst/>
                <a:gdLst>
                  <a:gd name="T0" fmla="*/ 0 w 298"/>
                  <a:gd name="T1" fmla="*/ 0 h 304"/>
                  <a:gd name="T2" fmla="*/ 0 w 298"/>
                  <a:gd name="T3" fmla="*/ 0 h 304"/>
                  <a:gd name="T4" fmla="*/ 0 w 298"/>
                  <a:gd name="T5" fmla="*/ 0 h 304"/>
                  <a:gd name="T6" fmla="*/ 0 w 298"/>
                  <a:gd name="T7" fmla="*/ 0 h 304"/>
                  <a:gd name="T8" fmla="*/ 0 w 298"/>
                  <a:gd name="T9" fmla="*/ 0 h 304"/>
                  <a:gd name="T10" fmla="*/ 0 w 298"/>
                  <a:gd name="T11" fmla="*/ 0 h 304"/>
                  <a:gd name="T12" fmla="*/ 0 w 298"/>
                  <a:gd name="T13" fmla="*/ 0 h 304"/>
                  <a:gd name="T14" fmla="*/ 0 w 298"/>
                  <a:gd name="T15" fmla="*/ 0 h 304"/>
                  <a:gd name="T16" fmla="*/ 0 w 298"/>
                  <a:gd name="T17" fmla="*/ 0 h 304"/>
                  <a:gd name="T18" fmla="*/ 0 w 298"/>
                  <a:gd name="T19" fmla="*/ 0 h 304"/>
                  <a:gd name="T20" fmla="*/ 0 w 298"/>
                  <a:gd name="T21" fmla="*/ 0 h 304"/>
                  <a:gd name="T22" fmla="*/ 0 w 298"/>
                  <a:gd name="T23" fmla="*/ 0 h 304"/>
                  <a:gd name="T24" fmla="*/ 0 w 298"/>
                  <a:gd name="T25" fmla="*/ 0 h 304"/>
                  <a:gd name="T26" fmla="*/ 0 w 298"/>
                  <a:gd name="T27" fmla="*/ 0 h 304"/>
                  <a:gd name="T28" fmla="*/ 0 w 298"/>
                  <a:gd name="T29" fmla="*/ 0 h 304"/>
                  <a:gd name="T30" fmla="*/ 0 w 298"/>
                  <a:gd name="T31" fmla="*/ 0 h 304"/>
                  <a:gd name="T32" fmla="*/ 0 w 298"/>
                  <a:gd name="T33" fmla="*/ 0 h 304"/>
                  <a:gd name="T34" fmla="*/ 0 w 298"/>
                  <a:gd name="T35" fmla="*/ 0 h 304"/>
                  <a:gd name="T36" fmla="*/ 0 w 298"/>
                  <a:gd name="T37" fmla="*/ 0 h 304"/>
                  <a:gd name="T38" fmla="*/ 0 w 298"/>
                  <a:gd name="T39" fmla="*/ 0 h 304"/>
                  <a:gd name="T40" fmla="*/ 0 w 298"/>
                  <a:gd name="T41" fmla="*/ 0 h 304"/>
                  <a:gd name="T42" fmla="*/ 0 w 298"/>
                  <a:gd name="T43" fmla="*/ 0 h 304"/>
                  <a:gd name="T44" fmla="*/ 0 w 298"/>
                  <a:gd name="T45" fmla="*/ 0 h 304"/>
                  <a:gd name="T46" fmla="*/ 0 w 298"/>
                  <a:gd name="T47" fmla="*/ 0 h 304"/>
                  <a:gd name="T48" fmla="*/ 0 w 298"/>
                  <a:gd name="T49" fmla="*/ 0 h 304"/>
                  <a:gd name="T50" fmla="*/ 0 w 298"/>
                  <a:gd name="T51" fmla="*/ 0 h 304"/>
                  <a:gd name="T52" fmla="*/ 0 w 298"/>
                  <a:gd name="T53" fmla="*/ 0 h 304"/>
                  <a:gd name="T54" fmla="*/ 0 w 298"/>
                  <a:gd name="T55" fmla="*/ 0 h 304"/>
                  <a:gd name="T56" fmla="*/ 0 w 298"/>
                  <a:gd name="T57" fmla="*/ 0 h 304"/>
                  <a:gd name="T58" fmla="*/ 0 w 298"/>
                  <a:gd name="T59" fmla="*/ 0 h 304"/>
                  <a:gd name="T60" fmla="*/ 0 w 298"/>
                  <a:gd name="T61" fmla="*/ 0 h 304"/>
                  <a:gd name="T62" fmla="*/ 0 w 298"/>
                  <a:gd name="T63" fmla="*/ 0 h 304"/>
                  <a:gd name="T64" fmla="*/ 0 w 298"/>
                  <a:gd name="T65" fmla="*/ 0 h 304"/>
                  <a:gd name="T66" fmla="*/ 0 w 298"/>
                  <a:gd name="T67" fmla="*/ 0 h 304"/>
                  <a:gd name="T68" fmla="*/ 0 w 298"/>
                  <a:gd name="T69" fmla="*/ 0 h 304"/>
                  <a:gd name="T70" fmla="*/ 0 w 298"/>
                  <a:gd name="T71" fmla="*/ 0 h 304"/>
                  <a:gd name="T72" fmla="*/ 0 w 298"/>
                  <a:gd name="T73" fmla="*/ 0 h 304"/>
                  <a:gd name="T74" fmla="*/ 0 w 298"/>
                  <a:gd name="T75" fmla="*/ 0 h 304"/>
                  <a:gd name="T76" fmla="*/ 0 w 298"/>
                  <a:gd name="T77" fmla="*/ 0 h 304"/>
                  <a:gd name="T78" fmla="*/ 0 w 298"/>
                  <a:gd name="T79" fmla="*/ 0 h 304"/>
                  <a:gd name="T80" fmla="*/ 0 w 298"/>
                  <a:gd name="T81" fmla="*/ 0 h 304"/>
                  <a:gd name="T82" fmla="*/ 0 w 298"/>
                  <a:gd name="T83" fmla="*/ 0 h 304"/>
                  <a:gd name="T84" fmla="*/ 0 w 298"/>
                  <a:gd name="T85" fmla="*/ 0 h 304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298"/>
                  <a:gd name="T130" fmla="*/ 0 h 304"/>
                  <a:gd name="T131" fmla="*/ 298 w 298"/>
                  <a:gd name="T132" fmla="*/ 304 h 304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298" h="304">
                    <a:moveTo>
                      <a:pt x="298" y="103"/>
                    </a:moveTo>
                    <a:lnTo>
                      <a:pt x="265" y="101"/>
                    </a:lnTo>
                    <a:lnTo>
                      <a:pt x="233" y="94"/>
                    </a:lnTo>
                    <a:lnTo>
                      <a:pt x="198" y="84"/>
                    </a:lnTo>
                    <a:lnTo>
                      <a:pt x="165" y="76"/>
                    </a:lnTo>
                    <a:lnTo>
                      <a:pt x="133" y="71"/>
                    </a:lnTo>
                    <a:lnTo>
                      <a:pt x="106" y="76"/>
                    </a:lnTo>
                    <a:lnTo>
                      <a:pt x="81" y="94"/>
                    </a:lnTo>
                    <a:lnTo>
                      <a:pt x="64" y="131"/>
                    </a:lnTo>
                    <a:lnTo>
                      <a:pt x="64" y="152"/>
                    </a:lnTo>
                    <a:lnTo>
                      <a:pt x="73" y="173"/>
                    </a:lnTo>
                    <a:lnTo>
                      <a:pt x="81" y="193"/>
                    </a:lnTo>
                    <a:lnTo>
                      <a:pt x="94" y="212"/>
                    </a:lnTo>
                    <a:lnTo>
                      <a:pt x="108" y="225"/>
                    </a:lnTo>
                    <a:lnTo>
                      <a:pt x="124" y="239"/>
                    </a:lnTo>
                    <a:lnTo>
                      <a:pt x="143" y="253"/>
                    </a:lnTo>
                    <a:lnTo>
                      <a:pt x="163" y="260"/>
                    </a:lnTo>
                    <a:lnTo>
                      <a:pt x="179" y="260"/>
                    </a:lnTo>
                    <a:lnTo>
                      <a:pt x="179" y="290"/>
                    </a:lnTo>
                    <a:lnTo>
                      <a:pt x="152" y="302"/>
                    </a:lnTo>
                    <a:lnTo>
                      <a:pt x="127" y="304"/>
                    </a:lnTo>
                    <a:lnTo>
                      <a:pt x="101" y="302"/>
                    </a:lnTo>
                    <a:lnTo>
                      <a:pt x="76" y="293"/>
                    </a:lnTo>
                    <a:lnTo>
                      <a:pt x="54" y="279"/>
                    </a:lnTo>
                    <a:lnTo>
                      <a:pt x="35" y="260"/>
                    </a:lnTo>
                    <a:lnTo>
                      <a:pt x="18" y="239"/>
                    </a:lnTo>
                    <a:lnTo>
                      <a:pt x="5" y="217"/>
                    </a:lnTo>
                    <a:lnTo>
                      <a:pt x="0" y="179"/>
                    </a:lnTo>
                    <a:lnTo>
                      <a:pt x="2" y="141"/>
                    </a:lnTo>
                    <a:lnTo>
                      <a:pt x="11" y="106"/>
                    </a:lnTo>
                    <a:lnTo>
                      <a:pt x="27" y="73"/>
                    </a:lnTo>
                    <a:lnTo>
                      <a:pt x="48" y="46"/>
                    </a:lnTo>
                    <a:lnTo>
                      <a:pt x="76" y="24"/>
                    </a:lnTo>
                    <a:lnTo>
                      <a:pt x="106" y="8"/>
                    </a:lnTo>
                    <a:lnTo>
                      <a:pt x="141" y="0"/>
                    </a:lnTo>
                    <a:lnTo>
                      <a:pt x="163" y="11"/>
                    </a:lnTo>
                    <a:lnTo>
                      <a:pt x="187" y="16"/>
                    </a:lnTo>
                    <a:lnTo>
                      <a:pt x="212" y="24"/>
                    </a:lnTo>
                    <a:lnTo>
                      <a:pt x="235" y="30"/>
                    </a:lnTo>
                    <a:lnTo>
                      <a:pt x="258" y="41"/>
                    </a:lnTo>
                    <a:lnTo>
                      <a:pt x="277" y="54"/>
                    </a:lnTo>
                    <a:lnTo>
                      <a:pt x="290" y="76"/>
                    </a:lnTo>
                    <a:lnTo>
                      <a:pt x="298" y="103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9" name="Freeform 461">
                <a:extLst>
                  <a:ext uri="{FF2B5EF4-FFF2-40B4-BE49-F238E27FC236}">
                    <a16:creationId xmlns:a16="http://schemas.microsoft.com/office/drawing/2014/main" id="{782FD08D-C351-C745-815E-55491AB667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9" y="3614"/>
                <a:ext cx="284" cy="172"/>
              </a:xfrm>
              <a:custGeom>
                <a:avLst/>
                <a:gdLst>
                  <a:gd name="T0" fmla="*/ 0 w 1138"/>
                  <a:gd name="T1" fmla="*/ 0 h 687"/>
                  <a:gd name="T2" fmla="*/ 0 w 1138"/>
                  <a:gd name="T3" fmla="*/ 0 h 687"/>
                  <a:gd name="T4" fmla="*/ 0 w 1138"/>
                  <a:gd name="T5" fmla="*/ 0 h 687"/>
                  <a:gd name="T6" fmla="*/ 0 w 1138"/>
                  <a:gd name="T7" fmla="*/ 0 h 687"/>
                  <a:gd name="T8" fmla="*/ 0 w 1138"/>
                  <a:gd name="T9" fmla="*/ 0 h 687"/>
                  <a:gd name="T10" fmla="*/ 0 w 1138"/>
                  <a:gd name="T11" fmla="*/ 0 h 687"/>
                  <a:gd name="T12" fmla="*/ 0 w 1138"/>
                  <a:gd name="T13" fmla="*/ 0 h 687"/>
                  <a:gd name="T14" fmla="*/ 0 w 1138"/>
                  <a:gd name="T15" fmla="*/ 0 h 687"/>
                  <a:gd name="T16" fmla="*/ 0 w 1138"/>
                  <a:gd name="T17" fmla="*/ 0 h 687"/>
                  <a:gd name="T18" fmla="*/ 0 w 1138"/>
                  <a:gd name="T19" fmla="*/ 0 h 687"/>
                  <a:gd name="T20" fmla="*/ 0 w 1138"/>
                  <a:gd name="T21" fmla="*/ 0 h 687"/>
                  <a:gd name="T22" fmla="*/ 0 w 1138"/>
                  <a:gd name="T23" fmla="*/ 0 h 687"/>
                  <a:gd name="T24" fmla="*/ 0 w 1138"/>
                  <a:gd name="T25" fmla="*/ 0 h 687"/>
                  <a:gd name="T26" fmla="*/ 0 w 1138"/>
                  <a:gd name="T27" fmla="*/ 0 h 687"/>
                  <a:gd name="T28" fmla="*/ 0 w 1138"/>
                  <a:gd name="T29" fmla="*/ 0 h 687"/>
                  <a:gd name="T30" fmla="*/ 0 w 1138"/>
                  <a:gd name="T31" fmla="*/ 0 h 687"/>
                  <a:gd name="T32" fmla="*/ 0 w 1138"/>
                  <a:gd name="T33" fmla="*/ 0 h 687"/>
                  <a:gd name="T34" fmla="*/ 0 w 1138"/>
                  <a:gd name="T35" fmla="*/ 0 h 687"/>
                  <a:gd name="T36" fmla="*/ 0 w 1138"/>
                  <a:gd name="T37" fmla="*/ 0 h 687"/>
                  <a:gd name="T38" fmla="*/ 0 w 1138"/>
                  <a:gd name="T39" fmla="*/ 0 h 687"/>
                  <a:gd name="T40" fmla="*/ 0 w 1138"/>
                  <a:gd name="T41" fmla="*/ 0 h 687"/>
                  <a:gd name="T42" fmla="*/ 0 w 1138"/>
                  <a:gd name="T43" fmla="*/ 0 h 687"/>
                  <a:gd name="T44" fmla="*/ 0 w 1138"/>
                  <a:gd name="T45" fmla="*/ 0 h 687"/>
                  <a:gd name="T46" fmla="*/ 0 w 1138"/>
                  <a:gd name="T47" fmla="*/ 0 h 687"/>
                  <a:gd name="T48" fmla="*/ 0 w 1138"/>
                  <a:gd name="T49" fmla="*/ 0 h 687"/>
                  <a:gd name="T50" fmla="*/ 0 w 1138"/>
                  <a:gd name="T51" fmla="*/ 0 h 687"/>
                  <a:gd name="T52" fmla="*/ 0 w 1138"/>
                  <a:gd name="T53" fmla="*/ 0 h 687"/>
                  <a:gd name="T54" fmla="*/ 0 w 1138"/>
                  <a:gd name="T55" fmla="*/ 0 h 687"/>
                  <a:gd name="T56" fmla="*/ 0 w 1138"/>
                  <a:gd name="T57" fmla="*/ 0 h 687"/>
                  <a:gd name="T58" fmla="*/ 0 w 1138"/>
                  <a:gd name="T59" fmla="*/ 0 h 687"/>
                  <a:gd name="T60" fmla="*/ 0 w 1138"/>
                  <a:gd name="T61" fmla="*/ 0 h 687"/>
                  <a:gd name="T62" fmla="*/ 0 w 1138"/>
                  <a:gd name="T63" fmla="*/ 0 h 687"/>
                  <a:gd name="T64" fmla="*/ 0 w 1138"/>
                  <a:gd name="T65" fmla="*/ 0 h 687"/>
                  <a:gd name="T66" fmla="*/ 0 w 1138"/>
                  <a:gd name="T67" fmla="*/ 0 h 687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1138"/>
                  <a:gd name="T103" fmla="*/ 0 h 687"/>
                  <a:gd name="T104" fmla="*/ 1138 w 1138"/>
                  <a:gd name="T105" fmla="*/ 687 h 687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1138" h="687">
                    <a:moveTo>
                      <a:pt x="934" y="552"/>
                    </a:moveTo>
                    <a:lnTo>
                      <a:pt x="931" y="525"/>
                    </a:lnTo>
                    <a:lnTo>
                      <a:pt x="940" y="502"/>
                    </a:lnTo>
                    <a:lnTo>
                      <a:pt x="956" y="490"/>
                    </a:lnTo>
                    <a:lnTo>
                      <a:pt x="975" y="478"/>
                    </a:lnTo>
                    <a:lnTo>
                      <a:pt x="996" y="470"/>
                    </a:lnTo>
                    <a:lnTo>
                      <a:pt x="1018" y="460"/>
                    </a:lnTo>
                    <a:lnTo>
                      <a:pt x="1037" y="443"/>
                    </a:lnTo>
                    <a:lnTo>
                      <a:pt x="1051" y="424"/>
                    </a:lnTo>
                    <a:lnTo>
                      <a:pt x="709" y="74"/>
                    </a:lnTo>
                    <a:lnTo>
                      <a:pt x="670" y="79"/>
                    </a:lnTo>
                    <a:lnTo>
                      <a:pt x="630" y="88"/>
                    </a:lnTo>
                    <a:lnTo>
                      <a:pt x="592" y="95"/>
                    </a:lnTo>
                    <a:lnTo>
                      <a:pt x="554" y="104"/>
                    </a:lnTo>
                    <a:lnTo>
                      <a:pt x="513" y="111"/>
                    </a:lnTo>
                    <a:lnTo>
                      <a:pt x="476" y="120"/>
                    </a:lnTo>
                    <a:lnTo>
                      <a:pt x="437" y="128"/>
                    </a:lnTo>
                    <a:lnTo>
                      <a:pt x="399" y="139"/>
                    </a:lnTo>
                    <a:lnTo>
                      <a:pt x="361" y="150"/>
                    </a:lnTo>
                    <a:lnTo>
                      <a:pt x="323" y="160"/>
                    </a:lnTo>
                    <a:lnTo>
                      <a:pt x="288" y="171"/>
                    </a:lnTo>
                    <a:lnTo>
                      <a:pt x="250" y="185"/>
                    </a:lnTo>
                    <a:lnTo>
                      <a:pt x="212" y="199"/>
                    </a:lnTo>
                    <a:lnTo>
                      <a:pt x="176" y="212"/>
                    </a:lnTo>
                    <a:lnTo>
                      <a:pt x="139" y="226"/>
                    </a:lnTo>
                    <a:lnTo>
                      <a:pt x="104" y="239"/>
                    </a:lnTo>
                    <a:lnTo>
                      <a:pt x="413" y="647"/>
                    </a:lnTo>
                    <a:lnTo>
                      <a:pt x="367" y="687"/>
                    </a:lnTo>
                    <a:lnTo>
                      <a:pt x="317" y="638"/>
                    </a:lnTo>
                    <a:lnTo>
                      <a:pt x="271" y="584"/>
                    </a:lnTo>
                    <a:lnTo>
                      <a:pt x="231" y="527"/>
                    </a:lnTo>
                    <a:lnTo>
                      <a:pt x="192" y="470"/>
                    </a:lnTo>
                    <a:lnTo>
                      <a:pt x="152" y="413"/>
                    </a:lnTo>
                    <a:lnTo>
                      <a:pt x="109" y="356"/>
                    </a:lnTo>
                    <a:lnTo>
                      <a:pt x="57" y="301"/>
                    </a:lnTo>
                    <a:lnTo>
                      <a:pt x="0" y="250"/>
                    </a:lnTo>
                    <a:lnTo>
                      <a:pt x="3" y="220"/>
                    </a:lnTo>
                    <a:lnTo>
                      <a:pt x="14" y="204"/>
                    </a:lnTo>
                    <a:lnTo>
                      <a:pt x="30" y="199"/>
                    </a:lnTo>
                    <a:lnTo>
                      <a:pt x="49" y="196"/>
                    </a:lnTo>
                    <a:lnTo>
                      <a:pt x="65" y="196"/>
                    </a:lnTo>
                    <a:lnTo>
                      <a:pt x="81" y="193"/>
                    </a:lnTo>
                    <a:lnTo>
                      <a:pt x="95" y="180"/>
                    </a:lnTo>
                    <a:lnTo>
                      <a:pt x="104" y="153"/>
                    </a:lnTo>
                    <a:lnTo>
                      <a:pt x="144" y="141"/>
                    </a:lnTo>
                    <a:lnTo>
                      <a:pt x="185" y="134"/>
                    </a:lnTo>
                    <a:lnTo>
                      <a:pt x="222" y="123"/>
                    </a:lnTo>
                    <a:lnTo>
                      <a:pt x="263" y="111"/>
                    </a:lnTo>
                    <a:lnTo>
                      <a:pt x="305" y="100"/>
                    </a:lnTo>
                    <a:lnTo>
                      <a:pt x="342" y="90"/>
                    </a:lnTo>
                    <a:lnTo>
                      <a:pt x="383" y="79"/>
                    </a:lnTo>
                    <a:lnTo>
                      <a:pt x="423" y="68"/>
                    </a:lnTo>
                    <a:lnTo>
                      <a:pt x="464" y="58"/>
                    </a:lnTo>
                    <a:lnTo>
                      <a:pt x="505" y="49"/>
                    </a:lnTo>
                    <a:lnTo>
                      <a:pt x="546" y="38"/>
                    </a:lnTo>
                    <a:lnTo>
                      <a:pt x="587" y="30"/>
                    </a:lnTo>
                    <a:lnTo>
                      <a:pt x="628" y="22"/>
                    </a:lnTo>
                    <a:lnTo>
                      <a:pt x="668" y="14"/>
                    </a:lnTo>
                    <a:lnTo>
                      <a:pt x="711" y="5"/>
                    </a:lnTo>
                    <a:lnTo>
                      <a:pt x="753" y="0"/>
                    </a:lnTo>
                    <a:lnTo>
                      <a:pt x="1138" y="424"/>
                    </a:lnTo>
                    <a:lnTo>
                      <a:pt x="1118" y="451"/>
                    </a:lnTo>
                    <a:lnTo>
                      <a:pt x="1097" y="476"/>
                    </a:lnTo>
                    <a:lnTo>
                      <a:pt x="1076" y="495"/>
                    </a:lnTo>
                    <a:lnTo>
                      <a:pt x="1048" y="511"/>
                    </a:lnTo>
                    <a:lnTo>
                      <a:pt x="1021" y="527"/>
                    </a:lnTo>
                    <a:lnTo>
                      <a:pt x="991" y="538"/>
                    </a:lnTo>
                    <a:lnTo>
                      <a:pt x="964" y="546"/>
                    </a:lnTo>
                    <a:lnTo>
                      <a:pt x="934" y="552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0" name="Freeform 462">
                <a:extLst>
                  <a:ext uri="{FF2B5EF4-FFF2-40B4-BE49-F238E27FC236}">
                    <a16:creationId xmlns:a16="http://schemas.microsoft.com/office/drawing/2014/main" id="{2769D88D-9AFE-BF42-A862-34B58E7F5F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1" y="3877"/>
                <a:ext cx="96" cy="127"/>
              </a:xfrm>
              <a:custGeom>
                <a:avLst/>
                <a:gdLst>
                  <a:gd name="T0" fmla="*/ 0 w 386"/>
                  <a:gd name="T1" fmla="*/ 0 h 507"/>
                  <a:gd name="T2" fmla="*/ 0 w 386"/>
                  <a:gd name="T3" fmla="*/ 0 h 507"/>
                  <a:gd name="T4" fmla="*/ 0 w 386"/>
                  <a:gd name="T5" fmla="*/ 0 h 507"/>
                  <a:gd name="T6" fmla="*/ 0 w 386"/>
                  <a:gd name="T7" fmla="*/ 0 h 507"/>
                  <a:gd name="T8" fmla="*/ 0 w 386"/>
                  <a:gd name="T9" fmla="*/ 0 h 507"/>
                  <a:gd name="T10" fmla="*/ 0 w 386"/>
                  <a:gd name="T11" fmla="*/ 0 h 507"/>
                  <a:gd name="T12" fmla="*/ 0 w 386"/>
                  <a:gd name="T13" fmla="*/ 0 h 507"/>
                  <a:gd name="T14" fmla="*/ 0 w 386"/>
                  <a:gd name="T15" fmla="*/ 0 h 507"/>
                  <a:gd name="T16" fmla="*/ 0 w 386"/>
                  <a:gd name="T17" fmla="*/ 0 h 507"/>
                  <a:gd name="T18" fmla="*/ 0 w 386"/>
                  <a:gd name="T19" fmla="*/ 0 h 507"/>
                  <a:gd name="T20" fmla="*/ 0 w 386"/>
                  <a:gd name="T21" fmla="*/ 0 h 507"/>
                  <a:gd name="T22" fmla="*/ 0 w 386"/>
                  <a:gd name="T23" fmla="*/ 0 h 507"/>
                  <a:gd name="T24" fmla="*/ 0 w 386"/>
                  <a:gd name="T25" fmla="*/ 0 h 507"/>
                  <a:gd name="T26" fmla="*/ 0 w 386"/>
                  <a:gd name="T27" fmla="*/ 0 h 507"/>
                  <a:gd name="T28" fmla="*/ 0 w 386"/>
                  <a:gd name="T29" fmla="*/ 0 h 507"/>
                  <a:gd name="T30" fmla="*/ 0 w 386"/>
                  <a:gd name="T31" fmla="*/ 0 h 507"/>
                  <a:gd name="T32" fmla="*/ 0 w 386"/>
                  <a:gd name="T33" fmla="*/ 0 h 507"/>
                  <a:gd name="T34" fmla="*/ 0 w 386"/>
                  <a:gd name="T35" fmla="*/ 0 h 507"/>
                  <a:gd name="T36" fmla="*/ 0 w 386"/>
                  <a:gd name="T37" fmla="*/ 0 h 507"/>
                  <a:gd name="T38" fmla="*/ 0 w 386"/>
                  <a:gd name="T39" fmla="*/ 0 h 507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386"/>
                  <a:gd name="T61" fmla="*/ 0 h 507"/>
                  <a:gd name="T62" fmla="*/ 386 w 386"/>
                  <a:gd name="T63" fmla="*/ 507 h 507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386" h="507">
                    <a:moveTo>
                      <a:pt x="372" y="507"/>
                    </a:moveTo>
                    <a:lnTo>
                      <a:pt x="328" y="507"/>
                    </a:lnTo>
                    <a:lnTo>
                      <a:pt x="291" y="445"/>
                    </a:lnTo>
                    <a:lnTo>
                      <a:pt x="245" y="386"/>
                    </a:lnTo>
                    <a:lnTo>
                      <a:pt x="199" y="329"/>
                    </a:lnTo>
                    <a:lnTo>
                      <a:pt x="150" y="269"/>
                    </a:lnTo>
                    <a:lnTo>
                      <a:pt x="100" y="209"/>
                    </a:lnTo>
                    <a:lnTo>
                      <a:pt x="60" y="146"/>
                    </a:lnTo>
                    <a:lnTo>
                      <a:pt x="25" y="82"/>
                    </a:lnTo>
                    <a:lnTo>
                      <a:pt x="0" y="14"/>
                    </a:lnTo>
                    <a:lnTo>
                      <a:pt x="16" y="0"/>
                    </a:lnTo>
                    <a:lnTo>
                      <a:pt x="70" y="57"/>
                    </a:lnTo>
                    <a:lnTo>
                      <a:pt x="122" y="117"/>
                    </a:lnTo>
                    <a:lnTo>
                      <a:pt x="171" y="176"/>
                    </a:lnTo>
                    <a:lnTo>
                      <a:pt x="220" y="236"/>
                    </a:lnTo>
                    <a:lnTo>
                      <a:pt x="266" y="299"/>
                    </a:lnTo>
                    <a:lnTo>
                      <a:pt x="310" y="364"/>
                    </a:lnTo>
                    <a:lnTo>
                      <a:pt x="351" y="429"/>
                    </a:lnTo>
                    <a:lnTo>
                      <a:pt x="386" y="497"/>
                    </a:lnTo>
                    <a:lnTo>
                      <a:pt x="372" y="507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1" name="Freeform 463">
                <a:extLst>
                  <a:ext uri="{FF2B5EF4-FFF2-40B4-BE49-F238E27FC236}">
                    <a16:creationId xmlns:a16="http://schemas.microsoft.com/office/drawing/2014/main" id="{A161FB13-3A29-554D-9BFC-FB58E9A7E8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76" y="3769"/>
                <a:ext cx="55" cy="21"/>
              </a:xfrm>
              <a:custGeom>
                <a:avLst/>
                <a:gdLst>
                  <a:gd name="T0" fmla="*/ 0 w 220"/>
                  <a:gd name="T1" fmla="*/ 0 h 84"/>
                  <a:gd name="T2" fmla="*/ 0 w 220"/>
                  <a:gd name="T3" fmla="*/ 0 h 84"/>
                  <a:gd name="T4" fmla="*/ 0 w 220"/>
                  <a:gd name="T5" fmla="*/ 0 h 84"/>
                  <a:gd name="T6" fmla="*/ 0 w 220"/>
                  <a:gd name="T7" fmla="*/ 0 h 84"/>
                  <a:gd name="T8" fmla="*/ 0 w 220"/>
                  <a:gd name="T9" fmla="*/ 0 h 84"/>
                  <a:gd name="T10" fmla="*/ 0 w 220"/>
                  <a:gd name="T11" fmla="*/ 0 h 84"/>
                  <a:gd name="T12" fmla="*/ 0 w 220"/>
                  <a:gd name="T13" fmla="*/ 0 h 84"/>
                  <a:gd name="T14" fmla="*/ 0 w 220"/>
                  <a:gd name="T15" fmla="*/ 0 h 84"/>
                  <a:gd name="T16" fmla="*/ 0 w 220"/>
                  <a:gd name="T17" fmla="*/ 0 h 84"/>
                  <a:gd name="T18" fmla="*/ 0 w 220"/>
                  <a:gd name="T19" fmla="*/ 0 h 84"/>
                  <a:gd name="T20" fmla="*/ 0 w 220"/>
                  <a:gd name="T21" fmla="*/ 0 h 84"/>
                  <a:gd name="T22" fmla="*/ 0 w 220"/>
                  <a:gd name="T23" fmla="*/ 0 h 84"/>
                  <a:gd name="T24" fmla="*/ 0 w 220"/>
                  <a:gd name="T25" fmla="*/ 0 h 84"/>
                  <a:gd name="T26" fmla="*/ 0 w 220"/>
                  <a:gd name="T27" fmla="*/ 0 h 84"/>
                  <a:gd name="T28" fmla="*/ 0 w 220"/>
                  <a:gd name="T29" fmla="*/ 0 h 84"/>
                  <a:gd name="T30" fmla="*/ 0 w 220"/>
                  <a:gd name="T31" fmla="*/ 0 h 84"/>
                  <a:gd name="T32" fmla="*/ 0 w 220"/>
                  <a:gd name="T33" fmla="*/ 0 h 84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220"/>
                  <a:gd name="T52" fmla="*/ 0 h 84"/>
                  <a:gd name="T53" fmla="*/ 220 w 220"/>
                  <a:gd name="T54" fmla="*/ 84 h 84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220" h="84">
                    <a:moveTo>
                      <a:pt x="0" y="84"/>
                    </a:moveTo>
                    <a:lnTo>
                      <a:pt x="19" y="60"/>
                    </a:lnTo>
                    <a:lnTo>
                      <a:pt x="44" y="38"/>
                    </a:lnTo>
                    <a:lnTo>
                      <a:pt x="71" y="24"/>
                    </a:lnTo>
                    <a:lnTo>
                      <a:pt x="103" y="14"/>
                    </a:lnTo>
                    <a:lnTo>
                      <a:pt x="133" y="6"/>
                    </a:lnTo>
                    <a:lnTo>
                      <a:pt x="163" y="3"/>
                    </a:lnTo>
                    <a:lnTo>
                      <a:pt x="193" y="0"/>
                    </a:lnTo>
                    <a:lnTo>
                      <a:pt x="220" y="0"/>
                    </a:lnTo>
                    <a:lnTo>
                      <a:pt x="203" y="28"/>
                    </a:lnTo>
                    <a:lnTo>
                      <a:pt x="180" y="47"/>
                    </a:lnTo>
                    <a:lnTo>
                      <a:pt x="152" y="60"/>
                    </a:lnTo>
                    <a:lnTo>
                      <a:pt x="122" y="65"/>
                    </a:lnTo>
                    <a:lnTo>
                      <a:pt x="92" y="70"/>
                    </a:lnTo>
                    <a:lnTo>
                      <a:pt x="60" y="74"/>
                    </a:lnTo>
                    <a:lnTo>
                      <a:pt x="30" y="79"/>
                    </a:lnTo>
                    <a:lnTo>
                      <a:pt x="0" y="8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2" name="Freeform 464">
                <a:extLst>
                  <a:ext uri="{FF2B5EF4-FFF2-40B4-BE49-F238E27FC236}">
                    <a16:creationId xmlns:a16="http://schemas.microsoft.com/office/drawing/2014/main" id="{8FAFB321-676C-664D-8CF8-C0BA5392A5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5" y="4003"/>
                <a:ext cx="65" cy="40"/>
              </a:xfrm>
              <a:custGeom>
                <a:avLst/>
                <a:gdLst>
                  <a:gd name="T0" fmla="*/ 0 w 258"/>
                  <a:gd name="T1" fmla="*/ 0 h 161"/>
                  <a:gd name="T2" fmla="*/ 0 w 258"/>
                  <a:gd name="T3" fmla="*/ 0 h 161"/>
                  <a:gd name="T4" fmla="*/ 0 w 258"/>
                  <a:gd name="T5" fmla="*/ 0 h 161"/>
                  <a:gd name="T6" fmla="*/ 0 w 258"/>
                  <a:gd name="T7" fmla="*/ 0 h 161"/>
                  <a:gd name="T8" fmla="*/ 0 w 258"/>
                  <a:gd name="T9" fmla="*/ 0 h 161"/>
                  <a:gd name="T10" fmla="*/ 0 w 258"/>
                  <a:gd name="T11" fmla="*/ 0 h 161"/>
                  <a:gd name="T12" fmla="*/ 0 w 258"/>
                  <a:gd name="T13" fmla="*/ 0 h 161"/>
                  <a:gd name="T14" fmla="*/ 0 w 258"/>
                  <a:gd name="T15" fmla="*/ 0 h 161"/>
                  <a:gd name="T16" fmla="*/ 0 w 258"/>
                  <a:gd name="T17" fmla="*/ 0 h 161"/>
                  <a:gd name="T18" fmla="*/ 0 w 258"/>
                  <a:gd name="T19" fmla="*/ 0 h 161"/>
                  <a:gd name="T20" fmla="*/ 0 w 258"/>
                  <a:gd name="T21" fmla="*/ 0 h 161"/>
                  <a:gd name="T22" fmla="*/ 0 w 258"/>
                  <a:gd name="T23" fmla="*/ 0 h 161"/>
                  <a:gd name="T24" fmla="*/ 0 w 258"/>
                  <a:gd name="T25" fmla="*/ 0 h 161"/>
                  <a:gd name="T26" fmla="*/ 0 w 258"/>
                  <a:gd name="T27" fmla="*/ 0 h 161"/>
                  <a:gd name="T28" fmla="*/ 0 w 258"/>
                  <a:gd name="T29" fmla="*/ 0 h 161"/>
                  <a:gd name="T30" fmla="*/ 0 w 258"/>
                  <a:gd name="T31" fmla="*/ 0 h 161"/>
                  <a:gd name="T32" fmla="*/ 0 w 258"/>
                  <a:gd name="T33" fmla="*/ 0 h 161"/>
                  <a:gd name="T34" fmla="*/ 0 w 258"/>
                  <a:gd name="T35" fmla="*/ 0 h 161"/>
                  <a:gd name="T36" fmla="*/ 0 w 258"/>
                  <a:gd name="T37" fmla="*/ 0 h 16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258"/>
                  <a:gd name="T58" fmla="*/ 0 h 161"/>
                  <a:gd name="T59" fmla="*/ 258 w 258"/>
                  <a:gd name="T60" fmla="*/ 161 h 16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258" h="161">
                    <a:moveTo>
                      <a:pt x="11" y="73"/>
                    </a:moveTo>
                    <a:lnTo>
                      <a:pt x="0" y="57"/>
                    </a:lnTo>
                    <a:lnTo>
                      <a:pt x="16" y="48"/>
                    </a:lnTo>
                    <a:lnTo>
                      <a:pt x="32" y="43"/>
                    </a:lnTo>
                    <a:lnTo>
                      <a:pt x="52" y="43"/>
                    </a:lnTo>
                    <a:lnTo>
                      <a:pt x="68" y="41"/>
                    </a:lnTo>
                    <a:lnTo>
                      <a:pt x="87" y="38"/>
                    </a:lnTo>
                    <a:lnTo>
                      <a:pt x="103" y="30"/>
                    </a:lnTo>
                    <a:lnTo>
                      <a:pt x="117" y="20"/>
                    </a:lnTo>
                    <a:lnTo>
                      <a:pt x="128" y="0"/>
                    </a:lnTo>
                    <a:lnTo>
                      <a:pt x="258" y="147"/>
                    </a:lnTo>
                    <a:lnTo>
                      <a:pt x="219" y="152"/>
                    </a:lnTo>
                    <a:lnTo>
                      <a:pt x="184" y="155"/>
                    </a:lnTo>
                    <a:lnTo>
                      <a:pt x="147" y="161"/>
                    </a:lnTo>
                    <a:lnTo>
                      <a:pt x="114" y="157"/>
                    </a:lnTo>
                    <a:lnTo>
                      <a:pt x="84" y="152"/>
                    </a:lnTo>
                    <a:lnTo>
                      <a:pt x="54" y="138"/>
                    </a:lnTo>
                    <a:lnTo>
                      <a:pt x="30" y="111"/>
                    </a:lnTo>
                    <a:lnTo>
                      <a:pt x="11" y="73"/>
                    </a:lnTo>
                    <a:close/>
                  </a:path>
                </a:pathLst>
              </a:custGeom>
              <a:solidFill>
                <a:srgbClr val="7FDD14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3" name="Freeform 465">
                <a:extLst>
                  <a:ext uri="{FF2B5EF4-FFF2-40B4-BE49-F238E27FC236}">
                    <a16:creationId xmlns:a16="http://schemas.microsoft.com/office/drawing/2014/main" id="{6D810F16-7573-4043-9C67-29C91F38F1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42" y="3454"/>
                <a:ext cx="262" cy="157"/>
              </a:xfrm>
              <a:custGeom>
                <a:avLst/>
                <a:gdLst>
                  <a:gd name="T0" fmla="*/ 0 w 1049"/>
                  <a:gd name="T1" fmla="*/ 0 h 625"/>
                  <a:gd name="T2" fmla="*/ 0 w 1049"/>
                  <a:gd name="T3" fmla="*/ 0 h 625"/>
                  <a:gd name="T4" fmla="*/ 0 w 1049"/>
                  <a:gd name="T5" fmla="*/ 0 h 625"/>
                  <a:gd name="T6" fmla="*/ 0 w 1049"/>
                  <a:gd name="T7" fmla="*/ 0 h 625"/>
                  <a:gd name="T8" fmla="*/ 0 w 1049"/>
                  <a:gd name="T9" fmla="*/ 0 h 625"/>
                  <a:gd name="T10" fmla="*/ 0 w 1049"/>
                  <a:gd name="T11" fmla="*/ 0 h 625"/>
                  <a:gd name="T12" fmla="*/ 0 w 1049"/>
                  <a:gd name="T13" fmla="*/ 0 h 625"/>
                  <a:gd name="T14" fmla="*/ 0 w 1049"/>
                  <a:gd name="T15" fmla="*/ 0 h 625"/>
                  <a:gd name="T16" fmla="*/ 0 w 1049"/>
                  <a:gd name="T17" fmla="*/ 0 h 625"/>
                  <a:gd name="T18" fmla="*/ 0 w 1049"/>
                  <a:gd name="T19" fmla="*/ 0 h 625"/>
                  <a:gd name="T20" fmla="*/ 0 w 1049"/>
                  <a:gd name="T21" fmla="*/ 0 h 625"/>
                  <a:gd name="T22" fmla="*/ 0 w 1049"/>
                  <a:gd name="T23" fmla="*/ 0 h 625"/>
                  <a:gd name="T24" fmla="*/ 0 w 1049"/>
                  <a:gd name="T25" fmla="*/ 0 h 625"/>
                  <a:gd name="T26" fmla="*/ 0 w 1049"/>
                  <a:gd name="T27" fmla="*/ 0 h 625"/>
                  <a:gd name="T28" fmla="*/ 0 w 1049"/>
                  <a:gd name="T29" fmla="*/ 0 h 625"/>
                  <a:gd name="T30" fmla="*/ 0 w 1049"/>
                  <a:gd name="T31" fmla="*/ 0 h 625"/>
                  <a:gd name="T32" fmla="*/ 0 w 1049"/>
                  <a:gd name="T33" fmla="*/ 0 h 625"/>
                  <a:gd name="T34" fmla="*/ 0 w 1049"/>
                  <a:gd name="T35" fmla="*/ 0 h 625"/>
                  <a:gd name="T36" fmla="*/ 0 w 1049"/>
                  <a:gd name="T37" fmla="*/ 0 h 625"/>
                  <a:gd name="T38" fmla="*/ 0 w 1049"/>
                  <a:gd name="T39" fmla="*/ 0 h 625"/>
                  <a:gd name="T40" fmla="*/ 0 w 1049"/>
                  <a:gd name="T41" fmla="*/ 0 h 625"/>
                  <a:gd name="T42" fmla="*/ 0 w 1049"/>
                  <a:gd name="T43" fmla="*/ 0 h 625"/>
                  <a:gd name="T44" fmla="*/ 0 w 1049"/>
                  <a:gd name="T45" fmla="*/ 0 h 625"/>
                  <a:gd name="T46" fmla="*/ 0 w 1049"/>
                  <a:gd name="T47" fmla="*/ 0 h 625"/>
                  <a:gd name="T48" fmla="*/ 0 w 1049"/>
                  <a:gd name="T49" fmla="*/ 0 h 625"/>
                  <a:gd name="T50" fmla="*/ 0 w 1049"/>
                  <a:gd name="T51" fmla="*/ 0 h 625"/>
                  <a:gd name="T52" fmla="*/ 0 w 1049"/>
                  <a:gd name="T53" fmla="*/ 0 h 625"/>
                  <a:gd name="T54" fmla="*/ 0 w 1049"/>
                  <a:gd name="T55" fmla="*/ 0 h 625"/>
                  <a:gd name="T56" fmla="*/ 0 w 1049"/>
                  <a:gd name="T57" fmla="*/ 0 h 625"/>
                  <a:gd name="T58" fmla="*/ 0 w 1049"/>
                  <a:gd name="T59" fmla="*/ 0 h 625"/>
                  <a:gd name="T60" fmla="*/ 0 w 1049"/>
                  <a:gd name="T61" fmla="*/ 0 h 625"/>
                  <a:gd name="T62" fmla="*/ 0 w 1049"/>
                  <a:gd name="T63" fmla="*/ 0 h 625"/>
                  <a:gd name="T64" fmla="*/ 0 w 1049"/>
                  <a:gd name="T65" fmla="*/ 0 h 625"/>
                  <a:gd name="T66" fmla="*/ 0 w 1049"/>
                  <a:gd name="T67" fmla="*/ 0 h 625"/>
                  <a:gd name="T68" fmla="*/ 0 w 1049"/>
                  <a:gd name="T69" fmla="*/ 0 h 625"/>
                  <a:gd name="T70" fmla="*/ 0 w 1049"/>
                  <a:gd name="T71" fmla="*/ 0 h 625"/>
                  <a:gd name="T72" fmla="*/ 0 w 1049"/>
                  <a:gd name="T73" fmla="*/ 0 h 625"/>
                  <a:gd name="T74" fmla="*/ 0 w 1049"/>
                  <a:gd name="T75" fmla="*/ 0 h 625"/>
                  <a:gd name="T76" fmla="*/ 0 w 1049"/>
                  <a:gd name="T77" fmla="*/ 0 h 625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w 1049"/>
                  <a:gd name="T118" fmla="*/ 0 h 625"/>
                  <a:gd name="T119" fmla="*/ 1049 w 1049"/>
                  <a:gd name="T120" fmla="*/ 625 h 625"/>
                </a:gdLst>
                <a:ahLst/>
                <a:cxnLst>
                  <a:cxn ang="T78">
                    <a:pos x="T0" y="T1"/>
                  </a:cxn>
                  <a:cxn ang="T79">
                    <a:pos x="T2" y="T3"/>
                  </a:cxn>
                  <a:cxn ang="T80">
                    <a:pos x="T4" y="T5"/>
                  </a:cxn>
                  <a:cxn ang="T81">
                    <a:pos x="T6" y="T7"/>
                  </a:cxn>
                  <a:cxn ang="T82">
                    <a:pos x="T8" y="T9"/>
                  </a:cxn>
                  <a:cxn ang="T83">
                    <a:pos x="T10" y="T11"/>
                  </a:cxn>
                  <a:cxn ang="T84">
                    <a:pos x="T12" y="T13"/>
                  </a:cxn>
                  <a:cxn ang="T85">
                    <a:pos x="T14" y="T15"/>
                  </a:cxn>
                  <a:cxn ang="T86">
                    <a:pos x="T16" y="T17"/>
                  </a:cxn>
                  <a:cxn ang="T87">
                    <a:pos x="T18" y="T19"/>
                  </a:cxn>
                  <a:cxn ang="T88">
                    <a:pos x="T20" y="T21"/>
                  </a:cxn>
                  <a:cxn ang="T89">
                    <a:pos x="T22" y="T23"/>
                  </a:cxn>
                  <a:cxn ang="T90">
                    <a:pos x="T24" y="T25"/>
                  </a:cxn>
                  <a:cxn ang="T91">
                    <a:pos x="T26" y="T27"/>
                  </a:cxn>
                  <a:cxn ang="T92">
                    <a:pos x="T28" y="T29"/>
                  </a:cxn>
                  <a:cxn ang="T93">
                    <a:pos x="T30" y="T31"/>
                  </a:cxn>
                  <a:cxn ang="T94">
                    <a:pos x="T32" y="T33"/>
                  </a:cxn>
                  <a:cxn ang="T95">
                    <a:pos x="T34" y="T35"/>
                  </a:cxn>
                  <a:cxn ang="T96">
                    <a:pos x="T36" y="T37"/>
                  </a:cxn>
                  <a:cxn ang="T97">
                    <a:pos x="T38" y="T39"/>
                  </a:cxn>
                  <a:cxn ang="T98">
                    <a:pos x="T40" y="T41"/>
                  </a:cxn>
                  <a:cxn ang="T99">
                    <a:pos x="T42" y="T43"/>
                  </a:cxn>
                  <a:cxn ang="T100">
                    <a:pos x="T44" y="T45"/>
                  </a:cxn>
                  <a:cxn ang="T101">
                    <a:pos x="T46" y="T47"/>
                  </a:cxn>
                  <a:cxn ang="T102">
                    <a:pos x="T48" y="T49"/>
                  </a:cxn>
                  <a:cxn ang="T103">
                    <a:pos x="T50" y="T51"/>
                  </a:cxn>
                  <a:cxn ang="T104">
                    <a:pos x="T52" y="T53"/>
                  </a:cxn>
                  <a:cxn ang="T105">
                    <a:pos x="T54" y="T55"/>
                  </a:cxn>
                  <a:cxn ang="T106">
                    <a:pos x="T56" y="T57"/>
                  </a:cxn>
                  <a:cxn ang="T107">
                    <a:pos x="T58" y="T59"/>
                  </a:cxn>
                  <a:cxn ang="T108">
                    <a:pos x="T60" y="T61"/>
                  </a:cxn>
                  <a:cxn ang="T109">
                    <a:pos x="T62" y="T63"/>
                  </a:cxn>
                  <a:cxn ang="T110">
                    <a:pos x="T64" y="T65"/>
                  </a:cxn>
                  <a:cxn ang="T111">
                    <a:pos x="T66" y="T67"/>
                  </a:cxn>
                  <a:cxn ang="T112">
                    <a:pos x="T68" y="T69"/>
                  </a:cxn>
                  <a:cxn ang="T113">
                    <a:pos x="T70" y="T71"/>
                  </a:cxn>
                  <a:cxn ang="T114">
                    <a:pos x="T72" y="T73"/>
                  </a:cxn>
                  <a:cxn ang="T115">
                    <a:pos x="T74" y="T75"/>
                  </a:cxn>
                  <a:cxn ang="T116">
                    <a:pos x="T76" y="T77"/>
                  </a:cxn>
                </a:cxnLst>
                <a:rect l="T117" t="T118" r="T119" b="T120"/>
                <a:pathLst>
                  <a:path w="1049" h="625">
                    <a:moveTo>
                      <a:pt x="858" y="519"/>
                    </a:moveTo>
                    <a:lnTo>
                      <a:pt x="850" y="511"/>
                    </a:lnTo>
                    <a:lnTo>
                      <a:pt x="844" y="500"/>
                    </a:lnTo>
                    <a:lnTo>
                      <a:pt x="844" y="486"/>
                    </a:lnTo>
                    <a:lnTo>
                      <a:pt x="844" y="476"/>
                    </a:lnTo>
                    <a:lnTo>
                      <a:pt x="860" y="465"/>
                    </a:lnTo>
                    <a:lnTo>
                      <a:pt x="880" y="454"/>
                    </a:lnTo>
                    <a:lnTo>
                      <a:pt x="896" y="442"/>
                    </a:lnTo>
                    <a:lnTo>
                      <a:pt x="915" y="432"/>
                    </a:lnTo>
                    <a:lnTo>
                      <a:pt x="931" y="421"/>
                    </a:lnTo>
                    <a:lnTo>
                      <a:pt x="948" y="407"/>
                    </a:lnTo>
                    <a:lnTo>
                      <a:pt x="964" y="394"/>
                    </a:lnTo>
                    <a:lnTo>
                      <a:pt x="978" y="377"/>
                    </a:lnTo>
                    <a:lnTo>
                      <a:pt x="689" y="70"/>
                    </a:lnTo>
                    <a:lnTo>
                      <a:pt x="649" y="77"/>
                    </a:lnTo>
                    <a:lnTo>
                      <a:pt x="606" y="82"/>
                    </a:lnTo>
                    <a:lnTo>
                      <a:pt x="564" y="90"/>
                    </a:lnTo>
                    <a:lnTo>
                      <a:pt x="524" y="98"/>
                    </a:lnTo>
                    <a:lnTo>
                      <a:pt x="483" y="106"/>
                    </a:lnTo>
                    <a:lnTo>
                      <a:pt x="442" y="117"/>
                    </a:lnTo>
                    <a:lnTo>
                      <a:pt x="405" y="130"/>
                    </a:lnTo>
                    <a:lnTo>
                      <a:pt x="364" y="141"/>
                    </a:lnTo>
                    <a:lnTo>
                      <a:pt x="326" y="155"/>
                    </a:lnTo>
                    <a:lnTo>
                      <a:pt x="285" y="169"/>
                    </a:lnTo>
                    <a:lnTo>
                      <a:pt x="247" y="185"/>
                    </a:lnTo>
                    <a:lnTo>
                      <a:pt x="209" y="199"/>
                    </a:lnTo>
                    <a:lnTo>
                      <a:pt x="171" y="215"/>
                    </a:lnTo>
                    <a:lnTo>
                      <a:pt x="133" y="231"/>
                    </a:lnTo>
                    <a:lnTo>
                      <a:pt x="95" y="248"/>
                    </a:lnTo>
                    <a:lnTo>
                      <a:pt x="57" y="264"/>
                    </a:lnTo>
                    <a:lnTo>
                      <a:pt x="86" y="304"/>
                    </a:lnTo>
                    <a:lnTo>
                      <a:pt x="119" y="345"/>
                    </a:lnTo>
                    <a:lnTo>
                      <a:pt x="151" y="384"/>
                    </a:lnTo>
                    <a:lnTo>
                      <a:pt x="185" y="424"/>
                    </a:lnTo>
                    <a:lnTo>
                      <a:pt x="215" y="465"/>
                    </a:lnTo>
                    <a:lnTo>
                      <a:pt x="241" y="508"/>
                    </a:lnTo>
                    <a:lnTo>
                      <a:pt x="266" y="551"/>
                    </a:lnTo>
                    <a:lnTo>
                      <a:pt x="282" y="597"/>
                    </a:lnTo>
                    <a:lnTo>
                      <a:pt x="252" y="625"/>
                    </a:lnTo>
                    <a:lnTo>
                      <a:pt x="217" y="573"/>
                    </a:lnTo>
                    <a:lnTo>
                      <a:pt x="176" y="521"/>
                    </a:lnTo>
                    <a:lnTo>
                      <a:pt x="133" y="470"/>
                    </a:lnTo>
                    <a:lnTo>
                      <a:pt x="89" y="416"/>
                    </a:lnTo>
                    <a:lnTo>
                      <a:pt x="54" y="364"/>
                    </a:lnTo>
                    <a:lnTo>
                      <a:pt x="24" y="310"/>
                    </a:lnTo>
                    <a:lnTo>
                      <a:pt x="5" y="253"/>
                    </a:lnTo>
                    <a:lnTo>
                      <a:pt x="0" y="193"/>
                    </a:lnTo>
                    <a:lnTo>
                      <a:pt x="43" y="183"/>
                    </a:lnTo>
                    <a:lnTo>
                      <a:pt x="89" y="169"/>
                    </a:lnTo>
                    <a:lnTo>
                      <a:pt x="133" y="158"/>
                    </a:lnTo>
                    <a:lnTo>
                      <a:pt x="176" y="144"/>
                    </a:lnTo>
                    <a:lnTo>
                      <a:pt x="220" y="128"/>
                    </a:lnTo>
                    <a:lnTo>
                      <a:pt x="264" y="114"/>
                    </a:lnTo>
                    <a:lnTo>
                      <a:pt x="307" y="100"/>
                    </a:lnTo>
                    <a:lnTo>
                      <a:pt x="350" y="88"/>
                    </a:lnTo>
                    <a:lnTo>
                      <a:pt x="393" y="74"/>
                    </a:lnTo>
                    <a:lnTo>
                      <a:pt x="437" y="60"/>
                    </a:lnTo>
                    <a:lnTo>
                      <a:pt x="483" y="47"/>
                    </a:lnTo>
                    <a:lnTo>
                      <a:pt x="527" y="35"/>
                    </a:lnTo>
                    <a:lnTo>
                      <a:pt x="571" y="24"/>
                    </a:lnTo>
                    <a:lnTo>
                      <a:pt x="617" y="14"/>
                    </a:lnTo>
                    <a:lnTo>
                      <a:pt x="659" y="5"/>
                    </a:lnTo>
                    <a:lnTo>
                      <a:pt x="706" y="0"/>
                    </a:lnTo>
                    <a:lnTo>
                      <a:pt x="749" y="49"/>
                    </a:lnTo>
                    <a:lnTo>
                      <a:pt x="795" y="95"/>
                    </a:lnTo>
                    <a:lnTo>
                      <a:pt x="848" y="144"/>
                    </a:lnTo>
                    <a:lnTo>
                      <a:pt x="899" y="190"/>
                    </a:lnTo>
                    <a:lnTo>
                      <a:pt x="945" y="241"/>
                    </a:lnTo>
                    <a:lnTo>
                      <a:pt x="989" y="294"/>
                    </a:lnTo>
                    <a:lnTo>
                      <a:pt x="1024" y="348"/>
                    </a:lnTo>
                    <a:lnTo>
                      <a:pt x="1049" y="405"/>
                    </a:lnTo>
                    <a:lnTo>
                      <a:pt x="1029" y="430"/>
                    </a:lnTo>
                    <a:lnTo>
                      <a:pt x="1007" y="448"/>
                    </a:lnTo>
                    <a:lnTo>
                      <a:pt x="983" y="465"/>
                    </a:lnTo>
                    <a:lnTo>
                      <a:pt x="961" y="481"/>
                    </a:lnTo>
                    <a:lnTo>
                      <a:pt x="936" y="492"/>
                    </a:lnTo>
                    <a:lnTo>
                      <a:pt x="910" y="502"/>
                    </a:lnTo>
                    <a:lnTo>
                      <a:pt x="885" y="511"/>
                    </a:lnTo>
                    <a:lnTo>
                      <a:pt x="858" y="519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4" name="Freeform 466">
                <a:extLst>
                  <a:ext uri="{FF2B5EF4-FFF2-40B4-BE49-F238E27FC236}">
                    <a16:creationId xmlns:a16="http://schemas.microsoft.com/office/drawing/2014/main" id="{B9BB9D77-48EE-3F4B-87CD-0B7CC5F62A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37" y="3687"/>
                <a:ext cx="113" cy="139"/>
              </a:xfrm>
              <a:custGeom>
                <a:avLst/>
                <a:gdLst>
                  <a:gd name="T0" fmla="*/ 0 w 450"/>
                  <a:gd name="T1" fmla="*/ 0 h 556"/>
                  <a:gd name="T2" fmla="*/ 0 w 450"/>
                  <a:gd name="T3" fmla="*/ 0 h 556"/>
                  <a:gd name="T4" fmla="*/ 0 w 450"/>
                  <a:gd name="T5" fmla="*/ 0 h 556"/>
                  <a:gd name="T6" fmla="*/ 0 w 450"/>
                  <a:gd name="T7" fmla="*/ 0 h 556"/>
                  <a:gd name="T8" fmla="*/ 0 w 450"/>
                  <a:gd name="T9" fmla="*/ 0 h 556"/>
                  <a:gd name="T10" fmla="*/ 0 w 450"/>
                  <a:gd name="T11" fmla="*/ 0 h 556"/>
                  <a:gd name="T12" fmla="*/ 0 w 450"/>
                  <a:gd name="T13" fmla="*/ 0 h 556"/>
                  <a:gd name="T14" fmla="*/ 0 w 450"/>
                  <a:gd name="T15" fmla="*/ 0 h 556"/>
                  <a:gd name="T16" fmla="*/ 0 w 450"/>
                  <a:gd name="T17" fmla="*/ 0 h 556"/>
                  <a:gd name="T18" fmla="*/ 0 w 450"/>
                  <a:gd name="T19" fmla="*/ 0 h 556"/>
                  <a:gd name="T20" fmla="*/ 0 w 450"/>
                  <a:gd name="T21" fmla="*/ 0 h 556"/>
                  <a:gd name="T22" fmla="*/ 0 w 450"/>
                  <a:gd name="T23" fmla="*/ 0 h 556"/>
                  <a:gd name="T24" fmla="*/ 0 w 450"/>
                  <a:gd name="T25" fmla="*/ 0 h 556"/>
                  <a:gd name="T26" fmla="*/ 0 w 450"/>
                  <a:gd name="T27" fmla="*/ 0 h 556"/>
                  <a:gd name="T28" fmla="*/ 0 w 450"/>
                  <a:gd name="T29" fmla="*/ 0 h 556"/>
                  <a:gd name="T30" fmla="*/ 0 w 450"/>
                  <a:gd name="T31" fmla="*/ 0 h 556"/>
                  <a:gd name="T32" fmla="*/ 0 w 450"/>
                  <a:gd name="T33" fmla="*/ 0 h 556"/>
                  <a:gd name="T34" fmla="*/ 0 w 450"/>
                  <a:gd name="T35" fmla="*/ 0 h 55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450"/>
                  <a:gd name="T55" fmla="*/ 0 h 556"/>
                  <a:gd name="T56" fmla="*/ 450 w 450"/>
                  <a:gd name="T57" fmla="*/ 556 h 55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450" h="556">
                    <a:moveTo>
                      <a:pt x="380" y="554"/>
                    </a:moveTo>
                    <a:lnTo>
                      <a:pt x="342" y="480"/>
                    </a:lnTo>
                    <a:lnTo>
                      <a:pt x="296" y="413"/>
                    </a:lnTo>
                    <a:lnTo>
                      <a:pt x="242" y="347"/>
                    </a:lnTo>
                    <a:lnTo>
                      <a:pt x="187" y="284"/>
                    </a:lnTo>
                    <a:lnTo>
                      <a:pt x="131" y="219"/>
                    </a:lnTo>
                    <a:lnTo>
                      <a:pt x="78" y="154"/>
                    </a:lnTo>
                    <a:lnTo>
                      <a:pt x="32" y="87"/>
                    </a:lnTo>
                    <a:lnTo>
                      <a:pt x="0" y="16"/>
                    </a:lnTo>
                    <a:lnTo>
                      <a:pt x="11" y="2"/>
                    </a:lnTo>
                    <a:lnTo>
                      <a:pt x="27" y="0"/>
                    </a:lnTo>
                    <a:lnTo>
                      <a:pt x="43" y="0"/>
                    </a:lnTo>
                    <a:lnTo>
                      <a:pt x="57" y="0"/>
                    </a:lnTo>
                    <a:lnTo>
                      <a:pt x="450" y="524"/>
                    </a:lnTo>
                    <a:lnTo>
                      <a:pt x="440" y="538"/>
                    </a:lnTo>
                    <a:lnTo>
                      <a:pt x="424" y="548"/>
                    </a:lnTo>
                    <a:lnTo>
                      <a:pt x="404" y="556"/>
                    </a:lnTo>
                    <a:lnTo>
                      <a:pt x="380" y="55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5" name="Freeform 467">
                <a:extLst>
                  <a:ext uri="{FF2B5EF4-FFF2-40B4-BE49-F238E27FC236}">
                    <a16:creationId xmlns:a16="http://schemas.microsoft.com/office/drawing/2014/main" id="{FAFBE01D-2CC0-6B4F-B4DC-463AAF45A8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1" y="3305"/>
                <a:ext cx="267" cy="165"/>
              </a:xfrm>
              <a:custGeom>
                <a:avLst/>
                <a:gdLst>
                  <a:gd name="T0" fmla="*/ 0 w 1067"/>
                  <a:gd name="T1" fmla="*/ 0 h 660"/>
                  <a:gd name="T2" fmla="*/ 0 w 1067"/>
                  <a:gd name="T3" fmla="*/ 0 h 660"/>
                  <a:gd name="T4" fmla="*/ 0 w 1067"/>
                  <a:gd name="T5" fmla="*/ 0 h 660"/>
                  <a:gd name="T6" fmla="*/ 0 w 1067"/>
                  <a:gd name="T7" fmla="*/ 0 h 660"/>
                  <a:gd name="T8" fmla="*/ 0 w 1067"/>
                  <a:gd name="T9" fmla="*/ 0 h 660"/>
                  <a:gd name="T10" fmla="*/ 0 w 1067"/>
                  <a:gd name="T11" fmla="*/ 0 h 660"/>
                  <a:gd name="T12" fmla="*/ 0 w 1067"/>
                  <a:gd name="T13" fmla="*/ 0 h 660"/>
                  <a:gd name="T14" fmla="*/ 0 w 1067"/>
                  <a:gd name="T15" fmla="*/ 0 h 660"/>
                  <a:gd name="T16" fmla="*/ 0 w 1067"/>
                  <a:gd name="T17" fmla="*/ 0 h 660"/>
                  <a:gd name="T18" fmla="*/ 0 w 1067"/>
                  <a:gd name="T19" fmla="*/ 0 h 660"/>
                  <a:gd name="T20" fmla="*/ 0 w 1067"/>
                  <a:gd name="T21" fmla="*/ 0 h 660"/>
                  <a:gd name="T22" fmla="*/ 0 w 1067"/>
                  <a:gd name="T23" fmla="*/ 0 h 660"/>
                  <a:gd name="T24" fmla="*/ 0 w 1067"/>
                  <a:gd name="T25" fmla="*/ 0 h 660"/>
                  <a:gd name="T26" fmla="*/ 0 w 1067"/>
                  <a:gd name="T27" fmla="*/ 0 h 660"/>
                  <a:gd name="T28" fmla="*/ 0 w 1067"/>
                  <a:gd name="T29" fmla="*/ 0 h 660"/>
                  <a:gd name="T30" fmla="*/ 0 w 1067"/>
                  <a:gd name="T31" fmla="*/ 0 h 660"/>
                  <a:gd name="T32" fmla="*/ 0 w 1067"/>
                  <a:gd name="T33" fmla="*/ 0 h 660"/>
                  <a:gd name="T34" fmla="*/ 0 w 1067"/>
                  <a:gd name="T35" fmla="*/ 0 h 660"/>
                  <a:gd name="T36" fmla="*/ 0 w 1067"/>
                  <a:gd name="T37" fmla="*/ 0 h 660"/>
                  <a:gd name="T38" fmla="*/ 0 w 1067"/>
                  <a:gd name="T39" fmla="*/ 0 h 660"/>
                  <a:gd name="T40" fmla="*/ 0 w 1067"/>
                  <a:gd name="T41" fmla="*/ 0 h 660"/>
                  <a:gd name="T42" fmla="*/ 0 w 1067"/>
                  <a:gd name="T43" fmla="*/ 0 h 660"/>
                  <a:gd name="T44" fmla="*/ 0 w 1067"/>
                  <a:gd name="T45" fmla="*/ 0 h 660"/>
                  <a:gd name="T46" fmla="*/ 0 w 1067"/>
                  <a:gd name="T47" fmla="*/ 0 h 660"/>
                  <a:gd name="T48" fmla="*/ 0 w 1067"/>
                  <a:gd name="T49" fmla="*/ 0 h 660"/>
                  <a:gd name="T50" fmla="*/ 0 w 1067"/>
                  <a:gd name="T51" fmla="*/ 0 h 660"/>
                  <a:gd name="T52" fmla="*/ 0 w 1067"/>
                  <a:gd name="T53" fmla="*/ 0 h 660"/>
                  <a:gd name="T54" fmla="*/ 0 w 1067"/>
                  <a:gd name="T55" fmla="*/ 0 h 660"/>
                  <a:gd name="T56" fmla="*/ 0 w 1067"/>
                  <a:gd name="T57" fmla="*/ 0 h 660"/>
                  <a:gd name="T58" fmla="*/ 0 w 1067"/>
                  <a:gd name="T59" fmla="*/ 0 h 660"/>
                  <a:gd name="T60" fmla="*/ 0 w 1067"/>
                  <a:gd name="T61" fmla="*/ 0 h 660"/>
                  <a:gd name="T62" fmla="*/ 0 w 1067"/>
                  <a:gd name="T63" fmla="*/ 0 h 660"/>
                  <a:gd name="T64" fmla="*/ 0 w 1067"/>
                  <a:gd name="T65" fmla="*/ 0 h 660"/>
                  <a:gd name="T66" fmla="*/ 0 w 1067"/>
                  <a:gd name="T67" fmla="*/ 0 h 660"/>
                  <a:gd name="T68" fmla="*/ 0 w 1067"/>
                  <a:gd name="T69" fmla="*/ 0 h 660"/>
                  <a:gd name="T70" fmla="*/ 0 w 1067"/>
                  <a:gd name="T71" fmla="*/ 0 h 660"/>
                  <a:gd name="T72" fmla="*/ 0 w 1067"/>
                  <a:gd name="T73" fmla="*/ 0 h 660"/>
                  <a:gd name="T74" fmla="*/ 0 w 1067"/>
                  <a:gd name="T75" fmla="*/ 0 h 660"/>
                  <a:gd name="T76" fmla="*/ 0 w 1067"/>
                  <a:gd name="T77" fmla="*/ 0 h 660"/>
                  <a:gd name="T78" fmla="*/ 0 w 1067"/>
                  <a:gd name="T79" fmla="*/ 0 h 660"/>
                  <a:gd name="T80" fmla="*/ 0 w 1067"/>
                  <a:gd name="T81" fmla="*/ 0 h 660"/>
                  <a:gd name="T82" fmla="*/ 0 w 1067"/>
                  <a:gd name="T83" fmla="*/ 0 h 660"/>
                  <a:gd name="T84" fmla="*/ 0 w 1067"/>
                  <a:gd name="T85" fmla="*/ 0 h 660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w 1067"/>
                  <a:gd name="T130" fmla="*/ 0 h 660"/>
                  <a:gd name="T131" fmla="*/ 1067 w 1067"/>
                  <a:gd name="T132" fmla="*/ 660 h 660"/>
                </a:gdLst>
                <a:ahLst/>
                <a:cxnLst>
                  <a:cxn ang="T86">
                    <a:pos x="T0" y="T1"/>
                  </a:cxn>
                  <a:cxn ang="T87">
                    <a:pos x="T2" y="T3"/>
                  </a:cxn>
                  <a:cxn ang="T88">
                    <a:pos x="T4" y="T5"/>
                  </a:cxn>
                  <a:cxn ang="T89">
                    <a:pos x="T6" y="T7"/>
                  </a:cxn>
                  <a:cxn ang="T90">
                    <a:pos x="T8" y="T9"/>
                  </a:cxn>
                  <a:cxn ang="T91">
                    <a:pos x="T10" y="T11"/>
                  </a:cxn>
                  <a:cxn ang="T92">
                    <a:pos x="T12" y="T13"/>
                  </a:cxn>
                  <a:cxn ang="T93">
                    <a:pos x="T14" y="T15"/>
                  </a:cxn>
                  <a:cxn ang="T94">
                    <a:pos x="T16" y="T17"/>
                  </a:cxn>
                  <a:cxn ang="T95">
                    <a:pos x="T18" y="T19"/>
                  </a:cxn>
                  <a:cxn ang="T96">
                    <a:pos x="T20" y="T21"/>
                  </a:cxn>
                  <a:cxn ang="T97">
                    <a:pos x="T22" y="T23"/>
                  </a:cxn>
                  <a:cxn ang="T98">
                    <a:pos x="T24" y="T25"/>
                  </a:cxn>
                  <a:cxn ang="T99">
                    <a:pos x="T26" y="T27"/>
                  </a:cxn>
                  <a:cxn ang="T100">
                    <a:pos x="T28" y="T29"/>
                  </a:cxn>
                  <a:cxn ang="T101">
                    <a:pos x="T30" y="T31"/>
                  </a:cxn>
                  <a:cxn ang="T102">
                    <a:pos x="T32" y="T33"/>
                  </a:cxn>
                  <a:cxn ang="T103">
                    <a:pos x="T34" y="T35"/>
                  </a:cxn>
                  <a:cxn ang="T104">
                    <a:pos x="T36" y="T37"/>
                  </a:cxn>
                  <a:cxn ang="T105">
                    <a:pos x="T38" y="T39"/>
                  </a:cxn>
                  <a:cxn ang="T106">
                    <a:pos x="T40" y="T41"/>
                  </a:cxn>
                  <a:cxn ang="T107">
                    <a:pos x="T42" y="T43"/>
                  </a:cxn>
                  <a:cxn ang="T108">
                    <a:pos x="T44" y="T45"/>
                  </a:cxn>
                  <a:cxn ang="T109">
                    <a:pos x="T46" y="T47"/>
                  </a:cxn>
                  <a:cxn ang="T110">
                    <a:pos x="T48" y="T49"/>
                  </a:cxn>
                  <a:cxn ang="T111">
                    <a:pos x="T50" y="T51"/>
                  </a:cxn>
                  <a:cxn ang="T112">
                    <a:pos x="T52" y="T53"/>
                  </a:cxn>
                  <a:cxn ang="T113">
                    <a:pos x="T54" y="T55"/>
                  </a:cxn>
                  <a:cxn ang="T114">
                    <a:pos x="T56" y="T57"/>
                  </a:cxn>
                  <a:cxn ang="T115">
                    <a:pos x="T58" y="T59"/>
                  </a:cxn>
                  <a:cxn ang="T116">
                    <a:pos x="T60" y="T61"/>
                  </a:cxn>
                  <a:cxn ang="T117">
                    <a:pos x="T62" y="T63"/>
                  </a:cxn>
                  <a:cxn ang="T118">
                    <a:pos x="T64" y="T65"/>
                  </a:cxn>
                  <a:cxn ang="T119">
                    <a:pos x="T66" y="T67"/>
                  </a:cxn>
                  <a:cxn ang="T120">
                    <a:pos x="T68" y="T69"/>
                  </a:cxn>
                  <a:cxn ang="T121">
                    <a:pos x="T70" y="T71"/>
                  </a:cxn>
                  <a:cxn ang="T122">
                    <a:pos x="T72" y="T73"/>
                  </a:cxn>
                  <a:cxn ang="T123">
                    <a:pos x="T74" y="T75"/>
                  </a:cxn>
                  <a:cxn ang="T124">
                    <a:pos x="T76" y="T77"/>
                  </a:cxn>
                  <a:cxn ang="T125">
                    <a:pos x="T78" y="T79"/>
                  </a:cxn>
                  <a:cxn ang="T126">
                    <a:pos x="T80" y="T81"/>
                  </a:cxn>
                  <a:cxn ang="T127">
                    <a:pos x="T82" y="T83"/>
                  </a:cxn>
                  <a:cxn ang="T128">
                    <a:pos x="T84" y="T85"/>
                  </a:cxn>
                </a:cxnLst>
                <a:rect l="T129" t="T130" r="T131" b="T132"/>
                <a:pathLst>
                  <a:path w="1067" h="660">
                    <a:moveTo>
                      <a:pt x="791" y="448"/>
                    </a:moveTo>
                    <a:lnTo>
                      <a:pt x="801" y="420"/>
                    </a:lnTo>
                    <a:lnTo>
                      <a:pt x="820" y="401"/>
                    </a:lnTo>
                    <a:lnTo>
                      <a:pt x="842" y="385"/>
                    </a:lnTo>
                    <a:lnTo>
                      <a:pt x="870" y="375"/>
                    </a:lnTo>
                    <a:lnTo>
                      <a:pt x="900" y="366"/>
                    </a:lnTo>
                    <a:lnTo>
                      <a:pt x="926" y="355"/>
                    </a:lnTo>
                    <a:lnTo>
                      <a:pt x="956" y="348"/>
                    </a:lnTo>
                    <a:lnTo>
                      <a:pt x="981" y="334"/>
                    </a:lnTo>
                    <a:lnTo>
                      <a:pt x="954" y="320"/>
                    </a:lnTo>
                    <a:lnTo>
                      <a:pt x="926" y="302"/>
                    </a:lnTo>
                    <a:lnTo>
                      <a:pt x="900" y="277"/>
                    </a:lnTo>
                    <a:lnTo>
                      <a:pt x="875" y="247"/>
                    </a:lnTo>
                    <a:lnTo>
                      <a:pt x="848" y="217"/>
                    </a:lnTo>
                    <a:lnTo>
                      <a:pt x="824" y="184"/>
                    </a:lnTo>
                    <a:lnTo>
                      <a:pt x="799" y="152"/>
                    </a:lnTo>
                    <a:lnTo>
                      <a:pt x="771" y="122"/>
                    </a:lnTo>
                    <a:lnTo>
                      <a:pt x="748" y="94"/>
                    </a:lnTo>
                    <a:lnTo>
                      <a:pt x="720" y="73"/>
                    </a:lnTo>
                    <a:lnTo>
                      <a:pt x="690" y="57"/>
                    </a:lnTo>
                    <a:lnTo>
                      <a:pt x="660" y="49"/>
                    </a:lnTo>
                    <a:lnTo>
                      <a:pt x="628" y="46"/>
                    </a:lnTo>
                    <a:lnTo>
                      <a:pt x="595" y="57"/>
                    </a:lnTo>
                    <a:lnTo>
                      <a:pt x="560" y="78"/>
                    </a:lnTo>
                    <a:lnTo>
                      <a:pt x="522" y="112"/>
                    </a:lnTo>
                    <a:lnTo>
                      <a:pt x="471" y="122"/>
                    </a:lnTo>
                    <a:lnTo>
                      <a:pt x="416" y="133"/>
                    </a:lnTo>
                    <a:lnTo>
                      <a:pt x="364" y="144"/>
                    </a:lnTo>
                    <a:lnTo>
                      <a:pt x="313" y="152"/>
                    </a:lnTo>
                    <a:lnTo>
                      <a:pt x="261" y="166"/>
                    </a:lnTo>
                    <a:lnTo>
                      <a:pt x="212" y="179"/>
                    </a:lnTo>
                    <a:lnTo>
                      <a:pt x="164" y="198"/>
                    </a:lnTo>
                    <a:lnTo>
                      <a:pt x="117" y="223"/>
                    </a:lnTo>
                    <a:lnTo>
                      <a:pt x="155" y="274"/>
                    </a:lnTo>
                    <a:lnTo>
                      <a:pt x="191" y="325"/>
                    </a:lnTo>
                    <a:lnTo>
                      <a:pt x="228" y="378"/>
                    </a:lnTo>
                    <a:lnTo>
                      <a:pt x="263" y="429"/>
                    </a:lnTo>
                    <a:lnTo>
                      <a:pt x="300" y="480"/>
                    </a:lnTo>
                    <a:lnTo>
                      <a:pt x="335" y="530"/>
                    </a:lnTo>
                    <a:lnTo>
                      <a:pt x="372" y="581"/>
                    </a:lnTo>
                    <a:lnTo>
                      <a:pt x="413" y="630"/>
                    </a:lnTo>
                    <a:lnTo>
                      <a:pt x="408" y="635"/>
                    </a:lnTo>
                    <a:lnTo>
                      <a:pt x="402" y="641"/>
                    </a:lnTo>
                    <a:lnTo>
                      <a:pt x="397" y="649"/>
                    </a:lnTo>
                    <a:lnTo>
                      <a:pt x="397" y="660"/>
                    </a:lnTo>
                    <a:lnTo>
                      <a:pt x="356" y="660"/>
                    </a:lnTo>
                    <a:lnTo>
                      <a:pt x="307" y="605"/>
                    </a:lnTo>
                    <a:lnTo>
                      <a:pt x="267" y="549"/>
                    </a:lnTo>
                    <a:lnTo>
                      <a:pt x="226" y="491"/>
                    </a:lnTo>
                    <a:lnTo>
                      <a:pt x="187" y="431"/>
                    </a:lnTo>
                    <a:lnTo>
                      <a:pt x="147" y="375"/>
                    </a:lnTo>
                    <a:lnTo>
                      <a:pt x="104" y="320"/>
                    </a:lnTo>
                    <a:lnTo>
                      <a:pt x="55" y="269"/>
                    </a:lnTo>
                    <a:lnTo>
                      <a:pt x="0" y="223"/>
                    </a:lnTo>
                    <a:lnTo>
                      <a:pt x="0" y="179"/>
                    </a:lnTo>
                    <a:lnTo>
                      <a:pt x="44" y="166"/>
                    </a:lnTo>
                    <a:lnTo>
                      <a:pt x="87" y="149"/>
                    </a:lnTo>
                    <a:lnTo>
                      <a:pt x="134" y="138"/>
                    </a:lnTo>
                    <a:lnTo>
                      <a:pt x="177" y="124"/>
                    </a:lnTo>
                    <a:lnTo>
                      <a:pt x="223" y="114"/>
                    </a:lnTo>
                    <a:lnTo>
                      <a:pt x="267" y="101"/>
                    </a:lnTo>
                    <a:lnTo>
                      <a:pt x="313" y="89"/>
                    </a:lnTo>
                    <a:lnTo>
                      <a:pt x="359" y="82"/>
                    </a:lnTo>
                    <a:lnTo>
                      <a:pt x="406" y="71"/>
                    </a:lnTo>
                    <a:lnTo>
                      <a:pt x="452" y="59"/>
                    </a:lnTo>
                    <a:lnTo>
                      <a:pt x="498" y="52"/>
                    </a:lnTo>
                    <a:lnTo>
                      <a:pt x="544" y="41"/>
                    </a:lnTo>
                    <a:lnTo>
                      <a:pt x="590" y="30"/>
                    </a:lnTo>
                    <a:lnTo>
                      <a:pt x="633" y="22"/>
                    </a:lnTo>
                    <a:lnTo>
                      <a:pt x="679" y="11"/>
                    </a:lnTo>
                    <a:lnTo>
                      <a:pt x="725" y="0"/>
                    </a:lnTo>
                    <a:lnTo>
                      <a:pt x="764" y="46"/>
                    </a:lnTo>
                    <a:lnTo>
                      <a:pt x="810" y="89"/>
                    </a:lnTo>
                    <a:lnTo>
                      <a:pt x="856" y="130"/>
                    </a:lnTo>
                    <a:lnTo>
                      <a:pt x="902" y="174"/>
                    </a:lnTo>
                    <a:lnTo>
                      <a:pt x="949" y="214"/>
                    </a:lnTo>
                    <a:lnTo>
                      <a:pt x="992" y="258"/>
                    </a:lnTo>
                    <a:lnTo>
                      <a:pt x="1032" y="304"/>
                    </a:lnTo>
                    <a:lnTo>
                      <a:pt x="1067" y="350"/>
                    </a:lnTo>
                    <a:lnTo>
                      <a:pt x="1038" y="375"/>
                    </a:lnTo>
                    <a:lnTo>
                      <a:pt x="1008" y="396"/>
                    </a:lnTo>
                    <a:lnTo>
                      <a:pt x="972" y="410"/>
                    </a:lnTo>
                    <a:lnTo>
                      <a:pt x="940" y="424"/>
                    </a:lnTo>
                    <a:lnTo>
                      <a:pt x="905" y="431"/>
                    </a:lnTo>
                    <a:lnTo>
                      <a:pt x="866" y="440"/>
                    </a:lnTo>
                    <a:lnTo>
                      <a:pt x="829" y="445"/>
                    </a:lnTo>
                    <a:lnTo>
                      <a:pt x="791" y="448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6" name="Freeform 468">
                <a:extLst>
                  <a:ext uri="{FF2B5EF4-FFF2-40B4-BE49-F238E27FC236}">
                    <a16:creationId xmlns:a16="http://schemas.microsoft.com/office/drawing/2014/main" id="{8716D19F-2D44-FE4B-8600-772D309BF6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10" y="3527"/>
                <a:ext cx="85" cy="105"/>
              </a:xfrm>
              <a:custGeom>
                <a:avLst/>
                <a:gdLst>
                  <a:gd name="T0" fmla="*/ 0 w 342"/>
                  <a:gd name="T1" fmla="*/ 0 h 421"/>
                  <a:gd name="T2" fmla="*/ 0 w 342"/>
                  <a:gd name="T3" fmla="*/ 0 h 421"/>
                  <a:gd name="T4" fmla="*/ 0 w 342"/>
                  <a:gd name="T5" fmla="*/ 0 h 421"/>
                  <a:gd name="T6" fmla="*/ 0 w 342"/>
                  <a:gd name="T7" fmla="*/ 0 h 421"/>
                  <a:gd name="T8" fmla="*/ 0 w 342"/>
                  <a:gd name="T9" fmla="*/ 0 h 421"/>
                  <a:gd name="T10" fmla="*/ 0 w 342"/>
                  <a:gd name="T11" fmla="*/ 0 h 421"/>
                  <a:gd name="T12" fmla="*/ 0 w 342"/>
                  <a:gd name="T13" fmla="*/ 0 h 421"/>
                  <a:gd name="T14" fmla="*/ 0 w 342"/>
                  <a:gd name="T15" fmla="*/ 0 h 421"/>
                  <a:gd name="T16" fmla="*/ 0 w 342"/>
                  <a:gd name="T17" fmla="*/ 0 h 421"/>
                  <a:gd name="T18" fmla="*/ 0 w 342"/>
                  <a:gd name="T19" fmla="*/ 0 h 421"/>
                  <a:gd name="T20" fmla="*/ 0 w 342"/>
                  <a:gd name="T21" fmla="*/ 0 h 421"/>
                  <a:gd name="T22" fmla="*/ 0 w 342"/>
                  <a:gd name="T23" fmla="*/ 0 h 421"/>
                  <a:gd name="T24" fmla="*/ 0 w 342"/>
                  <a:gd name="T25" fmla="*/ 0 h 421"/>
                  <a:gd name="T26" fmla="*/ 0 w 342"/>
                  <a:gd name="T27" fmla="*/ 0 h 421"/>
                  <a:gd name="T28" fmla="*/ 0 w 342"/>
                  <a:gd name="T29" fmla="*/ 0 h 421"/>
                  <a:gd name="T30" fmla="*/ 0 w 342"/>
                  <a:gd name="T31" fmla="*/ 0 h 421"/>
                  <a:gd name="T32" fmla="*/ 0 w 342"/>
                  <a:gd name="T33" fmla="*/ 0 h 421"/>
                  <a:gd name="T34" fmla="*/ 0 w 342"/>
                  <a:gd name="T35" fmla="*/ 0 h 421"/>
                  <a:gd name="T36" fmla="*/ 0 w 342"/>
                  <a:gd name="T37" fmla="*/ 0 h 421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342"/>
                  <a:gd name="T58" fmla="*/ 0 h 421"/>
                  <a:gd name="T59" fmla="*/ 342 w 342"/>
                  <a:gd name="T60" fmla="*/ 421 h 421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342" h="421">
                    <a:moveTo>
                      <a:pt x="296" y="421"/>
                    </a:moveTo>
                    <a:lnTo>
                      <a:pt x="250" y="377"/>
                    </a:lnTo>
                    <a:lnTo>
                      <a:pt x="210" y="334"/>
                    </a:lnTo>
                    <a:lnTo>
                      <a:pt x="166" y="287"/>
                    </a:lnTo>
                    <a:lnTo>
                      <a:pt x="129" y="239"/>
                    </a:lnTo>
                    <a:lnTo>
                      <a:pt x="93" y="187"/>
                    </a:lnTo>
                    <a:lnTo>
                      <a:pt x="58" y="135"/>
                    </a:lnTo>
                    <a:lnTo>
                      <a:pt x="28" y="81"/>
                    </a:lnTo>
                    <a:lnTo>
                      <a:pt x="0" y="27"/>
                    </a:lnTo>
                    <a:lnTo>
                      <a:pt x="30" y="0"/>
                    </a:lnTo>
                    <a:lnTo>
                      <a:pt x="69" y="49"/>
                    </a:lnTo>
                    <a:lnTo>
                      <a:pt x="109" y="95"/>
                    </a:lnTo>
                    <a:lnTo>
                      <a:pt x="153" y="144"/>
                    </a:lnTo>
                    <a:lnTo>
                      <a:pt x="199" y="193"/>
                    </a:lnTo>
                    <a:lnTo>
                      <a:pt x="240" y="244"/>
                    </a:lnTo>
                    <a:lnTo>
                      <a:pt x="280" y="299"/>
                    </a:lnTo>
                    <a:lnTo>
                      <a:pt x="316" y="352"/>
                    </a:lnTo>
                    <a:lnTo>
                      <a:pt x="342" y="410"/>
                    </a:lnTo>
                    <a:lnTo>
                      <a:pt x="296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7" name="Freeform 469">
                <a:extLst>
                  <a:ext uri="{FF2B5EF4-FFF2-40B4-BE49-F238E27FC236}">
                    <a16:creationId xmlns:a16="http://schemas.microsoft.com/office/drawing/2014/main" id="{FF8652F7-D19D-CB42-AE90-D88D87766E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8" y="3159"/>
                <a:ext cx="256" cy="123"/>
              </a:xfrm>
              <a:custGeom>
                <a:avLst/>
                <a:gdLst>
                  <a:gd name="T0" fmla="*/ 0 w 1024"/>
                  <a:gd name="T1" fmla="*/ 0 h 489"/>
                  <a:gd name="T2" fmla="*/ 0 w 1024"/>
                  <a:gd name="T3" fmla="*/ 0 h 489"/>
                  <a:gd name="T4" fmla="*/ 0 w 1024"/>
                  <a:gd name="T5" fmla="*/ 0 h 489"/>
                  <a:gd name="T6" fmla="*/ 0 w 1024"/>
                  <a:gd name="T7" fmla="*/ 0 h 489"/>
                  <a:gd name="T8" fmla="*/ 0 w 1024"/>
                  <a:gd name="T9" fmla="*/ 0 h 489"/>
                  <a:gd name="T10" fmla="*/ 0 w 1024"/>
                  <a:gd name="T11" fmla="*/ 0 h 489"/>
                  <a:gd name="T12" fmla="*/ 0 w 1024"/>
                  <a:gd name="T13" fmla="*/ 0 h 489"/>
                  <a:gd name="T14" fmla="*/ 0 w 1024"/>
                  <a:gd name="T15" fmla="*/ 0 h 489"/>
                  <a:gd name="T16" fmla="*/ 0 w 1024"/>
                  <a:gd name="T17" fmla="*/ 0 h 489"/>
                  <a:gd name="T18" fmla="*/ 0 w 1024"/>
                  <a:gd name="T19" fmla="*/ 0 h 489"/>
                  <a:gd name="T20" fmla="*/ 0 w 1024"/>
                  <a:gd name="T21" fmla="*/ 0 h 489"/>
                  <a:gd name="T22" fmla="*/ 0 w 1024"/>
                  <a:gd name="T23" fmla="*/ 0 h 489"/>
                  <a:gd name="T24" fmla="*/ 0 w 1024"/>
                  <a:gd name="T25" fmla="*/ 0 h 489"/>
                  <a:gd name="T26" fmla="*/ 0 w 1024"/>
                  <a:gd name="T27" fmla="*/ 0 h 489"/>
                  <a:gd name="T28" fmla="*/ 0 w 1024"/>
                  <a:gd name="T29" fmla="*/ 0 h 489"/>
                  <a:gd name="T30" fmla="*/ 0 w 1024"/>
                  <a:gd name="T31" fmla="*/ 0 h 489"/>
                  <a:gd name="T32" fmla="*/ 0 w 1024"/>
                  <a:gd name="T33" fmla="*/ 0 h 489"/>
                  <a:gd name="T34" fmla="*/ 0 w 1024"/>
                  <a:gd name="T35" fmla="*/ 0 h 489"/>
                  <a:gd name="T36" fmla="*/ 0 w 1024"/>
                  <a:gd name="T37" fmla="*/ 0 h 489"/>
                  <a:gd name="T38" fmla="*/ 0 w 1024"/>
                  <a:gd name="T39" fmla="*/ 0 h 489"/>
                  <a:gd name="T40" fmla="*/ 0 w 1024"/>
                  <a:gd name="T41" fmla="*/ 0 h 489"/>
                  <a:gd name="T42" fmla="*/ 0 w 1024"/>
                  <a:gd name="T43" fmla="*/ 0 h 489"/>
                  <a:gd name="T44" fmla="*/ 0 w 1024"/>
                  <a:gd name="T45" fmla="*/ 0 h 489"/>
                  <a:gd name="T46" fmla="*/ 0 w 1024"/>
                  <a:gd name="T47" fmla="*/ 0 h 489"/>
                  <a:gd name="T48" fmla="*/ 0 w 1024"/>
                  <a:gd name="T49" fmla="*/ 0 h 489"/>
                  <a:gd name="T50" fmla="*/ 0 w 1024"/>
                  <a:gd name="T51" fmla="*/ 0 h 489"/>
                  <a:gd name="T52" fmla="*/ 0 w 1024"/>
                  <a:gd name="T53" fmla="*/ 0 h 489"/>
                  <a:gd name="T54" fmla="*/ 0 w 1024"/>
                  <a:gd name="T55" fmla="*/ 0 h 489"/>
                  <a:gd name="T56" fmla="*/ 0 w 1024"/>
                  <a:gd name="T57" fmla="*/ 0 h 489"/>
                  <a:gd name="T58" fmla="*/ 0 w 1024"/>
                  <a:gd name="T59" fmla="*/ 0 h 489"/>
                  <a:gd name="T60" fmla="*/ 0 w 1024"/>
                  <a:gd name="T61" fmla="*/ 0 h 489"/>
                  <a:gd name="T62" fmla="*/ 0 w 1024"/>
                  <a:gd name="T63" fmla="*/ 0 h 489"/>
                  <a:gd name="T64" fmla="*/ 0 w 1024"/>
                  <a:gd name="T65" fmla="*/ 0 h 489"/>
                  <a:gd name="T66" fmla="*/ 0 w 1024"/>
                  <a:gd name="T67" fmla="*/ 0 h 489"/>
                  <a:gd name="T68" fmla="*/ 0 w 1024"/>
                  <a:gd name="T69" fmla="*/ 0 h 489"/>
                  <a:gd name="T70" fmla="*/ 0 w 1024"/>
                  <a:gd name="T71" fmla="*/ 0 h 489"/>
                  <a:gd name="T72" fmla="*/ 0 w 1024"/>
                  <a:gd name="T73" fmla="*/ 0 h 489"/>
                  <a:gd name="T74" fmla="*/ 0 w 1024"/>
                  <a:gd name="T75" fmla="*/ 0 h 489"/>
                  <a:gd name="T76" fmla="*/ 0 w 1024"/>
                  <a:gd name="T77" fmla="*/ 0 h 489"/>
                  <a:gd name="T78" fmla="*/ 0 w 1024"/>
                  <a:gd name="T79" fmla="*/ 0 h 489"/>
                  <a:gd name="T80" fmla="*/ 0 w 1024"/>
                  <a:gd name="T81" fmla="*/ 0 h 489"/>
                  <a:gd name="T82" fmla="*/ 0 w 1024"/>
                  <a:gd name="T83" fmla="*/ 0 h 489"/>
                  <a:gd name="T84" fmla="*/ 0 w 1024"/>
                  <a:gd name="T85" fmla="*/ 0 h 489"/>
                  <a:gd name="T86" fmla="*/ 0 w 1024"/>
                  <a:gd name="T87" fmla="*/ 0 h 489"/>
                  <a:gd name="T88" fmla="*/ 0 w 1024"/>
                  <a:gd name="T89" fmla="*/ 0 h 489"/>
                  <a:gd name="T90" fmla="*/ 0 w 1024"/>
                  <a:gd name="T91" fmla="*/ 0 h 489"/>
                  <a:gd name="T92" fmla="*/ 0 w 1024"/>
                  <a:gd name="T93" fmla="*/ 0 h 489"/>
                  <a:gd name="T94" fmla="*/ 0 w 1024"/>
                  <a:gd name="T95" fmla="*/ 0 h 489"/>
                  <a:gd name="T96" fmla="*/ 0 w 1024"/>
                  <a:gd name="T97" fmla="*/ 0 h 489"/>
                  <a:gd name="T98" fmla="*/ 0 w 1024"/>
                  <a:gd name="T99" fmla="*/ 0 h 489"/>
                  <a:gd name="T100" fmla="*/ 0 w 1024"/>
                  <a:gd name="T101" fmla="*/ 0 h 489"/>
                  <a:gd name="T102" fmla="*/ 0 w 1024"/>
                  <a:gd name="T103" fmla="*/ 0 h 489"/>
                  <a:gd name="T104" fmla="*/ 0 w 1024"/>
                  <a:gd name="T105" fmla="*/ 0 h 489"/>
                  <a:gd name="T106" fmla="*/ 0 w 1024"/>
                  <a:gd name="T107" fmla="*/ 0 h 489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w 1024"/>
                  <a:gd name="T163" fmla="*/ 0 h 489"/>
                  <a:gd name="T164" fmla="*/ 1024 w 1024"/>
                  <a:gd name="T165" fmla="*/ 489 h 489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T162" t="T163" r="T164" b="T165"/>
                <a:pathLst>
                  <a:path w="1024" h="489">
                    <a:moveTo>
                      <a:pt x="820" y="421"/>
                    </a:moveTo>
                    <a:lnTo>
                      <a:pt x="763" y="421"/>
                    </a:lnTo>
                    <a:lnTo>
                      <a:pt x="765" y="386"/>
                    </a:lnTo>
                    <a:lnTo>
                      <a:pt x="779" y="370"/>
                    </a:lnTo>
                    <a:lnTo>
                      <a:pt x="800" y="361"/>
                    </a:lnTo>
                    <a:lnTo>
                      <a:pt x="828" y="361"/>
                    </a:lnTo>
                    <a:lnTo>
                      <a:pt x="855" y="364"/>
                    </a:lnTo>
                    <a:lnTo>
                      <a:pt x="883" y="364"/>
                    </a:lnTo>
                    <a:lnTo>
                      <a:pt x="904" y="356"/>
                    </a:lnTo>
                    <a:lnTo>
                      <a:pt x="923" y="336"/>
                    </a:lnTo>
                    <a:lnTo>
                      <a:pt x="665" y="73"/>
                    </a:lnTo>
                    <a:lnTo>
                      <a:pt x="627" y="79"/>
                    </a:lnTo>
                    <a:lnTo>
                      <a:pt x="589" y="87"/>
                    </a:lnTo>
                    <a:lnTo>
                      <a:pt x="551" y="90"/>
                    </a:lnTo>
                    <a:lnTo>
                      <a:pt x="513" y="95"/>
                    </a:lnTo>
                    <a:lnTo>
                      <a:pt x="475" y="98"/>
                    </a:lnTo>
                    <a:lnTo>
                      <a:pt x="437" y="103"/>
                    </a:lnTo>
                    <a:lnTo>
                      <a:pt x="398" y="107"/>
                    </a:lnTo>
                    <a:lnTo>
                      <a:pt x="361" y="112"/>
                    </a:lnTo>
                    <a:lnTo>
                      <a:pt x="323" y="117"/>
                    </a:lnTo>
                    <a:lnTo>
                      <a:pt x="287" y="123"/>
                    </a:lnTo>
                    <a:lnTo>
                      <a:pt x="250" y="128"/>
                    </a:lnTo>
                    <a:lnTo>
                      <a:pt x="215" y="135"/>
                    </a:lnTo>
                    <a:lnTo>
                      <a:pt x="176" y="144"/>
                    </a:lnTo>
                    <a:lnTo>
                      <a:pt x="141" y="155"/>
                    </a:lnTo>
                    <a:lnTo>
                      <a:pt x="109" y="165"/>
                    </a:lnTo>
                    <a:lnTo>
                      <a:pt x="73" y="179"/>
                    </a:lnTo>
                    <a:lnTo>
                      <a:pt x="100" y="223"/>
                    </a:lnTo>
                    <a:lnTo>
                      <a:pt x="135" y="261"/>
                    </a:lnTo>
                    <a:lnTo>
                      <a:pt x="174" y="296"/>
                    </a:lnTo>
                    <a:lnTo>
                      <a:pt x="215" y="329"/>
                    </a:lnTo>
                    <a:lnTo>
                      <a:pt x="250" y="364"/>
                    </a:lnTo>
                    <a:lnTo>
                      <a:pt x="285" y="400"/>
                    </a:lnTo>
                    <a:lnTo>
                      <a:pt x="312" y="440"/>
                    </a:lnTo>
                    <a:lnTo>
                      <a:pt x="328" y="489"/>
                    </a:lnTo>
                    <a:lnTo>
                      <a:pt x="280" y="470"/>
                    </a:lnTo>
                    <a:lnTo>
                      <a:pt x="236" y="442"/>
                    </a:lnTo>
                    <a:lnTo>
                      <a:pt x="195" y="410"/>
                    </a:lnTo>
                    <a:lnTo>
                      <a:pt x="155" y="370"/>
                    </a:lnTo>
                    <a:lnTo>
                      <a:pt x="116" y="329"/>
                    </a:lnTo>
                    <a:lnTo>
                      <a:pt x="79" y="285"/>
                    </a:lnTo>
                    <a:lnTo>
                      <a:pt x="40" y="245"/>
                    </a:lnTo>
                    <a:lnTo>
                      <a:pt x="0" y="209"/>
                    </a:lnTo>
                    <a:lnTo>
                      <a:pt x="3" y="123"/>
                    </a:lnTo>
                    <a:lnTo>
                      <a:pt x="682" y="0"/>
                    </a:lnTo>
                    <a:lnTo>
                      <a:pt x="1024" y="336"/>
                    </a:lnTo>
                    <a:lnTo>
                      <a:pt x="1019" y="366"/>
                    </a:lnTo>
                    <a:lnTo>
                      <a:pt x="999" y="386"/>
                    </a:lnTo>
                    <a:lnTo>
                      <a:pt x="975" y="400"/>
                    </a:lnTo>
                    <a:lnTo>
                      <a:pt x="947" y="405"/>
                    </a:lnTo>
                    <a:lnTo>
                      <a:pt x="912" y="407"/>
                    </a:lnTo>
                    <a:lnTo>
                      <a:pt x="880" y="410"/>
                    </a:lnTo>
                    <a:lnTo>
                      <a:pt x="848" y="413"/>
                    </a:lnTo>
                    <a:lnTo>
                      <a:pt x="820" y="42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8" name="Freeform 470">
                <a:extLst>
                  <a:ext uri="{FF2B5EF4-FFF2-40B4-BE49-F238E27FC236}">
                    <a16:creationId xmlns:a16="http://schemas.microsoft.com/office/drawing/2014/main" id="{A61388E0-506E-8B41-9821-52E3C17AF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3" y="3379"/>
                <a:ext cx="86" cy="102"/>
              </a:xfrm>
              <a:custGeom>
                <a:avLst/>
                <a:gdLst>
                  <a:gd name="T0" fmla="*/ 0 w 342"/>
                  <a:gd name="T1" fmla="*/ 0 h 410"/>
                  <a:gd name="T2" fmla="*/ 0 w 342"/>
                  <a:gd name="T3" fmla="*/ 0 h 410"/>
                  <a:gd name="T4" fmla="*/ 0 w 342"/>
                  <a:gd name="T5" fmla="*/ 0 h 410"/>
                  <a:gd name="T6" fmla="*/ 0 w 342"/>
                  <a:gd name="T7" fmla="*/ 0 h 410"/>
                  <a:gd name="T8" fmla="*/ 0 w 342"/>
                  <a:gd name="T9" fmla="*/ 0 h 410"/>
                  <a:gd name="T10" fmla="*/ 0 w 342"/>
                  <a:gd name="T11" fmla="*/ 0 h 410"/>
                  <a:gd name="T12" fmla="*/ 0 w 342"/>
                  <a:gd name="T13" fmla="*/ 0 h 410"/>
                  <a:gd name="T14" fmla="*/ 0 w 342"/>
                  <a:gd name="T15" fmla="*/ 0 h 410"/>
                  <a:gd name="T16" fmla="*/ 0 w 342"/>
                  <a:gd name="T17" fmla="*/ 0 h 410"/>
                  <a:gd name="T18" fmla="*/ 0 w 342"/>
                  <a:gd name="T19" fmla="*/ 0 h 410"/>
                  <a:gd name="T20" fmla="*/ 0 w 342"/>
                  <a:gd name="T21" fmla="*/ 0 h 410"/>
                  <a:gd name="T22" fmla="*/ 0 w 342"/>
                  <a:gd name="T23" fmla="*/ 0 h 410"/>
                  <a:gd name="T24" fmla="*/ 0 w 342"/>
                  <a:gd name="T25" fmla="*/ 0 h 410"/>
                  <a:gd name="T26" fmla="*/ 0 w 342"/>
                  <a:gd name="T27" fmla="*/ 0 h 410"/>
                  <a:gd name="T28" fmla="*/ 0 w 342"/>
                  <a:gd name="T29" fmla="*/ 0 h 410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342"/>
                  <a:gd name="T46" fmla="*/ 0 h 410"/>
                  <a:gd name="T47" fmla="*/ 342 w 342"/>
                  <a:gd name="T48" fmla="*/ 410 h 410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342" h="410">
                    <a:moveTo>
                      <a:pt x="295" y="410"/>
                    </a:moveTo>
                    <a:lnTo>
                      <a:pt x="0" y="30"/>
                    </a:lnTo>
                    <a:lnTo>
                      <a:pt x="12" y="16"/>
                    </a:lnTo>
                    <a:lnTo>
                      <a:pt x="26" y="6"/>
                    </a:lnTo>
                    <a:lnTo>
                      <a:pt x="40" y="0"/>
                    </a:lnTo>
                    <a:lnTo>
                      <a:pt x="56" y="0"/>
                    </a:lnTo>
                    <a:lnTo>
                      <a:pt x="97" y="46"/>
                    </a:lnTo>
                    <a:lnTo>
                      <a:pt x="138" y="92"/>
                    </a:lnTo>
                    <a:lnTo>
                      <a:pt x="178" y="141"/>
                    </a:lnTo>
                    <a:lnTo>
                      <a:pt x="217" y="187"/>
                    </a:lnTo>
                    <a:lnTo>
                      <a:pt x="252" y="239"/>
                    </a:lnTo>
                    <a:lnTo>
                      <a:pt x="284" y="288"/>
                    </a:lnTo>
                    <a:lnTo>
                      <a:pt x="314" y="339"/>
                    </a:lnTo>
                    <a:lnTo>
                      <a:pt x="342" y="394"/>
                    </a:lnTo>
                    <a:lnTo>
                      <a:pt x="295" y="41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59" name="Freeform 471">
                <a:extLst>
                  <a:ext uri="{FF2B5EF4-FFF2-40B4-BE49-F238E27FC236}">
                    <a16:creationId xmlns:a16="http://schemas.microsoft.com/office/drawing/2014/main" id="{57342405-328C-BC4E-BE3A-0AFD2CFAF9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2" y="3036"/>
                <a:ext cx="249" cy="107"/>
              </a:xfrm>
              <a:custGeom>
                <a:avLst/>
                <a:gdLst>
                  <a:gd name="T0" fmla="*/ 0 w 994"/>
                  <a:gd name="T1" fmla="*/ 0 h 429"/>
                  <a:gd name="T2" fmla="*/ 0 w 994"/>
                  <a:gd name="T3" fmla="*/ 0 h 429"/>
                  <a:gd name="T4" fmla="*/ 0 w 994"/>
                  <a:gd name="T5" fmla="*/ 0 h 429"/>
                  <a:gd name="T6" fmla="*/ 0 w 994"/>
                  <a:gd name="T7" fmla="*/ 0 h 429"/>
                  <a:gd name="T8" fmla="*/ 0 w 994"/>
                  <a:gd name="T9" fmla="*/ 0 h 429"/>
                  <a:gd name="T10" fmla="*/ 0 w 994"/>
                  <a:gd name="T11" fmla="*/ 0 h 429"/>
                  <a:gd name="T12" fmla="*/ 0 w 994"/>
                  <a:gd name="T13" fmla="*/ 0 h 429"/>
                  <a:gd name="T14" fmla="*/ 0 w 994"/>
                  <a:gd name="T15" fmla="*/ 0 h 429"/>
                  <a:gd name="T16" fmla="*/ 0 w 994"/>
                  <a:gd name="T17" fmla="*/ 0 h 429"/>
                  <a:gd name="T18" fmla="*/ 0 w 994"/>
                  <a:gd name="T19" fmla="*/ 0 h 429"/>
                  <a:gd name="T20" fmla="*/ 0 w 994"/>
                  <a:gd name="T21" fmla="*/ 0 h 429"/>
                  <a:gd name="T22" fmla="*/ 0 w 994"/>
                  <a:gd name="T23" fmla="*/ 0 h 429"/>
                  <a:gd name="T24" fmla="*/ 0 w 994"/>
                  <a:gd name="T25" fmla="*/ 0 h 429"/>
                  <a:gd name="T26" fmla="*/ 0 w 994"/>
                  <a:gd name="T27" fmla="*/ 0 h 429"/>
                  <a:gd name="T28" fmla="*/ 0 w 994"/>
                  <a:gd name="T29" fmla="*/ 0 h 429"/>
                  <a:gd name="T30" fmla="*/ 0 w 994"/>
                  <a:gd name="T31" fmla="*/ 0 h 429"/>
                  <a:gd name="T32" fmla="*/ 0 w 994"/>
                  <a:gd name="T33" fmla="*/ 0 h 429"/>
                  <a:gd name="T34" fmla="*/ 0 w 994"/>
                  <a:gd name="T35" fmla="*/ 0 h 429"/>
                  <a:gd name="T36" fmla="*/ 0 w 994"/>
                  <a:gd name="T37" fmla="*/ 0 h 429"/>
                  <a:gd name="T38" fmla="*/ 0 w 994"/>
                  <a:gd name="T39" fmla="*/ 0 h 429"/>
                  <a:gd name="T40" fmla="*/ 0 w 994"/>
                  <a:gd name="T41" fmla="*/ 0 h 429"/>
                  <a:gd name="T42" fmla="*/ 0 w 994"/>
                  <a:gd name="T43" fmla="*/ 0 h 429"/>
                  <a:gd name="T44" fmla="*/ 0 w 994"/>
                  <a:gd name="T45" fmla="*/ 0 h 429"/>
                  <a:gd name="T46" fmla="*/ 0 w 994"/>
                  <a:gd name="T47" fmla="*/ 0 h 429"/>
                  <a:gd name="T48" fmla="*/ 0 w 994"/>
                  <a:gd name="T49" fmla="*/ 0 h 429"/>
                  <a:gd name="T50" fmla="*/ 0 w 994"/>
                  <a:gd name="T51" fmla="*/ 0 h 429"/>
                  <a:gd name="T52" fmla="*/ 0 w 994"/>
                  <a:gd name="T53" fmla="*/ 0 h 429"/>
                  <a:gd name="T54" fmla="*/ 0 w 994"/>
                  <a:gd name="T55" fmla="*/ 0 h 429"/>
                  <a:gd name="T56" fmla="*/ 0 w 994"/>
                  <a:gd name="T57" fmla="*/ 0 h 429"/>
                  <a:gd name="T58" fmla="*/ 0 w 994"/>
                  <a:gd name="T59" fmla="*/ 0 h 429"/>
                  <a:gd name="T60" fmla="*/ 0 w 994"/>
                  <a:gd name="T61" fmla="*/ 0 h 429"/>
                  <a:gd name="T62" fmla="*/ 0 w 994"/>
                  <a:gd name="T63" fmla="*/ 0 h 429"/>
                  <a:gd name="T64" fmla="*/ 0 w 994"/>
                  <a:gd name="T65" fmla="*/ 0 h 429"/>
                  <a:gd name="T66" fmla="*/ 0 w 994"/>
                  <a:gd name="T67" fmla="*/ 0 h 429"/>
                  <a:gd name="T68" fmla="*/ 0 w 994"/>
                  <a:gd name="T69" fmla="*/ 0 h 429"/>
                  <a:gd name="T70" fmla="*/ 0 w 994"/>
                  <a:gd name="T71" fmla="*/ 0 h 429"/>
                  <a:gd name="T72" fmla="*/ 0 w 994"/>
                  <a:gd name="T73" fmla="*/ 0 h 429"/>
                  <a:gd name="T74" fmla="*/ 0 w 994"/>
                  <a:gd name="T75" fmla="*/ 0 h 429"/>
                  <a:gd name="T76" fmla="*/ 0 w 994"/>
                  <a:gd name="T77" fmla="*/ 0 h 429"/>
                  <a:gd name="T78" fmla="*/ 0 w 994"/>
                  <a:gd name="T79" fmla="*/ 0 h 429"/>
                  <a:gd name="T80" fmla="*/ 0 w 994"/>
                  <a:gd name="T81" fmla="*/ 0 h 429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994"/>
                  <a:gd name="T124" fmla="*/ 0 h 429"/>
                  <a:gd name="T125" fmla="*/ 994 w 994"/>
                  <a:gd name="T126" fmla="*/ 429 h 429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994" h="429">
                    <a:moveTo>
                      <a:pt x="690" y="391"/>
                    </a:moveTo>
                    <a:lnTo>
                      <a:pt x="663" y="396"/>
                    </a:lnTo>
                    <a:lnTo>
                      <a:pt x="635" y="400"/>
                    </a:lnTo>
                    <a:lnTo>
                      <a:pt x="608" y="405"/>
                    </a:lnTo>
                    <a:lnTo>
                      <a:pt x="580" y="410"/>
                    </a:lnTo>
                    <a:lnTo>
                      <a:pt x="554" y="413"/>
                    </a:lnTo>
                    <a:lnTo>
                      <a:pt x="529" y="418"/>
                    </a:lnTo>
                    <a:lnTo>
                      <a:pt x="502" y="423"/>
                    </a:lnTo>
                    <a:lnTo>
                      <a:pt x="475" y="429"/>
                    </a:lnTo>
                    <a:lnTo>
                      <a:pt x="472" y="402"/>
                    </a:lnTo>
                    <a:lnTo>
                      <a:pt x="478" y="383"/>
                    </a:lnTo>
                    <a:lnTo>
                      <a:pt x="492" y="372"/>
                    </a:lnTo>
                    <a:lnTo>
                      <a:pt x="510" y="364"/>
                    </a:lnTo>
                    <a:lnTo>
                      <a:pt x="529" y="361"/>
                    </a:lnTo>
                    <a:lnTo>
                      <a:pt x="552" y="356"/>
                    </a:lnTo>
                    <a:lnTo>
                      <a:pt x="573" y="353"/>
                    </a:lnTo>
                    <a:lnTo>
                      <a:pt x="592" y="345"/>
                    </a:lnTo>
                    <a:lnTo>
                      <a:pt x="627" y="340"/>
                    </a:lnTo>
                    <a:lnTo>
                      <a:pt x="660" y="334"/>
                    </a:lnTo>
                    <a:lnTo>
                      <a:pt x="695" y="331"/>
                    </a:lnTo>
                    <a:lnTo>
                      <a:pt x="730" y="326"/>
                    </a:lnTo>
                    <a:lnTo>
                      <a:pt x="765" y="321"/>
                    </a:lnTo>
                    <a:lnTo>
                      <a:pt x="799" y="312"/>
                    </a:lnTo>
                    <a:lnTo>
                      <a:pt x="831" y="305"/>
                    </a:lnTo>
                    <a:lnTo>
                      <a:pt x="864" y="291"/>
                    </a:lnTo>
                    <a:lnTo>
                      <a:pt x="836" y="215"/>
                    </a:lnTo>
                    <a:lnTo>
                      <a:pt x="804" y="155"/>
                    </a:lnTo>
                    <a:lnTo>
                      <a:pt x="765" y="111"/>
                    </a:lnTo>
                    <a:lnTo>
                      <a:pt x="725" y="81"/>
                    </a:lnTo>
                    <a:lnTo>
                      <a:pt x="681" y="63"/>
                    </a:lnTo>
                    <a:lnTo>
                      <a:pt x="633" y="54"/>
                    </a:lnTo>
                    <a:lnTo>
                      <a:pt x="584" y="54"/>
                    </a:lnTo>
                    <a:lnTo>
                      <a:pt x="532" y="63"/>
                    </a:lnTo>
                    <a:lnTo>
                      <a:pt x="478" y="74"/>
                    </a:lnTo>
                    <a:lnTo>
                      <a:pt x="421" y="90"/>
                    </a:lnTo>
                    <a:lnTo>
                      <a:pt x="367" y="109"/>
                    </a:lnTo>
                    <a:lnTo>
                      <a:pt x="312" y="125"/>
                    </a:lnTo>
                    <a:lnTo>
                      <a:pt x="255" y="141"/>
                    </a:lnTo>
                    <a:lnTo>
                      <a:pt x="203" y="155"/>
                    </a:lnTo>
                    <a:lnTo>
                      <a:pt x="150" y="163"/>
                    </a:lnTo>
                    <a:lnTo>
                      <a:pt x="100" y="166"/>
                    </a:lnTo>
                    <a:lnTo>
                      <a:pt x="90" y="192"/>
                    </a:lnTo>
                    <a:lnTo>
                      <a:pt x="92" y="220"/>
                    </a:lnTo>
                    <a:lnTo>
                      <a:pt x="106" y="247"/>
                    </a:lnTo>
                    <a:lnTo>
                      <a:pt x="125" y="275"/>
                    </a:lnTo>
                    <a:lnTo>
                      <a:pt x="150" y="301"/>
                    </a:lnTo>
                    <a:lnTo>
                      <a:pt x="174" y="328"/>
                    </a:lnTo>
                    <a:lnTo>
                      <a:pt x="196" y="358"/>
                    </a:lnTo>
                    <a:lnTo>
                      <a:pt x="215" y="386"/>
                    </a:lnTo>
                    <a:lnTo>
                      <a:pt x="185" y="410"/>
                    </a:lnTo>
                    <a:lnTo>
                      <a:pt x="152" y="383"/>
                    </a:lnTo>
                    <a:lnTo>
                      <a:pt x="120" y="353"/>
                    </a:lnTo>
                    <a:lnTo>
                      <a:pt x="86" y="321"/>
                    </a:lnTo>
                    <a:lnTo>
                      <a:pt x="60" y="285"/>
                    </a:lnTo>
                    <a:lnTo>
                      <a:pt x="32" y="247"/>
                    </a:lnTo>
                    <a:lnTo>
                      <a:pt x="14" y="209"/>
                    </a:lnTo>
                    <a:lnTo>
                      <a:pt x="3" y="171"/>
                    </a:lnTo>
                    <a:lnTo>
                      <a:pt x="0" y="134"/>
                    </a:lnTo>
                    <a:lnTo>
                      <a:pt x="40" y="122"/>
                    </a:lnTo>
                    <a:lnTo>
                      <a:pt x="81" y="111"/>
                    </a:lnTo>
                    <a:lnTo>
                      <a:pt x="122" y="100"/>
                    </a:lnTo>
                    <a:lnTo>
                      <a:pt x="166" y="90"/>
                    </a:lnTo>
                    <a:lnTo>
                      <a:pt x="206" y="79"/>
                    </a:lnTo>
                    <a:lnTo>
                      <a:pt x="250" y="68"/>
                    </a:lnTo>
                    <a:lnTo>
                      <a:pt x="293" y="57"/>
                    </a:lnTo>
                    <a:lnTo>
                      <a:pt x="337" y="49"/>
                    </a:lnTo>
                    <a:lnTo>
                      <a:pt x="380" y="38"/>
                    </a:lnTo>
                    <a:lnTo>
                      <a:pt x="423" y="30"/>
                    </a:lnTo>
                    <a:lnTo>
                      <a:pt x="467" y="24"/>
                    </a:lnTo>
                    <a:lnTo>
                      <a:pt x="510" y="16"/>
                    </a:lnTo>
                    <a:lnTo>
                      <a:pt x="557" y="11"/>
                    </a:lnTo>
                    <a:lnTo>
                      <a:pt x="603" y="5"/>
                    </a:lnTo>
                    <a:lnTo>
                      <a:pt x="649" y="3"/>
                    </a:lnTo>
                    <a:lnTo>
                      <a:pt x="695" y="0"/>
                    </a:lnTo>
                    <a:lnTo>
                      <a:pt x="994" y="321"/>
                    </a:lnTo>
                    <a:lnTo>
                      <a:pt x="964" y="342"/>
                    </a:lnTo>
                    <a:lnTo>
                      <a:pt x="931" y="356"/>
                    </a:lnTo>
                    <a:lnTo>
                      <a:pt x="894" y="367"/>
                    </a:lnTo>
                    <a:lnTo>
                      <a:pt x="852" y="372"/>
                    </a:lnTo>
                    <a:lnTo>
                      <a:pt x="811" y="375"/>
                    </a:lnTo>
                    <a:lnTo>
                      <a:pt x="769" y="377"/>
                    </a:lnTo>
                    <a:lnTo>
                      <a:pt x="728" y="383"/>
                    </a:lnTo>
                    <a:lnTo>
                      <a:pt x="690" y="391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0" name="Freeform 472">
                <a:extLst>
                  <a:ext uri="{FF2B5EF4-FFF2-40B4-BE49-F238E27FC236}">
                    <a16:creationId xmlns:a16="http://schemas.microsoft.com/office/drawing/2014/main" id="{B91536C0-0E9A-E040-8A1D-0CEC4F8B2B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97" y="3221"/>
                <a:ext cx="78" cy="92"/>
              </a:xfrm>
              <a:custGeom>
                <a:avLst/>
                <a:gdLst>
                  <a:gd name="T0" fmla="*/ 0 w 312"/>
                  <a:gd name="T1" fmla="*/ 0 h 366"/>
                  <a:gd name="T2" fmla="*/ 0 w 312"/>
                  <a:gd name="T3" fmla="*/ 0 h 366"/>
                  <a:gd name="T4" fmla="*/ 0 w 312"/>
                  <a:gd name="T5" fmla="*/ 0 h 366"/>
                  <a:gd name="T6" fmla="*/ 0 w 312"/>
                  <a:gd name="T7" fmla="*/ 0 h 366"/>
                  <a:gd name="T8" fmla="*/ 0 w 312"/>
                  <a:gd name="T9" fmla="*/ 0 h 366"/>
                  <a:gd name="T10" fmla="*/ 0 w 312"/>
                  <a:gd name="T11" fmla="*/ 0 h 366"/>
                  <a:gd name="T12" fmla="*/ 0 w 312"/>
                  <a:gd name="T13" fmla="*/ 0 h 366"/>
                  <a:gd name="T14" fmla="*/ 0 w 312"/>
                  <a:gd name="T15" fmla="*/ 0 h 36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312"/>
                  <a:gd name="T25" fmla="*/ 0 h 366"/>
                  <a:gd name="T26" fmla="*/ 312 w 312"/>
                  <a:gd name="T27" fmla="*/ 366 h 36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312" h="366">
                    <a:moveTo>
                      <a:pt x="0" y="46"/>
                    </a:moveTo>
                    <a:lnTo>
                      <a:pt x="11" y="30"/>
                    </a:lnTo>
                    <a:lnTo>
                      <a:pt x="21" y="10"/>
                    </a:lnTo>
                    <a:lnTo>
                      <a:pt x="35" y="0"/>
                    </a:lnTo>
                    <a:lnTo>
                      <a:pt x="57" y="2"/>
                    </a:lnTo>
                    <a:lnTo>
                      <a:pt x="312" y="325"/>
                    </a:lnTo>
                    <a:lnTo>
                      <a:pt x="272" y="366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1" name="Freeform 473">
                <a:extLst>
                  <a:ext uri="{FF2B5EF4-FFF2-40B4-BE49-F238E27FC236}">
                    <a16:creationId xmlns:a16="http://schemas.microsoft.com/office/drawing/2014/main" id="{017A3430-1686-0E43-AA0C-5DE71D25B8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38" y="3127"/>
                <a:ext cx="169" cy="218"/>
              </a:xfrm>
              <a:custGeom>
                <a:avLst/>
                <a:gdLst>
                  <a:gd name="T0" fmla="*/ 0 w 674"/>
                  <a:gd name="T1" fmla="*/ 0 h 874"/>
                  <a:gd name="T2" fmla="*/ 0 w 674"/>
                  <a:gd name="T3" fmla="*/ 0 h 874"/>
                  <a:gd name="T4" fmla="*/ 0 w 674"/>
                  <a:gd name="T5" fmla="*/ 0 h 874"/>
                  <a:gd name="T6" fmla="*/ 0 w 674"/>
                  <a:gd name="T7" fmla="*/ 0 h 874"/>
                  <a:gd name="T8" fmla="*/ 0 w 674"/>
                  <a:gd name="T9" fmla="*/ 0 h 874"/>
                  <a:gd name="T10" fmla="*/ 0 w 674"/>
                  <a:gd name="T11" fmla="*/ 0 h 874"/>
                  <a:gd name="T12" fmla="*/ 0 w 674"/>
                  <a:gd name="T13" fmla="*/ 0 h 874"/>
                  <a:gd name="T14" fmla="*/ 0 w 674"/>
                  <a:gd name="T15" fmla="*/ 0 h 874"/>
                  <a:gd name="T16" fmla="*/ 0 w 674"/>
                  <a:gd name="T17" fmla="*/ 0 h 874"/>
                  <a:gd name="T18" fmla="*/ 0 w 674"/>
                  <a:gd name="T19" fmla="*/ 0 h 874"/>
                  <a:gd name="T20" fmla="*/ 0 w 674"/>
                  <a:gd name="T21" fmla="*/ 0 h 874"/>
                  <a:gd name="T22" fmla="*/ 0 w 674"/>
                  <a:gd name="T23" fmla="*/ 0 h 874"/>
                  <a:gd name="T24" fmla="*/ 0 w 674"/>
                  <a:gd name="T25" fmla="*/ 0 h 87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74"/>
                  <a:gd name="T40" fmla="*/ 0 h 874"/>
                  <a:gd name="T41" fmla="*/ 674 w 674"/>
                  <a:gd name="T42" fmla="*/ 874 h 87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74" h="874">
                    <a:moveTo>
                      <a:pt x="658" y="874"/>
                    </a:moveTo>
                    <a:lnTo>
                      <a:pt x="614" y="872"/>
                    </a:lnTo>
                    <a:lnTo>
                      <a:pt x="0" y="57"/>
                    </a:lnTo>
                    <a:lnTo>
                      <a:pt x="3" y="41"/>
                    </a:lnTo>
                    <a:lnTo>
                      <a:pt x="0" y="24"/>
                    </a:lnTo>
                    <a:lnTo>
                      <a:pt x="5" y="11"/>
                    </a:lnTo>
                    <a:lnTo>
                      <a:pt x="16" y="0"/>
                    </a:lnTo>
                    <a:lnTo>
                      <a:pt x="62" y="0"/>
                    </a:lnTo>
                    <a:lnTo>
                      <a:pt x="670" y="815"/>
                    </a:lnTo>
                    <a:lnTo>
                      <a:pt x="670" y="828"/>
                    </a:lnTo>
                    <a:lnTo>
                      <a:pt x="674" y="844"/>
                    </a:lnTo>
                    <a:lnTo>
                      <a:pt x="668" y="861"/>
                    </a:lnTo>
                    <a:lnTo>
                      <a:pt x="658" y="87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2" name="Freeform 474">
                <a:extLst>
                  <a:ext uri="{FF2B5EF4-FFF2-40B4-BE49-F238E27FC236}">
                    <a16:creationId xmlns:a16="http://schemas.microsoft.com/office/drawing/2014/main" id="{CF1C2881-AD15-6344-BC2B-91D2D6AF3D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00" y="3091"/>
                <a:ext cx="64" cy="91"/>
              </a:xfrm>
              <a:custGeom>
                <a:avLst/>
                <a:gdLst>
                  <a:gd name="T0" fmla="*/ 0 w 258"/>
                  <a:gd name="T1" fmla="*/ 0 h 364"/>
                  <a:gd name="T2" fmla="*/ 0 w 258"/>
                  <a:gd name="T3" fmla="*/ 0 h 364"/>
                  <a:gd name="T4" fmla="*/ 0 w 258"/>
                  <a:gd name="T5" fmla="*/ 0 h 364"/>
                  <a:gd name="T6" fmla="*/ 0 w 258"/>
                  <a:gd name="T7" fmla="*/ 0 h 364"/>
                  <a:gd name="T8" fmla="*/ 0 w 258"/>
                  <a:gd name="T9" fmla="*/ 0 h 364"/>
                  <a:gd name="T10" fmla="*/ 0 w 258"/>
                  <a:gd name="T11" fmla="*/ 0 h 364"/>
                  <a:gd name="T12" fmla="*/ 0 w 258"/>
                  <a:gd name="T13" fmla="*/ 0 h 364"/>
                  <a:gd name="T14" fmla="*/ 0 w 258"/>
                  <a:gd name="T15" fmla="*/ 0 h 364"/>
                  <a:gd name="T16" fmla="*/ 0 w 258"/>
                  <a:gd name="T17" fmla="*/ 0 h 364"/>
                  <a:gd name="T18" fmla="*/ 0 w 258"/>
                  <a:gd name="T19" fmla="*/ 0 h 364"/>
                  <a:gd name="T20" fmla="*/ 0 w 258"/>
                  <a:gd name="T21" fmla="*/ 0 h 364"/>
                  <a:gd name="T22" fmla="*/ 0 w 258"/>
                  <a:gd name="T23" fmla="*/ 0 h 364"/>
                  <a:gd name="T24" fmla="*/ 0 w 258"/>
                  <a:gd name="T25" fmla="*/ 0 h 364"/>
                  <a:gd name="T26" fmla="*/ 0 w 258"/>
                  <a:gd name="T27" fmla="*/ 0 h 364"/>
                  <a:gd name="T28" fmla="*/ 0 w 258"/>
                  <a:gd name="T29" fmla="*/ 0 h 364"/>
                  <a:gd name="T30" fmla="*/ 0 w 258"/>
                  <a:gd name="T31" fmla="*/ 0 h 364"/>
                  <a:gd name="T32" fmla="*/ 0 w 258"/>
                  <a:gd name="T33" fmla="*/ 0 h 364"/>
                  <a:gd name="T34" fmla="*/ 0 w 258"/>
                  <a:gd name="T35" fmla="*/ 0 h 364"/>
                  <a:gd name="T36" fmla="*/ 0 w 258"/>
                  <a:gd name="T37" fmla="*/ 0 h 364"/>
                  <a:gd name="T38" fmla="*/ 0 w 258"/>
                  <a:gd name="T39" fmla="*/ 0 h 364"/>
                  <a:gd name="T40" fmla="*/ 0 w 258"/>
                  <a:gd name="T41" fmla="*/ 0 h 364"/>
                  <a:gd name="T42" fmla="*/ 0 w 258"/>
                  <a:gd name="T43" fmla="*/ 0 h 364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w 258"/>
                  <a:gd name="T67" fmla="*/ 0 h 364"/>
                  <a:gd name="T68" fmla="*/ 258 w 258"/>
                  <a:gd name="T69" fmla="*/ 364 h 364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T66" t="T67" r="T68" b="T69"/>
                <a:pathLst>
                  <a:path w="258" h="364">
                    <a:moveTo>
                      <a:pt x="231" y="364"/>
                    </a:moveTo>
                    <a:lnTo>
                      <a:pt x="196" y="334"/>
                    </a:lnTo>
                    <a:lnTo>
                      <a:pt x="164" y="298"/>
                    </a:lnTo>
                    <a:lnTo>
                      <a:pt x="130" y="261"/>
                    </a:lnTo>
                    <a:lnTo>
                      <a:pt x="104" y="222"/>
                    </a:lnTo>
                    <a:lnTo>
                      <a:pt x="76" y="182"/>
                    </a:lnTo>
                    <a:lnTo>
                      <a:pt x="49" y="141"/>
                    </a:lnTo>
                    <a:lnTo>
                      <a:pt x="25" y="101"/>
                    </a:lnTo>
                    <a:lnTo>
                      <a:pt x="0" y="60"/>
                    </a:lnTo>
                    <a:lnTo>
                      <a:pt x="9" y="44"/>
                    </a:lnTo>
                    <a:lnTo>
                      <a:pt x="14" y="27"/>
                    </a:lnTo>
                    <a:lnTo>
                      <a:pt x="21" y="11"/>
                    </a:lnTo>
                    <a:lnTo>
                      <a:pt x="33" y="0"/>
                    </a:lnTo>
                    <a:lnTo>
                      <a:pt x="60" y="44"/>
                    </a:lnTo>
                    <a:lnTo>
                      <a:pt x="90" y="85"/>
                    </a:lnTo>
                    <a:lnTo>
                      <a:pt x="120" y="125"/>
                    </a:lnTo>
                    <a:lnTo>
                      <a:pt x="150" y="168"/>
                    </a:lnTo>
                    <a:lnTo>
                      <a:pt x="180" y="209"/>
                    </a:lnTo>
                    <a:lnTo>
                      <a:pt x="210" y="250"/>
                    </a:lnTo>
                    <a:lnTo>
                      <a:pt x="234" y="293"/>
                    </a:lnTo>
                    <a:lnTo>
                      <a:pt x="258" y="337"/>
                    </a:lnTo>
                    <a:lnTo>
                      <a:pt x="231" y="364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63" name="Freeform 475">
                <a:extLst>
                  <a:ext uri="{FF2B5EF4-FFF2-40B4-BE49-F238E27FC236}">
                    <a16:creationId xmlns:a16="http://schemas.microsoft.com/office/drawing/2014/main" id="{EC1AA2F3-8776-5249-B512-875E1FE5F2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3" y="3030"/>
                <a:ext cx="144" cy="27"/>
              </a:xfrm>
              <a:custGeom>
                <a:avLst/>
                <a:gdLst>
                  <a:gd name="T0" fmla="*/ 0 w 579"/>
                  <a:gd name="T1" fmla="*/ 0 h 111"/>
                  <a:gd name="T2" fmla="*/ 0 w 579"/>
                  <a:gd name="T3" fmla="*/ 0 h 111"/>
                  <a:gd name="T4" fmla="*/ 0 w 579"/>
                  <a:gd name="T5" fmla="*/ 0 h 111"/>
                  <a:gd name="T6" fmla="*/ 0 w 579"/>
                  <a:gd name="T7" fmla="*/ 0 h 111"/>
                  <a:gd name="T8" fmla="*/ 0 w 579"/>
                  <a:gd name="T9" fmla="*/ 0 h 111"/>
                  <a:gd name="T10" fmla="*/ 0 w 579"/>
                  <a:gd name="T11" fmla="*/ 0 h 111"/>
                  <a:gd name="T12" fmla="*/ 0 w 579"/>
                  <a:gd name="T13" fmla="*/ 0 h 111"/>
                  <a:gd name="T14" fmla="*/ 0 w 579"/>
                  <a:gd name="T15" fmla="*/ 0 h 111"/>
                  <a:gd name="T16" fmla="*/ 0 w 579"/>
                  <a:gd name="T17" fmla="*/ 0 h 111"/>
                  <a:gd name="T18" fmla="*/ 0 w 579"/>
                  <a:gd name="T19" fmla="*/ 0 h 111"/>
                  <a:gd name="T20" fmla="*/ 0 w 579"/>
                  <a:gd name="T21" fmla="*/ 0 h 111"/>
                  <a:gd name="T22" fmla="*/ 0 w 579"/>
                  <a:gd name="T23" fmla="*/ 0 h 111"/>
                  <a:gd name="T24" fmla="*/ 0 w 579"/>
                  <a:gd name="T25" fmla="*/ 0 h 111"/>
                  <a:gd name="T26" fmla="*/ 0 w 579"/>
                  <a:gd name="T27" fmla="*/ 0 h 111"/>
                  <a:gd name="T28" fmla="*/ 0 w 579"/>
                  <a:gd name="T29" fmla="*/ 0 h 111"/>
                  <a:gd name="T30" fmla="*/ 0 w 579"/>
                  <a:gd name="T31" fmla="*/ 0 h 111"/>
                  <a:gd name="T32" fmla="*/ 0 w 579"/>
                  <a:gd name="T33" fmla="*/ 0 h 111"/>
                  <a:gd name="T34" fmla="*/ 0 w 579"/>
                  <a:gd name="T35" fmla="*/ 0 h 111"/>
                  <a:gd name="T36" fmla="*/ 0 w 579"/>
                  <a:gd name="T37" fmla="*/ 0 h 111"/>
                  <a:gd name="T38" fmla="*/ 0 w 579"/>
                  <a:gd name="T39" fmla="*/ 0 h 111"/>
                  <a:gd name="T40" fmla="*/ 0 w 579"/>
                  <a:gd name="T41" fmla="*/ 0 h 111"/>
                  <a:gd name="T42" fmla="*/ 0 w 579"/>
                  <a:gd name="T43" fmla="*/ 0 h 111"/>
                  <a:gd name="T44" fmla="*/ 0 w 579"/>
                  <a:gd name="T45" fmla="*/ 0 h 111"/>
                  <a:gd name="T46" fmla="*/ 0 w 579"/>
                  <a:gd name="T47" fmla="*/ 0 h 111"/>
                  <a:gd name="T48" fmla="*/ 0 w 579"/>
                  <a:gd name="T49" fmla="*/ 0 h 111"/>
                  <a:gd name="T50" fmla="*/ 0 w 579"/>
                  <a:gd name="T51" fmla="*/ 0 h 111"/>
                  <a:gd name="T52" fmla="*/ 0 w 579"/>
                  <a:gd name="T53" fmla="*/ 0 h 111"/>
                  <a:gd name="T54" fmla="*/ 0 w 579"/>
                  <a:gd name="T55" fmla="*/ 0 h 111"/>
                  <a:gd name="T56" fmla="*/ 0 w 579"/>
                  <a:gd name="T57" fmla="*/ 0 h 111"/>
                  <a:gd name="T58" fmla="*/ 0 w 579"/>
                  <a:gd name="T59" fmla="*/ 0 h 111"/>
                  <a:gd name="T60" fmla="*/ 0 w 579"/>
                  <a:gd name="T61" fmla="*/ 0 h 111"/>
                  <a:gd name="T62" fmla="*/ 0 w 579"/>
                  <a:gd name="T63" fmla="*/ 0 h 111"/>
                  <a:gd name="T64" fmla="*/ 0 w 579"/>
                  <a:gd name="T65" fmla="*/ 0 h 111"/>
                  <a:gd name="T66" fmla="*/ 0 w 579"/>
                  <a:gd name="T67" fmla="*/ 0 h 111"/>
                  <a:gd name="T68" fmla="*/ 0 w 579"/>
                  <a:gd name="T69" fmla="*/ 0 h 111"/>
                  <a:gd name="T70" fmla="*/ 0 w 579"/>
                  <a:gd name="T71" fmla="*/ 0 h 111"/>
                  <a:gd name="T72" fmla="*/ 0 w 579"/>
                  <a:gd name="T73" fmla="*/ 0 h 111"/>
                  <a:gd name="T74" fmla="*/ 0 w 579"/>
                  <a:gd name="T75" fmla="*/ 0 h 111"/>
                  <a:gd name="T76" fmla="*/ 0 w 579"/>
                  <a:gd name="T77" fmla="*/ 0 h 111"/>
                  <a:gd name="T78" fmla="*/ 0 w 579"/>
                  <a:gd name="T79" fmla="*/ 0 h 111"/>
                  <a:gd name="T80" fmla="*/ 0 w 579"/>
                  <a:gd name="T81" fmla="*/ 0 h 111"/>
                  <a:gd name="T82" fmla="*/ 0 w 579"/>
                  <a:gd name="T83" fmla="*/ 0 h 111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579"/>
                  <a:gd name="T127" fmla="*/ 0 h 111"/>
                  <a:gd name="T128" fmla="*/ 579 w 579"/>
                  <a:gd name="T129" fmla="*/ 111 h 111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579" h="111">
                    <a:moveTo>
                      <a:pt x="535" y="60"/>
                    </a:moveTo>
                    <a:lnTo>
                      <a:pt x="503" y="63"/>
                    </a:lnTo>
                    <a:lnTo>
                      <a:pt x="468" y="66"/>
                    </a:lnTo>
                    <a:lnTo>
                      <a:pt x="434" y="69"/>
                    </a:lnTo>
                    <a:lnTo>
                      <a:pt x="402" y="71"/>
                    </a:lnTo>
                    <a:lnTo>
                      <a:pt x="367" y="71"/>
                    </a:lnTo>
                    <a:lnTo>
                      <a:pt x="332" y="74"/>
                    </a:lnTo>
                    <a:lnTo>
                      <a:pt x="299" y="76"/>
                    </a:lnTo>
                    <a:lnTo>
                      <a:pt x="263" y="76"/>
                    </a:lnTo>
                    <a:lnTo>
                      <a:pt x="231" y="79"/>
                    </a:lnTo>
                    <a:lnTo>
                      <a:pt x="196" y="82"/>
                    </a:lnTo>
                    <a:lnTo>
                      <a:pt x="163" y="88"/>
                    </a:lnTo>
                    <a:lnTo>
                      <a:pt x="131" y="90"/>
                    </a:lnTo>
                    <a:lnTo>
                      <a:pt x="98" y="95"/>
                    </a:lnTo>
                    <a:lnTo>
                      <a:pt x="65" y="99"/>
                    </a:lnTo>
                    <a:lnTo>
                      <a:pt x="32" y="106"/>
                    </a:lnTo>
                    <a:lnTo>
                      <a:pt x="0" y="111"/>
                    </a:lnTo>
                    <a:lnTo>
                      <a:pt x="0" y="95"/>
                    </a:lnTo>
                    <a:lnTo>
                      <a:pt x="2" y="82"/>
                    </a:lnTo>
                    <a:lnTo>
                      <a:pt x="11" y="71"/>
                    </a:lnTo>
                    <a:lnTo>
                      <a:pt x="22" y="63"/>
                    </a:lnTo>
                    <a:lnTo>
                      <a:pt x="36" y="58"/>
                    </a:lnTo>
                    <a:lnTo>
                      <a:pt x="49" y="53"/>
                    </a:lnTo>
                    <a:lnTo>
                      <a:pt x="62" y="46"/>
                    </a:lnTo>
                    <a:lnTo>
                      <a:pt x="73" y="41"/>
                    </a:lnTo>
                    <a:lnTo>
                      <a:pt x="103" y="36"/>
                    </a:lnTo>
                    <a:lnTo>
                      <a:pt x="133" y="30"/>
                    </a:lnTo>
                    <a:lnTo>
                      <a:pt x="166" y="25"/>
                    </a:lnTo>
                    <a:lnTo>
                      <a:pt x="196" y="20"/>
                    </a:lnTo>
                    <a:lnTo>
                      <a:pt x="228" y="14"/>
                    </a:lnTo>
                    <a:lnTo>
                      <a:pt x="258" y="9"/>
                    </a:lnTo>
                    <a:lnTo>
                      <a:pt x="291" y="6"/>
                    </a:lnTo>
                    <a:lnTo>
                      <a:pt x="323" y="4"/>
                    </a:lnTo>
                    <a:lnTo>
                      <a:pt x="356" y="0"/>
                    </a:lnTo>
                    <a:lnTo>
                      <a:pt x="386" y="0"/>
                    </a:lnTo>
                    <a:lnTo>
                      <a:pt x="418" y="0"/>
                    </a:lnTo>
                    <a:lnTo>
                      <a:pt x="450" y="0"/>
                    </a:lnTo>
                    <a:lnTo>
                      <a:pt x="484" y="4"/>
                    </a:lnTo>
                    <a:lnTo>
                      <a:pt x="516" y="6"/>
                    </a:lnTo>
                    <a:lnTo>
                      <a:pt x="546" y="11"/>
                    </a:lnTo>
                    <a:lnTo>
                      <a:pt x="579" y="17"/>
                    </a:lnTo>
                    <a:lnTo>
                      <a:pt x="535" y="60"/>
                    </a:lnTo>
                    <a:close/>
                  </a:path>
                </a:pathLst>
              </a:custGeom>
              <a:solidFill>
                <a:srgbClr val="3F19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algn="ctr"/>
                <a:endParaRPr lang="en-US" sz="1600">
                  <a:latin typeface="Gill Sans Light" panose="020B0302020104020203" pitchFamily="34" charset="-79"/>
                  <a:cs typeface="Gill Sans Light" panose="020B0302020104020203" pitchFamily="34" charset="-79"/>
                </a:endParaRPr>
              </a:p>
            </p:txBody>
          </p:sp>
        </p:grpSp>
      </p:grpSp>
      <p:pic>
        <p:nvPicPr>
          <p:cNvPr id="286" name="Picture 2" descr="ConnectX® Ethernet Adapters">
            <a:extLst>
              <a:ext uri="{FF2B5EF4-FFF2-40B4-BE49-F238E27FC236}">
                <a16:creationId xmlns:a16="http://schemas.microsoft.com/office/drawing/2014/main" id="{DD4432D9-D08C-7A42-86C9-4ED8C0F5B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895589">
            <a:off x="5525144" y="4255608"/>
            <a:ext cx="778654" cy="61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4" name="Picture 12">
            <a:extLst>
              <a:ext uri="{FF2B5EF4-FFF2-40B4-BE49-F238E27FC236}">
                <a16:creationId xmlns:a16="http://schemas.microsoft.com/office/drawing/2014/main" id="{0A40DA85-114F-B941-AF7B-C463337F5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076752" y="5351307"/>
            <a:ext cx="1359197" cy="67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2" name="Picture 291" descr="imgres.jpg">
            <a:extLst>
              <a:ext uri="{FF2B5EF4-FFF2-40B4-BE49-F238E27FC236}">
                <a16:creationId xmlns:a16="http://schemas.microsoft.com/office/drawing/2014/main" id="{DFC4A032-F573-BE43-99E1-E8C3BFC4F2D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791" y="3991164"/>
            <a:ext cx="502271" cy="829464"/>
          </a:xfrm>
          <a:prstGeom prst="rect">
            <a:avLst/>
          </a:prstGeom>
        </p:spPr>
      </p:pic>
      <p:pic>
        <p:nvPicPr>
          <p:cNvPr id="8198" name="Picture 6" descr="Logitech MX Vertical Ergonomic Wireless Mouse">
            <a:extLst>
              <a:ext uri="{FF2B5EF4-FFF2-40B4-BE49-F238E27FC236}">
                <a16:creationId xmlns:a16="http://schemas.microsoft.com/office/drawing/2014/main" id="{5A4B466E-DD80-1145-A5FC-A66B1706C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57394" y="5176451"/>
            <a:ext cx="406865" cy="349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10" name="Picture 18" descr="Amazon.in: Buy Samsung 960 Evo 1TB Internal Solid State Drive (MZ-V6E1T0BW)  Online at Low Prices in India | Samsung Reviews &amp; Ratings">
            <a:extLst>
              <a:ext uri="{FF2B5EF4-FFF2-40B4-BE49-F238E27FC236}">
                <a16:creationId xmlns:a16="http://schemas.microsoft.com/office/drawing/2014/main" id="{6BF5C937-1E51-9046-BF94-00F728D6B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71457" y="4938262"/>
            <a:ext cx="673054" cy="292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20" name="Picture 28" descr="Graphic Card PNG Transparent Images | PNG All">
            <a:extLst>
              <a:ext uri="{FF2B5EF4-FFF2-40B4-BE49-F238E27FC236}">
                <a16:creationId xmlns:a16="http://schemas.microsoft.com/office/drawing/2014/main" id="{B93E5FC6-9FAE-0041-9C99-A36852506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2108710" y="2956692"/>
            <a:ext cx="878674" cy="645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901368-3A03-5244-8E3A-E751EF9DCB93}"/>
              </a:ext>
            </a:extLst>
          </p:cNvPr>
          <p:cNvSpPr txBox="1"/>
          <p:nvPr/>
        </p:nvSpPr>
        <p:spPr>
          <a:xfrm>
            <a:off x="4028420" y="6700111"/>
            <a:ext cx="108715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r>
              <a:rPr lang="en-US" sz="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</a:t>
            </a:r>
            <a:r>
              <a:rPr lang="en-US" sz="4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pngall.com</a:t>
            </a:r>
            <a:r>
              <a:rPr lang="en-US" sz="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</a:t>
            </a:r>
            <a:r>
              <a:rPr lang="en-US" sz="4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cdw.com</a:t>
            </a:r>
            <a:endParaRPr lang="en-US" sz="4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51698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C6FF3-14DD-44F2-A7D9-36BB8E001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PCI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1B634-E1FA-4896-AAF0-26D9D82CC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>
            <a:normAutofit/>
          </a:bodyPr>
          <a:lstStyle/>
          <a:p>
            <a:r>
              <a:rPr lang="en-US" sz="1800" dirty="0"/>
              <a:t>PCI started life out as </a:t>
            </a:r>
            <a:r>
              <a:rPr lang="en-US" sz="1800" dirty="0">
                <a:solidFill>
                  <a:srgbClr val="FF0000"/>
                </a:solidFill>
              </a:rPr>
              <a:t>parallel bus</a:t>
            </a:r>
          </a:p>
          <a:p>
            <a:r>
              <a:rPr lang="en-US" sz="1800" dirty="0"/>
              <a:t>But parallel bus has many limitations</a:t>
            </a:r>
          </a:p>
          <a:p>
            <a:pPr lvl="1"/>
            <a:r>
              <a:rPr lang="en-US" sz="1600" dirty="0"/>
              <a:t>Multiplexing address/data for many requests</a:t>
            </a:r>
          </a:p>
          <a:p>
            <a:pPr lvl="1"/>
            <a:r>
              <a:rPr lang="en-US" sz="1600" dirty="0"/>
              <a:t>Slowest devices must be able to tell what’s happening (e.g., for arbitration)</a:t>
            </a:r>
          </a:p>
          <a:p>
            <a:pPr lvl="2"/>
            <a:r>
              <a:rPr lang="en-US" sz="1400" dirty="0">
                <a:solidFill>
                  <a:srgbClr val="FF0000"/>
                </a:solidFill>
              </a:rPr>
              <a:t>Bus speed is set to that of the slowest device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A06CD5C8-0312-404E-B4FA-0202B36BE1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449262" y="3594539"/>
            <a:ext cx="6245476" cy="2541018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F08ECF-A9B2-3541-91F1-B0FE7C2AADEC}"/>
              </a:ext>
            </a:extLst>
          </p:cNvPr>
          <p:cNvSpPr txBox="1"/>
          <p:nvPr/>
        </p:nvSpPr>
        <p:spPr>
          <a:xfrm>
            <a:off x="4307344" y="6645275"/>
            <a:ext cx="52931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wikimedia.org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28107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07A36-39A4-453A-AFFC-0D7DBC780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PCI Express (PCIe)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3AE2F-4139-4FBE-ACC7-1BEAC2D88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PCIe turned conventional PCI bus from parallel bus architecture into </a:t>
            </a:r>
            <a:r>
              <a:rPr lang="en-US" sz="1800" i="1" dirty="0">
                <a:solidFill>
                  <a:srgbClr val="FF0000"/>
                </a:solidFill>
              </a:rPr>
              <a:t>serial</a:t>
            </a:r>
            <a:r>
              <a:rPr lang="en-US" sz="1800" dirty="0"/>
              <a:t>, </a:t>
            </a:r>
            <a:r>
              <a:rPr lang="en-US" sz="1800" i="1" dirty="0">
                <a:solidFill>
                  <a:srgbClr val="FF0000"/>
                </a:solidFill>
              </a:rPr>
              <a:t>packet-switched</a:t>
            </a:r>
            <a:r>
              <a:rPr lang="en-US" sz="1800" dirty="0"/>
              <a:t>, </a:t>
            </a:r>
            <a:r>
              <a:rPr lang="en-US" sz="1800" i="1" dirty="0">
                <a:solidFill>
                  <a:srgbClr val="FF0000"/>
                </a:solidFill>
              </a:rPr>
              <a:t>point-to-point</a:t>
            </a:r>
            <a:r>
              <a:rPr lang="en-US" sz="1800" dirty="0"/>
              <a:t> architecture</a:t>
            </a:r>
          </a:p>
          <a:p>
            <a:pPr lvl="1"/>
            <a:r>
              <a:rPr lang="en-US" sz="1600" dirty="0"/>
              <a:t>Each device is connected to PCIe </a:t>
            </a:r>
            <a:r>
              <a:rPr lang="en-US" sz="1600" i="1" dirty="0">
                <a:solidFill>
                  <a:srgbClr val="FF0000"/>
                </a:solidFill>
              </a:rPr>
              <a:t>switch</a:t>
            </a:r>
            <a:r>
              <a:rPr lang="en-US" sz="1600" dirty="0"/>
              <a:t> with dedicated, bi-directional link</a:t>
            </a:r>
          </a:p>
          <a:p>
            <a:pPr lvl="1"/>
            <a:r>
              <a:rPr lang="en-US" sz="1600" dirty="0"/>
              <a:t>PCIe bus is very similar to packet-switched networks</a:t>
            </a:r>
          </a:p>
          <a:p>
            <a:pPr lvl="2"/>
            <a:endParaRPr lang="en-US" sz="1400" dirty="0"/>
          </a:p>
          <a:p>
            <a:r>
              <a:rPr lang="en-US" sz="1800" dirty="0"/>
              <a:t>Devices can use as many </a:t>
            </a:r>
            <a:r>
              <a:rPr lang="en-US" sz="1800" i="1" dirty="0">
                <a:solidFill>
                  <a:srgbClr val="FF0000"/>
                </a:solidFill>
              </a:rPr>
              <a:t>lanes</a:t>
            </a:r>
            <a:r>
              <a:rPr lang="en-US" sz="1800" dirty="0"/>
              <a:t> as they need to achieve desired bandwidth</a:t>
            </a:r>
          </a:p>
          <a:p>
            <a:pPr lvl="1"/>
            <a:r>
              <a:rPr lang="en-US" sz="1600" dirty="0"/>
              <a:t>Slow devices don’t have to share with fast ones</a:t>
            </a:r>
          </a:p>
          <a:p>
            <a:pPr lvl="1"/>
            <a:endParaRPr lang="en-US" sz="1400" dirty="0"/>
          </a:p>
          <a:p>
            <a:r>
              <a:rPr lang="en-US" sz="1800" dirty="0"/>
              <a:t>Device abstraction in Linux seamlessly migrated from PCI to PCIe</a:t>
            </a:r>
          </a:p>
          <a:p>
            <a:pPr lvl="1"/>
            <a:r>
              <a:rPr lang="en-US" sz="1600" dirty="0"/>
              <a:t>Physical interconnect changed completely, but old API still worked</a:t>
            </a:r>
          </a:p>
          <a:p>
            <a:pPr lvl="1"/>
            <a:r>
              <a:rPr lang="en-US" sz="1600" dirty="0"/>
              <a:t>PCIe added new features but kept the same standardized API</a:t>
            </a:r>
          </a:p>
          <a:p>
            <a:pPr lvl="1"/>
            <a:r>
              <a:rPr lang="en-US" sz="1600" dirty="0"/>
              <a:t>Drivers written for older PCI devices still worked on new PCIe buses</a:t>
            </a:r>
          </a:p>
          <a:p>
            <a:pPr lvl="2"/>
            <a:r>
              <a:rPr lang="en-US" sz="1400" dirty="0"/>
              <a:t>Without being able to use new features of course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9585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Device Controller</a:t>
            </a:r>
          </a:p>
        </p:txBody>
      </p:sp>
      <p:sp>
        <p:nvSpPr>
          <p:cNvPr id="8386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8650" y="4980274"/>
            <a:ext cx="7886700" cy="1665002"/>
          </a:xfrm>
        </p:spPr>
        <p:txBody>
          <a:bodyPr/>
          <a:lstStyle/>
          <a:p>
            <a:r>
              <a:rPr lang="en-US" altLang="ko-KR" sz="1800" dirty="0"/>
              <a:t>Device controller (may) contains set of registers and memory buffers</a:t>
            </a:r>
          </a:p>
          <a:p>
            <a:pPr lvl="1"/>
            <a:r>
              <a:rPr lang="en-US" altLang="ko-KR" sz="1600" dirty="0"/>
              <a:t>CPU communicate with devices by reading from and writing to registers and buffers</a:t>
            </a:r>
          </a:p>
          <a:p>
            <a:pPr lvl="1"/>
            <a:r>
              <a:rPr lang="en-US" altLang="ko-KR" sz="1600" dirty="0"/>
              <a:t>PCI devices have </a:t>
            </a:r>
            <a:r>
              <a:rPr lang="en-US" altLang="ko-KR" sz="1600" i="1" dirty="0">
                <a:solidFill>
                  <a:srgbClr val="FF0000"/>
                </a:solidFill>
              </a:rPr>
              <a:t>configuration space registers</a:t>
            </a:r>
            <a:r>
              <a:rPr lang="en-US" altLang="ko-KR" sz="1600" dirty="0"/>
              <a:t> used to perform auto configuration</a:t>
            </a:r>
          </a:p>
          <a:p>
            <a:pPr lvl="2"/>
            <a:r>
              <a:rPr lang="en-US" sz="1400" dirty="0"/>
              <a:t>E.g., during device enumeration, </a:t>
            </a:r>
            <a:r>
              <a:rPr lang="en-US" sz="1400" dirty="0">
                <a:solidFill>
                  <a:srgbClr val="FF0000"/>
                </a:solidFill>
              </a:rPr>
              <a:t>base address register (BAR)</a:t>
            </a:r>
            <a:r>
              <a:rPr lang="en-US" sz="1400" dirty="0"/>
              <a:t> is used by PCI device to specify how much memory it needs</a:t>
            </a:r>
            <a:endParaRPr lang="en-US" altLang="ko-KR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7F490-BECB-274C-8FDE-037B7E84F445}"/>
              </a:ext>
            </a:extLst>
          </p:cNvPr>
          <p:cNvSpPr/>
          <p:nvPr/>
        </p:nvSpPr>
        <p:spPr>
          <a:xfrm>
            <a:off x="4088535" y="6645273"/>
            <a:ext cx="966931" cy="169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r>
              <a:rPr lang="en-US" sz="5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</a:t>
            </a:r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pcworld.com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36B22DA-2A9E-1247-95E9-18F377EB9641}"/>
              </a:ext>
            </a:extLst>
          </p:cNvPr>
          <p:cNvGrpSpPr/>
          <p:nvPr/>
        </p:nvGrpSpPr>
        <p:grpSpPr>
          <a:xfrm>
            <a:off x="406908" y="1695051"/>
            <a:ext cx="8079887" cy="2664104"/>
            <a:chOff x="406908" y="1364189"/>
            <a:chExt cx="8079887" cy="266410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B132E8-72BD-694E-BDD1-12EC5753DE3F}"/>
                </a:ext>
              </a:extLst>
            </p:cNvPr>
            <p:cNvCxnSpPr>
              <a:cxnSpLocks/>
              <a:stCxn id="84" idx="1"/>
            </p:cNvCxnSpPr>
            <p:nvPr/>
          </p:nvCxnSpPr>
          <p:spPr>
            <a:xfrm flipH="1" flipV="1">
              <a:off x="3432254" y="1959480"/>
              <a:ext cx="1013542" cy="819636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AF1806E-2416-5B45-9773-4920C6CB3D1A}"/>
                </a:ext>
              </a:extLst>
            </p:cNvPr>
            <p:cNvCxnSpPr>
              <a:cxnSpLocks/>
              <a:stCxn id="84" idx="3"/>
            </p:cNvCxnSpPr>
            <p:nvPr/>
          </p:nvCxnSpPr>
          <p:spPr>
            <a:xfrm flipH="1">
              <a:off x="3428496" y="3199873"/>
              <a:ext cx="1017300" cy="828420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58">
              <a:extLst>
                <a:ext uri="{FF2B5EF4-FFF2-40B4-BE49-F238E27FC236}">
                  <a16:creationId xmlns:a16="http://schemas.microsoft.com/office/drawing/2014/main" id="{6B96CDB9-06BC-5C48-BE65-D4674D510C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7820" y="1959480"/>
              <a:ext cx="2344431" cy="2068813"/>
            </a:xfrm>
            <a:prstGeom prst="rect">
              <a:avLst/>
            </a:prstGeom>
            <a:solidFill>
              <a:srgbClr val="FFFF00"/>
            </a:solidFill>
            <a:ln w="381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/>
            <a:lstStyle/>
            <a:p>
              <a:pPr marL="228600" indent="-228600" algn="r"/>
              <a:r>
                <a:rPr lang="en-US" sz="14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Device Controller</a:t>
              </a:r>
            </a:p>
          </p:txBody>
        </p:sp>
        <p:sp>
          <p:nvSpPr>
            <p:cNvPr id="75" name="Rectangle 63">
              <a:extLst>
                <a:ext uri="{FF2B5EF4-FFF2-40B4-BE49-F238E27FC236}">
                  <a16:creationId xmlns:a16="http://schemas.microsoft.com/office/drawing/2014/main" id="{3D1876A6-DAAE-4448-A0B6-BA1C5357A6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1874" y="3028598"/>
              <a:ext cx="1189145" cy="568158"/>
            </a:xfrm>
            <a:prstGeom prst="rect">
              <a:avLst/>
            </a:prstGeom>
            <a:solidFill>
              <a:srgbClr val="00FFFF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8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Command queues</a:t>
              </a:r>
            </a:p>
            <a:p>
              <a:pPr marL="228600" indent="-228600" algn="ctr"/>
              <a:r>
                <a:rPr lang="en-US" sz="8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Data queues</a:t>
              </a:r>
            </a:p>
          </p:txBody>
        </p:sp>
        <p:sp>
          <p:nvSpPr>
            <p:cNvPr id="76" name="Text Box 64">
              <a:extLst>
                <a:ext uri="{FF2B5EF4-FFF2-40B4-BE49-F238E27FC236}">
                  <a16:creationId xmlns:a16="http://schemas.microsoft.com/office/drawing/2014/main" id="{70FCB4E2-0BDD-854E-903B-A2D3C8AB55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50157" y="3693512"/>
              <a:ext cx="818282" cy="3052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66CC"/>
                  </a:solidFill>
                </a14:hiddenFill>
              </a:ext>
              <a:ext uri="{91240B29-F687-4f45-9708-019B960494DF}">
                <a14:hiddenLine xmlns=""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sz="1400" b="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Registers</a:t>
              </a:r>
            </a:p>
          </p:txBody>
        </p:sp>
        <p:sp>
          <p:nvSpPr>
            <p:cNvPr id="77" name="Rectangle 65">
              <a:extLst>
                <a:ext uri="{FF2B5EF4-FFF2-40B4-BE49-F238E27FC236}">
                  <a16:creationId xmlns:a16="http://schemas.microsoft.com/office/drawing/2014/main" id="{FCC9043A-A977-2A4E-8CD5-233805FF3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9288" y="2371921"/>
              <a:ext cx="1297887" cy="461151"/>
            </a:xfrm>
            <a:prstGeom prst="rect">
              <a:avLst/>
            </a:prstGeom>
            <a:solidFill>
              <a:srgbClr val="53FB25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Hardware</a:t>
              </a:r>
            </a:p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Controller</a:t>
              </a:r>
            </a:p>
          </p:txBody>
        </p:sp>
        <p:sp>
          <p:nvSpPr>
            <p:cNvPr id="78" name="Text Box 69">
              <a:extLst>
                <a:ext uri="{FF2B5EF4-FFF2-40B4-BE49-F238E27FC236}">
                  <a16:creationId xmlns:a16="http://schemas.microsoft.com/office/drawing/2014/main" id="{EB3B24FB-BFAC-D34E-AF6A-D6C5240992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8713" y="3693511"/>
              <a:ext cx="666510" cy="3052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66CC"/>
                  </a:solidFill>
                </a14:hiddenFill>
              </a:ext>
              <a:ext uri="{91240B29-F687-4f45-9708-019B960494DF}">
                <a14:hiddenLine xmlns=""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sz="1400" b="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Buffers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EF97DDF-17DF-6146-9ADB-9514790099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7031" y="2379841"/>
              <a:ext cx="680919" cy="453231"/>
            </a:xfrm>
            <a:prstGeom prst="rect">
              <a:avLst/>
            </a:prstGeom>
            <a:solidFill>
              <a:srgbClr val="53FB25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PCIe</a:t>
              </a:r>
            </a:p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Interface</a:t>
              </a:r>
            </a:p>
          </p:txBody>
        </p:sp>
        <p:pic>
          <p:nvPicPr>
            <p:cNvPr id="7170" name="Picture 2">
              <a:extLst>
                <a:ext uri="{FF2B5EF4-FFF2-40B4-BE49-F238E27FC236}">
                  <a16:creationId xmlns:a16="http://schemas.microsoft.com/office/drawing/2014/main" id="{DFACDC85-5022-9A46-AD05-A9E1772802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1051" y="1364189"/>
              <a:ext cx="4265744" cy="25135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2" name="Picture 4" descr="Nvidia GeForce GTX Titan X review: Hail to the new king of graphics |  PCWorld">
              <a:extLst>
                <a:ext uri="{FF2B5EF4-FFF2-40B4-BE49-F238E27FC236}">
                  <a16:creationId xmlns:a16="http://schemas.microsoft.com/office/drawing/2014/main" id="{A9E7305D-BC85-3D40-9E3E-5206161317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908" y="1569536"/>
              <a:ext cx="1495117" cy="9487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4" name="Oval 95">
              <a:extLst>
                <a:ext uri="{FF2B5EF4-FFF2-40B4-BE49-F238E27FC236}">
                  <a16:creationId xmlns:a16="http://schemas.microsoft.com/office/drawing/2014/main" id="{725E1BCF-835D-1C48-8F7D-529A70C9D6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8654" y="2691974"/>
              <a:ext cx="595041" cy="595041"/>
            </a:xfrm>
            <a:prstGeom prst="ellipse">
              <a:avLst/>
            </a:prstGeom>
            <a:noFill/>
            <a:ln w="38100" algn="ctr">
              <a:solidFill>
                <a:schemeClr val="accent6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endParaRPr lang="en-US" sz="14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23" name="Rectangle 63">
              <a:extLst>
                <a:ext uri="{FF2B5EF4-FFF2-40B4-BE49-F238E27FC236}">
                  <a16:creationId xmlns:a16="http://schemas.microsoft.com/office/drawing/2014/main" id="{F678C3DE-63E3-B444-94EE-E1DA47C4D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9289" y="3028598"/>
              <a:ext cx="891354" cy="142565"/>
            </a:xfrm>
            <a:prstGeom prst="rect">
              <a:avLst/>
            </a:prstGeom>
            <a:solidFill>
              <a:srgbClr val="00FFFF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8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command</a:t>
              </a:r>
            </a:p>
          </p:txBody>
        </p:sp>
        <p:sp>
          <p:nvSpPr>
            <p:cNvPr id="24" name="Rectangle 63">
              <a:extLst>
                <a:ext uri="{FF2B5EF4-FFF2-40B4-BE49-F238E27FC236}">
                  <a16:creationId xmlns:a16="http://schemas.microsoft.com/office/drawing/2014/main" id="{F19C4CDB-24BC-5848-BE6A-06677D821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9289" y="3174230"/>
              <a:ext cx="891354" cy="142565"/>
            </a:xfrm>
            <a:prstGeom prst="rect">
              <a:avLst/>
            </a:prstGeom>
            <a:solidFill>
              <a:srgbClr val="00FFFF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8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status</a:t>
              </a:r>
            </a:p>
          </p:txBody>
        </p:sp>
        <p:sp>
          <p:nvSpPr>
            <p:cNvPr id="25" name="Rectangle 63">
              <a:extLst>
                <a:ext uri="{FF2B5EF4-FFF2-40B4-BE49-F238E27FC236}">
                  <a16:creationId xmlns:a16="http://schemas.microsoft.com/office/drawing/2014/main" id="{6D0A8B21-8BBE-484E-980E-C2DF73D7DA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9289" y="3311670"/>
              <a:ext cx="891354" cy="142565"/>
            </a:xfrm>
            <a:prstGeom prst="rect">
              <a:avLst/>
            </a:prstGeom>
            <a:solidFill>
              <a:srgbClr val="00FFFF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8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base address</a:t>
              </a:r>
            </a:p>
          </p:txBody>
        </p:sp>
        <p:sp>
          <p:nvSpPr>
            <p:cNvPr id="26" name="Rectangle 63">
              <a:extLst>
                <a:ext uri="{FF2B5EF4-FFF2-40B4-BE49-F238E27FC236}">
                  <a16:creationId xmlns:a16="http://schemas.microsoft.com/office/drawing/2014/main" id="{95A817B2-05B4-9C40-AB3E-D28755711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9289" y="3454191"/>
              <a:ext cx="891354" cy="142565"/>
            </a:xfrm>
            <a:prstGeom prst="rect">
              <a:avLst/>
            </a:prstGeom>
            <a:solidFill>
              <a:srgbClr val="00FFFF"/>
            </a:solidFill>
            <a:ln w="25400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78" tIns="0" rIns="90478" bIns="72000" anchor="ctr"/>
            <a:lstStyle/>
            <a:p>
              <a:pPr marL="228600" indent="-228600" algn="ctr"/>
              <a:r>
                <a:rPr lang="en-US" sz="1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660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565B0-8AFD-D041-BFD5-34E5A1DF8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I/O Devices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58173-3BB4-2C4C-B11E-7628F31B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>
                <a:solidFill>
                  <a:srgbClr val="FF0000"/>
                </a:solidFill>
              </a:rPr>
              <a:t>Port-mapped</a:t>
            </a:r>
            <a:r>
              <a:rPr lang="en-US" altLang="ko-KR" sz="1800" dirty="0"/>
              <a:t>: I/O devices have separate address space from physical memory</a:t>
            </a:r>
          </a:p>
          <a:p>
            <a:pPr lvl="1"/>
            <a:r>
              <a:rPr lang="en-US" altLang="ko-KR" sz="1600" dirty="0"/>
              <a:t>Port-mapped I/O is also called </a:t>
            </a:r>
            <a:r>
              <a:rPr lang="en-US" altLang="ko-KR" sz="1600" i="1" dirty="0">
                <a:solidFill>
                  <a:srgbClr val="FF0000"/>
                </a:solidFill>
              </a:rPr>
              <a:t>isolated I/O</a:t>
            </a:r>
          </a:p>
          <a:p>
            <a:pPr lvl="1"/>
            <a:r>
              <a:rPr lang="en-US" altLang="ko-KR" sz="1600" dirty="0"/>
              <a:t>Entire bus could be dedicated to I/O devices</a:t>
            </a:r>
          </a:p>
          <a:p>
            <a:pPr lvl="1"/>
            <a:r>
              <a:rPr lang="en-US" altLang="ko-KR" sz="1600" dirty="0"/>
              <a:t>CPU performs I/O operations using special I/O instructions</a:t>
            </a:r>
          </a:p>
          <a:p>
            <a:pPr lvl="2"/>
            <a:r>
              <a:rPr lang="en-US" altLang="ko-KR" sz="1400" dirty="0"/>
              <a:t>Example: </a:t>
            </a:r>
            <a:r>
              <a:rPr lang="en-US" altLang="ko-KR" sz="1400" dirty="0">
                <a:latin typeface="Ubuntu Mono" panose="020B0509030602030204" pitchFamily="49" charset="0"/>
              </a:rPr>
              <a:t>in/out</a:t>
            </a:r>
            <a:r>
              <a:rPr lang="en-US" altLang="ko-KR" sz="1400" dirty="0"/>
              <a:t> instructions used in some Intel microprocessors (e.g., </a:t>
            </a:r>
            <a:r>
              <a:rPr lang="en-US" altLang="ko-KR" sz="1400" dirty="0">
                <a:latin typeface="Ubuntu Mono" panose="020B0509030602030204" pitchFamily="49" charset="0"/>
              </a:rPr>
              <a:t>out 0x21,al)</a:t>
            </a:r>
            <a:endParaRPr lang="en-US" altLang="ko-KR" sz="1400" dirty="0"/>
          </a:p>
          <a:p>
            <a:pPr lvl="1"/>
            <a:endParaRPr lang="en-US" altLang="ko-KR" sz="1600" dirty="0">
              <a:latin typeface="Ubuntu Mono" panose="020B0509030602030204" pitchFamily="49" charset="0"/>
            </a:endParaRPr>
          </a:p>
          <a:p>
            <a:pPr lvl="1"/>
            <a:endParaRPr lang="en-US" altLang="ko-KR" sz="1600" dirty="0">
              <a:latin typeface="Ubuntu Mono" panose="020B0509030602030204" pitchFamily="49" charset="0"/>
            </a:endParaRPr>
          </a:p>
          <a:p>
            <a:r>
              <a:rPr lang="en-US" altLang="ko-KR" sz="1800" dirty="0">
                <a:solidFill>
                  <a:srgbClr val="FF0000"/>
                </a:solidFill>
              </a:rPr>
              <a:t>Memory-mapped</a:t>
            </a:r>
            <a:r>
              <a:rPr lang="en-US" altLang="ko-KR" sz="1800" dirty="0"/>
              <a:t>: I/O devices use the same address space as physical memory</a:t>
            </a:r>
          </a:p>
          <a:p>
            <a:pPr lvl="1"/>
            <a:r>
              <a:rPr lang="en-US" altLang="ko-KR" sz="1600" dirty="0"/>
              <a:t>I/O devices listen to the same address bus that is connected to memory</a:t>
            </a:r>
          </a:p>
          <a:p>
            <a:pPr lvl="1"/>
            <a:r>
              <a:rPr lang="en-CA" sz="1600" dirty="0"/>
              <a:t>Addresses reserved for I/O should not be available to physical memory</a:t>
            </a:r>
            <a:endParaRPr lang="en-US" altLang="ko-KR" sz="1600" dirty="0"/>
          </a:p>
          <a:p>
            <a:pPr lvl="1"/>
            <a:r>
              <a:rPr lang="en-US" altLang="ko-KR" sz="1600" dirty="0"/>
              <a:t>I/O devices are accessed like they are part of memory using </a:t>
            </a:r>
          </a:p>
          <a:p>
            <a:pPr lvl="2"/>
            <a:r>
              <a:rPr lang="en-US" altLang="ko-KR" sz="1400" dirty="0"/>
              <a:t>Example: </a:t>
            </a:r>
            <a:r>
              <a:rPr lang="en-US" altLang="ko-KR" sz="1400" dirty="0">
                <a:latin typeface="Ubuntu Mono" panose="020B0509030602030204" pitchFamily="49" charset="0"/>
              </a:rPr>
              <a:t>load/store</a:t>
            </a:r>
            <a:r>
              <a:rPr lang="en-US" altLang="ko-KR" sz="1400" dirty="0"/>
              <a:t> instructions </a:t>
            </a:r>
          </a:p>
        </p:txBody>
      </p:sp>
    </p:spTree>
    <p:extLst>
      <p:ext uri="{BB962C8B-B14F-4D97-AF65-F5344CB8AC3E}">
        <p14:creationId xmlns:p14="http://schemas.microsoft.com/office/powerpoint/2010/main" val="3759714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9D853E5-13C2-B54D-BA89-E8CE7B5B50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Example: </a:t>
            </a:r>
            <a:br>
              <a:rPr lang="en-US" altLang="en-US" dirty="0"/>
            </a:br>
            <a:r>
              <a:rPr lang="en-US" altLang="en-US" dirty="0"/>
              <a:t>Memory-mapped Display Controller</a:t>
            </a:r>
          </a:p>
        </p:txBody>
      </p:sp>
      <p:sp>
        <p:nvSpPr>
          <p:cNvPr id="848899" name="Rectangle 3">
            <a:extLst>
              <a:ext uri="{FF2B5EF4-FFF2-40B4-BE49-F238E27FC236}">
                <a16:creationId xmlns:a16="http://schemas.microsoft.com/office/drawing/2014/main" id="{AAFC4DC7-79CC-7847-849D-5B0F425F7E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600" dirty="0"/>
              <a:t>Map registers and/or buffers into physical address space</a:t>
            </a:r>
          </a:p>
          <a:p>
            <a:pPr lvl="1"/>
            <a:r>
              <a:rPr lang="en-US" altLang="en-US" sz="1400" dirty="0"/>
              <a:t>Addresses are set by HW jumpers, BIOS, or OS at boot time</a:t>
            </a:r>
          </a:p>
          <a:p>
            <a:pPr lvl="3"/>
            <a:endParaRPr lang="en-US" altLang="en-US" sz="800" dirty="0"/>
          </a:p>
          <a:p>
            <a:r>
              <a:rPr lang="en-US" altLang="en-US" sz="1600" dirty="0"/>
              <a:t>Change image on screen by writing to display memory </a:t>
            </a:r>
          </a:p>
          <a:p>
            <a:pPr lvl="1"/>
            <a:r>
              <a:rPr lang="en-US" altLang="en-US" sz="1400" dirty="0"/>
              <a:t>Also called the </a:t>
            </a:r>
            <a:r>
              <a:rPr lang="ja-JP" altLang="en-US" sz="1400"/>
              <a:t>“</a:t>
            </a:r>
            <a:r>
              <a:rPr lang="en-US" altLang="ja-JP" sz="1400" dirty="0"/>
              <a:t>frame buffer</a:t>
            </a:r>
            <a:r>
              <a:rPr lang="ja-JP" altLang="en-US" sz="1400"/>
              <a:t>”</a:t>
            </a:r>
            <a:endParaRPr lang="en-US" altLang="ja-JP" sz="1400" dirty="0"/>
          </a:p>
          <a:p>
            <a:pPr lvl="1"/>
            <a:r>
              <a:rPr lang="en-US" altLang="en-US" sz="1400" dirty="0"/>
              <a:t>E.g., address range of </a:t>
            </a:r>
            <a:r>
              <a:rPr lang="en-US" altLang="en-US" sz="1200" dirty="0">
                <a:latin typeface="Ubuntu Mono" panose="020B0509030602030204" pitchFamily="49" charset="0"/>
              </a:rPr>
              <a:t>0x8000F000-0x8000FFFF</a:t>
            </a:r>
          </a:p>
          <a:p>
            <a:pPr lvl="3"/>
            <a:endParaRPr lang="en-US" altLang="en-US" sz="800" dirty="0">
              <a:latin typeface="Ubuntu Mono" panose="020B0509030602030204" pitchFamily="49" charset="0"/>
            </a:endParaRPr>
          </a:p>
          <a:p>
            <a:r>
              <a:rPr lang="en-US" altLang="en-US" sz="1600" dirty="0"/>
              <a:t>Write graphics description to command-queue area </a:t>
            </a:r>
          </a:p>
          <a:p>
            <a:pPr lvl="1"/>
            <a:r>
              <a:rPr lang="en-US" altLang="en-US" sz="1400" dirty="0"/>
              <a:t>E.g., write set of triangles that describe some scene</a:t>
            </a:r>
            <a:br>
              <a:rPr lang="en-US" altLang="en-US" sz="1400" dirty="0"/>
            </a:br>
            <a:r>
              <a:rPr lang="en-US" altLang="en-US" sz="1400" dirty="0"/>
              <a:t>to address range of </a:t>
            </a:r>
            <a:r>
              <a:rPr lang="en-US" altLang="en-US" sz="1200" dirty="0">
                <a:latin typeface="Ubuntu Mono" panose="020B0509030602030204" pitchFamily="49" charset="0"/>
              </a:rPr>
              <a:t>0x80010000-0x8001FFFF</a:t>
            </a:r>
          </a:p>
          <a:p>
            <a:pPr lvl="3"/>
            <a:endParaRPr lang="en-US" altLang="en-US" sz="800" dirty="0">
              <a:latin typeface="Ubuntu Mono" panose="020B0509030602030204" pitchFamily="49" charset="0"/>
            </a:endParaRPr>
          </a:p>
          <a:p>
            <a:r>
              <a:rPr lang="en-US" altLang="en-US" sz="1600" dirty="0"/>
              <a:t>Send command to graphics HW by writing to command register</a:t>
            </a:r>
          </a:p>
          <a:p>
            <a:pPr lvl="1"/>
            <a:r>
              <a:rPr lang="en-US" altLang="en-US" sz="1400" dirty="0"/>
              <a:t>E.g., write to address </a:t>
            </a:r>
            <a:r>
              <a:rPr lang="en-US" altLang="en-US" sz="1200" dirty="0">
                <a:latin typeface="Ubuntu Mono" panose="020B0509030602030204" pitchFamily="49" charset="0"/>
              </a:rPr>
              <a:t>0x0007F004</a:t>
            </a:r>
            <a:r>
              <a:rPr lang="en-US" altLang="en-US" sz="1400" dirty="0"/>
              <a:t> </a:t>
            </a:r>
            <a:br>
              <a:rPr lang="en-US" altLang="en-US" sz="1400" dirty="0"/>
            </a:br>
            <a:r>
              <a:rPr lang="en-US" altLang="en-US" sz="1400" dirty="0"/>
              <a:t>to render triangles in above example</a:t>
            </a:r>
          </a:p>
          <a:p>
            <a:pPr lvl="3"/>
            <a:endParaRPr lang="en-US" altLang="en-US" sz="800" dirty="0"/>
          </a:p>
          <a:p>
            <a:r>
              <a:rPr lang="en-US" altLang="en-US" sz="1600" dirty="0"/>
              <a:t>Protect mapped addresses using address translation</a:t>
            </a:r>
          </a:p>
          <a:p>
            <a:pPr lvl="1"/>
            <a:r>
              <a:rPr lang="en-US" altLang="en-US" sz="1400" dirty="0"/>
              <a:t>Set them read only or write only, and typically non-cacheable</a:t>
            </a:r>
          </a:p>
        </p:txBody>
      </p:sp>
      <p:pic>
        <p:nvPicPr>
          <p:cNvPr id="34820" name="Picture 4">
            <a:extLst>
              <a:ext uri="{FF2B5EF4-FFF2-40B4-BE49-F238E27FC236}">
                <a16:creationId xmlns:a16="http://schemas.microsoft.com/office/drawing/2014/main" id="{CF83B8E0-968F-2F4A-B789-770C957B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31713" y="5463101"/>
            <a:ext cx="808876" cy="10625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4821" name="Group 18">
            <a:extLst>
              <a:ext uri="{FF2B5EF4-FFF2-40B4-BE49-F238E27FC236}">
                <a16:creationId xmlns:a16="http://schemas.microsoft.com/office/drawing/2014/main" id="{C45821EF-8FEE-9343-9C78-29E23982E048}"/>
              </a:ext>
            </a:extLst>
          </p:cNvPr>
          <p:cNvGrpSpPr>
            <a:grpSpLocks/>
          </p:cNvGrpSpPr>
          <p:nvPr/>
        </p:nvGrpSpPr>
        <p:grpSpPr bwMode="auto">
          <a:xfrm>
            <a:off x="6429376" y="1651000"/>
            <a:ext cx="2062163" cy="4954588"/>
            <a:chOff x="4025" y="572"/>
            <a:chExt cx="1299" cy="3121"/>
          </a:xfrm>
        </p:grpSpPr>
        <p:sp>
          <p:nvSpPr>
            <p:cNvPr id="34822" name="Rectangle 5">
              <a:extLst>
                <a:ext uri="{FF2B5EF4-FFF2-40B4-BE49-F238E27FC236}">
                  <a16:creationId xmlns:a16="http://schemas.microsoft.com/office/drawing/2014/main" id="{739F9311-BBD3-754C-AA79-49BD6B98A1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" y="572"/>
              <a:ext cx="768" cy="27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>
              <a:lvl1pPr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endParaRPr lang="en-US" altLang="en-US" sz="1200" b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4823" name="Rectangle 6">
              <a:extLst>
                <a:ext uri="{FF2B5EF4-FFF2-40B4-BE49-F238E27FC236}">
                  <a16:creationId xmlns:a16="http://schemas.microsoft.com/office/drawing/2014/main" id="{FE8BED4A-4A14-8640-A7E5-E966863FE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" y="1340"/>
              <a:ext cx="768" cy="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Display</a:t>
              </a:r>
            </a:p>
            <a:p>
              <a:pPr algn="ctr">
                <a:spcBef>
                  <a:spcPct val="0"/>
                </a:spcBef>
              </a:pPr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Memory</a:t>
              </a:r>
            </a:p>
          </p:txBody>
        </p:sp>
        <p:sp>
          <p:nvSpPr>
            <p:cNvPr id="34824" name="Text Box 7">
              <a:extLst>
                <a:ext uri="{FF2B5EF4-FFF2-40B4-BE49-F238E27FC236}">
                  <a16:creationId xmlns:a16="http://schemas.microsoft.com/office/drawing/2014/main" id="{C85009DF-A619-5949-A26D-D1DFBFF39C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25" y="1826"/>
              <a:ext cx="559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100" b="0">
                  <a:latin typeface="Ubuntu Mono" panose="020B0509030602030204" pitchFamily="49" charset="0"/>
                  <a:cs typeface="Gill Sans Light" panose="020B0302020104020203" pitchFamily="34" charset="-79"/>
                </a:rPr>
                <a:t>0x8000F000</a:t>
              </a:r>
            </a:p>
          </p:txBody>
        </p:sp>
        <p:sp>
          <p:nvSpPr>
            <p:cNvPr id="34825" name="Text Box 8">
              <a:extLst>
                <a:ext uri="{FF2B5EF4-FFF2-40B4-BE49-F238E27FC236}">
                  <a16:creationId xmlns:a16="http://schemas.microsoft.com/office/drawing/2014/main" id="{5D8CC6A6-CE95-4B4E-B2ED-A3AC860213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26" y="1263"/>
              <a:ext cx="557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100" b="0">
                  <a:latin typeface="Ubuntu Mono" panose="020B0509030602030204" pitchFamily="49" charset="0"/>
                  <a:cs typeface="Gill Sans Light" panose="020B0302020104020203" pitchFamily="34" charset="-79"/>
                </a:rPr>
                <a:t>0x80010000</a:t>
              </a:r>
            </a:p>
          </p:txBody>
        </p:sp>
        <p:sp>
          <p:nvSpPr>
            <p:cNvPr id="34826" name="Text Box 9">
              <a:extLst>
                <a:ext uri="{FF2B5EF4-FFF2-40B4-BE49-F238E27FC236}">
                  <a16:creationId xmlns:a16="http://schemas.microsoft.com/office/drawing/2014/main" id="{AB3CA76E-D4D7-A848-BCFB-E54A062AEC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" y="3404"/>
              <a:ext cx="736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b="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Physical Address</a:t>
              </a:r>
            </a:p>
            <a:p>
              <a:pPr algn="ctr"/>
              <a:r>
                <a:rPr lang="en-US" altLang="en-US" sz="1200" b="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Space</a:t>
              </a:r>
            </a:p>
          </p:txBody>
        </p:sp>
        <p:sp>
          <p:nvSpPr>
            <p:cNvPr id="34827" name="Rectangle 10">
              <a:extLst>
                <a:ext uri="{FF2B5EF4-FFF2-40B4-BE49-F238E27FC236}">
                  <a16:creationId xmlns:a16="http://schemas.microsoft.com/office/drawing/2014/main" id="{363FF34A-85FB-814A-B382-ABBCA26B5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" y="2588"/>
              <a:ext cx="768" cy="19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Status</a:t>
              </a:r>
            </a:p>
          </p:txBody>
        </p:sp>
        <p:sp>
          <p:nvSpPr>
            <p:cNvPr id="34828" name="Text Box 11">
              <a:extLst>
                <a:ext uri="{FF2B5EF4-FFF2-40B4-BE49-F238E27FC236}">
                  <a16:creationId xmlns:a16="http://schemas.microsoft.com/office/drawing/2014/main" id="{D8692FB2-0D28-0448-B5D3-FCD4DB88D5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25" y="2600"/>
              <a:ext cx="559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100" b="0" dirty="0">
                  <a:latin typeface="Ubuntu Mono" panose="020B0509030602030204" pitchFamily="49" charset="0"/>
                  <a:cs typeface="Gill Sans Light" panose="020B0302020104020203" pitchFamily="34" charset="-79"/>
                </a:rPr>
                <a:t>0x0007F000</a:t>
              </a:r>
            </a:p>
          </p:txBody>
        </p:sp>
        <p:sp>
          <p:nvSpPr>
            <p:cNvPr id="34829" name="Rectangle 12">
              <a:extLst>
                <a:ext uri="{FF2B5EF4-FFF2-40B4-BE49-F238E27FC236}">
                  <a16:creationId xmlns:a16="http://schemas.microsoft.com/office/drawing/2014/main" id="{CCADCACE-5688-AA4E-9D95-AC2E1FB4E5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" y="2396"/>
              <a:ext cx="768" cy="19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Command</a:t>
              </a:r>
            </a:p>
          </p:txBody>
        </p:sp>
        <p:sp>
          <p:nvSpPr>
            <p:cNvPr id="34830" name="Text Box 13">
              <a:extLst>
                <a:ext uri="{FF2B5EF4-FFF2-40B4-BE49-F238E27FC236}">
                  <a16:creationId xmlns:a16="http://schemas.microsoft.com/office/drawing/2014/main" id="{06B2BFF3-5848-FF44-8EB6-D9A6D6C35C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25" y="2418"/>
              <a:ext cx="559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100" b="0">
                  <a:latin typeface="Ubuntu Mono" panose="020B0509030602030204" pitchFamily="49" charset="0"/>
                  <a:cs typeface="Gill Sans Light" panose="020B0302020104020203" pitchFamily="34" charset="-79"/>
                </a:rPr>
                <a:t>0x0007F004</a:t>
              </a:r>
            </a:p>
          </p:txBody>
        </p:sp>
        <p:sp>
          <p:nvSpPr>
            <p:cNvPr id="34831" name="Rectangle 15">
              <a:extLst>
                <a:ext uri="{FF2B5EF4-FFF2-40B4-BE49-F238E27FC236}">
                  <a16:creationId xmlns:a16="http://schemas.microsoft.com/office/drawing/2014/main" id="{C2624244-E403-D64C-BD0E-4D59F047BC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" y="768"/>
              <a:ext cx="768" cy="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Graphics</a:t>
              </a:r>
            </a:p>
            <a:p>
              <a:pPr algn="ctr">
                <a:spcBef>
                  <a:spcPct val="0"/>
                </a:spcBef>
              </a:pPr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Command</a:t>
              </a:r>
            </a:p>
            <a:p>
              <a:pPr algn="ctr">
                <a:spcBef>
                  <a:spcPct val="0"/>
                </a:spcBef>
              </a:pPr>
              <a:r>
                <a:rPr lang="en-US" altLang="en-US" sz="12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Queue</a:t>
              </a:r>
            </a:p>
          </p:txBody>
        </p:sp>
        <p:sp>
          <p:nvSpPr>
            <p:cNvPr id="34832" name="Text Box 16">
              <a:extLst>
                <a:ext uri="{FF2B5EF4-FFF2-40B4-BE49-F238E27FC236}">
                  <a16:creationId xmlns:a16="http://schemas.microsoft.com/office/drawing/2014/main" id="{8ADEFF1C-07DF-5944-B12D-80ECE439FC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26" y="692"/>
              <a:ext cx="557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 anchor="ctr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panose="030F0902030302020204" pitchFamily="66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en-US" sz="1100" b="0" dirty="0">
                  <a:latin typeface="Ubuntu Mono" panose="020B0509030602030204" pitchFamily="49" charset="0"/>
                  <a:cs typeface="Gill Sans Light" panose="020B0302020104020203" pitchFamily="34" charset="-79"/>
                </a:rPr>
                <a:t>0x80020000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56663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8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889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7304B38-F3A8-B044-B10C-61376395C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I/O Data Transfer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DA30CB-F22A-864B-A39B-D4672F034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solidFill>
                  <a:srgbClr val="FF0000"/>
                </a:solidFill>
              </a:rPr>
              <a:t>Programmed I/O</a:t>
            </a:r>
          </a:p>
          <a:p>
            <a:pPr lvl="1"/>
            <a:r>
              <a:rPr lang="en-US" sz="1800" dirty="0"/>
              <a:t>Each byte transferred via processor in/out or load/store</a:t>
            </a:r>
          </a:p>
          <a:p>
            <a:pPr lvl="1"/>
            <a:r>
              <a:rPr lang="en-US" sz="1800" dirty="0">
                <a:solidFill>
                  <a:srgbClr val="00B050"/>
                </a:solidFill>
              </a:rPr>
              <a:t>+ Simple hardware, easy to program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− Consumes processor cycles </a:t>
            </a:r>
            <a:r>
              <a:rPr lang="en-US" sz="1800" dirty="0">
                <a:solidFill>
                  <a:srgbClr val="FF0000"/>
                </a:solidFill>
                <a:sym typeface="Symbol" charset="0"/>
              </a:rPr>
              <a:t>proportional to data size</a:t>
            </a:r>
          </a:p>
          <a:p>
            <a:pPr lvl="1"/>
            <a:endParaRPr lang="el-GR" sz="1800" dirty="0">
              <a:sym typeface="Symbol" charset="0"/>
            </a:endParaRPr>
          </a:p>
          <a:p>
            <a:r>
              <a:rPr lang="en-US" sz="2000" dirty="0">
                <a:solidFill>
                  <a:srgbClr val="FF0000"/>
                </a:solidFill>
              </a:rPr>
              <a:t>Direct memory access (DMA)</a:t>
            </a:r>
          </a:p>
          <a:p>
            <a:pPr lvl="1"/>
            <a:r>
              <a:rPr lang="en-US" sz="1800" dirty="0"/>
              <a:t>Give controller access to memory bus</a:t>
            </a:r>
          </a:p>
          <a:p>
            <a:pPr lvl="1"/>
            <a:r>
              <a:rPr lang="en-US" sz="1800" dirty="0"/>
              <a:t>Ask it to transfer data blocks to/from memory directly</a:t>
            </a:r>
          </a:p>
        </p:txBody>
      </p:sp>
    </p:spTree>
    <p:extLst>
      <p:ext uri="{BB962C8B-B14F-4D97-AF65-F5344CB8AC3E}">
        <p14:creationId xmlns:p14="http://schemas.microsoft.com/office/powerpoint/2010/main" val="2902252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AF82E-575E-5743-B06B-728B87F2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DMA for PCIe Devices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CD125-9E88-D34B-A889-F7177DB0B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/>
              <a:t>PCIe enables point-to-point communication between all endpoints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Each device contains its own, proprietary DMA engine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Unlike ISA, there is no central DMA controller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Device driver programs DMA engine and signals it to begin DMA transfer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DMA engine sends packets directly to memory controller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Once transfer is over, DMA engine raises interrupts (using same PCIe bus)</a:t>
            </a:r>
          </a:p>
        </p:txBody>
      </p:sp>
    </p:spTree>
    <p:extLst>
      <p:ext uri="{BB962C8B-B14F-4D97-AF65-F5344CB8AC3E}">
        <p14:creationId xmlns:p14="http://schemas.microsoft.com/office/powerpoint/2010/main" val="28746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765CA-8E6E-3C4C-8D22-87A1F162A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Devices: Memory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D1E5D-C67D-4049-B84C-1E354A7A3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Typically, I/O devices can only read/write from </a:t>
            </a:r>
            <a:r>
              <a:rPr lang="en-US" sz="1600" dirty="0">
                <a:solidFill>
                  <a:srgbClr val="FF0000"/>
                </a:solidFill>
              </a:rPr>
              <a:t>contiguous range</a:t>
            </a:r>
            <a:r>
              <a:rPr lang="en-US" sz="1600" dirty="0"/>
              <a:t> of memory addresses</a:t>
            </a:r>
          </a:p>
          <a:p>
            <a:pPr lvl="1"/>
            <a:r>
              <a:rPr lang="en-US" sz="1400" dirty="0"/>
              <a:t>E.g., after device enumeration, BAR holds base address of mapped memory block</a:t>
            </a:r>
            <a:endParaRPr lang="en-US" sz="800" dirty="0"/>
          </a:p>
          <a:p>
            <a:r>
              <a:rPr lang="en-US" sz="1600" dirty="0"/>
              <a:t>In old computers, I/O devices could directly access physical memory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+ Fast memory access: devices can transfer data at maximum speed possible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– Reduced flexibility: OS must reserve contiguous physical memory regions for devices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– No memory protection: malicious devices can compromise system (e.g., DMA attack)</a:t>
            </a:r>
            <a:endParaRPr lang="en-US" sz="800" dirty="0">
              <a:solidFill>
                <a:srgbClr val="FF0000"/>
              </a:solidFill>
            </a:endParaRPr>
          </a:p>
          <a:p>
            <a:r>
              <a:rPr lang="en-US" sz="1600" dirty="0"/>
              <a:t>New architectures provide address translation for I/O devices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I/O memory management unit (IOMMU)</a:t>
            </a:r>
            <a:r>
              <a:rPr lang="en-US" sz="1400" dirty="0"/>
              <a:t> maps virtual addresses to physical address for I/O devices</a:t>
            </a:r>
          </a:p>
          <a:p>
            <a:pPr lvl="1"/>
            <a:r>
              <a:rPr lang="en-US" sz="1400" dirty="0"/>
              <a:t>E.g., AMD Vi and Intel VT-d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DC7171-EC89-1E48-B831-09ACE0C5C101}"/>
              </a:ext>
            </a:extLst>
          </p:cNvPr>
          <p:cNvGrpSpPr/>
          <p:nvPr/>
        </p:nvGrpSpPr>
        <p:grpSpPr>
          <a:xfrm>
            <a:off x="2428137" y="4613608"/>
            <a:ext cx="3901018" cy="1827291"/>
            <a:chOff x="2203548" y="4927431"/>
            <a:chExt cx="3901018" cy="182729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83E7A54-3A91-A441-BEB6-143CEBF1452A}"/>
                </a:ext>
              </a:extLst>
            </p:cNvPr>
            <p:cNvSpPr/>
            <p:nvPr/>
          </p:nvSpPr>
          <p:spPr>
            <a:xfrm>
              <a:off x="5289021" y="4927431"/>
              <a:ext cx="815545" cy="54781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Memory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226C7E-1581-2F49-8706-36AC8BCDBA1D}"/>
                </a:ext>
              </a:extLst>
            </p:cNvPr>
            <p:cNvSpPr/>
            <p:nvPr/>
          </p:nvSpPr>
          <p:spPr>
            <a:xfrm>
              <a:off x="3881489" y="4927431"/>
              <a:ext cx="897100" cy="54781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Memory Hub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872712-C4AB-124E-9A12-B880BD3F7E82}"/>
                </a:ext>
              </a:extLst>
            </p:cNvPr>
            <p:cNvSpPr/>
            <p:nvPr/>
          </p:nvSpPr>
          <p:spPr>
            <a:xfrm>
              <a:off x="2203548" y="4927739"/>
              <a:ext cx="897100" cy="54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A84D4AA-4DAD-F34D-A5AD-C09E9C05ED4B}"/>
                </a:ext>
              </a:extLst>
            </p:cNvPr>
            <p:cNvSpPr/>
            <p:nvPr/>
          </p:nvSpPr>
          <p:spPr>
            <a:xfrm>
              <a:off x="3881489" y="5713388"/>
              <a:ext cx="897100" cy="2555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IOMMU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089ACE9-EC68-D740-80FF-392C3F8367D5}"/>
                </a:ext>
              </a:extLst>
            </p:cNvPr>
            <p:cNvSpPr/>
            <p:nvPr/>
          </p:nvSpPr>
          <p:spPr>
            <a:xfrm>
              <a:off x="3881489" y="6160170"/>
              <a:ext cx="897100" cy="54781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I/</a:t>
              </a:r>
              <a:r>
                <a:rPr lang="en-US" sz="140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O Hub</a:t>
              </a:r>
              <a:endParaRPr lang="en-US" sz="1400" dirty="0">
                <a:solidFill>
                  <a:schemeClr val="tx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CFDB7B-7D32-B047-B874-15C3278D91FA}"/>
                </a:ext>
              </a:extLst>
            </p:cNvPr>
            <p:cNvSpPr/>
            <p:nvPr/>
          </p:nvSpPr>
          <p:spPr>
            <a:xfrm>
              <a:off x="2712829" y="6155310"/>
              <a:ext cx="626502" cy="23232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Device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D5D6F5-F656-A547-9FFF-837504875982}"/>
                </a:ext>
              </a:extLst>
            </p:cNvPr>
            <p:cNvSpPr/>
            <p:nvPr/>
          </p:nvSpPr>
          <p:spPr>
            <a:xfrm>
              <a:off x="2712829" y="6470799"/>
              <a:ext cx="626502" cy="23232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Device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3BD5F9E-C250-9641-888A-D8B506A74A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78589" y="5201339"/>
              <a:ext cx="510432" cy="1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C2A00C5-D500-244A-8766-6BF2D3E64EDB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>
              <a:off x="3339331" y="6271474"/>
              <a:ext cx="54215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FC777F4-4772-8046-A558-58FB03A46BE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3339331" y="6586963"/>
              <a:ext cx="54215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17CBE04-841F-6246-BD3E-00DD0AFB1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8588" y="6625357"/>
              <a:ext cx="54215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B6AD50-A747-AD41-ADC5-902D5297D31E}"/>
                </a:ext>
              </a:extLst>
            </p:cNvPr>
            <p:cNvCxnSpPr>
              <a:cxnSpLocks/>
            </p:cNvCxnSpPr>
            <p:nvPr/>
          </p:nvCxnSpPr>
          <p:spPr>
            <a:xfrm>
              <a:off x="4778589" y="6434661"/>
              <a:ext cx="54215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D3D4485-9127-214B-BA0F-7BC0DA0C4F2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4330039" y="5968948"/>
              <a:ext cx="0" cy="191222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29D7147-B7B0-BC4B-A028-9140B1F0221C}"/>
                </a:ext>
              </a:extLst>
            </p:cNvPr>
            <p:cNvCxnSpPr>
              <a:cxnSpLocks/>
              <a:stCxn id="6" idx="2"/>
              <a:endCxn id="9" idx="0"/>
            </p:cNvCxnSpPr>
            <p:nvPr/>
          </p:nvCxnSpPr>
          <p:spPr>
            <a:xfrm>
              <a:off x="4330039" y="5475248"/>
              <a:ext cx="0" cy="23814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62F132DB-BAA8-DB48-A4ED-32AC865EFC0E}"/>
                </a:ext>
              </a:extLst>
            </p:cNvPr>
            <p:cNvCxnSpPr>
              <a:cxnSpLocks/>
            </p:cNvCxnSpPr>
            <p:nvPr/>
          </p:nvCxnSpPr>
          <p:spPr>
            <a:xfrm>
              <a:off x="4778589" y="6243965"/>
              <a:ext cx="54215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2601F28-99BB-A240-9E01-D4F5C9BCCAEF}"/>
                </a:ext>
              </a:extLst>
            </p:cNvPr>
            <p:cNvSpPr txBox="1"/>
            <p:nvPr/>
          </p:nvSpPr>
          <p:spPr>
            <a:xfrm>
              <a:off x="3390283" y="6049420"/>
              <a:ext cx="44916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PCIe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94AC595-14EF-784B-8AB1-F3430175F9CC}"/>
                </a:ext>
              </a:extLst>
            </p:cNvPr>
            <p:cNvSpPr txBox="1"/>
            <p:nvPr/>
          </p:nvSpPr>
          <p:spPr>
            <a:xfrm>
              <a:off x="3390283" y="6367629"/>
              <a:ext cx="44916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PCIe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2698474-E468-3747-8227-92C8607BF33B}"/>
                </a:ext>
              </a:extLst>
            </p:cNvPr>
            <p:cNvSpPr txBox="1"/>
            <p:nvPr/>
          </p:nvSpPr>
          <p:spPr>
            <a:xfrm>
              <a:off x="5358058" y="6305840"/>
              <a:ext cx="37221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PCI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2D7CE57-9C28-5F49-9232-A96BD7823D1F}"/>
                </a:ext>
              </a:extLst>
            </p:cNvPr>
            <p:cNvSpPr txBox="1"/>
            <p:nvPr/>
          </p:nvSpPr>
          <p:spPr>
            <a:xfrm>
              <a:off x="5358058" y="6500806"/>
              <a:ext cx="50366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SATA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B99DD0-5BF2-8041-B1A0-C78DD90AEBE9}"/>
                </a:ext>
              </a:extLst>
            </p:cNvPr>
            <p:cNvSpPr txBox="1"/>
            <p:nvPr/>
          </p:nvSpPr>
          <p:spPr>
            <a:xfrm>
              <a:off x="5358058" y="6116270"/>
              <a:ext cx="40748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LPC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28EDEDB-4D36-7E42-B2AB-1AADC6D577F4}"/>
                </a:ext>
              </a:extLst>
            </p:cNvPr>
            <p:cNvSpPr/>
            <p:nvPr/>
          </p:nvSpPr>
          <p:spPr>
            <a:xfrm rot="16200000">
              <a:off x="3192809" y="5073559"/>
              <a:ext cx="547200" cy="2555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MMU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B5FC1FCC-1EA5-B249-BA42-8447DC69BF60}"/>
                </a:ext>
              </a:extLst>
            </p:cNvPr>
            <p:cNvCxnSpPr>
              <a:cxnSpLocks/>
              <a:stCxn id="60" idx="2"/>
              <a:endCxn id="6" idx="1"/>
            </p:cNvCxnSpPr>
            <p:nvPr/>
          </p:nvCxnSpPr>
          <p:spPr>
            <a:xfrm>
              <a:off x="3594189" y="5201339"/>
              <a:ext cx="287300" cy="1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EAF5D93-294F-A540-A018-CDB93A920823}"/>
                </a:ext>
              </a:extLst>
            </p:cNvPr>
            <p:cNvCxnSpPr>
              <a:cxnSpLocks/>
              <a:stCxn id="8" idx="3"/>
              <a:endCxn id="60" idx="0"/>
            </p:cNvCxnSpPr>
            <p:nvPr/>
          </p:nvCxnSpPr>
          <p:spPr>
            <a:xfrm>
              <a:off x="3100648" y="5201339"/>
              <a:ext cx="23798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602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3518-869B-CA4E-9E09-B1CA0140A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Translation for PCIe Devices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36CEA-A520-494C-A98C-68FA3CDAA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FF0000"/>
                </a:solidFill>
              </a:rPr>
              <a:t>Problem 1</a:t>
            </a:r>
            <a:r>
              <a:rPr lang="en-US" sz="1600" dirty="0"/>
              <a:t>: address translation services (ATS) allows PCIe devices to bypass IOMMU</a:t>
            </a:r>
            <a:endParaRPr lang="en-US" sz="1400" dirty="0"/>
          </a:p>
          <a:p>
            <a:pPr lvl="1"/>
            <a:r>
              <a:rPr lang="en-US" sz="1400" dirty="0"/>
              <a:t>PCIe devices can implement address translation cache (ATC) similar to TLB</a:t>
            </a:r>
          </a:p>
          <a:p>
            <a:pPr lvl="1"/>
            <a:r>
              <a:rPr lang="en-US" sz="1400" dirty="0"/>
              <a:t>Using ATS protocol, any device can claim it is using addresses that have already been translated </a:t>
            </a:r>
          </a:p>
          <a:p>
            <a:pPr lvl="1"/>
            <a:r>
              <a:rPr lang="en-US" sz="1400" dirty="0"/>
              <a:t>For trusted devices, this is useful performance improvement</a:t>
            </a:r>
          </a:p>
          <a:p>
            <a:pPr lvl="1"/>
            <a:r>
              <a:rPr lang="en-US" sz="1400" dirty="0"/>
              <a:t>For untrusted devices, this introduces security threat</a:t>
            </a:r>
          </a:p>
          <a:p>
            <a:pPr lvl="1"/>
            <a:r>
              <a:rPr lang="en-US" sz="1400" dirty="0"/>
              <a:t>ATS protocol could allow malicious device to write to places it should not have access to</a:t>
            </a:r>
          </a:p>
          <a:p>
            <a:pPr lvl="1"/>
            <a:endParaRPr lang="en-US" sz="1400" dirty="0"/>
          </a:p>
          <a:p>
            <a:r>
              <a:rPr lang="en-US" sz="1600" dirty="0">
                <a:solidFill>
                  <a:srgbClr val="FF0000"/>
                </a:solidFill>
              </a:rPr>
              <a:t>Problem 2</a:t>
            </a:r>
            <a:r>
              <a:rPr lang="en-US" sz="1600" dirty="0"/>
              <a:t>: PCIe packets do not reach IOMMU when devices communicate with each other</a:t>
            </a:r>
          </a:p>
          <a:p>
            <a:pPr lvl="1"/>
            <a:r>
              <a:rPr lang="en-US" sz="1400" dirty="0"/>
              <a:t>PCIe allows peer-to-peer communication between devices</a:t>
            </a:r>
          </a:p>
          <a:p>
            <a:pPr lvl="1"/>
            <a:r>
              <a:rPr lang="en-US" sz="1400" dirty="0"/>
              <a:t>Malicious devices can compromise other devices by reading from or writing to their registers/buffers</a:t>
            </a:r>
          </a:p>
          <a:p>
            <a:pPr lvl="1"/>
            <a:endParaRPr lang="en-US" sz="1400" dirty="0"/>
          </a:p>
          <a:p>
            <a:r>
              <a:rPr lang="en-US" sz="1600" dirty="0">
                <a:solidFill>
                  <a:srgbClr val="FF0000"/>
                </a:solidFill>
              </a:rPr>
              <a:t>Solution</a:t>
            </a:r>
            <a:r>
              <a:rPr lang="en-US" sz="1600" dirty="0"/>
              <a:t>: access control services (ACS) disables ATS and prevents peer-to-peer transactions</a:t>
            </a:r>
          </a:p>
          <a:p>
            <a:pPr lvl="1"/>
            <a:r>
              <a:rPr lang="en-US" sz="1400" dirty="0"/>
              <a:t>ACS acts as gate-keeper, forcing all packets to go up to root complex and pass through IOMMU</a:t>
            </a:r>
          </a:p>
          <a:p>
            <a:pPr lvl="1"/>
            <a:r>
              <a:rPr lang="en-US" sz="1400" dirty="0"/>
              <a:t>Without ACS, PCIe endpoints can accidentally or intentionally write to invalid or illegal area on peer endpoints and physical memory</a:t>
            </a:r>
          </a:p>
        </p:txBody>
      </p:sp>
    </p:spTree>
    <p:extLst>
      <p:ext uri="{BB962C8B-B14F-4D97-AF65-F5344CB8AC3E}">
        <p14:creationId xmlns:p14="http://schemas.microsoft.com/office/powerpoint/2010/main" val="237387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Performance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3417623"/>
            <a:ext cx="7886700" cy="3227653"/>
          </a:xfrm>
        </p:spPr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Latency</a:t>
            </a:r>
            <a:r>
              <a:rPr lang="en-US" sz="1800" dirty="0"/>
              <a:t>: time to serve I/O request (response time)</a:t>
            </a:r>
          </a:p>
          <a:p>
            <a:pPr lvl="1"/>
            <a:r>
              <a:rPr lang="en-US" sz="1600" dirty="0"/>
              <a:t>From when it is placed in queue until its data is completely transferred</a:t>
            </a:r>
          </a:p>
          <a:p>
            <a:pPr lvl="1"/>
            <a:endParaRPr lang="en-US" sz="1600" dirty="0"/>
          </a:p>
          <a:p>
            <a:r>
              <a:rPr lang="en-US" sz="1800" dirty="0">
                <a:solidFill>
                  <a:srgbClr val="FF0000"/>
                </a:solidFill>
              </a:rPr>
              <a:t>Throughput</a:t>
            </a:r>
            <a:r>
              <a:rPr lang="en-US" sz="1800" dirty="0"/>
              <a:t>: rate of serving I/O requests</a:t>
            </a:r>
          </a:p>
          <a:p>
            <a:pPr lvl="1"/>
            <a:r>
              <a:rPr lang="en-US" sz="1600" dirty="0"/>
              <a:t>To measure highest possible throughput, device should never become idle </a:t>
            </a:r>
            <a:br>
              <a:rPr lang="en-US" sz="1600" dirty="0"/>
            </a:br>
            <a:r>
              <a:rPr lang="en-US" sz="1600" dirty="0"/>
              <a:t>(queue should not become empty)</a:t>
            </a:r>
          </a:p>
          <a:p>
            <a:pPr lvl="1"/>
            <a:endParaRPr lang="en-US" sz="1600" dirty="0"/>
          </a:p>
          <a:p>
            <a:r>
              <a:rPr lang="en-US" sz="1800" dirty="0">
                <a:solidFill>
                  <a:srgbClr val="FF0000"/>
                </a:solidFill>
              </a:rPr>
              <a:t>Overhead</a:t>
            </a:r>
            <a:r>
              <a:rPr lang="en-US" sz="1800" dirty="0"/>
              <a:t>: time to initiate data transfer for I/O request</a:t>
            </a:r>
          </a:p>
          <a:p>
            <a:pPr lvl="1"/>
            <a:r>
              <a:rPr lang="en-US" sz="1600" dirty="0"/>
              <a:t>From when it is placed in queue until data transfer starts</a:t>
            </a:r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849D1DF7-9398-EF4B-B79D-C8734B1AD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0895" y="2138383"/>
            <a:ext cx="1126861" cy="37778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Queue</a:t>
            </a:r>
          </a:p>
        </p:txBody>
      </p:sp>
      <p:sp>
        <p:nvSpPr>
          <p:cNvPr id="6" name="Text Box 44">
            <a:extLst>
              <a:ext uri="{FF2B5EF4-FFF2-40B4-BE49-F238E27FC236}">
                <a16:creationId xmlns:a16="http://schemas.microsoft.com/office/drawing/2014/main" id="{AEDC0B01-8781-0D48-8F15-C8BC84A5AE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5206" y="1984029"/>
            <a:ext cx="756598" cy="305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marL="2286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Request</a:t>
            </a:r>
          </a:p>
        </p:txBody>
      </p:sp>
      <p:sp>
        <p:nvSpPr>
          <p:cNvPr id="7" name="Rectangle 41">
            <a:extLst>
              <a:ext uri="{FF2B5EF4-FFF2-40B4-BE49-F238E27FC236}">
                <a16:creationId xmlns:a16="http://schemas.microsoft.com/office/drawing/2014/main" id="{7C94F083-6D3B-0B4B-8AA4-783977260F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88" y="2021273"/>
            <a:ext cx="1117548" cy="612000"/>
          </a:xfrm>
          <a:prstGeom prst="rect">
            <a:avLst/>
          </a:prstGeom>
          <a:solidFill>
            <a:srgbClr val="FFFFDA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I/O Controller</a:t>
            </a:r>
          </a:p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and Device</a:t>
            </a:r>
          </a:p>
        </p:txBody>
      </p:sp>
      <p:sp>
        <p:nvSpPr>
          <p:cNvPr id="8" name="Text Box 45">
            <a:extLst>
              <a:ext uri="{FF2B5EF4-FFF2-40B4-BE49-F238E27FC236}">
                <a16:creationId xmlns:a16="http://schemas.microsoft.com/office/drawing/2014/main" id="{F4B565CA-5F5B-C146-8155-215CF0692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8708" y="2066951"/>
            <a:ext cx="746852" cy="5206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marL="2286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Data</a:t>
            </a:r>
          </a:p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Transfer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2911FB-75E3-1F44-94AF-20B54E8CC05C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2742416" y="2327273"/>
            <a:ext cx="82847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94447A-41C2-1244-B14B-E772ABF400AF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697756" y="2327273"/>
            <a:ext cx="389232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EE47C2-39A0-4447-9901-C27E0B2F951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204536" y="2327273"/>
            <a:ext cx="364172" cy="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37">
            <a:extLst>
              <a:ext uri="{FF2B5EF4-FFF2-40B4-BE49-F238E27FC236}">
                <a16:creationId xmlns:a16="http://schemas.microsoft.com/office/drawing/2014/main" id="{50302A26-854B-344D-B6DC-8788C25A2D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789" y="2021273"/>
            <a:ext cx="846627" cy="61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Device</a:t>
            </a:r>
          </a:p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Driver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D75A04-B390-5E44-82F8-4022C8BF89DC}"/>
              </a:ext>
            </a:extLst>
          </p:cNvPr>
          <p:cNvCxnSpPr>
            <a:cxnSpLocks/>
          </p:cNvCxnSpPr>
          <p:nvPr/>
        </p:nvCxnSpPr>
        <p:spPr>
          <a:xfrm>
            <a:off x="4564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64232E-3FA4-AA40-800D-CE31888C1B50}"/>
              </a:ext>
            </a:extLst>
          </p:cNvPr>
          <p:cNvCxnSpPr>
            <a:cxnSpLocks/>
          </p:cNvCxnSpPr>
          <p:nvPr/>
        </p:nvCxnSpPr>
        <p:spPr>
          <a:xfrm>
            <a:off x="4420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DA9421-4A62-EB4B-A9EE-9332BB900C69}"/>
              </a:ext>
            </a:extLst>
          </p:cNvPr>
          <p:cNvCxnSpPr>
            <a:cxnSpLocks/>
          </p:cNvCxnSpPr>
          <p:nvPr/>
        </p:nvCxnSpPr>
        <p:spPr>
          <a:xfrm>
            <a:off x="4276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919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I/O Performance Concepts (cont.)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BBBDF4-A01E-3B47-85FF-34D1CB1B1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Peak bandwidth</a:t>
            </a:r>
            <a:r>
              <a:rPr lang="en-US" sz="1800" dirty="0"/>
              <a:t>: maximum rate of data transfer</a:t>
            </a:r>
          </a:p>
          <a:p>
            <a:pPr lvl="1"/>
            <a:r>
              <a:rPr lang="en-US" sz="1600" dirty="0"/>
              <a:t>Depends on bus bandwidth</a:t>
            </a:r>
          </a:p>
          <a:p>
            <a:pPr lvl="2"/>
            <a:r>
              <a:rPr lang="en-US" sz="1400" dirty="0"/>
              <a:t>E.g., PCIe v5.0: 3.93GBps (per lane)</a:t>
            </a:r>
          </a:p>
          <a:p>
            <a:pPr lvl="1"/>
            <a:r>
              <a:rPr lang="en-US" sz="1600" dirty="0"/>
              <a:t>Also depends on device bandwidth</a:t>
            </a:r>
          </a:p>
          <a:p>
            <a:pPr lvl="2"/>
            <a:r>
              <a:rPr lang="en-US" sz="1400" dirty="0"/>
              <a:t>E.g., rotational speed of disk</a:t>
            </a:r>
          </a:p>
          <a:p>
            <a:pPr lvl="2"/>
            <a:r>
              <a:rPr lang="en-US" sz="1400" dirty="0"/>
              <a:t>E.g., write/read rate of NAND flash</a:t>
            </a:r>
          </a:p>
          <a:p>
            <a:pPr lvl="1"/>
            <a:r>
              <a:rPr lang="en-US" sz="1600" dirty="0"/>
              <a:t>Whichever is the bottleneck …</a:t>
            </a:r>
          </a:p>
          <a:p>
            <a:pPr lvl="1"/>
            <a:endParaRPr lang="en-US" sz="1600" dirty="0"/>
          </a:p>
          <a:p>
            <a:r>
              <a:rPr lang="en-US" sz="1800" dirty="0">
                <a:solidFill>
                  <a:srgbClr val="FF0000"/>
                </a:solidFill>
              </a:rPr>
              <a:t>Effective bandwidth</a:t>
            </a:r>
            <a:r>
              <a:rPr lang="en-US" sz="1800" dirty="0"/>
              <a:t>: rate of data transfer for I/O request</a:t>
            </a:r>
          </a:p>
          <a:p>
            <a:pPr lvl="1"/>
            <a:r>
              <a:rPr lang="en-US" sz="1600" dirty="0"/>
              <a:t>Latency degrades bandwidth</a:t>
            </a:r>
          </a:p>
          <a:p>
            <a:pPr lvl="1"/>
            <a:r>
              <a:rPr lang="en-US" sz="1600" dirty="0"/>
              <a:t>For most I/O requests, latency is roughly </a:t>
            </a:r>
            <a:r>
              <a:rPr lang="en-US" sz="1600" dirty="0">
                <a:solidFill>
                  <a:srgbClr val="FF0000"/>
                </a:solidFill>
              </a:rPr>
              <a:t>linear</a:t>
            </a:r>
            <a:r>
              <a:rPr lang="en-US" sz="1600" dirty="0"/>
              <a:t> in size of transferred data</a:t>
            </a:r>
          </a:p>
          <a:p>
            <a:pPr lvl="1"/>
            <a:r>
              <a:rPr lang="en-US" sz="1600" dirty="0"/>
              <a:t>Latency(n) </a:t>
            </a:r>
            <a:r>
              <a:rPr lang="en-US" sz="1600" dirty="0">
                <a:latin typeface="+mj-lt"/>
              </a:rPr>
              <a:t>=</a:t>
            </a:r>
            <a:r>
              <a:rPr lang="en-US" sz="1600" dirty="0"/>
              <a:t> overhead </a:t>
            </a:r>
            <a:r>
              <a:rPr lang="en-US" sz="1600" dirty="0">
                <a:latin typeface="+mj-lt"/>
              </a:rPr>
              <a:t>+</a:t>
            </a:r>
            <a:r>
              <a:rPr lang="en-US" sz="1600" dirty="0"/>
              <a:t> n / peak bandwidth</a:t>
            </a:r>
            <a:endParaRPr lang="en-US" sz="1200" dirty="0"/>
          </a:p>
          <a:p>
            <a:pPr lvl="1"/>
            <a:r>
              <a:rPr lang="en-US" sz="1600" dirty="0"/>
              <a:t>Effective bandwidth(n) </a:t>
            </a:r>
            <a:r>
              <a:rPr lang="en-US" sz="1600" dirty="0">
                <a:latin typeface="+mj-lt"/>
              </a:rPr>
              <a:t>=</a:t>
            </a:r>
            <a:r>
              <a:rPr lang="en-US" sz="1600" dirty="0"/>
              <a:t> n / latency(n)</a:t>
            </a:r>
          </a:p>
        </p:txBody>
      </p:sp>
      <p:pic>
        <p:nvPicPr>
          <p:cNvPr id="2050" name="Picture 2" descr="BANDWIDTH THIEF - Cheezburger - Funny Memes | Funny Pictures">
            <a:extLst>
              <a:ext uri="{FF2B5EF4-FFF2-40B4-BE49-F238E27FC236}">
                <a16:creationId xmlns:a16="http://schemas.microsoft.com/office/drawing/2014/main" id="{52111403-007A-4C48-9854-6C08998DC4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06321" y="1676400"/>
            <a:ext cx="2409029" cy="17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1356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Overhead Affect Effective Bandwidth?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Latency(n) </a:t>
            </a:r>
            <a:r>
              <a:rPr lang="en-US" sz="1800" dirty="0">
                <a:latin typeface="+mj-lt"/>
              </a:rPr>
              <a:t>=</a:t>
            </a:r>
            <a:r>
              <a:rPr lang="en-US" sz="1800" dirty="0"/>
              <a:t> O </a:t>
            </a:r>
            <a:r>
              <a:rPr lang="en-US" sz="1800" dirty="0">
                <a:latin typeface="+mj-lt"/>
              </a:rPr>
              <a:t>+</a:t>
            </a:r>
            <a:r>
              <a:rPr lang="en-US" sz="1800" dirty="0"/>
              <a:t> n/P  (O for overhead and P for peak bandwidth)</a:t>
            </a:r>
          </a:p>
          <a:p>
            <a:r>
              <a:rPr lang="en-US" sz="1800" dirty="0"/>
              <a:t>Effective bandwidth </a:t>
            </a:r>
            <a:r>
              <a:rPr lang="en-US" sz="1800" dirty="0">
                <a:latin typeface="+mj-lt"/>
              </a:rPr>
              <a:t>=</a:t>
            </a:r>
            <a:r>
              <a:rPr lang="en-US" sz="1800" dirty="0"/>
              <a:t> n/(O </a:t>
            </a:r>
            <a:r>
              <a:rPr lang="en-US" sz="1800" dirty="0">
                <a:latin typeface="+mj-lt"/>
              </a:rPr>
              <a:t>+</a:t>
            </a:r>
            <a:r>
              <a:rPr lang="en-US" sz="1800" dirty="0"/>
              <a:t> n/P) </a:t>
            </a:r>
            <a:r>
              <a:rPr lang="en-US" sz="1800" dirty="0">
                <a:latin typeface="+mj-lt"/>
              </a:rPr>
              <a:t>=</a:t>
            </a:r>
            <a:r>
              <a:rPr lang="en-US" sz="1800" dirty="0"/>
              <a:t> P/(P x O/n </a:t>
            </a:r>
            <a:r>
              <a:rPr lang="en-US" sz="1800" dirty="0">
                <a:latin typeface="+mj-lt"/>
              </a:rPr>
              <a:t>+</a:t>
            </a:r>
            <a:r>
              <a:rPr lang="en-US" sz="1800" dirty="0"/>
              <a:t> 1)</a:t>
            </a:r>
          </a:p>
          <a:p>
            <a:pPr lvl="1"/>
            <a:r>
              <a:rPr lang="en-US" sz="1600" dirty="0"/>
              <a:t>E.g., effective bandwidth is half of peak bandwidth when n </a:t>
            </a:r>
            <a:r>
              <a:rPr lang="en-US" sz="1600" dirty="0">
                <a:latin typeface="+mj-lt"/>
              </a:rPr>
              <a:t>=</a:t>
            </a:r>
            <a:r>
              <a:rPr lang="en-US" sz="1600" dirty="0"/>
              <a:t> O x P</a:t>
            </a:r>
          </a:p>
          <a:p>
            <a:r>
              <a:rPr lang="en-US" sz="1800" dirty="0"/>
              <a:t>Suppose that peak bandwidth is 1Gbps </a:t>
            </a:r>
          </a:p>
          <a:p>
            <a:pPr lvl="1"/>
            <a:r>
              <a:rPr lang="en-US" sz="1600" dirty="0"/>
              <a:t>If overhead is 1ms, then n </a:t>
            </a:r>
            <a:r>
              <a:rPr lang="en-US" sz="1800" dirty="0">
                <a:latin typeface="+mj-lt"/>
              </a:rPr>
              <a:t>=</a:t>
            </a:r>
            <a:r>
              <a:rPr lang="en-US" sz="1600" dirty="0"/>
              <a:t> 125,000 bytes</a:t>
            </a:r>
          </a:p>
          <a:p>
            <a:pPr lvl="1"/>
            <a:r>
              <a:rPr lang="en-US" sz="1600" dirty="0"/>
              <a:t>If overhead is 10ms, then n </a:t>
            </a:r>
            <a:r>
              <a:rPr lang="en-US" sz="1800" dirty="0">
                <a:latin typeface="+mj-lt"/>
              </a:rPr>
              <a:t>=</a:t>
            </a:r>
            <a:r>
              <a:rPr lang="en-US" sz="1600" dirty="0"/>
              <a:t> 1,250,000 bytes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964"/>
          <a:stretch/>
        </p:blipFill>
        <p:spPr>
          <a:xfrm>
            <a:off x="1662645" y="4368803"/>
            <a:ext cx="2670600" cy="20319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E4ABC0-6249-6D42-BD1E-76FA5FD9C45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464" t="8595" r="2464" b="2696"/>
          <a:stretch/>
        </p:blipFill>
        <p:spPr>
          <a:xfrm>
            <a:off x="4572000" y="4368803"/>
            <a:ext cx="2686836" cy="203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50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453C5-468E-D44C-9668-E81C2FFD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Contributing Factors to Overhead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E9054-A154-FA41-BDFD-D30ACEAF8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116688"/>
            <a:ext cx="7886700" cy="1038157"/>
          </a:xfrm>
        </p:spPr>
        <p:txBody>
          <a:bodyPr/>
          <a:lstStyle/>
          <a:p>
            <a:r>
              <a:rPr lang="en-US" sz="1800" dirty="0"/>
              <a:t>Overhead </a:t>
            </a:r>
            <a:r>
              <a:rPr lang="en-US" sz="1800" dirty="0">
                <a:latin typeface="+mj-lt"/>
              </a:rPr>
              <a:t>=</a:t>
            </a:r>
            <a:r>
              <a:rPr lang="en-US" sz="1800" dirty="0"/>
              <a:t> wait time in queue </a:t>
            </a:r>
            <a:r>
              <a:rPr lang="en-US" sz="1800" dirty="0">
                <a:latin typeface="+mj-lt"/>
              </a:rPr>
              <a:t>+</a:t>
            </a:r>
            <a:r>
              <a:rPr lang="en-US" sz="1800" dirty="0"/>
              <a:t> controller and device service time</a:t>
            </a:r>
          </a:p>
          <a:p>
            <a:r>
              <a:rPr lang="en-US" sz="1800" dirty="0"/>
              <a:t>Queuing behavior can lead to big increases of latency as utilization increases</a:t>
            </a:r>
          </a:p>
          <a:p>
            <a:endParaRPr lang="en-US" sz="1800" dirty="0"/>
          </a:p>
        </p:txBody>
      </p:sp>
      <p:sp>
        <p:nvSpPr>
          <p:cNvPr id="16" name="Rectangle 37">
            <a:extLst>
              <a:ext uri="{FF2B5EF4-FFF2-40B4-BE49-F238E27FC236}">
                <a16:creationId xmlns:a16="http://schemas.microsoft.com/office/drawing/2014/main" id="{9330C134-8647-C64F-8489-2470D71FE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0895" y="2138383"/>
            <a:ext cx="1126861" cy="37778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Queue</a:t>
            </a:r>
          </a:p>
        </p:txBody>
      </p:sp>
      <p:sp>
        <p:nvSpPr>
          <p:cNvPr id="17" name="Text Box 44">
            <a:extLst>
              <a:ext uri="{FF2B5EF4-FFF2-40B4-BE49-F238E27FC236}">
                <a16:creationId xmlns:a16="http://schemas.microsoft.com/office/drawing/2014/main" id="{AF36826F-35B6-6946-91EC-6AC32D03B1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5206" y="1984029"/>
            <a:ext cx="756598" cy="305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marL="2286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Request</a:t>
            </a:r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11248679-7AA0-AF40-9E14-D2D1A9539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88" y="2021273"/>
            <a:ext cx="1117548" cy="612000"/>
          </a:xfrm>
          <a:prstGeom prst="rect">
            <a:avLst/>
          </a:prstGeom>
          <a:solidFill>
            <a:srgbClr val="FFFFDA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I/O Controller</a:t>
            </a:r>
          </a:p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and Device</a:t>
            </a:r>
          </a:p>
        </p:txBody>
      </p:sp>
      <p:sp>
        <p:nvSpPr>
          <p:cNvPr id="19" name="Text Box 45">
            <a:extLst>
              <a:ext uri="{FF2B5EF4-FFF2-40B4-BE49-F238E27FC236}">
                <a16:creationId xmlns:a16="http://schemas.microsoft.com/office/drawing/2014/main" id="{9E5EEA1C-1E4F-F44D-AC80-D7E621F4A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8708" y="2066951"/>
            <a:ext cx="746852" cy="5206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marL="2286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Data</a:t>
            </a:r>
          </a:p>
          <a:p>
            <a:pPr algn="ctr"/>
            <a:r>
              <a:rPr lang="en-US" sz="1400" b="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Transfer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1B6277-FBAA-C949-BA91-6097CF133E9E}"/>
              </a:ext>
            </a:extLst>
          </p:cNvPr>
          <p:cNvCxnSpPr>
            <a:cxnSpLocks/>
            <a:stCxn id="25" idx="3"/>
            <a:endCxn id="16" idx="1"/>
          </p:cNvCxnSpPr>
          <p:nvPr/>
        </p:nvCxnSpPr>
        <p:spPr>
          <a:xfrm>
            <a:off x="2742416" y="2327273"/>
            <a:ext cx="82847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0B7421-5D02-0140-8660-7ADD247C5CA4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697756" y="2327273"/>
            <a:ext cx="389232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FC2803-43FB-C04A-8B56-88A3246A8EA3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6204536" y="2327273"/>
            <a:ext cx="364172" cy="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37">
            <a:extLst>
              <a:ext uri="{FF2B5EF4-FFF2-40B4-BE49-F238E27FC236}">
                <a16:creationId xmlns:a16="http://schemas.microsoft.com/office/drawing/2014/main" id="{432EB541-763A-AB4C-9940-1D1FED75C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789" y="2021273"/>
            <a:ext cx="846627" cy="61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0478" tIns="44445" rIns="90478" bIns="44445" anchor="ctr"/>
          <a:lstStyle/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Device</a:t>
            </a:r>
          </a:p>
          <a:p>
            <a:pPr marL="228600"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Driver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42D6EC6-6863-A240-95D2-B2C66E1BB6FB}"/>
              </a:ext>
            </a:extLst>
          </p:cNvPr>
          <p:cNvCxnSpPr>
            <a:cxnSpLocks/>
          </p:cNvCxnSpPr>
          <p:nvPr/>
        </p:nvCxnSpPr>
        <p:spPr>
          <a:xfrm>
            <a:off x="4564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1F387A1-E6BA-604A-9E9D-F022369B372F}"/>
              </a:ext>
            </a:extLst>
          </p:cNvPr>
          <p:cNvCxnSpPr>
            <a:cxnSpLocks/>
          </p:cNvCxnSpPr>
          <p:nvPr/>
        </p:nvCxnSpPr>
        <p:spPr>
          <a:xfrm>
            <a:off x="4420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9A7F19-5D62-5F42-9C6E-4A2B2431292F}"/>
              </a:ext>
            </a:extLst>
          </p:cNvPr>
          <p:cNvCxnSpPr>
            <a:cxnSpLocks/>
          </p:cNvCxnSpPr>
          <p:nvPr/>
        </p:nvCxnSpPr>
        <p:spPr>
          <a:xfrm>
            <a:off x="4276656" y="2138383"/>
            <a:ext cx="0" cy="3777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7D56D34-130D-884A-AA07-130AF6F4A78D}"/>
              </a:ext>
            </a:extLst>
          </p:cNvPr>
          <p:cNvGrpSpPr>
            <a:grpSpLocks/>
          </p:cNvGrpSpPr>
          <p:nvPr/>
        </p:nvGrpSpPr>
        <p:grpSpPr bwMode="auto">
          <a:xfrm>
            <a:off x="2911804" y="4106342"/>
            <a:ext cx="2730501" cy="2602058"/>
            <a:chOff x="5559420" y="674688"/>
            <a:chExt cx="3003551" cy="2862264"/>
          </a:xfrm>
        </p:grpSpPr>
        <p:grpSp>
          <p:nvGrpSpPr>
            <p:cNvPr id="33" name="Group 53">
              <a:extLst>
                <a:ext uri="{FF2B5EF4-FFF2-40B4-BE49-F238E27FC236}">
                  <a16:creationId xmlns:a16="http://schemas.microsoft.com/office/drawing/2014/main" id="{8F1749DB-5986-0C48-B56F-34C006F522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9420" y="674688"/>
              <a:ext cx="3003551" cy="2862264"/>
              <a:chOff x="3502" y="425"/>
              <a:chExt cx="1892" cy="1803"/>
            </a:xfrm>
          </p:grpSpPr>
          <p:sp>
            <p:nvSpPr>
              <p:cNvPr id="35" name="Rectangle 4">
                <a:extLst>
                  <a:ext uri="{FF2B5EF4-FFF2-40B4-BE49-F238E27FC236}">
                    <a16:creationId xmlns:a16="http://schemas.microsoft.com/office/drawing/2014/main" id="{0E60B2B0-B527-154B-A7E9-70B7033C3C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4" y="1255"/>
                <a:ext cx="777" cy="1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36" name="Rectangle 5">
                <a:extLst>
                  <a:ext uri="{FF2B5EF4-FFF2-40B4-BE49-F238E27FC236}">
                    <a16:creationId xmlns:a16="http://schemas.microsoft.com/office/drawing/2014/main" id="{E11627C7-9B3D-5943-A1F5-C4972E69CA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0" y="1874"/>
                <a:ext cx="294" cy="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SzTx/>
                </a:pPr>
                <a:r>
                  <a:rPr lang="en-US" sz="120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100%</a:t>
                </a:r>
              </a:p>
            </p:txBody>
          </p:sp>
          <p:sp>
            <p:nvSpPr>
              <p:cNvPr id="37" name="Line 6">
                <a:extLst>
                  <a:ext uri="{FF2B5EF4-FFF2-40B4-BE49-F238E27FC236}">
                    <a16:creationId xmlns:a16="http://schemas.microsoft.com/office/drawing/2014/main" id="{C14EFDF4-7A81-A54B-BC09-BEA82B9E73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28" y="425"/>
                <a:ext cx="1" cy="1378"/>
              </a:xfrm>
              <a:prstGeom prst="line">
                <a:avLst/>
              </a:prstGeom>
              <a:noFill/>
              <a:ln w="25400" cap="rnd">
                <a:solidFill>
                  <a:schemeClr val="tx1"/>
                </a:solidFill>
                <a:round/>
                <a:headEnd/>
                <a:tailEnd type="triangle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38" name="Line 7">
                <a:extLst>
                  <a:ext uri="{FF2B5EF4-FFF2-40B4-BE49-F238E27FC236}">
                    <a16:creationId xmlns:a16="http://schemas.microsoft.com/office/drawing/2014/main" id="{0EB99AF6-BA51-CD49-ACD5-04F7BC5412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4" y="1803"/>
                <a:ext cx="1610" cy="0"/>
              </a:xfrm>
              <a:prstGeom prst="line">
                <a:avLst/>
              </a:prstGeom>
              <a:noFill/>
              <a:ln w="25400" cap="rnd">
                <a:solidFill>
                  <a:schemeClr val="tx1"/>
                </a:solidFill>
                <a:round/>
                <a:headEnd/>
                <a:tailEnd type="triangle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39" name="Rectangle 8">
                <a:extLst>
                  <a:ext uri="{FF2B5EF4-FFF2-40B4-BE49-F238E27FC236}">
                    <a16:creationId xmlns:a16="http://schemas.microsoft.com/office/drawing/2014/main" id="{5646B49C-5180-3649-9D62-855B7630B1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00" y="1024"/>
                <a:ext cx="948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85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Wait Time in Queue</a:t>
                </a:r>
              </a:p>
            </p:txBody>
          </p:sp>
          <p:sp>
            <p:nvSpPr>
              <p:cNvPr id="40" name="Rectangle 9">
                <a:extLst>
                  <a:ext uri="{FF2B5EF4-FFF2-40B4-BE49-F238E27FC236}">
                    <a16:creationId xmlns:a16="http://schemas.microsoft.com/office/drawing/2014/main" id="{D7F8F5A3-5353-064F-931D-F469A12A61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36" y="1975"/>
                <a:ext cx="1406" cy="2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85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Utilization (Percentage of </a:t>
                </a:r>
              </a:p>
              <a:p>
                <a:pPr algn="ctr">
                  <a:lnSpc>
                    <a:spcPct val="85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Maximum Possible Throughput)</a:t>
                </a:r>
              </a:p>
            </p:txBody>
          </p:sp>
          <p:sp>
            <p:nvSpPr>
              <p:cNvPr id="45" name="Rectangle 14">
                <a:extLst>
                  <a:ext uri="{FF2B5EF4-FFF2-40B4-BE49-F238E27FC236}">
                    <a16:creationId xmlns:a16="http://schemas.microsoft.com/office/drawing/2014/main" id="{77DC288D-1786-0F46-9259-3955729422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50" y="1874"/>
                <a:ext cx="197" cy="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0%</a:t>
                </a:r>
              </a:p>
            </p:txBody>
          </p:sp>
        </p:grpSp>
        <p:sp>
          <p:nvSpPr>
            <p:cNvPr id="34" name="Ink 4">
              <a:extLst>
                <a:ext uri="{FF2B5EF4-FFF2-40B4-BE49-F238E27FC236}">
                  <a16:creationId xmlns:a16="http://schemas.microsoft.com/office/drawing/2014/main" id="{833B0C2E-4A2F-054A-8AC3-4C49A66F9B5D}"/>
                </a:ext>
              </a:extLst>
            </p:cNvPr>
            <p:cNvSpPr>
              <a:spLocks noRot="1" noChangeAspect="1" noEditPoints="1" noChangeArrowheads="1" noChangeShapeType="1" noTextEdit="1"/>
            </p:cNvSpPr>
            <p:nvPr/>
          </p:nvSpPr>
          <p:spPr bwMode="auto">
            <a:xfrm>
              <a:off x="5940202" y="942288"/>
              <a:ext cx="2401985" cy="1691729"/>
            </a:xfrm>
            <a:custGeom>
              <a:avLst/>
              <a:gdLst>
                <a:gd name="T0" fmla="*/ 0 w 6060"/>
                <a:gd name="T1" fmla="*/ 2147483647 h 5124"/>
                <a:gd name="T2" fmla="*/ 2147483647 w 6060"/>
                <a:gd name="T3" fmla="*/ 2147483647 h 5124"/>
                <a:gd name="T4" fmla="*/ 2147483647 w 6060"/>
                <a:gd name="T5" fmla="*/ 2147483647 h 5124"/>
                <a:gd name="T6" fmla="*/ 2147483647 w 6060"/>
                <a:gd name="T7" fmla="*/ 2147483647 h 5124"/>
                <a:gd name="T8" fmla="*/ 2147483647 w 6060"/>
                <a:gd name="T9" fmla="*/ 2147483647 h 5124"/>
                <a:gd name="T10" fmla="*/ 2147483647 w 6060"/>
                <a:gd name="T11" fmla="*/ 2147483647 h 5124"/>
                <a:gd name="T12" fmla="*/ 2147483647 w 6060"/>
                <a:gd name="T13" fmla="*/ 2147483647 h 5124"/>
                <a:gd name="T14" fmla="*/ 2147483647 w 6060"/>
                <a:gd name="T15" fmla="*/ 2147483647 h 5124"/>
                <a:gd name="T16" fmla="*/ 2147483647 w 6060"/>
                <a:gd name="T17" fmla="*/ 2147483647 h 5124"/>
                <a:gd name="T18" fmla="*/ 2147483647 w 6060"/>
                <a:gd name="T19" fmla="*/ 2147483647 h 5124"/>
                <a:gd name="T20" fmla="*/ 2147483647 w 6060"/>
                <a:gd name="T21" fmla="*/ 2147483647 h 5124"/>
                <a:gd name="T22" fmla="*/ 2147483647 w 6060"/>
                <a:gd name="T23" fmla="*/ 2147483647 h 5124"/>
                <a:gd name="T24" fmla="*/ 2147483647 w 6060"/>
                <a:gd name="T25" fmla="*/ 2147483647 h 5124"/>
                <a:gd name="T26" fmla="*/ 2147483647 w 6060"/>
                <a:gd name="T27" fmla="*/ 2147483647 h 5124"/>
                <a:gd name="T28" fmla="*/ 2147483647 w 6060"/>
                <a:gd name="T29" fmla="*/ 2147483647 h 5124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0" t="0" r="r" b="b"/>
              <a:pathLst>
                <a:path w="6060" h="5124" extrusionOk="0">
                  <a:moveTo>
                    <a:pt x="0" y="5121"/>
                  </a:moveTo>
                  <a:cubicBezTo>
                    <a:pt x="155" y="5108"/>
                    <a:pt x="312" y="5103"/>
                    <a:pt x="468" y="5091"/>
                  </a:cubicBezTo>
                  <a:cubicBezTo>
                    <a:pt x="775" y="5068"/>
                    <a:pt x="1136" y="5060"/>
                    <a:pt x="1422" y="4946"/>
                  </a:cubicBezTo>
                  <a:cubicBezTo>
                    <a:pt x="1613" y="4870"/>
                    <a:pt x="1803" y="4774"/>
                    <a:pt x="1993" y="4691"/>
                  </a:cubicBezTo>
                  <a:cubicBezTo>
                    <a:pt x="2188" y="4606"/>
                    <a:pt x="2378" y="4519"/>
                    <a:pt x="2557" y="4404"/>
                  </a:cubicBezTo>
                  <a:cubicBezTo>
                    <a:pt x="2805" y="4245"/>
                    <a:pt x="3071" y="4125"/>
                    <a:pt x="3320" y="3970"/>
                  </a:cubicBezTo>
                  <a:cubicBezTo>
                    <a:pt x="3491" y="3864"/>
                    <a:pt x="3649" y="3748"/>
                    <a:pt x="3823" y="3647"/>
                  </a:cubicBezTo>
                  <a:cubicBezTo>
                    <a:pt x="4041" y="3520"/>
                    <a:pt x="4219" y="3329"/>
                    <a:pt x="4391" y="3143"/>
                  </a:cubicBezTo>
                  <a:cubicBezTo>
                    <a:pt x="4539" y="2984"/>
                    <a:pt x="4704" y="2844"/>
                    <a:pt x="4832" y="2666"/>
                  </a:cubicBezTo>
                  <a:cubicBezTo>
                    <a:pt x="4927" y="2534"/>
                    <a:pt x="4999" y="2388"/>
                    <a:pt x="5087" y="2251"/>
                  </a:cubicBezTo>
                  <a:cubicBezTo>
                    <a:pt x="5165" y="2130"/>
                    <a:pt x="5236" y="2017"/>
                    <a:pt x="5299" y="1888"/>
                  </a:cubicBezTo>
                  <a:cubicBezTo>
                    <a:pt x="5421" y="1641"/>
                    <a:pt x="5529" y="1391"/>
                    <a:pt x="5657" y="1147"/>
                  </a:cubicBezTo>
                  <a:cubicBezTo>
                    <a:pt x="5835" y="809"/>
                    <a:pt x="5882" y="475"/>
                    <a:pt x="5999" y="122"/>
                  </a:cubicBezTo>
                  <a:cubicBezTo>
                    <a:pt x="6013" y="79"/>
                    <a:pt x="6041" y="17"/>
                    <a:pt x="6047" y="1"/>
                  </a:cubicBezTo>
                  <a:cubicBezTo>
                    <a:pt x="6051" y="2"/>
                    <a:pt x="6055" y="3"/>
                    <a:pt x="6059" y="4"/>
                  </a:cubicBezTo>
                </a:path>
              </a:pathLst>
            </a:custGeom>
            <a:noFill/>
            <a:ln w="254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5664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A Simple Deterministic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17">
                <a:extLst>
                  <a:ext uri="{FF2B5EF4-FFF2-40B4-BE49-F238E27FC236}">
                    <a16:creationId xmlns:a16="http://schemas.microsoft.com/office/drawing/2014/main" id="{A5FB2C63-D29A-FD4C-ADE9-3DC7930B46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429001"/>
                <a:ext cx="7886700" cy="3001626"/>
              </a:xfrm>
            </p:spPr>
            <p:txBody>
              <a:bodyPr/>
              <a:lstStyle/>
              <a:p>
                <a:r>
                  <a:rPr lang="en-US" sz="2000" dirty="0"/>
                  <a:t>One arrival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000" baseline="-25000" dirty="0"/>
                  <a:t> </a:t>
                </a:r>
                <a:r>
                  <a:rPr lang="en-US" sz="2000" dirty="0"/>
                  <a:t>time units</a:t>
                </a:r>
              </a:p>
              <a:p>
                <a:r>
                  <a:rPr lang="en-US" sz="2000" dirty="0"/>
                  <a:t>Fixed service time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sz="2000" dirty="0"/>
                  <a:t> time units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Service rate</a:t>
                </a:r>
                <a:r>
                  <a:rPr lang="fa-IR" sz="2000" dirty="0"/>
                  <a:t>: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= 1/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Arrival rate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= 1/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Utilization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</m:t>
                    </m:r>
                    <m:func>
                      <m:func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dirty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800" i="1" dirty="0" err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800" i="1" dirty="0" err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e>
                    </m:func>
                  </m:oMath>
                </a14:m>
                <a:endParaRPr lang="en-US" sz="2000" dirty="0"/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Throughput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</m:e>
                    </m:func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Content Placeholder 17">
                <a:extLst>
                  <a:ext uri="{FF2B5EF4-FFF2-40B4-BE49-F238E27FC236}">
                    <a16:creationId xmlns:a16="http://schemas.microsoft.com/office/drawing/2014/main" id="{A5FB2C63-D29A-FD4C-ADE9-3DC7930B46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429001"/>
                <a:ext cx="7886700" cy="3001626"/>
              </a:xfrm>
              <a:blipFill>
                <a:blip r:embed="rId2"/>
                <a:stretch>
                  <a:fillRect l="-644" t="-12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2834635" y="2144532"/>
            <a:ext cx="1559061" cy="423104"/>
          </a:xfrm>
          <a:prstGeom prst="rect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  Queue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087342" y="2144532"/>
            <a:ext cx="0" cy="423104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cxnSpLocks/>
          </p:cNvCxnSpPr>
          <p:nvPr/>
        </p:nvCxnSpPr>
        <p:spPr>
          <a:xfrm>
            <a:off x="3841049" y="2144532"/>
            <a:ext cx="0" cy="423104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835421" y="1963755"/>
            <a:ext cx="784801" cy="784658"/>
          </a:xfrm>
          <a:prstGeom prst="ellips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Server</a:t>
            </a:r>
          </a:p>
        </p:txBody>
      </p:sp>
      <p:cxnSp>
        <p:nvCxnSpPr>
          <p:cNvPr id="13" name="Straight Arrow Connector 12"/>
          <p:cNvCxnSpPr>
            <a:cxnSpLocks/>
            <a:stCxn id="16" idx="3"/>
            <a:endCxn id="7" idx="1"/>
          </p:cNvCxnSpPr>
          <p:nvPr/>
        </p:nvCxnSpPr>
        <p:spPr>
          <a:xfrm flipV="1">
            <a:off x="2425977" y="2356084"/>
            <a:ext cx="408658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4393696" y="2356084"/>
            <a:ext cx="44172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stCxn id="10" idx="6"/>
            <a:endCxn id="17" idx="1"/>
          </p:cNvCxnSpPr>
          <p:nvPr/>
        </p:nvCxnSpPr>
        <p:spPr>
          <a:xfrm>
            <a:off x="5620222" y="2356084"/>
            <a:ext cx="381235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552083" y="2169880"/>
            <a:ext cx="873894" cy="3724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Arrivals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1457" y="2169880"/>
            <a:ext cx="1226272" cy="3724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Departures</a:t>
            </a:r>
          </a:p>
        </p:txBody>
      </p:sp>
    </p:spTree>
    <p:extLst>
      <p:ext uri="{BB962C8B-B14F-4D97-AF65-F5344CB8AC3E}">
        <p14:creationId xmlns:p14="http://schemas.microsoft.com/office/powerpoint/2010/main" val="36062538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A Simple Deterministic World (cont.)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41">
                <a:extLst>
                  <a:ext uri="{FF2B5EF4-FFF2-40B4-BE49-F238E27FC236}">
                    <a16:creationId xmlns:a16="http://schemas.microsoft.com/office/drawing/2014/main" id="{C59ADE84-BFB7-AE49-B4FE-98C0A4B5F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600" dirty="0"/>
                  <a:t>Number of arrivals at time 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Number of departures at time 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×</m:t>
                    </m:r>
                    <m:func>
                      <m:func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i="0" dirty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 dirty="0" err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400" i="1" dirty="0" err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e>
                    </m:func>
                  </m:oMath>
                </a14:m>
                <a:endParaRPr lang="en-US" sz="1600" dirty="0"/>
              </a:p>
              <a:p>
                <a:r>
                  <a:rPr lang="en-US" sz="1600" dirty="0"/>
                  <a:t>Number of requests in queue at time 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–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1600" baseline="-25000" dirty="0"/>
              </a:p>
              <a:p>
                <a:r>
                  <a:rPr lang="en-US" sz="1600" dirty="0"/>
                  <a:t>Wait time in queue for request arriving at time 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if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sz="1600" dirty="0"/>
              </a:p>
              <a:p>
                <a:pPr lvl="3"/>
                <a:endParaRPr lang="en-US" sz="600" dirty="0"/>
              </a:p>
              <a:p>
                <a:pPr lvl="3"/>
                <a:endParaRPr lang="en-US" sz="600" dirty="0"/>
              </a:p>
              <a:p>
                <a:pPr lvl="2"/>
                <a:endParaRPr lang="en-US" sz="800" dirty="0"/>
              </a:p>
              <a:p>
                <a:pPr lvl="3"/>
                <a:endParaRPr lang="en-US" sz="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 – 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 – 1</m:t>
                        </m:r>
                      </m:e>
                    </m:d>
                  </m:oMath>
                </a14:m>
                <a:r>
                  <a:rPr lang="en-US" sz="1600" dirty="0"/>
                  <a:t> if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2" name="Content Placeholder 41">
                <a:extLst>
                  <a:ext uri="{FF2B5EF4-FFF2-40B4-BE49-F238E27FC236}">
                    <a16:creationId xmlns:a16="http://schemas.microsoft.com/office/drawing/2014/main" id="{C59ADE84-BFB7-AE49-B4FE-98C0A4B5F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22" t="-5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B03A2FC-BDF1-1F41-920D-767EE71EA5B7}"/>
              </a:ext>
            </a:extLst>
          </p:cNvPr>
          <p:cNvGrpSpPr/>
          <p:nvPr/>
        </p:nvGrpSpPr>
        <p:grpSpPr>
          <a:xfrm>
            <a:off x="2509284" y="5150430"/>
            <a:ext cx="1806418" cy="307777"/>
            <a:chOff x="2509284" y="4828698"/>
            <a:chExt cx="1806418" cy="3077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5F14F54-FFDE-3A47-AE48-0A0D8CA07F85}"/>
                    </a:ext>
                  </a:extLst>
                </p:cNvPr>
                <p:cNvSpPr txBox="1"/>
                <p:nvPr/>
              </p:nvSpPr>
              <p:spPr>
                <a:xfrm>
                  <a:off x="2509284" y="4828698"/>
                  <a:ext cx="61369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𝑡</m:t>
                        </m:r>
                        <m:r>
                          <a:rPr lang="en-US" sz="1400" i="1" dirty="0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 × </m:t>
                        </m:r>
                        <m:r>
                          <a:rPr lang="en-US" sz="1400" i="1" dirty="0" err="1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𝜆</m:t>
                        </m:r>
                      </m:oMath>
                    </m:oMathPara>
                  </a14:m>
                  <a:endPara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5F14F54-FFDE-3A47-AE48-0A0D8CA07F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284" y="4828698"/>
                  <a:ext cx="613694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687B36F-A2C0-E94F-AB4A-7D44F87AE3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31927" y="4989806"/>
              <a:ext cx="1183775" cy="0"/>
            </a:xfrm>
            <a:prstGeom prst="lin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53B8313-A762-9D42-B18F-FB37D4D4A656}"/>
              </a:ext>
            </a:extLst>
          </p:cNvPr>
          <p:cNvGrpSpPr/>
          <p:nvPr/>
        </p:nvGrpSpPr>
        <p:grpSpPr>
          <a:xfrm>
            <a:off x="2506016" y="5746125"/>
            <a:ext cx="1814921" cy="307777"/>
            <a:chOff x="2506016" y="5424393"/>
            <a:chExt cx="1814921" cy="3077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584CF598-C1A8-AE47-BADA-510795DFE65B}"/>
                    </a:ext>
                  </a:extLst>
                </p:cNvPr>
                <p:cNvSpPr txBox="1"/>
                <p:nvPr/>
              </p:nvSpPr>
              <p:spPr>
                <a:xfrm>
                  <a:off x="2506016" y="5424393"/>
                  <a:ext cx="62023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𝑡</m:t>
                        </m:r>
                        <m:r>
                          <a:rPr lang="en-US" sz="1400" i="1" dirty="0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 × 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𝜇</m:t>
                        </m:r>
                      </m:oMath>
                    </m:oMathPara>
                  </a14:m>
                  <a:endPara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endParaRPr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584CF598-C1A8-AE47-BADA-510795DFE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6016" y="5424393"/>
                  <a:ext cx="62023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AEECE06-6DA2-914A-AB67-FFDF091A4C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31624" y="5578622"/>
              <a:ext cx="1189313" cy="0"/>
            </a:xfrm>
            <a:prstGeom prst="lin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E12ECB0-9C3F-0C4D-A0D5-256E3BAA094A}"/>
              </a:ext>
            </a:extLst>
          </p:cNvPr>
          <p:cNvGrpSpPr/>
          <p:nvPr/>
        </p:nvGrpSpPr>
        <p:grpSpPr>
          <a:xfrm>
            <a:off x="4320938" y="5023294"/>
            <a:ext cx="1189009" cy="302840"/>
            <a:chOff x="4320938" y="4701562"/>
            <a:chExt cx="1189009" cy="302840"/>
          </a:xfrm>
        </p:grpSpPr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6EE3A65-1FC3-134A-87A5-3D69E21D74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20938" y="4989298"/>
              <a:ext cx="1189009" cy="0"/>
            </a:xfrm>
            <a:prstGeom prst="straightConnector1">
              <a:avLst/>
            </a:prstGeom>
            <a:ln w="3175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3CC5F54-27D5-254B-8488-5BE1A8071887}"/>
                    </a:ext>
                  </a:extLst>
                </p:cNvPr>
                <p:cNvSpPr txBox="1"/>
                <p:nvPr/>
              </p:nvSpPr>
              <p:spPr>
                <a:xfrm>
                  <a:off x="4694833" y="4701562"/>
                  <a:ext cx="433067" cy="3028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1400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endParaRPr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3CC5F54-27D5-254B-8488-5BE1A8071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4833" y="4701562"/>
                  <a:ext cx="433067" cy="30284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277EDF-0277-E447-971F-3FA23780383A}"/>
              </a:ext>
            </a:extLst>
          </p:cNvPr>
          <p:cNvGrpSpPr/>
          <p:nvPr/>
        </p:nvGrpSpPr>
        <p:grpSpPr>
          <a:xfrm>
            <a:off x="2430776" y="4743916"/>
            <a:ext cx="4025684" cy="2060253"/>
            <a:chOff x="2430776" y="4422184"/>
            <a:chExt cx="4025684" cy="206025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498ECC3-13DA-0B41-A402-9A830F471F37}"/>
                </a:ext>
              </a:extLst>
            </p:cNvPr>
            <p:cNvSpPr txBox="1"/>
            <p:nvPr/>
          </p:nvSpPr>
          <p:spPr>
            <a:xfrm>
              <a:off x="5465175" y="6174660"/>
              <a:ext cx="5469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Time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8A87FE3-9C61-1E49-B3A8-3B322774BF73}"/>
                </a:ext>
              </a:extLst>
            </p:cNvPr>
            <p:cNvSpPr txBox="1"/>
            <p:nvPr/>
          </p:nvSpPr>
          <p:spPr>
            <a:xfrm>
              <a:off x="2430776" y="4428807"/>
              <a:ext cx="7585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Request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99DE8C8-AA26-B94A-8A7F-679303B2239C}"/>
                </a:ext>
              </a:extLst>
            </p:cNvPr>
            <p:cNvCxnSpPr>
              <a:cxnSpLocks/>
              <a:stCxn id="52" idx="1"/>
            </p:cNvCxnSpPr>
            <p:nvPr/>
          </p:nvCxnSpPr>
          <p:spPr>
            <a:xfrm flipV="1">
              <a:off x="3131925" y="4911919"/>
              <a:ext cx="2551500" cy="1255519"/>
            </a:xfrm>
            <a:prstGeom prst="line">
              <a:avLst/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D87DAB4-1F98-8249-BED3-E24FF4C8D758}"/>
                </a:ext>
              </a:extLst>
            </p:cNvPr>
            <p:cNvCxnSpPr>
              <a:cxnSpLocks/>
              <a:stCxn id="52" idx="1"/>
            </p:cNvCxnSpPr>
            <p:nvPr/>
          </p:nvCxnSpPr>
          <p:spPr>
            <a:xfrm flipV="1">
              <a:off x="3131925" y="4779193"/>
              <a:ext cx="1394913" cy="1388245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21D77A7-8032-6143-ABFF-E0497952C659}"/>
                </a:ext>
              </a:extLst>
            </p:cNvPr>
            <p:cNvSpPr/>
            <p:nvPr/>
          </p:nvSpPr>
          <p:spPr>
            <a:xfrm>
              <a:off x="3131925" y="4596782"/>
              <a:ext cx="2606723" cy="1570656"/>
            </a:xfrm>
            <a:custGeom>
              <a:avLst/>
              <a:gdLst>
                <a:gd name="connsiteX0" fmla="*/ 0 w 2606723"/>
                <a:gd name="connsiteY0" fmla="*/ 0 h 1460310"/>
                <a:gd name="connsiteX1" fmla="*/ 0 w 2606723"/>
                <a:gd name="connsiteY1" fmla="*/ 1460310 h 1460310"/>
                <a:gd name="connsiteX2" fmla="*/ 2606723 w 2606723"/>
                <a:gd name="connsiteY2" fmla="*/ 1460310 h 1460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6723" h="1460310">
                  <a:moveTo>
                    <a:pt x="0" y="0"/>
                  </a:moveTo>
                  <a:lnTo>
                    <a:pt x="0" y="1460310"/>
                  </a:lnTo>
                  <a:lnTo>
                    <a:pt x="2606723" y="1460310"/>
                  </a:lnTo>
                </a:path>
              </a:pathLst>
            </a:custGeom>
            <a:noFill/>
            <a:ln w="317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E8EA5F9-E43E-0740-B915-C3DA624C08BC}"/>
                </a:ext>
              </a:extLst>
            </p:cNvPr>
            <p:cNvSpPr txBox="1"/>
            <p:nvPr/>
          </p:nvSpPr>
          <p:spPr>
            <a:xfrm>
              <a:off x="5457532" y="4581672"/>
              <a:ext cx="9989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50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Departures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975A186-BDFB-0B41-9465-FA9EBB1A51D5}"/>
                </a:ext>
              </a:extLst>
            </p:cNvPr>
            <p:cNvSpPr txBox="1"/>
            <p:nvPr/>
          </p:nvSpPr>
          <p:spPr>
            <a:xfrm>
              <a:off x="4333396" y="4422184"/>
              <a:ext cx="7178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FF0000"/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Arrivals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24E3F09-357D-064F-8162-583340B824A3}"/>
              </a:ext>
            </a:extLst>
          </p:cNvPr>
          <p:cNvGrpSpPr/>
          <p:nvPr/>
        </p:nvGrpSpPr>
        <p:grpSpPr>
          <a:xfrm>
            <a:off x="4161076" y="5311538"/>
            <a:ext cx="309252" cy="1492631"/>
            <a:chOff x="4161076" y="4989806"/>
            <a:chExt cx="309252" cy="1492631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A8C5D08-94D3-AF40-B188-2CDC80ADAF96}"/>
                </a:ext>
              </a:extLst>
            </p:cNvPr>
            <p:cNvCxnSpPr/>
            <p:nvPr/>
          </p:nvCxnSpPr>
          <p:spPr>
            <a:xfrm>
              <a:off x="4320937" y="4989806"/>
              <a:ext cx="0" cy="1177632"/>
            </a:xfrm>
            <a:prstGeom prst="lin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0E10BAED-AAC0-624F-BB84-97B9E9B864FE}"/>
                    </a:ext>
                  </a:extLst>
                </p:cNvPr>
                <p:cNvSpPr txBox="1"/>
                <p:nvPr/>
              </p:nvSpPr>
              <p:spPr>
                <a:xfrm>
                  <a:off x="4161076" y="6174660"/>
                  <a:ext cx="30925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  <a:cs typeface="Gill Sans Light" panose="020B0302020104020203" pitchFamily="34" charset="-79"/>
                          </a:rPr>
                          <m:t>𝑡</m:t>
                        </m:r>
                      </m:oMath>
                    </m:oMathPara>
                  </a14:m>
                  <a:endPara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endParaRPr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0E10BAED-AAC0-624F-BB84-97B9E9B864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1076" y="6174660"/>
                  <a:ext cx="309252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73FA63F-B2FE-624B-BF0D-34CB196DF3FE}"/>
              </a:ext>
            </a:extLst>
          </p:cNvPr>
          <p:cNvGrpSpPr/>
          <p:nvPr/>
        </p:nvGrpSpPr>
        <p:grpSpPr>
          <a:xfrm>
            <a:off x="4004527" y="5311538"/>
            <a:ext cx="383182" cy="588816"/>
            <a:chOff x="4004527" y="4989806"/>
            <a:chExt cx="383182" cy="588816"/>
          </a:xfrm>
        </p:grpSpPr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4FEBA370-2346-6B4C-B0D6-CF7025E637D4}"/>
                </a:ext>
              </a:extLst>
            </p:cNvPr>
            <p:cNvCxnSpPr/>
            <p:nvPr/>
          </p:nvCxnSpPr>
          <p:spPr>
            <a:xfrm>
              <a:off x="4320937" y="4989806"/>
              <a:ext cx="0" cy="588816"/>
            </a:xfrm>
            <a:prstGeom prst="straightConnector1">
              <a:avLst/>
            </a:prstGeom>
            <a:ln w="31750">
              <a:solidFill>
                <a:srgbClr val="7030A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696170FE-8D23-B44A-B0B1-5BD4F9B4F7F4}"/>
                    </a:ext>
                  </a:extLst>
                </p:cNvPr>
                <p:cNvSpPr txBox="1"/>
                <p:nvPr/>
              </p:nvSpPr>
              <p:spPr>
                <a:xfrm>
                  <a:off x="4004527" y="5148010"/>
                  <a:ext cx="383182" cy="3028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  <m:t>𝐿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  <a:cs typeface="Gill Sans Light" panose="020B0302020104020203" pitchFamily="34" charset="-79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1400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endParaRPr>
                </a:p>
              </p:txBody>
            </p:sp>
          </mc:Choice>
          <mc:Fallback xmlns="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696170FE-8D23-B44A-B0B1-5BD4F9B4F7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4527" y="5148010"/>
                  <a:ext cx="383182" cy="30284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850291F-D471-0346-A130-398AEB94CDA1}"/>
              </a:ext>
            </a:extLst>
          </p:cNvPr>
          <p:cNvGrpSpPr/>
          <p:nvPr/>
        </p:nvGrpSpPr>
        <p:grpSpPr>
          <a:xfrm>
            <a:off x="2669033" y="3373303"/>
            <a:ext cx="4282160" cy="584968"/>
            <a:chOff x="873996" y="2879956"/>
            <a:chExt cx="6896462" cy="707812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DE752616-2F3C-104D-9DE5-3953B82EF7AC}"/>
                </a:ext>
              </a:extLst>
            </p:cNvPr>
            <p:cNvCxnSpPr>
              <a:cxnSpLocks/>
            </p:cNvCxnSpPr>
            <p:nvPr/>
          </p:nvCxnSpPr>
          <p:spPr>
            <a:xfrm>
              <a:off x="873996" y="3261742"/>
              <a:ext cx="689646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AD95904F-A038-A446-B215-F46EC4D710AF}"/>
                </a:ext>
              </a:extLst>
            </p:cNvPr>
            <p:cNvSpPr/>
            <p:nvPr/>
          </p:nvSpPr>
          <p:spPr>
            <a:xfrm>
              <a:off x="1326222" y="3291615"/>
              <a:ext cx="854366" cy="296153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</a:t>
              </a:r>
            </a:p>
          </p:txBody>
        </p: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90DAC273-2D99-0640-AC23-3CAB96E47905}"/>
                </a:ext>
              </a:extLst>
            </p:cNvPr>
            <p:cNvCxnSpPr>
              <a:cxnSpLocks/>
            </p:cNvCxnSpPr>
            <p:nvPr/>
          </p:nvCxnSpPr>
          <p:spPr>
            <a:xfrm>
              <a:off x="1326222" y="3090442"/>
              <a:ext cx="2043760" cy="0"/>
            </a:xfrm>
            <a:prstGeom prst="straightConnector1">
              <a:avLst/>
            </a:prstGeom>
            <a:ln w="15875" cmpd="sng">
              <a:solidFill>
                <a:srgbClr val="0000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019F53C8-1C28-DD4D-92B0-2FFDDCFB2AF1}"/>
                </a:ext>
              </a:extLst>
            </p:cNvPr>
            <p:cNvSpPr txBox="1"/>
            <p:nvPr/>
          </p:nvSpPr>
          <p:spPr>
            <a:xfrm>
              <a:off x="1772001" y="2879956"/>
              <a:ext cx="394909" cy="33516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A</a:t>
              </a:r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087F56C-38E2-CF46-BF3E-CFD9C99D95DF}"/>
                </a:ext>
              </a:extLst>
            </p:cNvPr>
            <p:cNvCxnSpPr>
              <a:cxnSpLocks/>
            </p:cNvCxnSpPr>
            <p:nvPr/>
          </p:nvCxnSpPr>
          <p:spPr>
            <a:xfrm>
              <a:off x="1326222" y="3131721"/>
              <a:ext cx="0" cy="130022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C1988DE-FF68-BE4D-AEE4-4DB4CB216212}"/>
                </a:ext>
              </a:extLst>
            </p:cNvPr>
            <p:cNvSpPr/>
            <p:nvPr/>
          </p:nvSpPr>
          <p:spPr>
            <a:xfrm>
              <a:off x="3389152" y="3291615"/>
              <a:ext cx="854366" cy="296153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</a:t>
              </a:r>
            </a:p>
          </p:txBody>
        </p: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55C3C457-9BE4-E14A-A298-F53A4670C2F4}"/>
                </a:ext>
              </a:extLst>
            </p:cNvPr>
            <p:cNvCxnSpPr>
              <a:cxnSpLocks/>
            </p:cNvCxnSpPr>
            <p:nvPr/>
          </p:nvCxnSpPr>
          <p:spPr>
            <a:xfrm>
              <a:off x="3389152" y="3090442"/>
              <a:ext cx="2043760" cy="0"/>
            </a:xfrm>
            <a:prstGeom prst="straightConnector1">
              <a:avLst/>
            </a:prstGeom>
            <a:ln w="15875" cmpd="sng">
              <a:solidFill>
                <a:srgbClr val="0000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9F8AD43-6DB2-584A-95AE-3750C05C555A}"/>
                </a:ext>
              </a:extLst>
            </p:cNvPr>
            <p:cNvSpPr txBox="1"/>
            <p:nvPr/>
          </p:nvSpPr>
          <p:spPr>
            <a:xfrm>
              <a:off x="3834930" y="2879956"/>
              <a:ext cx="394909" cy="33516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A</a:t>
              </a:r>
            </a:p>
          </p:txBody>
        </p: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F356C5D7-8BFB-0941-8AE6-39BDD0AD2956}"/>
                </a:ext>
              </a:extLst>
            </p:cNvPr>
            <p:cNvCxnSpPr>
              <a:cxnSpLocks/>
            </p:cNvCxnSpPr>
            <p:nvPr/>
          </p:nvCxnSpPr>
          <p:spPr>
            <a:xfrm>
              <a:off x="3389152" y="3131721"/>
              <a:ext cx="0" cy="130022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2E5964BE-8C17-C84F-8BB0-C0535C4009DE}"/>
                </a:ext>
              </a:extLst>
            </p:cNvPr>
            <p:cNvSpPr/>
            <p:nvPr/>
          </p:nvSpPr>
          <p:spPr>
            <a:xfrm>
              <a:off x="5452730" y="3291615"/>
              <a:ext cx="854366" cy="296153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</a:t>
              </a:r>
            </a:p>
          </p:txBody>
        </p: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EA3AA16-D687-8040-AD1D-B4EFF952D5EF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30" y="3090442"/>
              <a:ext cx="2043760" cy="0"/>
            </a:xfrm>
            <a:prstGeom prst="straightConnector1">
              <a:avLst/>
            </a:prstGeom>
            <a:ln w="15875" cmpd="sng">
              <a:solidFill>
                <a:srgbClr val="0000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02821449-C721-AE4F-BAA0-6D7F2CB9EAA6}"/>
                </a:ext>
              </a:extLst>
            </p:cNvPr>
            <p:cNvSpPr txBox="1"/>
            <p:nvPr/>
          </p:nvSpPr>
          <p:spPr>
            <a:xfrm>
              <a:off x="5898509" y="2879956"/>
              <a:ext cx="394909" cy="33516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200" baseline="-250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A</a:t>
              </a:r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08B80E3-B6D8-0446-B68B-2F3B69EA4A91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30" y="3131721"/>
              <a:ext cx="0" cy="130022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6928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A Bursty World</a:t>
            </a:r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BF32209D-B9BD-C148-AF9A-8BF888219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504852"/>
            <a:ext cx="7886700" cy="1405113"/>
          </a:xfrm>
        </p:spPr>
        <p:txBody>
          <a:bodyPr/>
          <a:lstStyle/>
          <a:p>
            <a:r>
              <a:rPr lang="en-US" sz="1800" dirty="0"/>
              <a:t>Requests arrive in burst, must queue up till served</a:t>
            </a:r>
          </a:p>
          <a:p>
            <a:r>
              <a:rPr lang="en-US" sz="1800" dirty="0"/>
              <a:t>Same average arrival time, but requests experience large queue delays</a:t>
            </a:r>
          </a:p>
          <a:p>
            <a:r>
              <a:rPr lang="en-US" sz="1800" dirty="0"/>
              <a:t>Even though average utilization is low</a:t>
            </a:r>
          </a:p>
          <a:p>
            <a:endParaRPr lang="en-US" sz="1800" dirty="0"/>
          </a:p>
          <a:p>
            <a:pPr marL="228600" indent="-228600" algn="r" rtl="1" eaLnBrk="1" fontAlgn="base" hangingPunct="1">
              <a:spcBef>
                <a:spcPts val="1000"/>
              </a:spcBef>
              <a:spcAft>
                <a:spcPct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1329292" y="4437200"/>
            <a:ext cx="630788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028903" y="5719052"/>
            <a:ext cx="943200" cy="29615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193693" y="4685849"/>
            <a:ext cx="775014" cy="2961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967463" y="5719052"/>
            <a:ext cx="943200" cy="2961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319916" y="4982002"/>
            <a:ext cx="648791" cy="2961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3910872" y="5719052"/>
            <a:ext cx="943200" cy="2961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67463" y="4685849"/>
            <a:ext cx="943200" cy="2961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853036" y="5719052"/>
            <a:ext cx="943200" cy="2961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515867" y="5278155"/>
            <a:ext cx="452840" cy="2961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3910872" y="4685849"/>
            <a:ext cx="943200" cy="2961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2967463" y="4982002"/>
            <a:ext cx="943200" cy="2961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04793" y="4725489"/>
            <a:ext cx="904414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Length of </a:t>
            </a:r>
          </a:p>
          <a:p>
            <a:pPr algn="ctr"/>
            <a:r>
              <a:rPr lang="en-US" sz="14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Queue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825" y="5713239"/>
            <a:ext cx="648191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Server</a:t>
            </a:r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2028904" y="4186435"/>
            <a:ext cx="4589167" cy="0"/>
          </a:xfrm>
          <a:prstGeom prst="straightConnector1">
            <a:avLst/>
          </a:prstGeom>
          <a:ln w="19050" cmpd="sng">
            <a:solidFill>
              <a:srgbClr val="000000"/>
            </a:solidFill>
            <a:headEnd type="stealth"/>
            <a:tailEnd type="stealt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64072" y="3988864"/>
            <a:ext cx="71782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Arrivals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3122" y="5719052"/>
            <a:ext cx="943200" cy="29615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>
              <a:latin typeface="Gill Sans Light" panose="020B0302020104020203" pitchFamily="34" charset="-79"/>
              <a:ea typeface="Gill Sans" charset="0"/>
              <a:cs typeface="Gill Sans Light" panose="020B0302020104020203" pitchFamily="34" charset="-79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4B79EE3-2F41-874E-AB3E-1E23E5B143D3}"/>
              </a:ext>
            </a:extLst>
          </p:cNvPr>
          <p:cNvGrpSpPr/>
          <p:nvPr/>
        </p:nvGrpSpPr>
        <p:grpSpPr>
          <a:xfrm>
            <a:off x="2085010" y="1650764"/>
            <a:ext cx="4584111" cy="648477"/>
            <a:chOff x="1601103" y="1963755"/>
            <a:chExt cx="5546774" cy="784658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0EA2174-FA78-5749-8202-04ECE30A1AD1}"/>
                </a:ext>
              </a:extLst>
            </p:cNvPr>
            <p:cNvSpPr/>
            <p:nvPr/>
          </p:nvSpPr>
          <p:spPr>
            <a:xfrm>
              <a:off x="2834635" y="2144532"/>
              <a:ext cx="1559061" cy="423104"/>
            </a:xfrm>
            <a:prstGeom prst="rect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   Queue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3ECBD48-1739-874E-A850-E8B120A26657}"/>
                </a:ext>
              </a:extLst>
            </p:cNvPr>
            <p:cNvCxnSpPr>
              <a:cxnSpLocks/>
            </p:cNvCxnSpPr>
            <p:nvPr/>
          </p:nvCxnSpPr>
          <p:spPr>
            <a:xfrm>
              <a:off x="4087342" y="2144532"/>
              <a:ext cx="0" cy="423104"/>
            </a:xfrm>
            <a:prstGeom prst="line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1FFCAA6-60F5-0B44-8D7D-32027AEAD133}"/>
                </a:ext>
              </a:extLst>
            </p:cNvPr>
            <p:cNvCxnSpPr>
              <a:cxnSpLocks/>
            </p:cNvCxnSpPr>
            <p:nvPr/>
          </p:nvCxnSpPr>
          <p:spPr>
            <a:xfrm>
              <a:off x="3841049" y="2144532"/>
              <a:ext cx="0" cy="423104"/>
            </a:xfrm>
            <a:prstGeom prst="line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D7168DBF-D01C-B043-988A-C2678B2CD75F}"/>
                </a:ext>
              </a:extLst>
            </p:cNvPr>
            <p:cNvSpPr/>
            <p:nvPr/>
          </p:nvSpPr>
          <p:spPr>
            <a:xfrm>
              <a:off x="4835421" y="1963755"/>
              <a:ext cx="784801" cy="784658"/>
            </a:xfrm>
            <a:prstGeom prst="ellips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Server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EC98BEA-958E-B744-8DB4-56334CDEDB27}"/>
                </a:ext>
              </a:extLst>
            </p:cNvPr>
            <p:cNvCxnSpPr>
              <a:cxnSpLocks/>
              <a:stCxn id="70" idx="3"/>
              <a:endCxn id="53" idx="1"/>
            </p:cNvCxnSpPr>
            <p:nvPr/>
          </p:nvCxnSpPr>
          <p:spPr>
            <a:xfrm>
              <a:off x="2376956" y="2352854"/>
              <a:ext cx="457679" cy="3229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35D22D8-C696-924D-A490-BD1BE083EEE2}"/>
                </a:ext>
              </a:extLst>
            </p:cNvPr>
            <p:cNvCxnSpPr>
              <a:cxnSpLocks/>
              <a:stCxn id="53" idx="3"/>
              <a:endCxn id="57" idx="2"/>
            </p:cNvCxnSpPr>
            <p:nvPr/>
          </p:nvCxnSpPr>
          <p:spPr>
            <a:xfrm>
              <a:off x="4393696" y="2356084"/>
              <a:ext cx="441725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13A9731-DDD7-9842-95E8-9F9EE6CFD54C}"/>
                </a:ext>
              </a:extLst>
            </p:cNvPr>
            <p:cNvCxnSpPr>
              <a:cxnSpLocks/>
              <a:stCxn id="57" idx="6"/>
              <a:endCxn id="71" idx="1"/>
            </p:cNvCxnSpPr>
            <p:nvPr/>
          </p:nvCxnSpPr>
          <p:spPr>
            <a:xfrm flipV="1">
              <a:off x="5620222" y="2352854"/>
              <a:ext cx="461089" cy="3231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DBF47DF-9342-604E-B2B8-BD19CDB1B6FC}"/>
                </a:ext>
              </a:extLst>
            </p:cNvPr>
            <p:cNvSpPr txBox="1"/>
            <p:nvPr/>
          </p:nvSpPr>
          <p:spPr>
            <a:xfrm>
              <a:off x="1601103" y="2185269"/>
              <a:ext cx="775853" cy="3351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Arrivals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3876DD4-3C41-1C41-B294-1D93FD190249}"/>
                </a:ext>
              </a:extLst>
            </p:cNvPr>
            <p:cNvSpPr txBox="1"/>
            <p:nvPr/>
          </p:nvSpPr>
          <p:spPr>
            <a:xfrm>
              <a:off x="6081310" y="2185269"/>
              <a:ext cx="1066567" cy="3351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Departures</a:t>
              </a:r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B97C7F-D92B-D549-A83D-271A103B4DCE}"/>
              </a:ext>
            </a:extLst>
          </p:cNvPr>
          <p:cNvCxnSpPr>
            <a:cxnSpLocks/>
          </p:cNvCxnSpPr>
          <p:nvPr/>
        </p:nvCxnSpPr>
        <p:spPr>
          <a:xfrm>
            <a:off x="2028904" y="4353148"/>
            <a:ext cx="0" cy="16810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817330-E717-EA4B-9DA8-AB73391E53B3}"/>
              </a:ext>
            </a:extLst>
          </p:cNvPr>
          <p:cNvCxnSpPr>
            <a:cxnSpLocks/>
          </p:cNvCxnSpPr>
          <p:nvPr/>
        </p:nvCxnSpPr>
        <p:spPr>
          <a:xfrm>
            <a:off x="2193693" y="4353148"/>
            <a:ext cx="0" cy="16810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A2821AE-2F2C-7246-874E-385C5280219A}"/>
              </a:ext>
            </a:extLst>
          </p:cNvPr>
          <p:cNvCxnSpPr>
            <a:cxnSpLocks/>
          </p:cNvCxnSpPr>
          <p:nvPr/>
        </p:nvCxnSpPr>
        <p:spPr>
          <a:xfrm>
            <a:off x="2319992" y="4353148"/>
            <a:ext cx="0" cy="16810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EA5E49E-DF70-544C-8FDF-4033848DB15D}"/>
              </a:ext>
            </a:extLst>
          </p:cNvPr>
          <p:cNvCxnSpPr>
            <a:cxnSpLocks/>
          </p:cNvCxnSpPr>
          <p:nvPr/>
        </p:nvCxnSpPr>
        <p:spPr>
          <a:xfrm>
            <a:off x="2522069" y="4353148"/>
            <a:ext cx="0" cy="16810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42EBD15-DCCA-B74C-B530-5B14282719FB}"/>
              </a:ext>
            </a:extLst>
          </p:cNvPr>
          <p:cNvCxnSpPr>
            <a:cxnSpLocks/>
          </p:cNvCxnSpPr>
          <p:nvPr/>
        </p:nvCxnSpPr>
        <p:spPr>
          <a:xfrm>
            <a:off x="1732688" y="4688845"/>
            <a:ext cx="0" cy="886123"/>
          </a:xfrm>
          <a:prstGeom prst="straightConnector1">
            <a:avLst/>
          </a:prstGeom>
          <a:ln w="19050" cmpd="sng">
            <a:solidFill>
              <a:srgbClr val="000000"/>
            </a:solidFill>
            <a:headEnd type="stealth"/>
            <a:tailEnd type="stealt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190A393-5260-E64E-A753-5B1CDB2C4D88}"/>
              </a:ext>
            </a:extLst>
          </p:cNvPr>
          <p:cNvCxnSpPr>
            <a:cxnSpLocks/>
          </p:cNvCxnSpPr>
          <p:nvPr/>
        </p:nvCxnSpPr>
        <p:spPr>
          <a:xfrm>
            <a:off x="6628175" y="4353148"/>
            <a:ext cx="0" cy="16810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8256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p"/>
      <p:bldP spid="45" grpId="0" animBg="1"/>
      <p:bldP spid="46" grpId="0" animBg="1"/>
      <p:bldP spid="50" grpId="0" animBg="1"/>
      <p:bldP spid="51" grpId="0" animBg="1"/>
      <p:bldP spid="40" grpId="0" animBg="1"/>
      <p:bldP spid="59" grpId="0" animBg="1"/>
      <p:bldP spid="60" grpId="0" animBg="1"/>
      <p:bldP spid="61" grpId="0" animBg="1"/>
      <p:bldP spid="62" grpId="0" animBg="1"/>
      <p:bldP spid="5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E4639348-4BA7-AD4B-A61A-ACAEC97D7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How Do We Model Burstiness?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2">
                <a:extLst>
                  <a:ext uri="{FF2B5EF4-FFF2-40B4-BE49-F238E27FC236}">
                    <a16:creationId xmlns:a16="http://schemas.microsoft.com/office/drawing/2014/main" id="{0095AAEB-9761-3F4F-9D57-09F34CA368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800" dirty="0"/>
                  <a:t>One option is to use probability distributions to model inter-arrival times</a:t>
                </a:r>
              </a:p>
              <a:p>
                <a:r>
                  <a:rPr lang="en-US" sz="1800" dirty="0"/>
                  <a:t>Popular choice is exponential distribution</a:t>
                </a:r>
              </a:p>
              <a:p>
                <a:pPr lvl="1"/>
                <a:r>
                  <a:rPr lang="en-US" sz="1600" dirty="0">
                    <a:solidFill>
                      <a:srgbClr val="FF0000"/>
                    </a:solidFill>
                  </a:rPr>
                  <a:t>Cumulative distribution function (CDF)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i="0" dirty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lang="en-US" sz="1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– </m:t>
                    </m:r>
                    <m:sSup>
                      <m:sSup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1600" dirty="0"/>
                  <a:t>, for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600" dirty="0"/>
                  <a:t> &amp;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]=1/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3"/>
                <a:endParaRPr lang="en-US" sz="100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1600" dirty="0">
                    <a:solidFill>
                      <a:srgbClr val="FF0000"/>
                    </a:solidFill>
                  </a:rPr>
                  <a:t>Memoryless</a:t>
                </a:r>
                <a:r>
                  <a:rPr lang="en-US" sz="1600" dirty="0"/>
                  <a:t>: likelihood of new arrival is independent of time passed since the last one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200" i="0" dirty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200" i="0" dirty="0" err="1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120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400" dirty="0"/>
              </a:p>
              <a:p>
                <a:pPr lvl="2"/>
                <a:r>
                  <a:rPr lang="en-US" altLang="ko-KR" sz="1400" dirty="0">
                    <a:sym typeface="Symbol" panose="05050102010706020507" pitchFamily="18" charset="2"/>
                  </a:rPr>
                  <a:t>Past tells us nothing about future</a:t>
                </a:r>
              </a:p>
              <a:p>
                <a:pPr lvl="2"/>
                <a:r>
                  <a:rPr lang="en-US" altLang="ko-KR" sz="1400" dirty="0">
                    <a:sym typeface="Symbol" panose="05050102010706020507" pitchFamily="18" charset="2"/>
                  </a:rPr>
                  <a:t>Many complex systems (or aggregates) are well described as memoryless </a:t>
                </a:r>
              </a:p>
              <a:p>
                <a:pPr lvl="2"/>
                <a:endParaRPr lang="en-US" sz="1400" dirty="0"/>
              </a:p>
              <a:p>
                <a:pPr lvl="1"/>
                <a:endParaRPr lang="en-US" sz="16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23" name="Content Placeholder 22">
                <a:extLst>
                  <a:ext uri="{FF2B5EF4-FFF2-40B4-BE49-F238E27FC236}">
                    <a16:creationId xmlns:a16="http://schemas.microsoft.com/office/drawing/2014/main" id="{0095AAEB-9761-3F4F-9D57-09F34CA368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F0EA139-F693-3C47-92A3-50398FF5B498}"/>
              </a:ext>
            </a:extLst>
          </p:cNvPr>
          <p:cNvSpPr txBox="1"/>
          <p:nvPr/>
        </p:nvSpPr>
        <p:spPr>
          <a:xfrm>
            <a:off x="4316160" y="6645275"/>
            <a:ext cx="511679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BF1A929-685E-6944-9A22-431E127E7793}"/>
              </a:ext>
            </a:extLst>
          </p:cNvPr>
          <p:cNvGrpSpPr/>
          <p:nvPr/>
        </p:nvGrpSpPr>
        <p:grpSpPr>
          <a:xfrm>
            <a:off x="1908087" y="2888780"/>
            <a:ext cx="5063724" cy="2414812"/>
            <a:chOff x="1840354" y="4051720"/>
            <a:chExt cx="5063724" cy="2414812"/>
          </a:xfrm>
        </p:grpSpPr>
        <p:sp>
          <p:nvSpPr>
            <p:cNvPr id="16" name="TextBox 15"/>
            <p:cNvSpPr txBox="1"/>
            <p:nvPr/>
          </p:nvSpPr>
          <p:spPr>
            <a:xfrm>
              <a:off x="5719870" y="5027711"/>
              <a:ext cx="11842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Few long gaps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37F6CF2-B4AA-E043-B503-82F3D2CA2F81}"/>
                </a:ext>
              </a:extLst>
            </p:cNvPr>
            <p:cNvGrpSpPr/>
            <p:nvPr/>
          </p:nvGrpSpPr>
          <p:grpSpPr>
            <a:xfrm>
              <a:off x="2890917" y="4334163"/>
              <a:ext cx="2827909" cy="2132369"/>
              <a:chOff x="2593986" y="4110264"/>
              <a:chExt cx="3421770" cy="2580167"/>
            </a:xfrm>
          </p:grpSpPr>
          <p:pic>
            <p:nvPicPr>
              <p:cNvPr id="1026" name="Picture 2" descr="plot of the probability density function of the exponential distribution">
                <a:extLst>
                  <a:ext uri="{FF2B5EF4-FFF2-40B4-BE49-F238E27FC236}">
                    <a16:creationId xmlns:a16="http://schemas.microsoft.com/office/drawing/2014/main" id="{9483F400-2285-E14C-AF78-EA5C50C581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 bwMode="auto">
              <a:xfrm>
                <a:off x="2593986" y="4110264"/>
                <a:ext cx="3421770" cy="2580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6406B88-A699-EC47-9ED6-F6CE6F91B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2535" y="4237854"/>
                <a:ext cx="0" cy="1779182"/>
              </a:xfrm>
              <a:prstGeom prst="line">
                <a:avLst/>
              </a:prstGeom>
              <a:ln w="9525">
                <a:solidFill>
                  <a:srgbClr val="A01FF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0621EBB9-6017-B240-92FC-EB02B7B855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8721" y="4237854"/>
                <a:ext cx="0" cy="1779182"/>
              </a:xfrm>
              <a:prstGeom prst="line">
                <a:avLst/>
              </a:prstGeom>
              <a:ln w="9525">
                <a:solidFill>
                  <a:srgbClr val="FFA5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75275726-38FB-4A43-A3BA-05C0D88A67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0263" y="4237854"/>
                <a:ext cx="0" cy="1779182"/>
              </a:xfrm>
              <a:prstGeom prst="line">
                <a:avLst/>
              </a:prstGeom>
              <a:ln w="9525">
                <a:solidFill>
                  <a:srgbClr val="ADD9E6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/>
            <p:cNvCxnSpPr>
              <a:cxnSpLocks/>
              <a:endCxn id="11" idx="2"/>
            </p:cNvCxnSpPr>
            <p:nvPr/>
          </p:nvCxnSpPr>
          <p:spPr>
            <a:xfrm flipH="1" flipV="1">
              <a:off x="2552732" y="4574940"/>
              <a:ext cx="965317" cy="262396"/>
            </a:xfrm>
            <a:prstGeom prst="line">
              <a:avLst/>
            </a:prstGeom>
            <a:ln w="15875" cmpd="sng">
              <a:solidFill>
                <a:schemeClr val="tx1"/>
              </a:solidFill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cxnSpLocks/>
              <a:endCxn id="16" idx="2"/>
            </p:cNvCxnSpPr>
            <p:nvPr/>
          </p:nvCxnSpPr>
          <p:spPr>
            <a:xfrm flipV="1">
              <a:off x="5293850" y="5335488"/>
              <a:ext cx="1018124" cy="477837"/>
            </a:xfrm>
            <a:prstGeom prst="line">
              <a:avLst/>
            </a:prstGeom>
            <a:ln w="15875" cmpd="sng">
              <a:solidFill>
                <a:schemeClr val="tx1"/>
              </a:solidFill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1840354" y="4051720"/>
              <a:ext cx="14247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Lots of short </a:t>
              </a:r>
              <a:br>
                <a:rPr lang="en-US" sz="14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</a:br>
              <a:r>
                <a:rPr lang="en-US" sz="14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inter-arrival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591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BE55DB9-88AC-C946-8B78-AF2BB4F8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ko-KR" dirty="0"/>
              <a:t>Background: Properties of Random Variables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2F7B1C-9F5C-F84D-9B40-2E352264FA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sz="2000" dirty="0"/>
                  <a:t>Consider random variable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2000" dirty="0"/>
                  <a:t> taking values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1800" i="1" baseline="-25000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1800" i="1" baseline="-2500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endParaRPr lang="en-US" altLang="ko-KR" sz="2000" dirty="0"/>
              </a:p>
              <a:p>
                <a:pPr lvl="1"/>
                <a:r>
                  <a:rPr lang="en-US" altLang="ko-KR" sz="1800" dirty="0">
                    <a:solidFill>
                      <a:srgbClr val="FF0000"/>
                    </a:solidFill>
                  </a:rPr>
                  <a:t>Mean</a:t>
                </a:r>
                <a:r>
                  <a:rPr lang="en-US" altLang="ko-KR" sz="1800" dirty="0"/>
                  <a:t> (average):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600" b="0" i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func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altLang="ko-KR" sz="1800" dirty="0">
                  <a:sym typeface="Symbol" panose="05050102010706020507" pitchFamily="18" charset="2"/>
                </a:endParaRPr>
              </a:p>
              <a:p>
                <a:pPr lvl="1"/>
                <a:r>
                  <a:rPr lang="en-US" altLang="ko-KR" sz="1800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Variance</a:t>
                </a:r>
                <a:r>
                  <a:rPr lang="en-US" altLang="ko-KR" sz="1800" dirty="0">
                    <a:sym typeface="Symbol" panose="05050102010706020507" pitchFamily="18" charset="2"/>
                  </a:rPr>
                  <a:t> (standard deviation):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SupPr>
                      <m:e>
                        <m:r>
                          <a:rPr lang="en-US" altLang="ko-K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𝜎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sub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2</m:t>
                        </m:r>
                      </m:sup>
                    </m:sSubSup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1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𝑥</m:t>
                                </m:r>
                              </m:e>
                            </m:d>
                          </m:e>
                        </m:func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𝑥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sym typeface="Symbol" panose="05050102010706020507" pitchFamily="18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sym typeface="Symbol" panose="05050102010706020507" pitchFamily="18" charset="2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sym typeface="Symbol" panose="05050102010706020507" pitchFamily="18" charset="2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=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𝑋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−</m:t>
                    </m:r>
                    <m:sSup>
                      <m:s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d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lvl="1"/>
                <a:r>
                  <a:rPr lang="en-US" altLang="ko-KR" sz="1800" dirty="0">
                    <a:solidFill>
                      <a:srgbClr val="FF0000"/>
                    </a:solidFill>
                  </a:rPr>
                  <a:t>Squared coefficient of variance (SCV)</a:t>
                </a:r>
                <a:r>
                  <a:rPr lang="en-US" altLang="ko-KR" sz="1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sSubSup>
                      <m:sSub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ko-KR" sz="1800" dirty="0"/>
              </a:p>
              <a:p>
                <a:pPr lvl="2"/>
                <a:r>
                  <a:rPr lang="en-US" altLang="ko-KR" sz="1600" dirty="0">
                    <a:sym typeface="Symbol" panose="05050102010706020507" pitchFamily="18" charset="2"/>
                  </a:rPr>
                  <a:t>No variance or deterministic </a:t>
                </a:r>
                <a:r>
                  <a:rPr lang="en-US" altLang="ko-KR" sz="1400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𝐶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=0</m:t>
                    </m:r>
                  </m:oMath>
                </a14:m>
                <a:r>
                  <a:rPr lang="en-US" altLang="ko-KR" sz="1400" dirty="0">
                    <a:sym typeface="Symbol" panose="05050102010706020507" pitchFamily="18" charset="2"/>
                  </a:rPr>
                  <a:t> </a:t>
                </a:r>
              </a:p>
              <a:p>
                <a:pPr lvl="2"/>
                <a:r>
                  <a:rPr lang="en-US" altLang="ko-KR" sz="1600" dirty="0">
                    <a:sym typeface="Symbol" panose="05050102010706020507" pitchFamily="18" charset="2"/>
                  </a:rPr>
                  <a:t>Memoryless or exponential </a:t>
                </a:r>
                <a:r>
                  <a:rPr lang="en-US" altLang="ko-KR" sz="1400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400" dirty="0"/>
                  <a:t> </a:t>
                </a:r>
                <a:endParaRPr lang="en-US" altLang="ko-KR" sz="1400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2F7B1C-9F5C-F84D-9B40-2E352264FA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43" t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80" name="Rectangle 4"/>
          <p:cNvSpPr>
            <a:spLocks noChangeArrowheads="1"/>
          </p:cNvSpPr>
          <p:nvPr/>
        </p:nvSpPr>
        <p:spPr bwMode="auto">
          <a:xfrm>
            <a:off x="4425950" y="1012825"/>
            <a:ext cx="838200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1pPr>
            <a:lvl2pPr marL="742950" indent="-285750"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2pPr>
            <a:lvl3pPr marL="1143000" indent="-228600"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3pPr>
            <a:lvl4pPr marL="1600200" indent="-228600"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4pPr>
            <a:lvl5pPr marL="2057400" indent="-228600"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5pPr>
            <a:lvl6pPr marL="25146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6pPr>
            <a:lvl7pPr marL="29718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7pPr>
            <a:lvl8pPr marL="34290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8pPr>
            <a:lvl9pPr marL="3886200" indent="-228600" algn="ctr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100000"/>
              <a:defRPr sz="2200" b="1">
                <a:solidFill>
                  <a:schemeClr val="tx1"/>
                </a:solidFill>
                <a:latin typeface="Comic Sans MS" panose="030F0702030302020204" pitchFamily="66" charset="0"/>
              </a:defRPr>
            </a:lvl9pPr>
          </a:lstStyle>
          <a:p>
            <a:endParaRPr lang="en-US" altLang="en-US"/>
          </a:p>
        </p:txBody>
      </p:sp>
      <p:pic>
        <p:nvPicPr>
          <p:cNvPr id="2050" name="Picture 2" descr="Variance - Wikipedia">
            <a:extLst>
              <a:ext uri="{FF2B5EF4-FFF2-40B4-BE49-F238E27FC236}">
                <a16:creationId xmlns:a16="http://schemas.microsoft.com/office/drawing/2014/main" id="{5E39B887-AF34-D943-A355-8C6179520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15220" y="3025768"/>
            <a:ext cx="2913560" cy="215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869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Little’s Law </a:t>
            </a:r>
            <a:r>
              <a:rPr lang="en-US" sz="1600" dirty="0"/>
              <a:t>[John Little, 1961]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3C6D0623-D793-0A4F-9B40-42DA4DEB71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639556"/>
                <a:ext cx="7886700" cy="2869731"/>
              </a:xfrm>
            </p:spPr>
            <p:txBody>
              <a:bodyPr/>
              <a:lstStyle/>
              <a:p>
                <a:r>
                  <a:rPr lang="en-US" sz="2000" dirty="0"/>
                  <a:t>In any </a:t>
                </a:r>
                <a:r>
                  <a:rPr lang="en-US" sz="2000" dirty="0">
                    <a:solidFill>
                      <a:srgbClr val="FF0000"/>
                    </a:solidFill>
                  </a:rPr>
                  <a:t>stationary</a:t>
                </a:r>
                <a:r>
                  <a:rPr lang="en-US" sz="2000" dirty="0"/>
                  <a:t> system (i.e., system parameters do not change over time)</a:t>
                </a:r>
              </a:p>
              <a:p>
                <a:pPr marL="457200" lvl="1" indent="0" algn="ctr">
                  <a:buNone/>
                </a:pPr>
                <a:endParaRPr lang="en-US" sz="2000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l-GR" sz="200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2000" dirty="0"/>
              </a:p>
              <a:p>
                <a:pPr lvl="1"/>
                <a:endParaRPr lang="en-US" sz="1800" dirty="0"/>
              </a:p>
              <a:p>
                <a:pPr lvl="1"/>
                <a:r>
                  <a:rPr lang="en-US" sz="1800" dirty="0"/>
                  <a:t>Average number of items in system is equal to average arrival rate multiplied by average time each item spends in system</a:t>
                </a:r>
              </a:p>
            </p:txBody>
          </p:sp>
        </mc:Choice>
        <mc:Fallback xmlns="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3C6D0623-D793-0A4F-9B40-42DA4DEB71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639556"/>
                <a:ext cx="7886700" cy="2869731"/>
              </a:xfrm>
              <a:blipFill>
                <a:blip r:embed="rId2"/>
                <a:stretch>
                  <a:fillRect l="-644" t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Queuing Images, Stock Photos &amp; Vectors | Shutterstock">
            <a:extLst>
              <a:ext uri="{FF2B5EF4-FFF2-40B4-BE49-F238E27FC236}">
                <a16:creationId xmlns:a16="http://schemas.microsoft.com/office/drawing/2014/main" id="{905114BA-AA9D-DA4F-9521-805972E9EC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991224" y="1424676"/>
            <a:ext cx="5161550" cy="170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6D96D33-9241-D347-858D-C4E7ECCF51D7}"/>
              </a:ext>
            </a:extLst>
          </p:cNvPr>
          <p:cNvSpPr txBox="1"/>
          <p:nvPr/>
        </p:nvSpPr>
        <p:spPr>
          <a:xfrm>
            <a:off x="4252842" y="6645275"/>
            <a:ext cx="63831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shutterstock.com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11433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6E07E-D083-3E49-AB76-2243D342C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Little’s Law Applied to Queues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6DC4CE-2CFE-AD4F-9C0E-57A6BFDA85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429000"/>
                <a:ext cx="7886700" cy="3216275"/>
              </a:xfrm>
            </p:spPr>
            <p:txBody>
              <a:bodyPr/>
              <a:lstStyle/>
              <a:p>
                <a:r>
                  <a:rPr lang="en-US" sz="1800" dirty="0"/>
                  <a:t>Average number of request in system is equal to average number of request waiting in queue plus average number of requests in server (i.e., utilization)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b>
                        </m:sSub>
                        <m:r>
                          <a:rPr lang="en-US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800" dirty="0"/>
                  <a:t>Average time of request in system is equal to average time of request in queue plus average service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b>
                        </m:sSub>
                        <m:r>
                          <a:rPr lang="en-US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800" dirty="0"/>
                  <a:t>Little’s law implies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×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00" dirty="0"/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latin typeface="Cambria Math" panose="02040503050406030204" pitchFamily="18" charset="0"/>
                          </a:rPr>
                          <m:t> × </m:t>
                        </m:r>
                        <m:r>
                          <a:rPr lang="en-US" sz="160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60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6DC4CE-2CFE-AD4F-9C0E-57A6BFDA85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429000"/>
                <a:ext cx="7886700" cy="3216275"/>
              </a:xfrm>
              <a:blipFill>
                <a:blip r:embed="rId2"/>
                <a:stretch>
                  <a:fillRect l="-482" t="-1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D02580B9-D603-FF40-9AEB-E8DE7D806D84}"/>
              </a:ext>
            </a:extLst>
          </p:cNvPr>
          <p:cNvSpPr/>
          <p:nvPr/>
        </p:nvSpPr>
        <p:spPr>
          <a:xfrm>
            <a:off x="2834635" y="2144532"/>
            <a:ext cx="1559061" cy="423104"/>
          </a:xfrm>
          <a:prstGeom prst="rect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  Queue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31E60B-3A6D-E542-AE6C-BD5925BCFA0D}"/>
              </a:ext>
            </a:extLst>
          </p:cNvPr>
          <p:cNvCxnSpPr>
            <a:cxnSpLocks/>
          </p:cNvCxnSpPr>
          <p:nvPr/>
        </p:nvCxnSpPr>
        <p:spPr>
          <a:xfrm>
            <a:off x="4087342" y="2144532"/>
            <a:ext cx="0" cy="423104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032149A-2660-284B-9CEF-C2080FEA1DC2}"/>
              </a:ext>
            </a:extLst>
          </p:cNvPr>
          <p:cNvCxnSpPr>
            <a:cxnSpLocks/>
          </p:cNvCxnSpPr>
          <p:nvPr/>
        </p:nvCxnSpPr>
        <p:spPr>
          <a:xfrm>
            <a:off x="3841049" y="2144532"/>
            <a:ext cx="0" cy="423104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63E06E3B-5FA3-0749-9E8C-439DDAA03BC9}"/>
              </a:ext>
            </a:extLst>
          </p:cNvPr>
          <p:cNvSpPr/>
          <p:nvPr/>
        </p:nvSpPr>
        <p:spPr>
          <a:xfrm>
            <a:off x="4835421" y="1963755"/>
            <a:ext cx="784801" cy="784658"/>
          </a:xfrm>
          <a:prstGeom prst="ellips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Server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65B3731-D845-E940-B561-E8399A51946D}"/>
              </a:ext>
            </a:extLst>
          </p:cNvPr>
          <p:cNvCxnSpPr>
            <a:cxnSpLocks/>
            <a:stCxn id="13" idx="3"/>
            <a:endCxn id="6" idx="1"/>
          </p:cNvCxnSpPr>
          <p:nvPr/>
        </p:nvCxnSpPr>
        <p:spPr>
          <a:xfrm flipV="1">
            <a:off x="2425977" y="2356084"/>
            <a:ext cx="408658" cy="1539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EF975B-4876-4144-8E0C-B0D49C90D90A}"/>
              </a:ext>
            </a:extLst>
          </p:cNvPr>
          <p:cNvCxnSpPr>
            <a:cxnSpLocks/>
            <a:stCxn id="6" idx="3"/>
            <a:endCxn id="9" idx="2"/>
          </p:cNvCxnSpPr>
          <p:nvPr/>
        </p:nvCxnSpPr>
        <p:spPr>
          <a:xfrm>
            <a:off x="4393696" y="2356084"/>
            <a:ext cx="44172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D10826-E034-954B-A6E6-3645ABB89203}"/>
              </a:ext>
            </a:extLst>
          </p:cNvPr>
          <p:cNvCxnSpPr>
            <a:cxnSpLocks/>
            <a:stCxn id="9" idx="6"/>
            <a:endCxn id="14" idx="1"/>
          </p:cNvCxnSpPr>
          <p:nvPr/>
        </p:nvCxnSpPr>
        <p:spPr>
          <a:xfrm>
            <a:off x="5620222" y="2356084"/>
            <a:ext cx="381235" cy="1539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9FBA14-CB31-A940-87BD-7ADCC8FB00F0}"/>
              </a:ext>
            </a:extLst>
          </p:cNvPr>
          <p:cNvSpPr txBox="1"/>
          <p:nvPr/>
        </p:nvSpPr>
        <p:spPr>
          <a:xfrm>
            <a:off x="1552083" y="2185269"/>
            <a:ext cx="873894" cy="3724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Arrivals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39DAAB-F1BA-D340-B767-CEEDD00F4B6D}"/>
              </a:ext>
            </a:extLst>
          </p:cNvPr>
          <p:cNvSpPr txBox="1"/>
          <p:nvPr/>
        </p:nvSpPr>
        <p:spPr>
          <a:xfrm>
            <a:off x="6001457" y="2185269"/>
            <a:ext cx="1226272" cy="3724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Departures</a:t>
            </a:r>
          </a:p>
        </p:txBody>
      </p:sp>
    </p:spTree>
    <p:extLst>
      <p:ext uri="{BB962C8B-B14F-4D97-AF65-F5344CB8AC3E}">
        <p14:creationId xmlns:p14="http://schemas.microsoft.com/office/powerpoint/2010/main" val="134415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4FFF5E2-18E5-534F-B004-EE397CCC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ko-KR" dirty="0"/>
              <a:t>A Little Queuing Theory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7507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676400"/>
                <a:ext cx="7886700" cy="4968875"/>
              </a:xfrm>
            </p:spPr>
            <p:txBody>
              <a:bodyPr>
                <a:noAutofit/>
              </a:bodyPr>
              <a:lstStyle/>
              <a:p>
                <a:r>
                  <a:rPr lang="en-US" altLang="ko-KR" sz="1800" dirty="0"/>
                  <a:t>Assumptions</a:t>
                </a:r>
              </a:p>
              <a:p>
                <a:pPr lvl="1"/>
                <a:r>
                  <a:rPr lang="en-US" altLang="ko-KR" sz="1600" dirty="0"/>
                  <a:t>System is 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stable</a:t>
                </a:r>
                <a:r>
                  <a:rPr lang="en-US" altLang="ko-KR" sz="1600" dirty="0"/>
                  <a:t> and 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stationary</a:t>
                </a:r>
                <a:r>
                  <a:rPr lang="en-US" altLang="ko-KR" sz="1600" dirty="0"/>
                  <a:t> and there is no limit to size of queue</a:t>
                </a:r>
              </a:p>
              <a:p>
                <a:pPr lvl="1"/>
                <a:r>
                  <a:rPr lang="en-US" altLang="ko-KR" sz="1600" dirty="0"/>
                  <a:t>Time between successive arrivals is 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random</a:t>
                </a:r>
                <a:r>
                  <a:rPr lang="en-US" altLang="ko-KR" sz="1600" dirty="0"/>
                  <a:t> and 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memoryless</a:t>
                </a:r>
              </a:p>
              <a:p>
                <a:r>
                  <a:rPr lang="en-US" altLang="ko-KR" sz="1800" dirty="0"/>
                  <a:t>Parameters that describe our system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</m:t>
                    </m:r>
                  </m:oMath>
                </a14:m>
                <a:r>
                  <a:rPr lang="en-US" altLang="ko-KR" sz="1600" dirty="0">
                    <a:sym typeface="Symbol" panose="05050102010706020507" pitchFamily="18" charset="2"/>
                  </a:rPr>
                  <a:t>: </a:t>
                </a:r>
                <a:r>
                  <a:rPr lang="en-US" altLang="ko-KR" sz="1600" dirty="0"/>
                  <a:t>arrival rate (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ko-KR" sz="1400" b="0" i="1" baseline="-25000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altLang="ko-KR" sz="16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l-GR" altLang="en-US" sz="16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600" dirty="0"/>
                  <a:t>: service rate (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ko-KR" sz="1400" b="0" i="1" baseline="-2500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altLang="ko-KR" sz="16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dirty="0"/>
                  <a:t>: SCV of service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altLang="ko-KR" sz="1600" dirty="0"/>
                  <a:t>: utilization (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</m:t>
                    </m:r>
                    <m:r>
                      <a:rPr lang="en-US" altLang="ko-KR" sz="1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l-GR" altLang="en-US" sz="1400" i="1" dirty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en-US" sz="1600" dirty="0"/>
                  <a:t>)</a:t>
                </a:r>
                <a:endParaRPr lang="en-US" altLang="ko-KR" sz="1600" dirty="0"/>
              </a:p>
              <a:p>
                <a:r>
                  <a:rPr lang="en-US" altLang="ko-KR" sz="1800" dirty="0"/>
                  <a:t>Parameters we wish to compute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600" dirty="0"/>
                  <a:t>: average time spent waiting in queue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600" dirty="0"/>
                  <a:t>: average length of queue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ko-KR" sz="1400" i="1" dirty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 × </m:t>
                    </m:r>
                    <m:sSub>
                      <m:sSubPr>
                        <m:ctrlPr>
                          <a:rPr lang="en-US" altLang="ko-KR" sz="1400" b="0" i="1" dirty="0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𝑊</m:t>
                        </m:r>
                      </m:e>
                      <m:sub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600" dirty="0"/>
                  <a:t> (by Little’s law)</a:t>
                </a:r>
              </a:p>
              <a:p>
                <a:r>
                  <a:rPr lang="en-US" altLang="ko-KR" sz="1800" dirty="0"/>
                  <a:t>Important results for 1 server</a:t>
                </a:r>
              </a:p>
              <a:p>
                <a:pPr lvl="1"/>
                <a:r>
                  <a:rPr lang="en-US" altLang="ko-KR" sz="1600" dirty="0"/>
                  <a:t>Memoryless service time distribution (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M/M/1 queue</a:t>
                </a:r>
                <a:r>
                  <a:rPr lang="en-US" altLang="ko-KR" sz="1600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</m:oMath>
                </a14:m>
                <a:endParaRPr lang="en-US" altLang="ko-KR" sz="1400" dirty="0"/>
              </a:p>
              <a:p>
                <a:pPr lvl="1"/>
                <a:r>
                  <a:rPr lang="en-US" altLang="ko-KR" sz="1600" dirty="0"/>
                  <a:t>General service time distribution (</a:t>
                </a:r>
                <a:r>
                  <a:rPr lang="en-US" altLang="ko-KR" sz="1600" dirty="0">
                    <a:solidFill>
                      <a:srgbClr val="FF0000"/>
                    </a:solidFill>
                  </a:rPr>
                  <a:t>M/G/1 queue</a:t>
                </a:r>
                <a:r>
                  <a:rPr lang="en-US" altLang="ko-KR" sz="1600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91750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76400"/>
                <a:ext cx="7886700" cy="4968875"/>
              </a:xfrm>
              <a:blipFill>
                <a:blip r:embed="rId3"/>
                <a:stretch>
                  <a:fillRect l="-482" t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A4FF788C-E5C9-7D4B-BB70-7A7FAD9BAC2B}"/>
              </a:ext>
            </a:extLst>
          </p:cNvPr>
          <p:cNvGrpSpPr>
            <a:grpSpLocks/>
          </p:cNvGrpSpPr>
          <p:nvPr/>
        </p:nvGrpSpPr>
        <p:grpSpPr bwMode="auto">
          <a:xfrm>
            <a:off x="5784847" y="2698488"/>
            <a:ext cx="2730499" cy="3033573"/>
            <a:chOff x="5559419" y="-125414"/>
            <a:chExt cx="3003551" cy="3336928"/>
          </a:xfrm>
        </p:grpSpPr>
        <p:grpSp>
          <p:nvGrpSpPr>
            <p:cNvPr id="20" name="Group 53">
              <a:extLst>
                <a:ext uri="{FF2B5EF4-FFF2-40B4-BE49-F238E27FC236}">
                  <a16:creationId xmlns:a16="http://schemas.microsoft.com/office/drawing/2014/main" id="{DBB7F374-5D92-0B4B-A878-8E86D15D5C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9419" y="-125414"/>
              <a:ext cx="3003551" cy="3336928"/>
              <a:chOff x="3502" y="-79"/>
              <a:chExt cx="1892" cy="2102"/>
            </a:xfrm>
          </p:grpSpPr>
          <p:sp>
            <p:nvSpPr>
              <p:cNvPr id="22" name="Rectangle 4">
                <a:extLst>
                  <a:ext uri="{FF2B5EF4-FFF2-40B4-BE49-F238E27FC236}">
                    <a16:creationId xmlns:a16="http://schemas.microsoft.com/office/drawing/2014/main" id="{5D05F9B7-1C95-E549-BA5E-7BBE4EC5DB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4" y="1255"/>
                <a:ext cx="777" cy="1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3" name="Rectangle 5">
                <a:extLst>
                  <a:ext uri="{FF2B5EF4-FFF2-40B4-BE49-F238E27FC236}">
                    <a16:creationId xmlns:a16="http://schemas.microsoft.com/office/drawing/2014/main" id="{F464F9C8-BF1C-4445-AAC5-A3F55824EF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0" y="1874"/>
                <a:ext cx="294" cy="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100%</a:t>
                </a:r>
              </a:p>
            </p:txBody>
          </p:sp>
          <p:sp>
            <p:nvSpPr>
              <p:cNvPr id="24" name="Line 6">
                <a:extLst>
                  <a:ext uri="{FF2B5EF4-FFF2-40B4-BE49-F238E27FC236}">
                    <a16:creationId xmlns:a16="http://schemas.microsoft.com/office/drawing/2014/main" id="{3FDC3714-73E1-C84D-85A3-E464689948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28" y="425"/>
                <a:ext cx="1" cy="1378"/>
              </a:xfrm>
              <a:prstGeom prst="line">
                <a:avLst/>
              </a:prstGeom>
              <a:noFill/>
              <a:ln w="25400" cap="rnd">
                <a:solidFill>
                  <a:schemeClr val="tx1"/>
                </a:solidFill>
                <a:round/>
                <a:headEnd/>
                <a:tailEnd type="triangle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5" name="Line 7">
                <a:extLst>
                  <a:ext uri="{FF2B5EF4-FFF2-40B4-BE49-F238E27FC236}">
                    <a16:creationId xmlns:a16="http://schemas.microsoft.com/office/drawing/2014/main" id="{1F47830E-4F20-6545-B437-886665152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4" y="1803"/>
                <a:ext cx="1610" cy="0"/>
              </a:xfrm>
              <a:prstGeom prst="line">
                <a:avLst/>
              </a:prstGeom>
              <a:noFill/>
              <a:ln w="25400" cap="rnd">
                <a:solidFill>
                  <a:schemeClr val="tx1"/>
                </a:solidFill>
                <a:round/>
                <a:headEnd/>
                <a:tailEnd type="triangle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algn="ctr"/>
                <a:endParaRPr lang="en-US" sz="12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26" name="Rectangle 8">
                <a:extLst>
                  <a:ext uri="{FF2B5EF4-FFF2-40B4-BE49-F238E27FC236}">
                    <a16:creationId xmlns:a16="http://schemas.microsoft.com/office/drawing/2014/main" id="{EECE0476-5A45-A94D-92A6-42FF34CB8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00" y="1024"/>
                <a:ext cx="948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85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Wait Time in Queue</a:t>
                </a:r>
              </a:p>
            </p:txBody>
          </p:sp>
          <p:sp>
            <p:nvSpPr>
              <p:cNvPr id="27" name="Rectangle 9">
                <a:extLst>
                  <a:ext uri="{FF2B5EF4-FFF2-40B4-BE49-F238E27FC236}">
                    <a16:creationId xmlns:a16="http://schemas.microsoft.com/office/drawing/2014/main" id="{FEAB2AC4-EE0A-1646-BD99-0C55F13A50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86" y="1879"/>
                <a:ext cx="505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85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Utilization</a:t>
                </a:r>
              </a:p>
            </p:txBody>
          </p:sp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32999D20-2A1A-9745-B281-DC1CA13B7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50" y="1874"/>
                <a:ext cx="197" cy="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3500" tIns="25400" rIns="63500" bIns="25400" anchor="ctr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SzTx/>
                </a:pPr>
                <a:r>
                  <a:rPr lang="en-US" sz="12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0%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9">
                    <a:extLst>
                      <a:ext uri="{FF2B5EF4-FFF2-40B4-BE49-F238E27FC236}">
                        <a16:creationId xmlns:a16="http://schemas.microsoft.com/office/drawing/2014/main" id="{4B203C32-64FD-5041-9C4A-DCF9BCF865B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890" y="-79"/>
                    <a:ext cx="1297" cy="554"/>
                  </a:xfrm>
                  <a:prstGeom prst="rect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50000"/>
                      </a:schemeClr>
                    </a:solidFill>
                  </a:ln>
                  <a:extLst>
                    <a:ext uri="{909E8E84-426E-40dd-AFC4-6F175D3DCCD1}">
                      <a14:hiddenFill xmlns="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w="1270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lIns="63500" tIns="25400" rIns="63500" bIns="25400" anchor="ctr">
                    <a:spAutoFit/>
                  </a:bodyPr>
                  <a:lstStyle/>
                  <a:p>
                    <a:pPr algn="ctr">
                      <a:lnSpc>
                        <a:spcPct val="85000"/>
                      </a:lnSpc>
                    </a:pPr>
                    <a: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  <a:t>Why does </a:t>
                    </a:r>
                    <a14:m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  <a:ea typeface="Gill Sans" charset="0"/>
                            <a:cs typeface="Gill Sans Light" panose="020B0302020104020203" pitchFamily="34" charset="-79"/>
                          </a:rPr>
                          <m:t>𝑊</m:t>
                        </m:r>
                      </m:oMath>
                    </a14:m>
                    <a: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  <a:t> grow </a:t>
                    </a:r>
                    <a:b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</a:br>
                    <a: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  <a:t>unboundedly </a:t>
                    </a:r>
                    <a:b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</a:br>
                    <a: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  <a:t>even though </a:t>
                    </a:r>
                    <a14:m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  <a:ea typeface="Gill Sans" charset="0"/>
                            <a:cs typeface="Gill Sans Light" panose="020B0302020104020203" pitchFamily="34" charset="-79"/>
                          </a:rPr>
                          <m:t>𝜌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  <a:ea typeface="Gill Sans" charset="0"/>
                            <a:cs typeface="Gill Sans Light" panose="020B0302020104020203" pitchFamily="34" charset="-79"/>
                          </a:rPr>
                          <m:t>&lt;1</m:t>
                        </m:r>
                      </m:oMath>
                    </a14:m>
                    <a:r>
                      <a:rPr lang="en-US" sz="1400" dirty="0">
                        <a:latin typeface="Gill Sans Light" panose="020B0302020104020203" pitchFamily="34" charset="-79"/>
                        <a:ea typeface="Gill Sans" charset="0"/>
                        <a:cs typeface="Gill Sans Light" panose="020B0302020104020203" pitchFamily="34" charset="-79"/>
                      </a:rPr>
                      <a:t>?</a:t>
                    </a:r>
                  </a:p>
                </p:txBody>
              </p:sp>
            </mc:Choice>
            <mc:Fallback xmlns="">
              <p:sp>
                <p:nvSpPr>
                  <p:cNvPr id="29" name="Rectangle 9">
                    <a:extLst>
                      <a:ext uri="{FF2B5EF4-FFF2-40B4-BE49-F238E27FC236}">
                        <a16:creationId xmlns:a16="http://schemas.microsoft.com/office/drawing/2014/main" id="{4B203C32-64FD-5041-9C4A-DCF9BCF865B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890" y="-79"/>
                    <a:ext cx="1297" cy="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19050">
                    <a:solidFill>
                      <a:schemeClr val="accent6">
                        <a:lumMod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xmlns="" w="1270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1" name="Ink 4">
              <a:extLst>
                <a:ext uri="{FF2B5EF4-FFF2-40B4-BE49-F238E27FC236}">
                  <a16:creationId xmlns:a16="http://schemas.microsoft.com/office/drawing/2014/main" id="{207EAE74-6ECC-E94E-AD10-FD80EFCD9A21}"/>
                </a:ext>
              </a:extLst>
            </p:cNvPr>
            <p:cNvSpPr>
              <a:spLocks noRot="1" noChangeAspect="1" noEditPoints="1" noChangeArrowheads="1" noChangeShapeType="1" noTextEdit="1"/>
            </p:cNvSpPr>
            <p:nvPr/>
          </p:nvSpPr>
          <p:spPr bwMode="auto">
            <a:xfrm>
              <a:off x="5940202" y="942288"/>
              <a:ext cx="2401985" cy="1691729"/>
            </a:xfrm>
            <a:custGeom>
              <a:avLst/>
              <a:gdLst>
                <a:gd name="T0" fmla="*/ 0 w 6060"/>
                <a:gd name="T1" fmla="*/ 2147483647 h 5124"/>
                <a:gd name="T2" fmla="*/ 2147483647 w 6060"/>
                <a:gd name="T3" fmla="*/ 2147483647 h 5124"/>
                <a:gd name="T4" fmla="*/ 2147483647 w 6060"/>
                <a:gd name="T5" fmla="*/ 2147483647 h 5124"/>
                <a:gd name="T6" fmla="*/ 2147483647 w 6060"/>
                <a:gd name="T7" fmla="*/ 2147483647 h 5124"/>
                <a:gd name="T8" fmla="*/ 2147483647 w 6060"/>
                <a:gd name="T9" fmla="*/ 2147483647 h 5124"/>
                <a:gd name="T10" fmla="*/ 2147483647 w 6060"/>
                <a:gd name="T11" fmla="*/ 2147483647 h 5124"/>
                <a:gd name="T12" fmla="*/ 2147483647 w 6060"/>
                <a:gd name="T13" fmla="*/ 2147483647 h 5124"/>
                <a:gd name="T14" fmla="*/ 2147483647 w 6060"/>
                <a:gd name="T15" fmla="*/ 2147483647 h 5124"/>
                <a:gd name="T16" fmla="*/ 2147483647 w 6060"/>
                <a:gd name="T17" fmla="*/ 2147483647 h 5124"/>
                <a:gd name="T18" fmla="*/ 2147483647 w 6060"/>
                <a:gd name="T19" fmla="*/ 2147483647 h 5124"/>
                <a:gd name="T20" fmla="*/ 2147483647 w 6060"/>
                <a:gd name="T21" fmla="*/ 2147483647 h 5124"/>
                <a:gd name="T22" fmla="*/ 2147483647 w 6060"/>
                <a:gd name="T23" fmla="*/ 2147483647 h 5124"/>
                <a:gd name="T24" fmla="*/ 2147483647 w 6060"/>
                <a:gd name="T25" fmla="*/ 2147483647 h 5124"/>
                <a:gd name="T26" fmla="*/ 2147483647 w 6060"/>
                <a:gd name="T27" fmla="*/ 2147483647 h 5124"/>
                <a:gd name="T28" fmla="*/ 2147483647 w 6060"/>
                <a:gd name="T29" fmla="*/ 2147483647 h 5124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0" t="0" r="r" b="b"/>
              <a:pathLst>
                <a:path w="6060" h="5124" extrusionOk="0">
                  <a:moveTo>
                    <a:pt x="0" y="5121"/>
                  </a:moveTo>
                  <a:cubicBezTo>
                    <a:pt x="155" y="5108"/>
                    <a:pt x="312" y="5103"/>
                    <a:pt x="468" y="5091"/>
                  </a:cubicBezTo>
                  <a:cubicBezTo>
                    <a:pt x="775" y="5068"/>
                    <a:pt x="1136" y="5060"/>
                    <a:pt x="1422" y="4946"/>
                  </a:cubicBezTo>
                  <a:cubicBezTo>
                    <a:pt x="1613" y="4870"/>
                    <a:pt x="1803" y="4774"/>
                    <a:pt x="1993" y="4691"/>
                  </a:cubicBezTo>
                  <a:cubicBezTo>
                    <a:pt x="2188" y="4606"/>
                    <a:pt x="2378" y="4519"/>
                    <a:pt x="2557" y="4404"/>
                  </a:cubicBezTo>
                  <a:cubicBezTo>
                    <a:pt x="2805" y="4245"/>
                    <a:pt x="3071" y="4125"/>
                    <a:pt x="3320" y="3970"/>
                  </a:cubicBezTo>
                  <a:cubicBezTo>
                    <a:pt x="3491" y="3864"/>
                    <a:pt x="3649" y="3748"/>
                    <a:pt x="3823" y="3647"/>
                  </a:cubicBezTo>
                  <a:cubicBezTo>
                    <a:pt x="4041" y="3520"/>
                    <a:pt x="4219" y="3329"/>
                    <a:pt x="4391" y="3143"/>
                  </a:cubicBezTo>
                  <a:cubicBezTo>
                    <a:pt x="4539" y="2984"/>
                    <a:pt x="4704" y="2844"/>
                    <a:pt x="4832" y="2666"/>
                  </a:cubicBezTo>
                  <a:cubicBezTo>
                    <a:pt x="4927" y="2534"/>
                    <a:pt x="4999" y="2388"/>
                    <a:pt x="5087" y="2251"/>
                  </a:cubicBezTo>
                  <a:cubicBezTo>
                    <a:pt x="5165" y="2130"/>
                    <a:pt x="5236" y="2017"/>
                    <a:pt x="5299" y="1888"/>
                  </a:cubicBezTo>
                  <a:cubicBezTo>
                    <a:pt x="5421" y="1641"/>
                    <a:pt x="5529" y="1391"/>
                    <a:pt x="5657" y="1147"/>
                  </a:cubicBezTo>
                  <a:cubicBezTo>
                    <a:pt x="5835" y="809"/>
                    <a:pt x="5882" y="475"/>
                    <a:pt x="5999" y="122"/>
                  </a:cubicBezTo>
                  <a:cubicBezTo>
                    <a:pt x="6013" y="79"/>
                    <a:pt x="6041" y="17"/>
                    <a:pt x="6047" y="1"/>
                  </a:cubicBezTo>
                  <a:cubicBezTo>
                    <a:pt x="6051" y="2"/>
                    <a:pt x="6055" y="3"/>
                    <a:pt x="6059" y="4"/>
                  </a:cubicBezTo>
                </a:path>
              </a:pathLst>
            </a:custGeom>
            <a:noFill/>
            <a:ln w="254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F1A2DB3-50F1-124F-B548-6F935028F761}"/>
              </a:ext>
            </a:extLst>
          </p:cNvPr>
          <p:cNvGrpSpPr/>
          <p:nvPr/>
        </p:nvGrpSpPr>
        <p:grpSpPr>
          <a:xfrm>
            <a:off x="6547236" y="3498012"/>
            <a:ext cx="807519" cy="2904081"/>
            <a:chOff x="6547236" y="3498012"/>
            <a:chExt cx="807519" cy="290408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AA6B9A8-BBE4-6945-A300-223066CE1F92}"/>
                </a:ext>
              </a:extLst>
            </p:cNvPr>
            <p:cNvSpPr/>
            <p:nvPr/>
          </p:nvSpPr>
          <p:spPr>
            <a:xfrm>
              <a:off x="6547236" y="5675628"/>
              <a:ext cx="421244" cy="421244"/>
            </a:xfrm>
            <a:prstGeom prst="ellipse">
              <a:avLst/>
            </a:prstGeom>
            <a:noFill/>
            <a:ln w="28575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5C92B0A-CBCD-474C-BF4D-CF96538F8237}"/>
                </a:ext>
              </a:extLst>
            </p:cNvPr>
            <p:cNvSpPr/>
            <p:nvPr/>
          </p:nvSpPr>
          <p:spPr>
            <a:xfrm>
              <a:off x="6933511" y="5980849"/>
              <a:ext cx="421244" cy="421244"/>
            </a:xfrm>
            <a:prstGeom prst="ellipse">
              <a:avLst/>
            </a:prstGeom>
            <a:noFill/>
            <a:ln w="28575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0D2E701-58C7-2D4F-ABEA-C55A7272470B}"/>
                </a:ext>
              </a:extLst>
            </p:cNvPr>
            <p:cNvCxnSpPr>
              <a:cxnSpLocks/>
              <a:stCxn id="29" idx="2"/>
              <a:endCxn id="10" idx="0"/>
            </p:cNvCxnSpPr>
            <p:nvPr/>
          </p:nvCxnSpPr>
          <p:spPr>
            <a:xfrm flipH="1">
              <a:off x="6757858" y="3498012"/>
              <a:ext cx="522846" cy="2177616"/>
            </a:xfrm>
            <a:prstGeom prst="straightConnector1">
              <a:avLst/>
            </a:prstGeom>
            <a:ln w="22225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CAE3B5F-1959-CC48-AEDE-688BCA4A5D16}"/>
                </a:ext>
              </a:extLst>
            </p:cNvPr>
            <p:cNvCxnSpPr>
              <a:cxnSpLocks/>
              <a:stCxn id="29" idx="2"/>
              <a:endCxn id="31" idx="0"/>
            </p:cNvCxnSpPr>
            <p:nvPr/>
          </p:nvCxnSpPr>
          <p:spPr>
            <a:xfrm flipH="1">
              <a:off x="7144133" y="3498012"/>
              <a:ext cx="136571" cy="2482837"/>
            </a:xfrm>
            <a:prstGeom prst="straightConnector1">
              <a:avLst/>
            </a:prstGeom>
            <a:ln w="22225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8428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7507" grpId="0" uiExpand="1" build="p" autoUpdateAnimBg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A6F5A-D80F-214D-837E-CDBC026EB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Unbounded Response 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BC6839-1991-8E40-B643-BE9A834FA9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000" dirty="0"/>
                  <a:t>Assume deterministic arrival and service times</a:t>
                </a:r>
              </a:p>
              <a:p>
                <a:pPr lvl="1"/>
                <a:r>
                  <a:rPr lang="en-US" sz="1800" dirty="0"/>
                  <a:t>It is possible to sustain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800" dirty="0"/>
                  <a:t> with bounded response time!</a:t>
                </a:r>
              </a:p>
              <a:p>
                <a:pPr lvl="1"/>
                <a:endParaRPr lang="en-US" sz="18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r>
                  <a:rPr lang="en-US" sz="2000" dirty="0"/>
                  <a:t>Assume stochastic arrival process (and service time)</a:t>
                </a:r>
              </a:p>
              <a:p>
                <a:pPr lvl="1"/>
                <a:r>
                  <a:rPr lang="en-US" sz="1800" dirty="0"/>
                  <a:t>No longer possible to achieve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BC6839-1991-8E40-B643-BE9A834FA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4" t="-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C89FC6D7-07AF-B649-A048-11D3675D006F}"/>
              </a:ext>
            </a:extLst>
          </p:cNvPr>
          <p:cNvGrpSpPr/>
          <p:nvPr/>
        </p:nvGrpSpPr>
        <p:grpSpPr>
          <a:xfrm>
            <a:off x="1461108" y="2475693"/>
            <a:ext cx="6221352" cy="1086855"/>
            <a:chOff x="1461108" y="2475693"/>
            <a:chExt cx="6221352" cy="108685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28EB03F-19DC-234A-881B-57FBE2E1B962}"/>
                </a:ext>
              </a:extLst>
            </p:cNvPr>
            <p:cNvGrpSpPr/>
            <p:nvPr/>
          </p:nvGrpSpPr>
          <p:grpSpPr>
            <a:xfrm>
              <a:off x="1613940" y="2475693"/>
              <a:ext cx="6068520" cy="307848"/>
              <a:chOff x="1613940" y="4035552"/>
              <a:chExt cx="6068520" cy="30784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DE60119-9FA8-D340-929B-BAAD5FC3B742}"/>
                  </a:ext>
                </a:extLst>
              </p:cNvPr>
              <p:cNvCxnSpPr/>
              <p:nvPr/>
            </p:nvCxnSpPr>
            <p:spPr bwMode="auto">
              <a:xfrm>
                <a:off x="1613940" y="4343400"/>
                <a:ext cx="6068520" cy="0"/>
              </a:xfrm>
              <a:prstGeom prst="line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FD1F32-F1B4-6A44-8B53-9E7351BA7975}"/>
                  </a:ext>
                </a:extLst>
              </p:cNvPr>
              <p:cNvSpPr txBox="1"/>
              <p:nvPr/>
            </p:nvSpPr>
            <p:spPr>
              <a:xfrm>
                <a:off x="7047655" y="4035552"/>
                <a:ext cx="54534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A342098-50AB-E944-9F80-39DA8A1D4758}"/>
                </a:ext>
              </a:extLst>
            </p:cNvPr>
            <p:cNvGrpSpPr/>
            <p:nvPr/>
          </p:nvGrpSpPr>
          <p:grpSpPr>
            <a:xfrm>
              <a:off x="1461108" y="2900746"/>
              <a:ext cx="5434477" cy="661802"/>
              <a:chOff x="1461108" y="2900746"/>
              <a:chExt cx="5434477" cy="66180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4C761EA-0E95-EF46-97BD-4A5D2E892085}"/>
                  </a:ext>
                </a:extLst>
              </p:cNvPr>
              <p:cNvSpPr/>
              <p:nvPr/>
            </p:nvSpPr>
            <p:spPr bwMode="auto">
              <a:xfrm>
                <a:off x="2363391" y="2900746"/>
                <a:ext cx="648000" cy="229001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127906B-14EB-9248-853E-81651EC34B6E}"/>
                  </a:ext>
                </a:extLst>
              </p:cNvPr>
              <p:cNvGrpSpPr/>
              <p:nvPr/>
            </p:nvGrpSpPr>
            <p:grpSpPr>
              <a:xfrm>
                <a:off x="3007585" y="2900746"/>
                <a:ext cx="3888000" cy="229001"/>
                <a:chOff x="3007585" y="4460605"/>
                <a:chExt cx="3888000" cy="229001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62FBBBE5-6B75-B84C-A617-41201431D981}"/>
                    </a:ext>
                  </a:extLst>
                </p:cNvPr>
                <p:cNvSpPr/>
                <p:nvPr/>
              </p:nvSpPr>
              <p:spPr bwMode="auto">
                <a:xfrm>
                  <a:off x="6247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FFE83D60-09A3-7343-9881-9ADE821FC1D1}"/>
                    </a:ext>
                  </a:extLst>
                </p:cNvPr>
                <p:cNvSpPr/>
                <p:nvPr/>
              </p:nvSpPr>
              <p:spPr bwMode="auto">
                <a:xfrm>
                  <a:off x="5599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0554671-1CE4-CE43-8C48-942F1397E55D}"/>
                    </a:ext>
                  </a:extLst>
                </p:cNvPr>
                <p:cNvSpPr/>
                <p:nvPr/>
              </p:nvSpPr>
              <p:spPr bwMode="auto">
                <a:xfrm>
                  <a:off x="4951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A23526DD-C831-1D4E-887F-1AD1220476CE}"/>
                    </a:ext>
                  </a:extLst>
                </p:cNvPr>
                <p:cNvSpPr/>
                <p:nvPr/>
              </p:nvSpPr>
              <p:spPr bwMode="auto">
                <a:xfrm>
                  <a:off x="4303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B1461C9-FE16-C240-ACBF-9D57DD1290CD}"/>
                    </a:ext>
                  </a:extLst>
                </p:cNvPr>
                <p:cNvSpPr/>
                <p:nvPr/>
              </p:nvSpPr>
              <p:spPr bwMode="auto">
                <a:xfrm>
                  <a:off x="3655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BC6E2387-EEE7-3842-BE46-DDBB93B01085}"/>
                    </a:ext>
                  </a:extLst>
                </p:cNvPr>
                <p:cNvSpPr/>
                <p:nvPr/>
              </p:nvSpPr>
              <p:spPr bwMode="auto">
                <a:xfrm>
                  <a:off x="3007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E592B513-99B7-8244-ABAD-70B25F45928B}"/>
                  </a:ext>
                </a:extLst>
              </p:cNvPr>
              <p:cNvGrpSpPr/>
              <p:nvPr/>
            </p:nvGrpSpPr>
            <p:grpSpPr>
              <a:xfrm>
                <a:off x="1461108" y="3172702"/>
                <a:ext cx="2432845" cy="389846"/>
                <a:chOff x="1461108" y="4732561"/>
                <a:chExt cx="2432845" cy="389846"/>
              </a:xfrm>
            </p:grpSpPr>
            <p:sp>
              <p:nvSpPr>
                <p:cNvPr id="19" name="Left Brace 18">
                  <a:extLst>
                    <a:ext uri="{FF2B5EF4-FFF2-40B4-BE49-F238E27FC236}">
                      <a16:creationId xmlns:a16="http://schemas.microsoft.com/office/drawing/2014/main" id="{A5652C48-A40F-704A-9860-A3E008FF17C3}"/>
                    </a:ext>
                  </a:extLst>
                </p:cNvPr>
                <p:cNvSpPr/>
                <p:nvPr/>
              </p:nvSpPr>
              <p:spPr bwMode="auto">
                <a:xfrm rot="16200000">
                  <a:off x="2610805" y="4495989"/>
                  <a:ext cx="141942" cy="615086"/>
                </a:xfrm>
                <a:prstGeom prst="leftBrace">
                  <a:avLst>
                    <a:gd name="adj1" fmla="val 37179"/>
                    <a:gd name="adj2" fmla="val 50000"/>
                  </a:avLst>
                </a:prstGeom>
                <a:noFill/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A699D2A-1180-3147-B480-14D015128565}"/>
                    </a:ext>
                  </a:extLst>
                </p:cNvPr>
                <p:cNvSpPr txBox="1"/>
                <p:nvPr/>
              </p:nvSpPr>
              <p:spPr>
                <a:xfrm>
                  <a:off x="1461108" y="4814630"/>
                  <a:ext cx="243284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Gill Sans Light" panose="020B0302020104020203" pitchFamily="34" charset="-79"/>
                      <a:ea typeface="Gill Sans" charset="0"/>
                      <a:cs typeface="Gill Sans Light" panose="020B0302020104020203" pitchFamily="34" charset="-79"/>
                    </a:rPr>
                    <a:t>Service time = inter-arrival time</a:t>
                  </a:r>
                </a:p>
              </p:txBody>
            </p:sp>
          </p:grp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813482C-A9AC-5447-BE2F-EC953CB7F04E}"/>
              </a:ext>
            </a:extLst>
          </p:cNvPr>
          <p:cNvGrpSpPr/>
          <p:nvPr/>
        </p:nvGrpSpPr>
        <p:grpSpPr>
          <a:xfrm>
            <a:off x="1613940" y="5084781"/>
            <a:ext cx="6068520" cy="1382753"/>
            <a:chOff x="1613940" y="2475693"/>
            <a:chExt cx="6068520" cy="1382753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6C205C87-D415-734A-8334-3F371BE7CC12}"/>
                </a:ext>
              </a:extLst>
            </p:cNvPr>
            <p:cNvGrpSpPr/>
            <p:nvPr/>
          </p:nvGrpSpPr>
          <p:grpSpPr>
            <a:xfrm>
              <a:off x="1613940" y="2475693"/>
              <a:ext cx="6068520" cy="307848"/>
              <a:chOff x="1613940" y="4035552"/>
              <a:chExt cx="6068520" cy="307848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A21277E9-DD35-0248-8836-3CBD17F855CB}"/>
                  </a:ext>
                </a:extLst>
              </p:cNvPr>
              <p:cNvCxnSpPr/>
              <p:nvPr/>
            </p:nvCxnSpPr>
            <p:spPr bwMode="auto">
              <a:xfrm>
                <a:off x="1613940" y="4343400"/>
                <a:ext cx="6068520" cy="0"/>
              </a:xfrm>
              <a:prstGeom prst="line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7CC472A-2C05-0B44-B844-ADB39A5912E8}"/>
                  </a:ext>
                </a:extLst>
              </p:cNvPr>
              <p:cNvSpPr txBox="1"/>
              <p:nvPr/>
            </p:nvSpPr>
            <p:spPr>
              <a:xfrm>
                <a:off x="7047655" y="4035552"/>
                <a:ext cx="54534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277AD43-AF8D-DF48-9527-BC4ECD185B99}"/>
                </a:ext>
              </a:extLst>
            </p:cNvPr>
            <p:cNvGrpSpPr/>
            <p:nvPr/>
          </p:nvGrpSpPr>
          <p:grpSpPr>
            <a:xfrm>
              <a:off x="1999340" y="2900746"/>
              <a:ext cx="5237621" cy="957700"/>
              <a:chOff x="1999340" y="2900746"/>
              <a:chExt cx="5237621" cy="957700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58EF48C-0CA6-1C47-B675-E614C14B3EDE}"/>
                  </a:ext>
                </a:extLst>
              </p:cNvPr>
              <p:cNvSpPr/>
              <p:nvPr/>
            </p:nvSpPr>
            <p:spPr bwMode="auto">
              <a:xfrm>
                <a:off x="1999340" y="2900746"/>
                <a:ext cx="648000" cy="229001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316F6FE-B680-D343-887A-B5846E5E4998}"/>
                  </a:ext>
                </a:extLst>
              </p:cNvPr>
              <p:cNvGrpSpPr/>
              <p:nvPr/>
            </p:nvGrpSpPr>
            <p:grpSpPr>
              <a:xfrm>
                <a:off x="2374233" y="2900746"/>
                <a:ext cx="4862728" cy="957700"/>
                <a:chOff x="2374233" y="4460605"/>
                <a:chExt cx="4862728" cy="957700"/>
              </a:xfrm>
            </p:grpSpPr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AC00E073-4FF7-4D4E-B645-D5019EA6B44D}"/>
                    </a:ext>
                  </a:extLst>
                </p:cNvPr>
                <p:cNvSpPr/>
                <p:nvPr/>
              </p:nvSpPr>
              <p:spPr bwMode="auto">
                <a:xfrm>
                  <a:off x="6588961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0120773B-A830-C349-A704-88195DA5A337}"/>
                    </a:ext>
                  </a:extLst>
                </p:cNvPr>
                <p:cNvSpPr/>
                <p:nvPr/>
              </p:nvSpPr>
              <p:spPr bwMode="auto">
                <a:xfrm>
                  <a:off x="5940961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0164D84E-4F86-E241-8A9A-2FC99E18BA95}"/>
                    </a:ext>
                  </a:extLst>
                </p:cNvPr>
                <p:cNvSpPr/>
                <p:nvPr/>
              </p:nvSpPr>
              <p:spPr bwMode="auto">
                <a:xfrm>
                  <a:off x="5292961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1443DE9D-DFF8-1E49-8C87-F53856736521}"/>
                    </a:ext>
                  </a:extLst>
                </p:cNvPr>
                <p:cNvSpPr/>
                <p:nvPr/>
              </p:nvSpPr>
              <p:spPr bwMode="auto">
                <a:xfrm>
                  <a:off x="430358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F833E52-8022-4148-B0ED-B33D0381AE5F}"/>
                    </a:ext>
                  </a:extLst>
                </p:cNvPr>
                <p:cNvSpPr/>
                <p:nvPr/>
              </p:nvSpPr>
              <p:spPr bwMode="auto">
                <a:xfrm>
                  <a:off x="328982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793313CF-4C0B-9849-89B1-8E1D9F2C0468}"/>
                    </a:ext>
                  </a:extLst>
                </p:cNvPr>
                <p:cNvSpPr/>
                <p:nvPr/>
              </p:nvSpPr>
              <p:spPr bwMode="auto">
                <a:xfrm>
                  <a:off x="2641825" y="4460605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B4EA762-9B00-B342-9E94-16EB4E2169B6}"/>
                    </a:ext>
                  </a:extLst>
                </p:cNvPr>
                <p:cNvSpPr/>
                <p:nvPr/>
              </p:nvSpPr>
              <p:spPr bwMode="auto">
                <a:xfrm>
                  <a:off x="2802777" y="5189304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DC545D43-89D7-BF4A-8C55-FF9176EE335F}"/>
                    </a:ext>
                  </a:extLst>
                </p:cNvPr>
                <p:cNvSpPr/>
                <p:nvPr/>
              </p:nvSpPr>
              <p:spPr bwMode="auto">
                <a:xfrm>
                  <a:off x="2374233" y="4825283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5A3947E7-CDEC-9C46-BAB7-1DBE20A6D64E}"/>
                    </a:ext>
                  </a:extLst>
                </p:cNvPr>
                <p:cNvSpPr/>
                <p:nvPr/>
              </p:nvSpPr>
              <p:spPr bwMode="auto">
                <a:xfrm>
                  <a:off x="4303585" y="4825283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FA561024-624B-D343-AE5B-944F6C3B0EEF}"/>
                    </a:ext>
                  </a:extLst>
                </p:cNvPr>
                <p:cNvSpPr/>
                <p:nvPr/>
              </p:nvSpPr>
              <p:spPr bwMode="auto">
                <a:xfrm>
                  <a:off x="5292961" y="4825283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2CF1B410-FF1C-4149-9A85-FB501D461B11}"/>
                    </a:ext>
                  </a:extLst>
                </p:cNvPr>
                <p:cNvSpPr/>
                <p:nvPr/>
              </p:nvSpPr>
              <p:spPr bwMode="auto">
                <a:xfrm>
                  <a:off x="5365024" y="5189304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12801559-1B4D-F148-9C74-85656FB8C8BA}"/>
                    </a:ext>
                  </a:extLst>
                </p:cNvPr>
                <p:cNvSpPr/>
                <p:nvPr/>
              </p:nvSpPr>
              <p:spPr bwMode="auto">
                <a:xfrm>
                  <a:off x="6140529" y="5189304"/>
                  <a:ext cx="648000" cy="229001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2700" cap="flat" cmpd="sng" algn="ctr">
                  <a:solidFill>
                    <a:schemeClr val="bg1">
                      <a:lumMod val="50000"/>
                    </a:schemeClr>
                  </a:solidFill>
                  <a:prstDash val="lgDash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1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</p:grpSp>
        </p:grp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EBBD6A6-2191-2646-8525-D5AE0502E517}"/>
              </a:ext>
            </a:extLst>
          </p:cNvPr>
          <p:cNvCxnSpPr>
            <a:cxnSpLocks/>
            <a:stCxn id="81" idx="3"/>
            <a:endCxn id="80" idx="1"/>
          </p:cNvCxnSpPr>
          <p:nvPr/>
        </p:nvCxnSpPr>
        <p:spPr bwMode="auto">
          <a:xfrm>
            <a:off x="3937825" y="5624335"/>
            <a:ext cx="365760" cy="0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rgbClr val="FF0000"/>
            </a:solidFill>
            <a:prstDash val="dash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B4C7287-1B2F-B04E-AE49-76A6A7D891C4}"/>
              </a:ext>
            </a:extLst>
          </p:cNvPr>
          <p:cNvCxnSpPr>
            <a:cxnSpLocks/>
            <a:stCxn id="80" idx="3"/>
            <a:endCxn id="79" idx="1"/>
          </p:cNvCxnSpPr>
          <p:nvPr/>
        </p:nvCxnSpPr>
        <p:spPr bwMode="auto">
          <a:xfrm>
            <a:off x="4951585" y="5624335"/>
            <a:ext cx="341376" cy="0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rgbClr val="FF0000"/>
            </a:solidFill>
            <a:prstDash val="dash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4A1A710-8D45-9B4D-ABD3-E706443A527E}"/>
              </a:ext>
            </a:extLst>
          </p:cNvPr>
          <p:cNvCxnSpPr>
            <a:cxnSpLocks/>
            <a:stCxn id="93" idx="2"/>
          </p:cNvCxnSpPr>
          <p:nvPr/>
        </p:nvCxnSpPr>
        <p:spPr bwMode="auto">
          <a:xfrm flipH="1">
            <a:off x="4124260" y="5088886"/>
            <a:ext cx="708044" cy="535449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B1CFBBF-98CC-6F43-9447-6DCDD48C3652}"/>
              </a:ext>
            </a:extLst>
          </p:cNvPr>
          <p:cNvCxnSpPr>
            <a:cxnSpLocks/>
            <a:stCxn id="93" idx="2"/>
          </p:cNvCxnSpPr>
          <p:nvPr/>
        </p:nvCxnSpPr>
        <p:spPr bwMode="auto">
          <a:xfrm>
            <a:off x="4832304" y="5088886"/>
            <a:ext cx="300948" cy="535449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1D36EE2-4509-F845-A25F-C2FB41833E38}"/>
                  </a:ext>
                </a:extLst>
              </p:cNvPr>
              <p:cNvSpPr/>
              <p:nvPr/>
            </p:nvSpPr>
            <p:spPr bwMode="auto">
              <a:xfrm>
                <a:off x="3204395" y="4554074"/>
                <a:ext cx="3255818" cy="53481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 cap="flat" cmpd="sng" algn="ctr">
                <a:solidFill>
                  <a:schemeClr val="accent6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40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This wasted</a:t>
                </a:r>
                <a:r>
                  <a:rPr kumimoji="0" lang="en-US" sz="140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 time can never be reclaimed! </a:t>
                </a:r>
                <a:br>
                  <a:rPr kumimoji="0" lang="en-US" sz="140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</a:br>
                <a:r>
                  <a:rPr kumimoji="0" lang="en-US" sz="140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So we cannot achieve </a:t>
                </a:r>
                <a14:m>
                  <m:oMath xmlns:m="http://schemas.openxmlformats.org/officeDocument/2006/math">
                    <m:r>
                      <a:rPr kumimoji="0" lang="en-US" sz="1400" b="0" i="1" u="none" strike="noStrike" cap="none" normalizeH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Gill Sans" charset="0"/>
                        <a:cs typeface="Gill Sans Light" panose="020B0302020104020203" pitchFamily="34" charset="-79"/>
                      </a:rPr>
                      <m:t>𝜌</m:t>
                    </m:r>
                    <m:r>
                      <a:rPr kumimoji="0" lang="en-US" sz="1400" b="0" i="1" u="none" strike="noStrike" cap="none" normalizeH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Gill Sans" charset="0"/>
                        <a:cs typeface="Gill Sans Light" panose="020B0302020104020203" pitchFamily="34" charset="-79"/>
                      </a:rPr>
                      <m:t>=1</m:t>
                    </m:r>
                  </m:oMath>
                </a14:m>
                <a:r>
                  <a:rPr kumimoji="0" lang="en-US" sz="140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!</a:t>
                </a:r>
                <a:endParaRPr kumimoji="0" lang="en-US" sz="140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mc:Choice>
        <mc:Fallback xmlns="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1D36EE2-4509-F845-A25F-C2FB41833E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4395" y="4554074"/>
                <a:ext cx="3255818" cy="53481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  <a:ln w="28575" cap="flat" cmpd="sng" algn="ctr">
                <a:solidFill>
                  <a:schemeClr val="accent6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599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F55FB-E1EB-464D-8B4E-D165E9A94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How Do Real-world Systems Avoid Unbounded Queueing Delays?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A1797833-42AB-C04B-BC59-6036D6720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solidFill>
                  <a:srgbClr val="FF0000"/>
                </a:solidFill>
              </a:rPr>
              <a:t>Open system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Closed system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Clients adjust request rate based on response time of previous requests</a:t>
            </a:r>
          </a:p>
          <a:p>
            <a:r>
              <a:rPr lang="en-US" sz="2000" dirty="0"/>
              <a:t>As system saturates delay increases, request rate is limited by service rate</a:t>
            </a:r>
          </a:p>
          <a:p>
            <a:r>
              <a:rPr lang="en-US" sz="2000" dirty="0"/>
              <a:t>Many protocols are designed to have </a:t>
            </a:r>
            <a:r>
              <a:rPr lang="en-US" sz="2000" dirty="0">
                <a:solidFill>
                  <a:srgbClr val="FF0000"/>
                </a:solidFill>
              </a:rPr>
              <a:t>self-limited behavior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/>
              <a:t>(e.g., TCP congestion control)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8D3B891-0A91-654A-A7E7-05F224C89B09}"/>
              </a:ext>
            </a:extLst>
          </p:cNvPr>
          <p:cNvGrpSpPr/>
          <p:nvPr/>
        </p:nvGrpSpPr>
        <p:grpSpPr>
          <a:xfrm>
            <a:off x="2906256" y="1902948"/>
            <a:ext cx="3962372" cy="1106559"/>
            <a:chOff x="2457950" y="2322441"/>
            <a:chExt cx="3962372" cy="110655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7A4ABC7-CA3A-1D48-85BD-95074CF93CEF}"/>
                </a:ext>
              </a:extLst>
            </p:cNvPr>
            <p:cNvSpPr/>
            <p:nvPr/>
          </p:nvSpPr>
          <p:spPr>
            <a:xfrm>
              <a:off x="3634735" y="2664168"/>
              <a:ext cx="1559061" cy="423104"/>
            </a:xfrm>
            <a:prstGeom prst="rect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   Queue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04161D4-BAC6-2943-99D0-B2A55B840AA4}"/>
                </a:ext>
              </a:extLst>
            </p:cNvPr>
            <p:cNvCxnSpPr>
              <a:cxnSpLocks/>
            </p:cNvCxnSpPr>
            <p:nvPr/>
          </p:nvCxnSpPr>
          <p:spPr>
            <a:xfrm>
              <a:off x="4887442" y="2664168"/>
              <a:ext cx="0" cy="423104"/>
            </a:xfrm>
            <a:prstGeom prst="line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93C3C2-9545-4844-BA07-13E09DD5A6A6}"/>
                </a:ext>
              </a:extLst>
            </p:cNvPr>
            <p:cNvCxnSpPr>
              <a:cxnSpLocks/>
            </p:cNvCxnSpPr>
            <p:nvPr/>
          </p:nvCxnSpPr>
          <p:spPr>
            <a:xfrm>
              <a:off x="4641149" y="2664168"/>
              <a:ext cx="0" cy="423104"/>
            </a:xfrm>
            <a:prstGeom prst="line">
              <a:avLst/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C701A1F-7664-CC4A-B5FA-CF1F5EC12809}"/>
                </a:ext>
              </a:extLst>
            </p:cNvPr>
            <p:cNvSpPr/>
            <p:nvPr/>
          </p:nvSpPr>
          <p:spPr>
            <a:xfrm>
              <a:off x="5635521" y="2483391"/>
              <a:ext cx="784801" cy="784658"/>
            </a:xfrm>
            <a:prstGeom prst="ellips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Server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252B45B-09B6-8E42-AAE7-8706FE754C8D}"/>
                </a:ext>
              </a:extLst>
            </p:cNvPr>
            <p:cNvCxnSpPr>
              <a:cxnSpLocks/>
            </p:cNvCxnSpPr>
            <p:nvPr/>
          </p:nvCxnSpPr>
          <p:spPr>
            <a:xfrm>
              <a:off x="3120311" y="2871104"/>
              <a:ext cx="514424" cy="92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39C659-76D9-584D-8F9B-06BA5A0A4258}"/>
                </a:ext>
              </a:extLst>
            </p:cNvPr>
            <p:cNvCxnSpPr>
              <a:cxnSpLocks/>
            </p:cNvCxnSpPr>
            <p:nvPr/>
          </p:nvCxnSpPr>
          <p:spPr>
            <a:xfrm>
              <a:off x="5193796" y="2875720"/>
              <a:ext cx="44172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1B03A17-8F88-A54B-8419-CA2A2CE860DD}"/>
                </a:ext>
              </a:extLst>
            </p:cNvPr>
            <p:cNvSpPr txBox="1"/>
            <p:nvPr/>
          </p:nvSpPr>
          <p:spPr>
            <a:xfrm>
              <a:off x="2457950" y="2706443"/>
              <a:ext cx="6623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>
                      <a:lumMod val="10000"/>
                    </a:schemeClr>
                  </a:solidFill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Client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36D6F86-6BFF-C449-BF2A-C6DE1C6DB027}"/>
                </a:ext>
              </a:extLst>
            </p:cNvPr>
            <p:cNvCxnSpPr>
              <a:cxnSpLocks/>
              <a:stCxn id="18" idx="3"/>
              <a:endCxn id="4" idx="1"/>
            </p:cNvCxnSpPr>
            <p:nvPr/>
          </p:nvCxnSpPr>
          <p:spPr>
            <a:xfrm>
              <a:off x="3120311" y="2491718"/>
              <a:ext cx="514424" cy="38400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097CA00-32F1-BD41-9EA5-AD0CF941E782}"/>
                </a:ext>
              </a:extLst>
            </p:cNvPr>
            <p:cNvCxnSpPr>
              <a:cxnSpLocks/>
              <a:stCxn id="20" idx="3"/>
              <a:endCxn id="4" idx="1"/>
            </p:cNvCxnSpPr>
            <p:nvPr/>
          </p:nvCxnSpPr>
          <p:spPr>
            <a:xfrm flipV="1">
              <a:off x="3120311" y="2875720"/>
              <a:ext cx="514424" cy="38400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43D0A29-95FD-F947-8721-DFB5E5B2A683}"/>
                </a:ext>
              </a:extLst>
            </p:cNvPr>
            <p:cNvGrpSpPr/>
            <p:nvPr/>
          </p:nvGrpSpPr>
          <p:grpSpPr>
            <a:xfrm>
              <a:off x="2457950" y="2322441"/>
              <a:ext cx="662361" cy="1106559"/>
              <a:chOff x="1657850" y="2386326"/>
              <a:chExt cx="662361" cy="1106559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7B979-A87E-1A41-9D72-B53B6DA07676}"/>
                  </a:ext>
                </a:extLst>
              </p:cNvPr>
              <p:cNvSpPr txBox="1"/>
              <p:nvPr/>
            </p:nvSpPr>
            <p:spPr>
              <a:xfrm>
                <a:off x="1657850" y="2386326"/>
                <a:ext cx="6623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bg2">
                        <a:lumMod val="10000"/>
                      </a:schemeClr>
                    </a:solidFill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Client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3EAD58-6314-D64A-8F0B-F78625A33149}"/>
                  </a:ext>
                </a:extLst>
              </p:cNvPr>
              <p:cNvSpPr txBox="1"/>
              <p:nvPr/>
            </p:nvSpPr>
            <p:spPr>
              <a:xfrm>
                <a:off x="1657850" y="3154331"/>
                <a:ext cx="6623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bg2">
                        <a:lumMod val="10000"/>
                      </a:schemeClr>
                    </a:solidFill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Client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7F7A7A1-632A-E242-99B6-BB66DB4DE56F}"/>
              </a:ext>
            </a:extLst>
          </p:cNvPr>
          <p:cNvGrpSpPr/>
          <p:nvPr/>
        </p:nvGrpSpPr>
        <p:grpSpPr>
          <a:xfrm>
            <a:off x="2906256" y="3236054"/>
            <a:ext cx="3962372" cy="1106559"/>
            <a:chOff x="2457950" y="3770241"/>
            <a:chExt cx="3962372" cy="110655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389239F-AD7F-C44E-8D7D-169F4A72A449}"/>
                </a:ext>
              </a:extLst>
            </p:cNvPr>
            <p:cNvGrpSpPr/>
            <p:nvPr/>
          </p:nvGrpSpPr>
          <p:grpSpPr>
            <a:xfrm>
              <a:off x="2457950" y="3770241"/>
              <a:ext cx="3962372" cy="1106559"/>
              <a:chOff x="2457950" y="2322441"/>
              <a:chExt cx="3962372" cy="1106559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A8FAA79-9D45-994A-BECA-AADC4931D48B}"/>
                  </a:ext>
                </a:extLst>
              </p:cNvPr>
              <p:cNvSpPr/>
              <p:nvPr/>
            </p:nvSpPr>
            <p:spPr>
              <a:xfrm>
                <a:off x="3634735" y="2664168"/>
                <a:ext cx="1559061" cy="423104"/>
              </a:xfrm>
              <a:prstGeom prst="rect">
                <a:avLst/>
              </a:prstGeom>
              <a:ln w="190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chemeClr val="bg2">
                        <a:lumMod val="10000"/>
                      </a:schemeClr>
                    </a:solidFill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   Queue</a:t>
                </a:r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9A55972-157B-7E42-AA6C-F63FCE862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7442" y="2664168"/>
                <a:ext cx="0" cy="423104"/>
              </a:xfrm>
              <a:prstGeom prst="line">
                <a:avLst/>
              </a:prstGeom>
              <a:ln w="190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EABCF27-2484-E249-B9E9-D637EA0849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1149" y="2664168"/>
                <a:ext cx="0" cy="423104"/>
              </a:xfrm>
              <a:prstGeom prst="line">
                <a:avLst/>
              </a:prstGeom>
              <a:ln w="190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634CB848-25F2-FD4B-9401-1B156B0CC9A9}"/>
                  </a:ext>
                </a:extLst>
              </p:cNvPr>
              <p:cNvSpPr/>
              <p:nvPr/>
            </p:nvSpPr>
            <p:spPr>
              <a:xfrm>
                <a:off x="5635521" y="2483391"/>
                <a:ext cx="784801" cy="784658"/>
              </a:xfrm>
              <a:prstGeom prst="ellipse">
                <a:avLst/>
              </a:prstGeom>
              <a:ln w="19050">
                <a:solidFill>
                  <a:srgbClr val="00B050"/>
                </a:solidFill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600" dirty="0">
                    <a:solidFill>
                      <a:schemeClr val="bg2">
                        <a:lumMod val="10000"/>
                      </a:schemeClr>
                    </a:solidFill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Server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497540E4-DAB9-D245-8580-BDC9C59280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0311" y="2871104"/>
                <a:ext cx="514424" cy="923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6D931F2-E574-A244-BE21-55C88EB8E2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3796" y="2875720"/>
                <a:ext cx="4417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566D7A-8ECF-1245-9E3D-6152FA5D2252}"/>
                  </a:ext>
                </a:extLst>
              </p:cNvPr>
              <p:cNvSpPr txBox="1"/>
              <p:nvPr/>
            </p:nvSpPr>
            <p:spPr>
              <a:xfrm>
                <a:off x="2457950" y="2706443"/>
                <a:ext cx="6623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bg2">
                        <a:lumMod val="10000"/>
                      </a:schemeClr>
                    </a:solidFill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CA1FBEA-C59A-A747-8EEA-54E83A82C9D5}"/>
                  </a:ext>
                </a:extLst>
              </p:cNvPr>
              <p:cNvCxnSpPr>
                <a:cxnSpLocks/>
                <a:stCxn id="41" idx="3"/>
                <a:endCxn id="30" idx="1"/>
              </p:cNvCxnSpPr>
              <p:nvPr/>
            </p:nvCxnSpPr>
            <p:spPr>
              <a:xfrm>
                <a:off x="3120311" y="2491718"/>
                <a:ext cx="514424" cy="38400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37A9F3D-D9C7-0B49-B0D4-FAA4B1310DCB}"/>
                  </a:ext>
                </a:extLst>
              </p:cNvPr>
              <p:cNvCxnSpPr>
                <a:cxnSpLocks/>
                <a:stCxn id="42" idx="3"/>
                <a:endCxn id="30" idx="1"/>
              </p:cNvCxnSpPr>
              <p:nvPr/>
            </p:nvCxnSpPr>
            <p:spPr>
              <a:xfrm flipV="1">
                <a:off x="3120311" y="2875720"/>
                <a:ext cx="514424" cy="3840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A6518487-4907-0042-9DBF-7DA01DC3A917}"/>
                  </a:ext>
                </a:extLst>
              </p:cNvPr>
              <p:cNvGrpSpPr/>
              <p:nvPr/>
            </p:nvGrpSpPr>
            <p:grpSpPr>
              <a:xfrm>
                <a:off x="2457950" y="2322441"/>
                <a:ext cx="662361" cy="1106559"/>
                <a:chOff x="1657850" y="2386326"/>
                <a:chExt cx="662361" cy="1106559"/>
              </a:xfrm>
            </p:grpSpPr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137E64E-E539-EA42-B79A-3C5D6796C8B2}"/>
                    </a:ext>
                  </a:extLst>
                </p:cNvPr>
                <p:cNvSpPr txBox="1"/>
                <p:nvPr/>
              </p:nvSpPr>
              <p:spPr>
                <a:xfrm>
                  <a:off x="1657850" y="2386326"/>
                  <a:ext cx="662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2">
                          <a:lumMod val="10000"/>
                        </a:schemeClr>
                      </a:solidFill>
                      <a:latin typeface="Gill Sans Light" panose="020B0302020104020203" pitchFamily="34" charset="-79"/>
                      <a:ea typeface="Gill Sans" charset="0"/>
                      <a:cs typeface="Gill Sans Light" panose="020B0302020104020203" pitchFamily="34" charset="-79"/>
                    </a:rPr>
                    <a:t>Client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7644703-1F74-D14D-8608-04B5B147B615}"/>
                    </a:ext>
                  </a:extLst>
                </p:cNvPr>
                <p:cNvSpPr txBox="1"/>
                <p:nvPr/>
              </p:nvSpPr>
              <p:spPr>
                <a:xfrm>
                  <a:off x="1657850" y="3154331"/>
                  <a:ext cx="662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2">
                          <a:lumMod val="10000"/>
                        </a:schemeClr>
                      </a:solidFill>
                      <a:latin typeface="Gill Sans Light" panose="020B0302020104020203" pitchFamily="34" charset="-79"/>
                      <a:ea typeface="Gill Sans" charset="0"/>
                      <a:cs typeface="Gill Sans Light" panose="020B0302020104020203" pitchFamily="34" charset="-79"/>
                    </a:rPr>
                    <a:t>Client</a:t>
                  </a:r>
                </a:p>
              </p:txBody>
            </p:sp>
          </p:grpSp>
        </p:grpSp>
        <p:cxnSp>
          <p:nvCxnSpPr>
            <p:cNvPr id="44" name="Elbow Connector 43">
              <a:extLst>
                <a:ext uri="{FF2B5EF4-FFF2-40B4-BE49-F238E27FC236}">
                  <a16:creationId xmlns:a16="http://schemas.microsoft.com/office/drawing/2014/main" id="{7428AF78-C010-D945-B28D-8FF80D3A4D54}"/>
                </a:ext>
              </a:extLst>
            </p:cNvPr>
            <p:cNvCxnSpPr>
              <a:cxnSpLocks/>
              <a:stCxn id="33" idx="6"/>
              <a:endCxn id="42" idx="1"/>
            </p:cNvCxnSpPr>
            <p:nvPr/>
          </p:nvCxnSpPr>
          <p:spPr>
            <a:xfrm flipH="1">
              <a:off x="2457950" y="4323520"/>
              <a:ext cx="3962372" cy="384003"/>
            </a:xfrm>
            <a:prstGeom prst="bentConnector5">
              <a:avLst>
                <a:gd name="adj1" fmla="val -4808"/>
                <a:gd name="adj2" fmla="val 160619"/>
                <a:gd name="adj3" fmla="val 105769"/>
              </a:avLst>
            </a:prstGeom>
            <a:ln w="25400" cap="rnd">
              <a:solidFill>
                <a:srgbClr val="7030A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>
              <a:extLst>
                <a:ext uri="{FF2B5EF4-FFF2-40B4-BE49-F238E27FC236}">
                  <a16:creationId xmlns:a16="http://schemas.microsoft.com/office/drawing/2014/main" id="{452683D7-2F36-1841-8233-3FA3568B0E92}"/>
                </a:ext>
              </a:extLst>
            </p:cNvPr>
            <p:cNvCxnSpPr>
              <a:cxnSpLocks/>
              <a:stCxn id="33" idx="6"/>
              <a:endCxn id="37" idx="1"/>
            </p:cNvCxnSpPr>
            <p:nvPr/>
          </p:nvCxnSpPr>
          <p:spPr>
            <a:xfrm flipH="1">
              <a:off x="2457950" y="4323520"/>
              <a:ext cx="3962372" cy="12700"/>
            </a:xfrm>
            <a:prstGeom prst="bentConnector5">
              <a:avLst>
                <a:gd name="adj1" fmla="val -8013"/>
                <a:gd name="adj2" fmla="val 6039205"/>
                <a:gd name="adj3" fmla="val 108814"/>
              </a:avLst>
            </a:prstGeom>
            <a:ln w="25400" cap="rnd">
              <a:solidFill>
                <a:srgbClr val="7030A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7430DBB9-8B95-A04F-B709-7D3536E6610C}"/>
                </a:ext>
              </a:extLst>
            </p:cNvPr>
            <p:cNvCxnSpPr>
              <a:cxnSpLocks/>
              <a:stCxn id="33" idx="6"/>
              <a:endCxn id="41" idx="1"/>
            </p:cNvCxnSpPr>
            <p:nvPr/>
          </p:nvCxnSpPr>
          <p:spPr>
            <a:xfrm flipH="1" flipV="1">
              <a:off x="2457950" y="3939518"/>
              <a:ext cx="3962372" cy="384002"/>
            </a:xfrm>
            <a:prstGeom prst="bentConnector5">
              <a:avLst>
                <a:gd name="adj1" fmla="val -11538"/>
                <a:gd name="adj2" fmla="val -242869"/>
                <a:gd name="adj3" fmla="val 111859"/>
              </a:avLst>
            </a:prstGeom>
            <a:ln w="25400" cap="rnd">
              <a:solidFill>
                <a:srgbClr val="7030A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363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ko-KR" dirty="0"/>
              <a:t>Example: M/M/1 Queue and Disk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955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676400"/>
                <a:ext cx="7886700" cy="4968875"/>
              </a:xfrm>
            </p:spPr>
            <p:txBody>
              <a:bodyPr>
                <a:noAutofit/>
              </a:bodyPr>
              <a:lstStyle/>
              <a:p>
                <a:r>
                  <a:rPr lang="en-US" altLang="ko-KR" sz="2000" dirty="0"/>
                  <a:t>Usage statistics (M/M/1 queue)</a:t>
                </a:r>
              </a:p>
              <a:p>
                <a:pPr lvl="1"/>
                <a:r>
                  <a:rPr lang="en-US" altLang="ko-KR" sz="1800" dirty="0"/>
                  <a:t>User sends 10 requests per second for 8KB data block from disk</a:t>
                </a:r>
              </a:p>
              <a:p>
                <a:pPr lvl="1"/>
                <a:r>
                  <a:rPr lang="en-US" altLang="ko-KR" sz="1800" dirty="0"/>
                  <a:t>Inter-arrival times and service times are exponentially distributed</a:t>
                </a:r>
              </a:p>
              <a:p>
                <a:pPr lvl="1"/>
                <a:r>
                  <a:rPr lang="en-US" altLang="ko-KR" sz="1800" dirty="0"/>
                  <a:t>Average service time per request is 20ms</a:t>
                </a:r>
              </a:p>
              <a:p>
                <a:pPr lvl="4"/>
                <a:endParaRPr lang="en-US" altLang="ko-KR" sz="1400" dirty="0"/>
              </a:p>
              <a:p>
                <a:r>
                  <a:rPr lang="en-US" altLang="ko-KR" sz="2000" dirty="0"/>
                  <a:t>Questions </a:t>
                </a:r>
              </a:p>
              <a:p>
                <a:pPr lvl="1"/>
                <a:r>
                  <a:rPr lang="en-US" altLang="ko-KR" sz="1800" dirty="0"/>
                  <a:t>How utilized is the disk (</a:t>
                </a:r>
                <a14:m>
                  <m:oMath xmlns:m="http://schemas.openxmlformats.org/officeDocument/2006/math"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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/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𝜇</m:t>
                    </m:r>
                  </m:oMath>
                </a14:m>
                <a:r>
                  <a:rPr lang="en-US" altLang="ko-KR" sz="1800" dirty="0">
                    <a:sym typeface="Symbol" panose="05050102010706020507" pitchFamily="18" charset="2"/>
                  </a:rPr>
                  <a:t>)</a:t>
                </a:r>
              </a:p>
              <a:p>
                <a:pPr lvl="2"/>
                <a:r>
                  <a:rPr lang="en-US" altLang="ko-KR" sz="1600" dirty="0">
                    <a:sym typeface="Symbol" panose="05050102010706020507" pitchFamily="18" charset="2"/>
                  </a:rPr>
                  <a:t>10/50 = 0.2</a:t>
                </a:r>
                <a:endParaRPr lang="en-US" altLang="ko-KR" sz="1400" dirty="0">
                  <a:sym typeface="Symbol" panose="05050102010706020507" pitchFamily="18" charset="2"/>
                </a:endParaRPr>
              </a:p>
              <a:p>
                <a:pPr lvl="1"/>
                <a:r>
                  <a:rPr lang="en-US" altLang="ko-KR" sz="1800" dirty="0"/>
                  <a:t>What is the average time spent in the queue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800" dirty="0"/>
                  <a:t>)?</a:t>
                </a:r>
              </a:p>
              <a:p>
                <a:pPr lvl="2"/>
                <a:r>
                  <a:rPr lang="en-US" altLang="ko-KR" sz="1600" dirty="0"/>
                  <a:t>0.2 / (50 x 0.8) = 5ms</a:t>
                </a:r>
              </a:p>
              <a:p>
                <a:pPr lvl="1"/>
                <a:r>
                  <a:rPr lang="en-US" altLang="ko-KR" sz="1800" dirty="0"/>
                  <a:t>What is the average number of requests in the queue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800" dirty="0"/>
                  <a:t>)?</a:t>
                </a:r>
              </a:p>
              <a:p>
                <a:pPr lvl="2"/>
                <a:r>
                  <a:rPr lang="en-US" altLang="ko-KR" sz="1600" dirty="0"/>
                  <a:t>5ms x 10req/s = 0.05</a:t>
                </a:r>
              </a:p>
              <a:p>
                <a:pPr lvl="1"/>
                <a:r>
                  <a:rPr lang="en-US" altLang="ko-KR" sz="1800" dirty="0"/>
                  <a:t>What is the average overhead for each disk request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800" dirty="0"/>
                  <a:t>)?</a:t>
                </a:r>
              </a:p>
              <a:p>
                <a:pPr lvl="2"/>
                <a:r>
                  <a:rPr lang="en-US" altLang="ko-KR" sz="1600" dirty="0"/>
                  <a:t>5ms + 20ms = 25ms</a:t>
                </a:r>
              </a:p>
              <a:p>
                <a:pPr lvl="4"/>
                <a:endParaRPr lang="en-US" altLang="ko-KR" sz="1400" dirty="0"/>
              </a:p>
            </p:txBody>
          </p:sp>
        </mc:Choice>
        <mc:Fallback xmlns="">
          <p:sp>
            <p:nvSpPr>
              <p:cNvPr id="9195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76400"/>
                <a:ext cx="7886700" cy="4968875"/>
              </a:xfrm>
              <a:blipFill>
                <a:blip r:embed="rId3"/>
                <a:stretch>
                  <a:fillRect l="-644" t="-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8740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55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9555" grpId="0" uiExpand="1" build="p" bldLvl="3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I/O subsystem</a:t>
            </a:r>
          </a:p>
          <a:p>
            <a:r>
              <a:rPr lang="en-US" altLang="ko-KR" sz="2400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I/O performance</a:t>
            </a:r>
          </a:p>
          <a:p>
            <a:pPr lvl="1"/>
            <a:r>
              <a:rPr lang="en-US" altLang="ko-KR" sz="2000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Some queueing theory</a:t>
            </a:r>
          </a:p>
          <a:p>
            <a:r>
              <a:rPr lang="en-US" altLang="ko-KR" sz="2400" dirty="0">
                <a:sym typeface="Symbol" panose="05050102010706020507" pitchFamily="18" charset="2"/>
              </a:rPr>
              <a:t>Storage devices</a:t>
            </a:r>
          </a:p>
          <a:p>
            <a:pPr lvl="1"/>
            <a:r>
              <a:rPr lang="en-US" altLang="ko-KR" sz="2000" dirty="0">
                <a:sym typeface="Symbol" panose="05050102010706020507" pitchFamily="18" charset="2"/>
              </a:rPr>
              <a:t>Magnetic storage</a:t>
            </a:r>
          </a:p>
          <a:p>
            <a:pPr lvl="1"/>
            <a:r>
              <a:rPr lang="en-US" altLang="ko-KR" sz="2000" dirty="0">
                <a:sym typeface="Symbol" panose="05050102010706020507" pitchFamily="18" charset="2"/>
              </a:rPr>
              <a:t>Flash memory</a:t>
            </a:r>
          </a:p>
        </p:txBody>
      </p:sp>
    </p:spTree>
    <p:extLst>
      <p:ext uri="{BB962C8B-B14F-4D97-AF65-F5344CB8AC3E}">
        <p14:creationId xmlns:p14="http://schemas.microsoft.com/office/powerpoint/2010/main" val="25318431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Magnetic disks</a:t>
            </a:r>
          </a:p>
          <a:p>
            <a:pPr lvl="1"/>
            <a:r>
              <a:rPr lang="en-US" sz="1800" dirty="0"/>
              <a:t>Storage that rarely becomes corrupted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Large</a:t>
            </a:r>
            <a:r>
              <a:rPr lang="en-US" sz="1800" dirty="0"/>
              <a:t> capacity at low cost</a:t>
            </a:r>
          </a:p>
          <a:p>
            <a:pPr lvl="1"/>
            <a:r>
              <a:rPr lang="en-US" sz="1800" dirty="0"/>
              <a:t>Block level </a:t>
            </a:r>
            <a:r>
              <a:rPr lang="en-US" sz="1800" dirty="0">
                <a:solidFill>
                  <a:srgbClr val="FF0000"/>
                </a:solidFill>
              </a:rPr>
              <a:t>random access </a:t>
            </a:r>
            <a:r>
              <a:rPr lang="en-US" sz="1800" dirty="0"/>
              <a:t>(except for Shingled Magnetic Recording (SMR))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Slow</a:t>
            </a:r>
            <a:r>
              <a:rPr lang="en-US" sz="1800" dirty="0"/>
              <a:t> performance for random access</a:t>
            </a:r>
          </a:p>
          <a:p>
            <a:pPr lvl="1"/>
            <a:r>
              <a:rPr lang="en-US" sz="1800" dirty="0"/>
              <a:t>Better performance for </a:t>
            </a:r>
            <a:r>
              <a:rPr lang="en-US" sz="1800" dirty="0">
                <a:solidFill>
                  <a:srgbClr val="FF0000"/>
                </a:solidFill>
              </a:rPr>
              <a:t>sequential access</a:t>
            </a:r>
          </a:p>
          <a:p>
            <a:pPr lvl="1"/>
            <a:endParaRPr lang="en-US" sz="1800" dirty="0"/>
          </a:p>
          <a:p>
            <a:r>
              <a:rPr lang="en-US" sz="2000" dirty="0"/>
              <a:t>Flash memory</a:t>
            </a:r>
          </a:p>
          <a:p>
            <a:pPr lvl="1"/>
            <a:r>
              <a:rPr lang="en-US" sz="1800" dirty="0"/>
              <a:t>Storage that rarely becomes corrupted</a:t>
            </a:r>
          </a:p>
          <a:p>
            <a:pPr lvl="1"/>
            <a:r>
              <a:rPr lang="en-US" sz="1800" dirty="0"/>
              <a:t>Capacity at intermediate cost (5-20x disk)</a:t>
            </a:r>
          </a:p>
          <a:p>
            <a:pPr lvl="1"/>
            <a:r>
              <a:rPr lang="en-US" sz="1800" dirty="0"/>
              <a:t>Block level </a:t>
            </a:r>
            <a:r>
              <a:rPr lang="en-US" sz="1800" dirty="0">
                <a:solidFill>
                  <a:srgbClr val="FF0000"/>
                </a:solidFill>
              </a:rPr>
              <a:t>random access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Good</a:t>
            </a:r>
            <a:r>
              <a:rPr lang="en-US" sz="1800" dirty="0"/>
              <a:t> performance for reads; </a:t>
            </a:r>
            <a:r>
              <a:rPr lang="en-US" sz="1800" dirty="0">
                <a:solidFill>
                  <a:srgbClr val="FF0000"/>
                </a:solidFill>
              </a:rPr>
              <a:t>worse</a:t>
            </a:r>
            <a:r>
              <a:rPr lang="en-US" sz="1800" dirty="0"/>
              <a:t> for random writes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Erasure</a:t>
            </a:r>
            <a:r>
              <a:rPr lang="en-US" sz="1800" dirty="0"/>
              <a:t> requirement in large blocks</a:t>
            </a:r>
          </a:p>
          <a:p>
            <a:pPr lvl="1"/>
            <a:r>
              <a:rPr lang="en-US" sz="1800" dirty="0"/>
              <a:t>Wear patterns issue</a:t>
            </a:r>
          </a:p>
          <a:p>
            <a:pPr lvl="1"/>
            <a:endParaRPr lang="en-US" sz="1800" dirty="0"/>
          </a:p>
          <a:p>
            <a:pPr lvl="1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097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Amazing Magnetic Disk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Unit of transfer: </a:t>
            </a:r>
            <a:r>
              <a:rPr lang="en-US" sz="1800" dirty="0">
                <a:solidFill>
                  <a:srgbClr val="FF0000"/>
                </a:solidFill>
              </a:rPr>
              <a:t>sector</a:t>
            </a:r>
          </a:p>
          <a:p>
            <a:pPr lvl="1"/>
            <a:r>
              <a:rPr lang="en-US" sz="1600" dirty="0"/>
              <a:t>Ring of sectors form </a:t>
            </a:r>
            <a:r>
              <a:rPr lang="en-US" sz="1600" dirty="0">
                <a:solidFill>
                  <a:srgbClr val="FF0000"/>
                </a:solidFill>
              </a:rPr>
              <a:t>track</a:t>
            </a:r>
          </a:p>
          <a:p>
            <a:pPr lvl="1"/>
            <a:r>
              <a:rPr lang="en-US" sz="1600" dirty="0"/>
              <a:t>Stack of tracks form </a:t>
            </a:r>
            <a:r>
              <a:rPr lang="en-US" sz="1600" dirty="0">
                <a:solidFill>
                  <a:srgbClr val="FF0000"/>
                </a:solidFill>
              </a:rPr>
              <a:t>cylinder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Heads</a:t>
            </a:r>
            <a:r>
              <a:rPr lang="en-US" sz="1600" dirty="0"/>
              <a:t> position on cylinders</a:t>
            </a:r>
          </a:p>
          <a:p>
            <a:pPr lvl="1"/>
            <a:endParaRPr lang="en-US" sz="1600" dirty="0"/>
          </a:p>
          <a:p>
            <a:r>
              <a:rPr lang="en-US" sz="1800" dirty="0"/>
              <a:t>Disk tracks ~ 1µm (micron) wide</a:t>
            </a:r>
          </a:p>
          <a:p>
            <a:pPr lvl="1"/>
            <a:r>
              <a:rPr lang="en-US" sz="1600" dirty="0"/>
              <a:t>Wavelength of light is ~ 0.5µm</a:t>
            </a:r>
          </a:p>
          <a:p>
            <a:pPr lvl="1"/>
            <a:r>
              <a:rPr lang="en-US" sz="1600" dirty="0"/>
              <a:t>Resolution of human eye: 50µm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100K tracks on a typical 2.5” disk</a:t>
            </a:r>
          </a:p>
          <a:p>
            <a:pPr lvl="1"/>
            <a:endParaRPr lang="en-US" sz="1600" dirty="0"/>
          </a:p>
          <a:p>
            <a:r>
              <a:rPr lang="en-US" sz="1800" dirty="0"/>
              <a:t>Separated by unused guard regions</a:t>
            </a:r>
          </a:p>
          <a:p>
            <a:pPr lvl="1"/>
            <a:r>
              <a:rPr lang="en-US" sz="1600" dirty="0"/>
              <a:t>Reduces likelihood neighboring </a:t>
            </a:r>
            <a:br>
              <a:rPr lang="en-US" sz="1600" dirty="0"/>
            </a:br>
            <a:r>
              <a:rPr lang="en-US" sz="1600" dirty="0"/>
              <a:t>tracks are corrupted during writes </a:t>
            </a:r>
            <a:br>
              <a:rPr lang="en-US" sz="1600" dirty="0"/>
            </a:br>
            <a:r>
              <a:rPr lang="en-US" sz="1600" dirty="0"/>
              <a:t>(still small non-zero chance)</a:t>
            </a:r>
          </a:p>
          <a:p>
            <a:endParaRPr lang="en-US" sz="1800" dirty="0"/>
          </a:p>
        </p:txBody>
      </p:sp>
      <p:pic>
        <p:nvPicPr>
          <p:cNvPr id="8" name="Picture 1" descr="10_01.pdf">
            <a:extLst>
              <a:ext uri="{FF2B5EF4-FFF2-40B4-BE49-F238E27FC236}">
                <a16:creationId xmlns:a16="http://schemas.microsoft.com/office/drawing/2014/main" id="{E82A3070-4EBD-CD46-8135-E328C48EC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77253" y="2247541"/>
            <a:ext cx="3875122" cy="3155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42280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Amazing Magnetic Disk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Track length varies across disk</a:t>
            </a:r>
          </a:p>
          <a:p>
            <a:pPr lvl="1"/>
            <a:r>
              <a:rPr lang="en-US" sz="1800" dirty="0"/>
              <a:t>Outside: more sectors per track, </a:t>
            </a:r>
            <a:br>
              <a:rPr lang="en-US" sz="1800" dirty="0"/>
            </a:br>
            <a:r>
              <a:rPr lang="en-US" sz="1800" dirty="0"/>
              <a:t>higher bandwidth</a:t>
            </a:r>
          </a:p>
          <a:p>
            <a:pPr lvl="1"/>
            <a:r>
              <a:rPr lang="en-US" sz="1800" dirty="0"/>
              <a:t>Disk is organized into regions of </a:t>
            </a:r>
            <a:br>
              <a:rPr lang="en-US" sz="1800" dirty="0"/>
            </a:br>
            <a:r>
              <a:rPr lang="en-US" sz="1800" dirty="0"/>
              <a:t>tracks with same # of sectors/track</a:t>
            </a:r>
          </a:p>
          <a:p>
            <a:pPr lvl="1"/>
            <a:r>
              <a:rPr lang="en-US" sz="1800" dirty="0"/>
              <a:t>Only outer half of radius is used</a:t>
            </a:r>
          </a:p>
          <a:p>
            <a:pPr lvl="2"/>
            <a:r>
              <a:rPr lang="en-US" sz="1600" dirty="0"/>
              <a:t>Most of disk area in outer regions of disk</a:t>
            </a:r>
          </a:p>
          <a:p>
            <a:pPr lvl="2"/>
            <a:endParaRPr lang="en-US" sz="1600" dirty="0"/>
          </a:p>
          <a:p>
            <a:r>
              <a:rPr lang="en-US" sz="2000" dirty="0"/>
              <a:t>Disks are so big that some companies </a:t>
            </a:r>
            <a:br>
              <a:rPr lang="en-US" sz="2000" dirty="0"/>
            </a:br>
            <a:r>
              <a:rPr lang="en-US" sz="2000" dirty="0"/>
              <a:t>(like Google) reportedly only use </a:t>
            </a:r>
            <a:br>
              <a:rPr lang="en-US" sz="2000" dirty="0"/>
            </a:br>
            <a:r>
              <a:rPr lang="en-US" sz="2000" dirty="0"/>
              <a:t>part of disk for active data</a:t>
            </a:r>
          </a:p>
          <a:p>
            <a:pPr lvl="1"/>
            <a:r>
              <a:rPr lang="en-US" sz="1800" dirty="0"/>
              <a:t>Rest is archival data</a:t>
            </a:r>
          </a:p>
          <a:p>
            <a:endParaRPr lang="en-US" sz="2000" dirty="0"/>
          </a:p>
        </p:txBody>
      </p:sp>
      <p:pic>
        <p:nvPicPr>
          <p:cNvPr id="7" name="Picture 2" descr="https://www.lorextechnology.com/images/products/HDD-D/1200x800/surveillance-hard-drive-hdd-L1.png">
            <a:extLst>
              <a:ext uri="{FF2B5EF4-FFF2-40B4-BE49-F238E27FC236}">
                <a16:creationId xmlns:a16="http://schemas.microsoft.com/office/drawing/2014/main" id="{D50D754F-A922-8048-92AF-595FAA2089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8147" t="3066" r="28147" b="2332"/>
          <a:stretch/>
        </p:blipFill>
        <p:spPr bwMode="auto">
          <a:xfrm>
            <a:off x="5816801" y="1968792"/>
            <a:ext cx="2511205" cy="3623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A8A0C11-748E-6E49-B091-F622E05943D6}"/>
              </a:ext>
            </a:extLst>
          </p:cNvPr>
          <p:cNvSpPr/>
          <p:nvPr/>
        </p:nvSpPr>
        <p:spPr>
          <a:xfrm>
            <a:off x="3916212" y="6645273"/>
            <a:ext cx="1311576" cy="1692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500" dirty="0" err="1"/>
              <a:t>www.lorextechnology.com</a:t>
            </a:r>
            <a:endParaRPr lang="en-US" sz="500" dirty="0"/>
          </a:p>
        </p:txBody>
      </p:sp>
    </p:spTree>
    <p:extLst>
      <p:ext uri="{BB962C8B-B14F-4D97-AF65-F5344CB8AC3E}">
        <p14:creationId xmlns:p14="http://schemas.microsoft.com/office/powerpoint/2010/main" val="310857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206BB415-5778-5D49-BD20-1FE8FF5C65CE}"/>
              </a:ext>
            </a:extLst>
          </p:cNvPr>
          <p:cNvGrpSpPr/>
          <p:nvPr/>
        </p:nvGrpSpPr>
        <p:grpSpPr>
          <a:xfrm>
            <a:off x="599765" y="4236365"/>
            <a:ext cx="2740301" cy="2159143"/>
            <a:chOff x="3130276" y="4464965"/>
            <a:chExt cx="2740301" cy="2159143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44E16FD-AFDF-934F-9BCD-8C32C97B900A}"/>
                </a:ext>
              </a:extLst>
            </p:cNvPr>
            <p:cNvSpPr/>
            <p:nvPr/>
          </p:nvSpPr>
          <p:spPr>
            <a:xfrm>
              <a:off x="3534593" y="4736809"/>
              <a:ext cx="1766429" cy="176642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4866D94-5F9A-F948-A8EB-B96049CB0BDD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>
              <a:off x="3715734" y="4831111"/>
              <a:ext cx="823313" cy="6281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9E2651B-140A-5C44-A181-F10287349262}"/>
                </a:ext>
              </a:extLst>
            </p:cNvPr>
            <p:cNvCxnSpPr>
              <a:cxnSpLocks/>
              <a:stCxn id="46" idx="1"/>
              <a:endCxn id="37" idx="2"/>
            </p:cNvCxnSpPr>
            <p:nvPr/>
          </p:nvCxnSpPr>
          <p:spPr>
            <a:xfrm flipH="1" flipV="1">
              <a:off x="4694280" y="6136713"/>
              <a:ext cx="517141" cy="2565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5AF52F5-4203-2A41-ADE2-384B6DEE1196}"/>
                </a:ext>
              </a:extLst>
            </p:cNvPr>
            <p:cNvSpPr txBox="1"/>
            <p:nvPr/>
          </p:nvSpPr>
          <p:spPr>
            <a:xfrm>
              <a:off x="3130276" y="4464965"/>
              <a:ext cx="6639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Original</a:t>
              </a:r>
              <a:b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</a:b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position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121669-55DB-D945-9950-0FE912328D53}"/>
                </a:ext>
              </a:extLst>
            </p:cNvPr>
            <p:cNvSpPr txBox="1"/>
            <p:nvPr/>
          </p:nvSpPr>
          <p:spPr>
            <a:xfrm>
              <a:off x="5211421" y="6162443"/>
              <a:ext cx="6591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Desired</a:t>
              </a:r>
              <a:b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</a:b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data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E1BF6F4-F953-544C-B6B0-F8F2253F739C}"/>
                </a:ext>
              </a:extLst>
            </p:cNvPr>
            <p:cNvSpPr/>
            <p:nvPr/>
          </p:nvSpPr>
          <p:spPr>
            <a:xfrm>
              <a:off x="4210774" y="5412989"/>
              <a:ext cx="414068" cy="414067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AF574877-585E-CE48-8B55-6E68B8301D4B}"/>
                </a:ext>
              </a:extLst>
            </p:cNvPr>
            <p:cNvSpPr/>
            <p:nvPr/>
          </p:nvSpPr>
          <p:spPr>
            <a:xfrm>
              <a:off x="3814561" y="5016776"/>
              <a:ext cx="1206495" cy="1206494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A476B20-226E-C840-B695-3118D12BCD31}"/>
                </a:ext>
              </a:extLst>
            </p:cNvPr>
            <p:cNvSpPr/>
            <p:nvPr/>
          </p:nvSpPr>
          <p:spPr>
            <a:xfrm>
              <a:off x="4529879" y="5450066"/>
              <a:ext cx="62601" cy="6260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68A5E11-C95A-2843-8A19-E07AC1070463}"/>
                </a:ext>
              </a:extLst>
            </p:cNvPr>
            <p:cNvSpPr/>
            <p:nvPr/>
          </p:nvSpPr>
          <p:spPr>
            <a:xfrm>
              <a:off x="4694280" y="6105413"/>
              <a:ext cx="62601" cy="6260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Magnetic Disks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Recall: cylinder is all tracks under head at any given point on all surface</a:t>
            </a:r>
          </a:p>
          <a:p>
            <a:pPr lvl="3"/>
            <a:endParaRPr lang="en-US" sz="1200" dirty="0"/>
          </a:p>
          <a:p>
            <a:r>
              <a:rPr lang="en-US" sz="1800" dirty="0"/>
              <a:t>Read/write data includes three stages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Seek time</a:t>
            </a:r>
            <a:r>
              <a:rPr lang="en-US" sz="1600" dirty="0"/>
              <a:t>: position r/w head over proper track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Rotational latency</a:t>
            </a:r>
            <a:r>
              <a:rPr lang="en-US" sz="1600" dirty="0"/>
              <a:t>: wait for desired sector to rotate under r/w head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Transfer time</a:t>
            </a:r>
            <a:r>
              <a:rPr lang="en-US" sz="1600" dirty="0"/>
              <a:t>: transfer block of bits (sector) under r/w head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7C6E9C-887A-7A4A-80BE-80C6AF878E3D}"/>
              </a:ext>
            </a:extLst>
          </p:cNvPr>
          <p:cNvSpPr txBox="1"/>
          <p:nvPr/>
        </p:nvSpPr>
        <p:spPr>
          <a:xfrm>
            <a:off x="2831845" y="5072613"/>
            <a:ext cx="797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Rotational</a:t>
            </a:r>
            <a:b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latency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E619A2-1DDF-D143-872D-454B2CF98578}"/>
              </a:ext>
            </a:extLst>
          </p:cNvPr>
          <p:cNvSpPr txBox="1"/>
          <p:nvPr/>
        </p:nvSpPr>
        <p:spPr>
          <a:xfrm>
            <a:off x="1563035" y="3932237"/>
            <a:ext cx="5132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Seek </a:t>
            </a:r>
            <a:b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time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8681300-3746-7747-B878-B20A8452AE00}"/>
              </a:ext>
            </a:extLst>
          </p:cNvPr>
          <p:cNvCxnSpPr>
            <a:cxnSpLocks/>
            <a:stCxn id="34" idx="7"/>
            <a:endCxn id="50" idx="7"/>
          </p:cNvCxnSpPr>
          <p:nvPr/>
        </p:nvCxnSpPr>
        <p:spPr>
          <a:xfrm flipV="1">
            <a:off x="2052802" y="4964863"/>
            <a:ext cx="261055" cy="26577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c 59">
            <a:extLst>
              <a:ext uri="{FF2B5EF4-FFF2-40B4-BE49-F238E27FC236}">
                <a16:creationId xmlns:a16="http://schemas.microsoft.com/office/drawing/2014/main" id="{633E2D42-E82A-E44F-A994-32B72F454760}"/>
              </a:ext>
            </a:extLst>
          </p:cNvPr>
          <p:cNvSpPr/>
          <p:nvPr/>
        </p:nvSpPr>
        <p:spPr>
          <a:xfrm>
            <a:off x="1280848" y="4784974"/>
            <a:ext cx="1212896" cy="1212896"/>
          </a:xfrm>
          <a:prstGeom prst="arc">
            <a:avLst>
              <a:gd name="adj1" fmla="val 18925629"/>
              <a:gd name="adj2" fmla="val 3351337"/>
            </a:avLst>
          </a:prstGeom>
          <a:ln w="317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9064E16-A77D-B645-ACC1-6D148AA8A6A8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1819676" y="4393902"/>
            <a:ext cx="284485" cy="6787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DFBCC37-B79C-5D4C-881E-9DAF1941D4E7}"/>
              </a:ext>
            </a:extLst>
          </p:cNvPr>
          <p:cNvCxnSpPr>
            <a:cxnSpLocks/>
            <a:stCxn id="47" idx="1"/>
          </p:cNvCxnSpPr>
          <p:nvPr/>
        </p:nvCxnSpPr>
        <p:spPr>
          <a:xfrm flipH="1">
            <a:off x="2561557" y="5303446"/>
            <a:ext cx="270288" cy="9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B7FAEB4-D7BC-C847-AFB6-1CE2F2926B88}"/>
              </a:ext>
            </a:extLst>
          </p:cNvPr>
          <p:cNvGrpSpPr/>
          <p:nvPr/>
        </p:nvGrpSpPr>
        <p:grpSpPr>
          <a:xfrm>
            <a:off x="5772626" y="5299777"/>
            <a:ext cx="721192" cy="736187"/>
            <a:chOff x="5772626" y="5299777"/>
            <a:chExt cx="721192" cy="736187"/>
          </a:xfrm>
        </p:grpSpPr>
        <p:sp>
          <p:nvSpPr>
            <p:cNvPr id="83" name="Line 39">
              <a:extLst>
                <a:ext uri="{FF2B5EF4-FFF2-40B4-BE49-F238E27FC236}">
                  <a16:creationId xmlns:a16="http://schemas.microsoft.com/office/drawing/2014/main" id="{5B6CB4B7-8888-5246-886C-E3403D1D8E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2626" y="5667871"/>
              <a:ext cx="3605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90478" tIns="44445" rIns="90478" bIns="44445" anchor="ctr"/>
            <a:lstStyle/>
            <a:p>
              <a:endParaRPr lang="en-US" sz="11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4" name="Rectangle 40">
              <a:extLst>
                <a:ext uri="{FF2B5EF4-FFF2-40B4-BE49-F238E27FC236}">
                  <a16:creationId xmlns:a16="http://schemas.microsoft.com/office/drawing/2014/main" id="{5E1E0FB2-1D63-CA43-B827-AA7B955429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222" y="5299777"/>
              <a:ext cx="360596" cy="736187"/>
            </a:xfrm>
            <a:prstGeom prst="rect">
              <a:avLst/>
            </a:prstGeom>
            <a:solidFill>
              <a:srgbClr val="FFFFDA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lIns="90478" tIns="44445" rIns="90478" bIns="44445" anchor="ctr"/>
            <a:lstStyle/>
            <a:p>
              <a:pPr marL="228600" indent="-228600">
                <a:lnSpc>
                  <a:spcPct val="80000"/>
                </a:lnSpc>
                <a:spcBef>
                  <a:spcPct val="10000"/>
                </a:spcBef>
              </a:pP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Hardware</a:t>
              </a:r>
            </a:p>
            <a:p>
              <a:pPr marL="228600" indent="-228600">
                <a:lnSpc>
                  <a:spcPct val="80000"/>
                </a:lnSpc>
                <a:spcBef>
                  <a:spcPct val="10000"/>
                </a:spcBef>
              </a:pP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Controller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AC42CA9-C4E1-C744-BFAE-87B8B1572F2D}"/>
              </a:ext>
            </a:extLst>
          </p:cNvPr>
          <p:cNvGrpSpPr/>
          <p:nvPr/>
        </p:nvGrpSpPr>
        <p:grpSpPr>
          <a:xfrm>
            <a:off x="3757175" y="5299777"/>
            <a:ext cx="2015451" cy="736187"/>
            <a:chOff x="3757175" y="5299777"/>
            <a:chExt cx="2015451" cy="736187"/>
          </a:xfrm>
        </p:grpSpPr>
        <p:sp>
          <p:nvSpPr>
            <p:cNvPr id="81" name="Rectangle 37">
              <a:extLst>
                <a:ext uri="{FF2B5EF4-FFF2-40B4-BE49-F238E27FC236}">
                  <a16:creationId xmlns:a16="http://schemas.microsoft.com/office/drawing/2014/main" id="{943AD9BF-42E4-F542-B965-631A8F7137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5765" y="5299777"/>
              <a:ext cx="1126861" cy="73618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Software queue</a:t>
              </a:r>
            </a:p>
            <a:p>
              <a:pPr marL="228600" indent="-228600"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(device driver)</a:t>
              </a:r>
            </a:p>
          </p:txBody>
        </p:sp>
        <p:sp>
          <p:nvSpPr>
            <p:cNvPr id="82" name="Line 38">
              <a:extLst>
                <a:ext uri="{FF2B5EF4-FFF2-40B4-BE49-F238E27FC236}">
                  <a16:creationId xmlns:a16="http://schemas.microsoft.com/office/drawing/2014/main" id="{01FB94A3-7E7F-F040-A2CE-E6FFE5E9A8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95021" y="5667871"/>
              <a:ext cx="45074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90478" tIns="44445" rIns="90478" bIns="44445" anchor="ctr"/>
            <a:lstStyle/>
            <a:p>
              <a:endParaRPr lang="en-US" sz="11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8" name="Text Box 44">
              <a:extLst>
                <a:ext uri="{FF2B5EF4-FFF2-40B4-BE49-F238E27FC236}">
                  <a16:creationId xmlns:a16="http://schemas.microsoft.com/office/drawing/2014/main" id="{CD53FFCC-E38A-C649-9645-764D355428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7175" y="5381682"/>
              <a:ext cx="756937" cy="305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r>
                <a:rPr lang="en-US" sz="14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Request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E1834F6-3AA5-A647-A843-2ADCEBEA9E48}"/>
              </a:ext>
            </a:extLst>
          </p:cNvPr>
          <p:cNvGrpSpPr/>
          <p:nvPr/>
        </p:nvGrpSpPr>
        <p:grpSpPr>
          <a:xfrm>
            <a:off x="6493818" y="5299777"/>
            <a:ext cx="2482178" cy="736187"/>
            <a:chOff x="6493818" y="5299777"/>
            <a:chExt cx="2482178" cy="736187"/>
          </a:xfrm>
        </p:grpSpPr>
        <p:sp>
          <p:nvSpPr>
            <p:cNvPr id="86" name="Line 42">
              <a:extLst>
                <a:ext uri="{FF2B5EF4-FFF2-40B4-BE49-F238E27FC236}">
                  <a16:creationId xmlns:a16="http://schemas.microsoft.com/office/drawing/2014/main" id="{9795D33F-8A3A-DC4C-9B4E-2A21C30E05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93818" y="5667871"/>
              <a:ext cx="3605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90478" tIns="44445" rIns="90478" bIns="44445" anchor="ctr"/>
            <a:lstStyle/>
            <a:p>
              <a:endParaRPr lang="en-US" sz="11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5" name="Rectangle 41">
              <a:extLst>
                <a:ext uri="{FF2B5EF4-FFF2-40B4-BE49-F238E27FC236}">
                  <a16:creationId xmlns:a16="http://schemas.microsoft.com/office/drawing/2014/main" id="{4A07C91D-45CF-C043-B367-361C380D73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4413" y="5299777"/>
              <a:ext cx="1352233" cy="736187"/>
            </a:xfrm>
            <a:prstGeom prst="rect">
              <a:avLst/>
            </a:prstGeom>
            <a:solidFill>
              <a:srgbClr val="FFFFDA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marL="228600" indent="-228600" algn="ctr"/>
              <a:r>
                <a:rPr lang="en-US" sz="120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Media Time</a:t>
              </a:r>
            </a:p>
            <a:p>
              <a:pPr marL="228600" indent="-228600" algn="ctr"/>
              <a:r>
                <a:rPr lang="en-US" sz="120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(Seek+Rot+Xfer)</a:t>
              </a:r>
            </a:p>
          </p:txBody>
        </p:sp>
        <p:sp>
          <p:nvSpPr>
            <p:cNvPr id="87" name="Line 43">
              <a:extLst>
                <a:ext uri="{FF2B5EF4-FFF2-40B4-BE49-F238E27FC236}">
                  <a16:creationId xmlns:a16="http://schemas.microsoft.com/office/drawing/2014/main" id="{07F86F28-1807-304B-8C8B-8208D4A150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206647" y="5667871"/>
              <a:ext cx="3605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90478" tIns="44445" rIns="90478" bIns="44445" anchor="ctr"/>
            <a:lstStyle/>
            <a:p>
              <a:endParaRPr lang="en-US" sz="11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89" name="Text Box 45">
              <a:extLst>
                <a:ext uri="{FF2B5EF4-FFF2-40B4-BE49-F238E27FC236}">
                  <a16:creationId xmlns:a16="http://schemas.microsoft.com/office/drawing/2014/main" id="{CDC318E0-D4BD-B84D-96FB-C12BA2573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63409" y="5381682"/>
              <a:ext cx="612587" cy="305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marL="2286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algn="ctr" eaLnBrk="0" fontAlgn="base" hangingPunct="0">
                <a:lnSpc>
                  <a:spcPct val="80000"/>
                </a:lnSpc>
                <a:spcBef>
                  <a:spcPct val="20000"/>
                </a:spcBef>
                <a:spcAft>
                  <a:spcPct val="0"/>
                </a:spcAft>
                <a:buSzPct val="100000"/>
                <a:defRPr sz="2200" b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r>
                <a:rPr lang="en-US" sz="1400" b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Result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2AB5738F-6056-3548-A2D5-586B019F14FA}"/>
              </a:ext>
            </a:extLst>
          </p:cNvPr>
          <p:cNvSpPr txBox="1"/>
          <p:nvPr/>
        </p:nvSpPr>
        <p:spPr>
          <a:xfrm>
            <a:off x="4514112" y="4290563"/>
            <a:ext cx="3784674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>
              <a:spcBef>
                <a:spcPct val="15000"/>
              </a:spcBef>
              <a:tabLst>
                <a:tab pos="2635250" algn="l"/>
              </a:tabLst>
            </a:pPr>
            <a:r>
              <a:rPr lang="en-US" sz="1200" dirty="0">
                <a:solidFill>
                  <a:schemeClr val="accent1">
                    <a:lumMod val="5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Disk Latency = Queuing Time + Controller time +</a:t>
            </a:r>
            <a:br>
              <a:rPr lang="en-US" sz="1200" dirty="0">
                <a:solidFill>
                  <a:schemeClr val="accent1">
                    <a:lumMod val="5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200" dirty="0">
                <a:solidFill>
                  <a:schemeClr val="accent1">
                    <a:lumMod val="5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                      Seek Time + Rotation Time + Transfer Time</a:t>
            </a:r>
          </a:p>
        </p:txBody>
      </p:sp>
    </p:spTree>
    <p:extLst>
      <p:ext uri="{BB962C8B-B14F-4D97-AF65-F5344CB8AC3E}">
        <p14:creationId xmlns:p14="http://schemas.microsoft.com/office/powerpoint/2010/main" val="411217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7" grpId="0"/>
      <p:bldP spid="48" grpId="0"/>
      <p:bldP spid="60" grpId="0" animBg="1"/>
      <p:bldP spid="9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Disk Performance Example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Assumptions</a:t>
            </a:r>
          </a:p>
          <a:p>
            <a:pPr lvl="1"/>
            <a:r>
              <a:rPr lang="en-US" sz="1400" dirty="0"/>
              <a:t>Ignoring queuing and controller times for now</a:t>
            </a:r>
          </a:p>
          <a:p>
            <a:pPr lvl="1"/>
            <a:r>
              <a:rPr lang="en-US" sz="1400" dirty="0"/>
              <a:t>Average seek time of 5ms</a:t>
            </a:r>
          </a:p>
          <a:p>
            <a:pPr lvl="1"/>
            <a:r>
              <a:rPr lang="en-US" sz="1400" dirty="0"/>
              <a:t>7200RPM </a:t>
            </a:r>
            <a:r>
              <a:rPr lang="en-US" sz="1400" dirty="0">
                <a:sym typeface="Symbol" charset="0"/>
              </a:rPr>
              <a:t> t</a:t>
            </a:r>
            <a:r>
              <a:rPr lang="en-US" sz="1400" dirty="0"/>
              <a:t>ime for rotation: 60000 (</a:t>
            </a:r>
            <a:r>
              <a:rPr lang="en-US" sz="1400" dirty="0" err="1"/>
              <a:t>ms</a:t>
            </a:r>
            <a:r>
              <a:rPr lang="en-US" sz="1400" dirty="0"/>
              <a:t>/minute) / 7200 (rotation/minute) </a:t>
            </a:r>
            <a:r>
              <a:rPr lang="en-US" sz="1400" dirty="0">
                <a:sym typeface="Symbol" panose="05050102010706020507" pitchFamily="18" charset="2"/>
              </a:rPr>
              <a:t></a:t>
            </a:r>
            <a:r>
              <a:rPr lang="en-US" sz="1400" dirty="0"/>
              <a:t> 8ms</a:t>
            </a:r>
          </a:p>
          <a:p>
            <a:pPr lvl="1"/>
            <a:r>
              <a:rPr lang="en-US" sz="1400" dirty="0"/>
              <a:t>Transfer rate of 4 MiB/s, sector size of 1KiB </a:t>
            </a:r>
            <a:r>
              <a:rPr lang="en-US" sz="1400" dirty="0">
                <a:sym typeface="Symbol" panose="05050102010706020507" pitchFamily="18" charset="2"/>
              </a:rPr>
              <a:t> 2</a:t>
            </a:r>
            <a:r>
              <a:rPr lang="en-US" sz="1400" baseline="30000" dirty="0">
                <a:sym typeface="Symbol" panose="05050102010706020507" pitchFamily="18" charset="2"/>
              </a:rPr>
              <a:t>10</a:t>
            </a:r>
            <a:r>
              <a:rPr lang="en-US" sz="1400" dirty="0">
                <a:sym typeface="Symbol" panose="05050102010706020507" pitchFamily="18" charset="2"/>
              </a:rPr>
              <a:t> B / 2</a:t>
            </a:r>
            <a:r>
              <a:rPr lang="en-US" sz="1400" baseline="30000" dirty="0">
                <a:sym typeface="Symbol" panose="05050102010706020507" pitchFamily="18" charset="2"/>
              </a:rPr>
              <a:t>22</a:t>
            </a:r>
            <a:r>
              <a:rPr lang="en-US" sz="1400" dirty="0">
                <a:sym typeface="Symbol" panose="05050102010706020507" pitchFamily="18" charset="2"/>
              </a:rPr>
              <a:t> (B/s) </a:t>
            </a:r>
            <a:r>
              <a:rPr lang="en-US" sz="1400" dirty="0">
                <a:latin typeface="+mj-lt"/>
                <a:sym typeface="Symbol" panose="05050102010706020507" pitchFamily="18" charset="2"/>
              </a:rPr>
              <a:t>=</a:t>
            </a:r>
            <a:r>
              <a:rPr lang="en-US" sz="1400" dirty="0">
                <a:sym typeface="Symbol" panose="05050102010706020507" pitchFamily="18" charset="2"/>
              </a:rPr>
              <a:t> 2</a:t>
            </a:r>
            <a:r>
              <a:rPr lang="en-US" sz="1400" baseline="30000" dirty="0">
                <a:sym typeface="Symbol" panose="05050102010706020507" pitchFamily="18" charset="2"/>
              </a:rPr>
              <a:t>-12</a:t>
            </a:r>
            <a:r>
              <a:rPr lang="en-US" sz="1400" dirty="0">
                <a:sym typeface="Symbol" panose="05050102010706020507" pitchFamily="18" charset="2"/>
              </a:rPr>
              <a:t> s  0.24ms</a:t>
            </a:r>
            <a:endParaRPr lang="en-US" sz="1400" dirty="0"/>
          </a:p>
          <a:p>
            <a:r>
              <a:rPr lang="en-US" sz="1600" dirty="0"/>
              <a:t>Read sector from random place on disk</a:t>
            </a:r>
          </a:p>
          <a:p>
            <a:pPr lvl="1"/>
            <a:r>
              <a:rPr lang="en-US" sz="1400" dirty="0"/>
              <a:t>Seek (5ms) + rotational delay (4ms) + transfer (0.24ms)</a:t>
            </a:r>
          </a:p>
          <a:p>
            <a:pPr lvl="1"/>
            <a:r>
              <a:rPr lang="en-US" sz="1400" dirty="0"/>
              <a:t>Approximately 10ms to fetch/put data: 100KiB/s</a:t>
            </a:r>
          </a:p>
          <a:p>
            <a:r>
              <a:rPr lang="en-US" sz="1600" dirty="0"/>
              <a:t>Read sector from random place in same cylinder</a:t>
            </a:r>
          </a:p>
          <a:p>
            <a:pPr lvl="1"/>
            <a:r>
              <a:rPr lang="en-US" sz="1400" dirty="0"/>
              <a:t>Rotational delay (4ms) + transfer (0.24ms)</a:t>
            </a:r>
          </a:p>
          <a:p>
            <a:pPr lvl="1"/>
            <a:r>
              <a:rPr lang="en-US" sz="1400" dirty="0"/>
              <a:t>Approximately 5ms to fetch/put data: 200 KiB/s</a:t>
            </a:r>
          </a:p>
          <a:p>
            <a:r>
              <a:rPr lang="en-US" sz="1600" dirty="0"/>
              <a:t>Read next sector on same track</a:t>
            </a:r>
          </a:p>
          <a:p>
            <a:pPr lvl="1"/>
            <a:r>
              <a:rPr lang="en-US" sz="1400" dirty="0"/>
              <a:t>Transfer (0.24ms): 4 MiB/s</a:t>
            </a:r>
          </a:p>
          <a:p>
            <a:r>
              <a:rPr lang="en-US" sz="1600" dirty="0">
                <a:solidFill>
                  <a:srgbClr val="FF0000"/>
                </a:solidFill>
              </a:rPr>
              <a:t>Key to using disk effectively (especially for file systems) is to minimize seek &amp; rotational delays</a:t>
            </a:r>
          </a:p>
        </p:txBody>
      </p:sp>
    </p:spTree>
    <p:extLst>
      <p:ext uri="{BB962C8B-B14F-4D97-AF65-F5344CB8AC3E}">
        <p14:creationId xmlns:p14="http://schemas.microsoft.com/office/powerpoint/2010/main" val="71644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build="p" bldLvl="2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How long to complete 500 random disk reads (in FIFO order)?</a:t>
            </a:r>
          </a:p>
          <a:p>
            <a:pPr lvl="1"/>
            <a:r>
              <a:rPr lang="en-US" sz="1600" dirty="0"/>
              <a:t>500 x 9.24ms = 4.12s</a:t>
            </a:r>
          </a:p>
          <a:p>
            <a:pPr lvl="0"/>
            <a:r>
              <a:rPr lang="en-US" sz="1800" dirty="0"/>
              <a:t>How long to complete 500 sequential disk reads (starting from random sector)?</a:t>
            </a:r>
          </a:p>
          <a:p>
            <a:pPr lvl="1"/>
            <a:r>
              <a:rPr lang="en-US" sz="1600" dirty="0"/>
              <a:t>Seek (5ms) + rotational delay (4ms) + transfer (500 x 0.24ms) = </a:t>
            </a:r>
            <a:r>
              <a:rPr lang="en-US" sz="1600" dirty="0">
                <a:sym typeface="Symbol" panose="05050102010706020507" pitchFamily="18" charset="2"/>
              </a:rPr>
              <a:t>0.129s</a:t>
            </a:r>
            <a:endParaRPr lang="en-US" sz="1600" dirty="0"/>
          </a:p>
          <a:p>
            <a:pPr lvl="2"/>
            <a:r>
              <a:rPr lang="en-US" sz="1400" dirty="0"/>
              <a:t>Might need an extra head or track switch</a:t>
            </a:r>
          </a:p>
          <a:p>
            <a:pPr lvl="2"/>
            <a:r>
              <a:rPr lang="en-US" sz="1400" dirty="0"/>
              <a:t>Track buffer may allow some sectors to be read off disk out of order</a:t>
            </a:r>
          </a:p>
          <a:p>
            <a:r>
              <a:rPr lang="en-US" sz="1800" dirty="0"/>
              <a:t>How large transferred data should be to achieve 80% of max disk transfer rate </a:t>
            </a:r>
            <a:br>
              <a:rPr lang="en-US" sz="1800" dirty="0"/>
            </a:br>
            <a:r>
              <a:rPr lang="en-US" sz="1800" dirty="0"/>
              <a:t>(zero track-to-track seek time)?</a:t>
            </a:r>
          </a:p>
          <a:p>
            <a:pPr lvl="1"/>
            <a:r>
              <a:rPr lang="en-US" sz="1600" dirty="0"/>
              <a:t>Recall: effective bandwidth = data size/latency = peak bandwidth x transfer time/latency</a:t>
            </a:r>
          </a:p>
          <a:p>
            <a:pPr lvl="1"/>
            <a:r>
              <a:rPr lang="en-US" sz="1600" dirty="0"/>
              <a:t>Transfer time / latency = 0.8</a:t>
            </a:r>
          </a:p>
          <a:p>
            <a:pPr lvl="2"/>
            <a:r>
              <a:rPr lang="en-US" sz="1400" dirty="0"/>
              <a:t>Latency = Seek (5ms) + Transfer time</a:t>
            </a:r>
          </a:p>
          <a:p>
            <a:pPr lvl="2"/>
            <a:r>
              <a:rPr lang="en-US" sz="1200" dirty="0"/>
              <a:t>Note that rotational delay is zero because entire track is transferred</a:t>
            </a:r>
            <a:endParaRPr lang="en-US" sz="1600" dirty="0"/>
          </a:p>
          <a:p>
            <a:pPr lvl="2"/>
            <a:r>
              <a:rPr lang="en-US" sz="1400" dirty="0"/>
              <a:t>Transfer time = 20ms</a:t>
            </a:r>
          </a:p>
          <a:p>
            <a:pPr lvl="2"/>
            <a:r>
              <a:rPr lang="en-US" sz="1400" dirty="0"/>
              <a:t>Data size = 20ms x 4 MB/s </a:t>
            </a:r>
            <a:r>
              <a:rPr lang="en-US" sz="1400" dirty="0">
                <a:sym typeface="Symbol" panose="05050102010706020507" pitchFamily="18" charset="2"/>
              </a:rPr>
              <a:t> 80KiB</a:t>
            </a:r>
            <a:endParaRPr lang="en-US" sz="14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endParaRPr lang="en-US" sz="1800" dirty="0"/>
          </a:p>
          <a:p>
            <a:pPr lvl="1"/>
            <a:endParaRPr lang="en-US" sz="16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33433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(Lots of) Intelligence in 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Sectors contain sophisticated </a:t>
            </a:r>
            <a:r>
              <a:rPr lang="en-US" sz="1800" dirty="0">
                <a:solidFill>
                  <a:srgbClr val="FF0000"/>
                </a:solidFill>
              </a:rPr>
              <a:t>error correcting codes</a:t>
            </a:r>
          </a:p>
          <a:p>
            <a:pPr lvl="1"/>
            <a:r>
              <a:rPr lang="en-US" sz="1600" dirty="0"/>
              <a:t>Disk head magnet has field wider than track</a:t>
            </a:r>
          </a:p>
          <a:p>
            <a:pPr lvl="1"/>
            <a:r>
              <a:rPr lang="en-US" sz="1600" dirty="0"/>
              <a:t>Hide corruptions due to neighboring track writes</a:t>
            </a:r>
          </a:p>
          <a:p>
            <a:pPr lvl="1"/>
            <a:endParaRPr lang="en-US" sz="1600" dirty="0"/>
          </a:p>
          <a:p>
            <a:r>
              <a:rPr lang="en-US" sz="1800" dirty="0">
                <a:solidFill>
                  <a:srgbClr val="FF0000"/>
                </a:solidFill>
              </a:rPr>
              <a:t>Sector sparing</a:t>
            </a:r>
          </a:p>
          <a:p>
            <a:pPr lvl="1"/>
            <a:r>
              <a:rPr lang="en-US" sz="1600" dirty="0"/>
              <a:t>Remap bad sectors transparently to spare </a:t>
            </a:r>
            <a:br>
              <a:rPr lang="en-US" sz="1600" dirty="0"/>
            </a:br>
            <a:r>
              <a:rPr lang="en-US" sz="1600" dirty="0"/>
              <a:t>sectors on the same surface</a:t>
            </a:r>
          </a:p>
          <a:p>
            <a:r>
              <a:rPr lang="en-US" sz="1800" dirty="0">
                <a:solidFill>
                  <a:srgbClr val="FF0000"/>
                </a:solidFill>
              </a:rPr>
              <a:t>Slip sparing</a:t>
            </a:r>
          </a:p>
          <a:p>
            <a:pPr lvl="1"/>
            <a:r>
              <a:rPr lang="en-US" sz="1600" dirty="0"/>
              <a:t>Remap all sectors (when there is a bad sector) </a:t>
            </a:r>
            <a:br>
              <a:rPr lang="en-US" sz="1600" dirty="0"/>
            </a:br>
            <a:r>
              <a:rPr lang="en-US" sz="1600" dirty="0"/>
              <a:t>to preserve sequential behavior</a:t>
            </a:r>
          </a:p>
          <a:p>
            <a:r>
              <a:rPr lang="en-US" sz="1800" dirty="0">
                <a:solidFill>
                  <a:srgbClr val="FF0000"/>
                </a:solidFill>
              </a:rPr>
              <a:t>Track skewing</a:t>
            </a:r>
          </a:p>
          <a:p>
            <a:pPr lvl="1"/>
            <a:r>
              <a:rPr lang="en-US" sz="1600" dirty="0"/>
              <a:t>Offset sector numbers to allow for </a:t>
            </a:r>
            <a:br>
              <a:rPr lang="en-US" sz="1600" dirty="0"/>
            </a:br>
            <a:r>
              <a:rPr lang="en-US" sz="1600" dirty="0"/>
              <a:t>disk head movement to achieve sequential operations</a:t>
            </a:r>
          </a:p>
          <a:p>
            <a:pPr lvl="1"/>
            <a:endParaRPr lang="en-US" sz="1600" dirty="0"/>
          </a:p>
          <a:p>
            <a:r>
              <a:rPr lang="en-US" sz="1800" dirty="0"/>
              <a:t>…</a:t>
            </a:r>
          </a:p>
          <a:p>
            <a:pPr lvl="1"/>
            <a:endParaRPr lang="en-US" sz="1600" dirty="0"/>
          </a:p>
        </p:txBody>
      </p:sp>
      <p:pic>
        <p:nvPicPr>
          <p:cNvPr id="3074" name="Picture 2" descr="Intelligence by lazy_senior - Meme Center">
            <a:extLst>
              <a:ext uri="{FF2B5EF4-FFF2-40B4-BE49-F238E27FC236}">
                <a16:creationId xmlns:a16="http://schemas.microsoft.com/office/drawing/2014/main" id="{F0541E6A-F050-3047-8FD9-A1AC864354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127718" y="1676400"/>
            <a:ext cx="2387632" cy="185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2988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Current HDDs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F722A1-E229-3145-9623-2923EC56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Seagate EXOS X14 (2018)</a:t>
            </a:r>
          </a:p>
          <a:p>
            <a:pPr lvl="1"/>
            <a:r>
              <a:rPr lang="en-US" sz="1600" dirty="0"/>
              <a:t>14 TB hard disk</a:t>
            </a:r>
          </a:p>
          <a:p>
            <a:pPr lvl="1"/>
            <a:r>
              <a:rPr lang="en-US" sz="1600" dirty="0"/>
              <a:t>8 platters, 16 heads</a:t>
            </a:r>
          </a:p>
          <a:p>
            <a:pPr lvl="1"/>
            <a:r>
              <a:rPr lang="en-US" sz="1600" dirty="0"/>
              <a:t>4.16 </a:t>
            </a:r>
            <a:r>
              <a:rPr lang="en-US" sz="1600" dirty="0" err="1"/>
              <a:t>ms</a:t>
            </a:r>
            <a:r>
              <a:rPr lang="en-US" sz="1600" dirty="0"/>
              <a:t> average seek time</a:t>
            </a:r>
          </a:p>
          <a:p>
            <a:pPr lvl="1"/>
            <a:r>
              <a:rPr lang="en-US" sz="1600" dirty="0"/>
              <a:t>4 KB physical sectors</a:t>
            </a:r>
          </a:p>
          <a:p>
            <a:pPr lvl="1"/>
            <a:r>
              <a:rPr lang="en-US" sz="1600" dirty="0"/>
              <a:t>7200 RPMs</a:t>
            </a:r>
          </a:p>
          <a:p>
            <a:pPr lvl="1"/>
            <a:r>
              <a:rPr lang="en-US" sz="1600" dirty="0"/>
              <a:t>6 Gbps SATA / 12Gbps SAS interface</a:t>
            </a:r>
          </a:p>
          <a:p>
            <a:pPr lvl="1"/>
            <a:r>
              <a:rPr lang="en-US" sz="1600" dirty="0"/>
              <a:t>261 MB/s MAX transfer rate</a:t>
            </a:r>
          </a:p>
          <a:p>
            <a:pPr lvl="1"/>
            <a:r>
              <a:rPr lang="en-US" sz="1600" dirty="0"/>
              <a:t>Cache size: 256 MB </a:t>
            </a:r>
          </a:p>
          <a:p>
            <a:endParaRPr lang="en-US" sz="1800" dirty="0"/>
          </a:p>
          <a:p>
            <a:r>
              <a:rPr lang="en-US" sz="1800" dirty="0"/>
              <a:t>IBM Personal Computer/AT (1986)</a:t>
            </a:r>
          </a:p>
          <a:p>
            <a:pPr lvl="1"/>
            <a:r>
              <a:rPr lang="en-US" sz="1600" dirty="0"/>
              <a:t>30 MB hard disk</a:t>
            </a:r>
          </a:p>
          <a:p>
            <a:pPr lvl="1"/>
            <a:r>
              <a:rPr lang="en-US" sz="1600" dirty="0"/>
              <a:t>30-40 </a:t>
            </a:r>
            <a:r>
              <a:rPr lang="en-US" sz="1600" dirty="0" err="1"/>
              <a:t>ms</a:t>
            </a:r>
            <a:r>
              <a:rPr lang="en-US" sz="1600" dirty="0"/>
              <a:t> seek time</a:t>
            </a:r>
          </a:p>
          <a:p>
            <a:pPr lvl="1"/>
            <a:r>
              <a:rPr lang="en-US" sz="1600" dirty="0"/>
              <a:t>0.7-1 MB/s (est.)</a:t>
            </a:r>
          </a:p>
          <a:p>
            <a:endParaRPr lang="en-US" sz="1800" dirty="0"/>
          </a:p>
          <a:p>
            <a:pPr lvl="1"/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06671" y="1676400"/>
            <a:ext cx="2208679" cy="317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85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Disk Scheduling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FCFS</a:t>
            </a:r>
            <a:r>
              <a:rPr lang="en-US" sz="1800" dirty="0"/>
              <a:t>: schedule requests in order they arrive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Fair among requests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– Poor performance for sequence of requests </a:t>
            </a:r>
            <a:br>
              <a:rPr lang="en-US" sz="1600" dirty="0">
                <a:solidFill>
                  <a:srgbClr val="FF0000"/>
                </a:solidFill>
              </a:rPr>
            </a:br>
            <a:r>
              <a:rPr lang="en-US" sz="1600" dirty="0">
                <a:solidFill>
                  <a:srgbClr val="FF0000"/>
                </a:solidFill>
              </a:rPr>
              <a:t>that alternate between outer and inner tracks</a:t>
            </a:r>
          </a:p>
          <a:p>
            <a:pPr lvl="4"/>
            <a:endParaRPr lang="en-US" sz="700" dirty="0"/>
          </a:p>
          <a:p>
            <a:r>
              <a:rPr lang="en-US" sz="1800" dirty="0">
                <a:solidFill>
                  <a:srgbClr val="FF0000"/>
                </a:solidFill>
              </a:rPr>
              <a:t>Shortest seek time first (SSTF)</a:t>
            </a:r>
            <a:r>
              <a:rPr lang="en-US" sz="1800" dirty="0"/>
              <a:t>: pick the request that is closest to head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Avoid frequent long seeks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– May lead to starvation!</a:t>
            </a:r>
          </a:p>
          <a:p>
            <a:pPr lvl="4"/>
            <a:endParaRPr lang="en-US" sz="700" dirty="0"/>
          </a:p>
          <a:p>
            <a:r>
              <a:rPr lang="en-US" sz="1800" dirty="0">
                <a:solidFill>
                  <a:srgbClr val="FF0000"/>
                </a:solidFill>
              </a:rPr>
              <a:t>SCAN</a:t>
            </a:r>
            <a:r>
              <a:rPr lang="en-US" sz="1800" dirty="0"/>
              <a:t>: move disk arm in one direction, </a:t>
            </a:r>
            <a:br>
              <a:rPr lang="en-US" sz="1800" dirty="0"/>
            </a:br>
            <a:r>
              <a:rPr lang="en-US" sz="1800" dirty="0"/>
              <a:t>take the closest request in direction of travel, </a:t>
            </a:r>
            <a:br>
              <a:rPr lang="en-US" sz="1800" dirty="0"/>
            </a:br>
            <a:r>
              <a:rPr lang="en-US" sz="1800" dirty="0"/>
              <a:t>then reverse direction also called “elevator scheduling”)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No starvation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+ Low seek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– Favoring middle tracks</a:t>
            </a:r>
          </a:p>
        </p:txBody>
      </p:sp>
      <p:pic>
        <p:nvPicPr>
          <p:cNvPr id="4" name="Content Placeholder 4" descr="scan.pdf">
            <a:extLst>
              <a:ext uri="{FF2B5EF4-FFF2-40B4-BE49-F238E27FC236}">
                <a16:creationId xmlns:a16="http://schemas.microsoft.com/office/drawing/2014/main" id="{0BD45A05-004D-A140-85CA-8F601C489C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982" r="-8885"/>
          <a:stretch/>
        </p:blipFill>
        <p:spPr>
          <a:xfrm>
            <a:off x="7032137" y="3842862"/>
            <a:ext cx="1483213" cy="2553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712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Disk Scheduling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solidFill>
                  <a:srgbClr val="FF0000"/>
                </a:solidFill>
              </a:rPr>
              <a:t>CSCAN</a:t>
            </a:r>
            <a:r>
              <a:rPr lang="en-US" sz="2000" dirty="0"/>
              <a:t>: move disk arm in one direction, </a:t>
            </a:r>
            <a:br>
              <a:rPr lang="en-US" sz="2000" dirty="0"/>
            </a:br>
            <a:r>
              <a:rPr lang="en-US" sz="2000" dirty="0"/>
              <a:t>take the closest request in direction of travel, </a:t>
            </a:r>
            <a:br>
              <a:rPr lang="en-US" sz="2000" dirty="0"/>
            </a:br>
            <a:r>
              <a:rPr lang="en-US" sz="2000" dirty="0"/>
              <a:t>then start again from farthest request</a:t>
            </a:r>
          </a:p>
          <a:p>
            <a:pPr lvl="1"/>
            <a:r>
              <a:rPr lang="en-US" sz="1800" dirty="0">
                <a:solidFill>
                  <a:srgbClr val="00B050"/>
                </a:solidFill>
              </a:rPr>
              <a:t>+ Fairer than SCAN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– Longer seeks on the way back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pPr algn="r"/>
            <a:r>
              <a:rPr lang="en-US" sz="2000" dirty="0">
                <a:solidFill>
                  <a:srgbClr val="FF0000"/>
                </a:solidFill>
              </a:rPr>
              <a:t>R-CSCAN</a:t>
            </a:r>
            <a:r>
              <a:rPr lang="en-US" sz="2000" dirty="0"/>
              <a:t>: CSCAN but consider that </a:t>
            </a:r>
            <a:br>
              <a:rPr lang="en-US" sz="2000" dirty="0"/>
            </a:br>
            <a:r>
              <a:rPr lang="en-US" sz="2000" dirty="0"/>
              <a:t>short track switch has rotational delay</a:t>
            </a:r>
          </a:p>
          <a:p>
            <a:endParaRPr lang="en-US" sz="2000" dirty="0"/>
          </a:p>
        </p:txBody>
      </p:sp>
      <p:pic>
        <p:nvPicPr>
          <p:cNvPr id="6" name="Content Placeholder 3" descr="cscan.pdf">
            <a:extLst>
              <a:ext uri="{FF2B5EF4-FFF2-40B4-BE49-F238E27FC236}">
                <a16:creationId xmlns:a16="http://schemas.microsoft.com/office/drawing/2014/main" id="{6787C5B1-C900-694D-AF69-DA6A584F3CF3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9607" r="-5467"/>
          <a:stretch/>
        </p:blipFill>
        <p:spPr>
          <a:xfrm>
            <a:off x="5879443" y="1475463"/>
            <a:ext cx="1385887" cy="2443163"/>
          </a:xfrm>
          <a:prstGeom prst="rect">
            <a:avLst/>
          </a:prstGeom>
        </p:spPr>
      </p:pic>
      <p:pic>
        <p:nvPicPr>
          <p:cNvPr id="5" name="Content Placeholder 5" descr="r-cscan.pdf">
            <a:extLst>
              <a:ext uri="{FF2B5EF4-FFF2-40B4-BE49-F238E27FC236}">
                <a16:creationId xmlns:a16="http://schemas.microsoft.com/office/drawing/2014/main" id="{10366A63-70C9-D649-98D5-F6D62C0364B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154" r="-11333"/>
          <a:stretch/>
        </p:blipFill>
        <p:spPr bwMode="auto">
          <a:xfrm>
            <a:off x="1753693" y="3918626"/>
            <a:ext cx="1510865" cy="2443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0898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2">
            <a:extLst>
              <a:ext uri="{FF2B5EF4-FFF2-40B4-BE49-F238E27FC236}">
                <a16:creationId xmlns:a16="http://schemas.microsoft.com/office/drawing/2014/main" id="{BAA6FFC5-D4CC-A94C-818D-5362028AA2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Example: FCFS</a:t>
            </a:r>
          </a:p>
        </p:txBody>
      </p:sp>
      <p:pic>
        <p:nvPicPr>
          <p:cNvPr id="36867" name="Picture 6">
            <a:extLst>
              <a:ext uri="{FF2B5EF4-FFF2-40B4-BE49-F238E27FC236}">
                <a16:creationId xmlns:a16="http://schemas.microsoft.com/office/drawing/2014/main" id="{D897C559-8469-0F40-A349-42D855DFD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58607" y="2300209"/>
            <a:ext cx="4826786" cy="349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846486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2">
            <a:extLst>
              <a:ext uri="{FF2B5EF4-FFF2-40B4-BE49-F238E27FC236}">
                <a16:creationId xmlns:a16="http://schemas.microsoft.com/office/drawing/2014/main" id="{C24C14D8-41C2-C44F-A85F-E2BF039391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Example: SCAN</a:t>
            </a:r>
          </a:p>
        </p:txBody>
      </p:sp>
      <p:pic>
        <p:nvPicPr>
          <p:cNvPr id="40962" name="Picture 6">
            <a:extLst>
              <a:ext uri="{FF2B5EF4-FFF2-40B4-BE49-F238E27FC236}">
                <a16:creationId xmlns:a16="http://schemas.microsoft.com/office/drawing/2014/main" id="{3982F2C5-4C70-B54F-913C-B4F2743D7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00223" y="2203613"/>
            <a:ext cx="4943554" cy="3728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076939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2">
            <a:extLst>
              <a:ext uri="{FF2B5EF4-FFF2-40B4-BE49-F238E27FC236}">
                <a16:creationId xmlns:a16="http://schemas.microsoft.com/office/drawing/2014/main" id="{57FBCE29-08D8-B14C-9204-AC68E1CC28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Example: C-SCAN</a:t>
            </a:r>
          </a:p>
        </p:txBody>
      </p:sp>
      <p:pic>
        <p:nvPicPr>
          <p:cNvPr id="45058" name="Picture 4">
            <a:extLst>
              <a:ext uri="{FF2B5EF4-FFF2-40B4-BE49-F238E27FC236}">
                <a16:creationId xmlns:a16="http://schemas.microsoft.com/office/drawing/2014/main" id="{4742D14C-77EB-9149-9A4C-C96B63DAC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06" t="3731" r="925" b="3731"/>
          <a:stretch>
            <a:fillRect/>
          </a:stretch>
        </p:blipFill>
        <p:spPr bwMode="auto">
          <a:xfrm>
            <a:off x="2174349" y="2069972"/>
            <a:ext cx="4795300" cy="3384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 cmpd="dbl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135803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Final Notes on Disk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2000" dirty="0"/>
              <a:t>When is disk performance highest?</a:t>
            </a:r>
          </a:p>
          <a:p>
            <a:pPr lvl="1"/>
            <a:r>
              <a:rPr lang="en-US" sz="1800" dirty="0"/>
              <a:t>When there are big sequential reads, or</a:t>
            </a:r>
          </a:p>
          <a:p>
            <a:pPr lvl="1"/>
            <a:r>
              <a:rPr lang="en-US" sz="1800" dirty="0"/>
              <a:t>When there is so much work to do that they can be piggy backed </a:t>
            </a:r>
            <a:br>
              <a:rPr lang="en-US" sz="1800" dirty="0"/>
            </a:br>
            <a:r>
              <a:rPr lang="en-US" sz="1800" dirty="0"/>
              <a:t>(reordering queues)</a:t>
            </a:r>
          </a:p>
          <a:p>
            <a:pPr lvl="1"/>
            <a:endParaRPr lang="en-US" sz="1800" dirty="0"/>
          </a:p>
          <a:p>
            <a:r>
              <a:rPr lang="en-US" sz="2000" dirty="0"/>
              <a:t>OK to be inefficient when things are mostly idle</a:t>
            </a:r>
          </a:p>
          <a:p>
            <a:pPr lvl="1"/>
            <a:endParaRPr lang="en-US" sz="1800" dirty="0"/>
          </a:p>
          <a:p>
            <a:r>
              <a:rPr lang="en-US" sz="2000" dirty="0"/>
              <a:t>Bursts are both a threat and an opportunity</a:t>
            </a:r>
          </a:p>
          <a:p>
            <a:pPr lvl="1"/>
            <a:endParaRPr lang="en-US" sz="1800" dirty="0"/>
          </a:p>
          <a:p>
            <a:r>
              <a:rPr lang="en-US" sz="2000" dirty="0"/>
              <a:t>Other techniques:</a:t>
            </a:r>
          </a:p>
          <a:p>
            <a:pPr lvl="1"/>
            <a:r>
              <a:rPr lang="en-US" sz="1800" dirty="0"/>
              <a:t>Reduce overhead through user level drivers</a:t>
            </a:r>
          </a:p>
          <a:p>
            <a:pPr lvl="1"/>
            <a:r>
              <a:rPr lang="en-US" sz="1800" dirty="0"/>
              <a:t>Reduce the impact of I/O delays by doing other useful work in the meantime</a:t>
            </a:r>
          </a:p>
          <a:p>
            <a:endParaRPr lang="en-US" sz="2000" dirty="0"/>
          </a:p>
          <a:p>
            <a:pPr lvl="1"/>
            <a:endParaRPr lang="en-US" sz="18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950893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Flash Memory</a:t>
            </a:r>
            <a:endParaRPr lang="en-US" dirty="0"/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1995: replace rotating magnetic media with battery backed DRAM</a:t>
            </a:r>
          </a:p>
          <a:p>
            <a:r>
              <a:rPr lang="en-US" sz="1800" dirty="0"/>
              <a:t>2009: use NAND multi-level cell (e.g., 2 or 3-bit cell) flash memory</a:t>
            </a:r>
          </a:p>
          <a:p>
            <a:pPr lvl="1"/>
            <a:r>
              <a:rPr lang="en-US" altLang="ja-JP" sz="1600" dirty="0"/>
              <a:t>No charge on FG ⇒ 1 and negative charge on FG ⇒ 0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r>
              <a:rPr lang="en-US" sz="1600" dirty="0"/>
              <a:t>Data can be addressed, read, and modified in pages, typically between 4KiB and 16KiB</a:t>
            </a:r>
          </a:p>
          <a:p>
            <a:pPr lvl="1"/>
            <a:r>
              <a:rPr lang="en-US" sz="1600" dirty="0"/>
              <a:t>But … data can only be erased at level of entire blocks (MiB in size)</a:t>
            </a:r>
          </a:p>
          <a:p>
            <a:pPr lvl="1"/>
            <a:r>
              <a:rPr lang="en-US" sz="1600" dirty="0"/>
              <a:t>When block is erased, all cells are logically set to 1</a:t>
            </a:r>
          </a:p>
          <a:p>
            <a:r>
              <a:rPr lang="en-US" sz="1800" dirty="0"/>
              <a:t>No moving parts (no rotate/seek motors)</a:t>
            </a:r>
          </a:p>
          <a:p>
            <a:pPr lvl="1"/>
            <a:r>
              <a:rPr lang="en-US" sz="1600" dirty="0"/>
              <a:t>Eliminates seek and rotational delay</a:t>
            </a:r>
          </a:p>
          <a:p>
            <a:pPr lvl="1"/>
            <a:r>
              <a:rPr lang="en-US" sz="1600" dirty="0"/>
              <a:t>Very low power and lightweight</a:t>
            </a:r>
          </a:p>
          <a:p>
            <a:pPr lvl="1"/>
            <a:r>
              <a:rPr lang="en-US" sz="1600" dirty="0"/>
              <a:t>Limited “write cycles”</a:t>
            </a:r>
          </a:p>
          <a:p>
            <a:endParaRPr lang="en-US" sz="1800" dirty="0"/>
          </a:p>
          <a:p>
            <a:endParaRPr lang="en-US" sz="1800" dirty="0"/>
          </a:p>
        </p:txBody>
      </p:sp>
      <p:pic>
        <p:nvPicPr>
          <p:cNvPr id="10" name="Content Placeholder 11">
            <a:extLst>
              <a:ext uri="{FF2B5EF4-FFF2-40B4-BE49-F238E27FC236}">
                <a16:creationId xmlns:a16="http://schemas.microsoft.com/office/drawing/2014/main" id="{B177105D-F3B7-D54E-8140-7317852FE6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44719" y="2851098"/>
            <a:ext cx="5242298" cy="1152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BE4A97-018F-384C-BF9B-51819E16E576}"/>
              </a:ext>
            </a:extLst>
          </p:cNvPr>
          <p:cNvSpPr/>
          <p:nvPr/>
        </p:nvSpPr>
        <p:spPr>
          <a:xfrm>
            <a:off x="3851308" y="6645273"/>
            <a:ext cx="1489510" cy="169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5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Figures: </a:t>
            </a:r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www.androidcentral.com</a:t>
            </a:r>
            <a:r>
              <a:rPr lang="en-US" sz="5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 and </a:t>
            </a:r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flashdba.com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pic>
        <p:nvPicPr>
          <p:cNvPr id="12" name="Picture 6" descr="https://flashdba.files.wordpress.com/2015/01/fgmos-read-thresholds1.jpg">
            <a:extLst>
              <a:ext uri="{FF2B5EF4-FFF2-40B4-BE49-F238E27FC236}">
                <a16:creationId xmlns:a16="http://schemas.microsoft.com/office/drawing/2014/main" id="{3EF55080-5644-5741-92C4-52D40BA69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73682" y="2777772"/>
            <a:ext cx="2102348" cy="161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102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 bldLvl="2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Flash Memory: Reads</a:t>
            </a:r>
          </a:p>
        </p:txBody>
      </p:sp>
      <p:sp>
        <p:nvSpPr>
          <p:cNvPr id="43011" name="Content Placeholder 2"/>
          <p:cNvSpPr>
            <a:spLocks noGrp="1"/>
          </p:cNvSpPr>
          <p:nvPr>
            <p:ph idx="1"/>
          </p:nvPr>
        </p:nvSpPr>
        <p:spPr>
          <a:xfrm>
            <a:off x="628650" y="4474447"/>
            <a:ext cx="7886700" cy="2170827"/>
          </a:xfrm>
        </p:spPr>
        <p:txBody>
          <a:bodyPr/>
          <a:lstStyle/>
          <a:p>
            <a:r>
              <a:rPr lang="en-US" sz="1800" dirty="0"/>
              <a:t>Reading data is similar to memory read</a:t>
            </a:r>
          </a:p>
          <a:p>
            <a:pPr lvl="1"/>
            <a:r>
              <a:rPr lang="en-US" sz="1600" dirty="0"/>
              <a:t>No seek or rotational latency</a:t>
            </a:r>
          </a:p>
          <a:p>
            <a:r>
              <a:rPr lang="en-US" sz="1800" dirty="0"/>
              <a:t>Transfer rate is limited by controller and bus</a:t>
            </a:r>
          </a:p>
          <a:p>
            <a:pPr lvl="1"/>
            <a:r>
              <a:rPr lang="en-US" sz="1600" dirty="0"/>
              <a:t>E.g., transfer 4KiB page over SATA: 300-600 MiB/s ⇒ 4KiB / 400MiB/s ~ 10us</a:t>
            </a:r>
          </a:p>
          <a:p>
            <a:r>
              <a:rPr lang="en-US" sz="1800" dirty="0"/>
              <a:t>Latency = queuing time + controller time + transfer time</a:t>
            </a:r>
          </a:p>
          <a:p>
            <a:r>
              <a:rPr lang="en-US" sz="1800" dirty="0"/>
              <a:t>Highest bandwidth: sequential OR random reads</a:t>
            </a:r>
          </a:p>
          <a:p>
            <a:endParaRPr lang="en-US" sz="1800" dirty="0"/>
          </a:p>
        </p:txBody>
      </p:sp>
      <p:sp>
        <p:nvSpPr>
          <p:cNvPr id="23555" name="Rounded Rectangle 3"/>
          <p:cNvSpPr>
            <a:spLocks noChangeArrowheads="1"/>
          </p:cNvSpPr>
          <p:nvPr/>
        </p:nvSpPr>
        <p:spPr bwMode="auto">
          <a:xfrm>
            <a:off x="1724263" y="2505092"/>
            <a:ext cx="755703" cy="528812"/>
          </a:xfrm>
          <a:prstGeom prst="roundRect">
            <a:avLst>
              <a:gd name="adj" fmla="val 16667"/>
            </a:avLst>
          </a:prstGeom>
          <a:solidFill>
            <a:srgbClr val="DFE9FF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78" tIns="44445" rIns="90478" bIns="44445" anchor="ctr"/>
          <a:lstStyle/>
          <a:p>
            <a:pPr indent="-228600" algn="ctr"/>
            <a:r>
              <a: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Host</a:t>
            </a:r>
          </a:p>
        </p:txBody>
      </p:sp>
      <p:sp>
        <p:nvSpPr>
          <p:cNvPr id="23556" name="Rounded Rectangle 5"/>
          <p:cNvSpPr>
            <a:spLocks noChangeArrowheads="1"/>
          </p:cNvSpPr>
          <p:nvPr/>
        </p:nvSpPr>
        <p:spPr bwMode="auto">
          <a:xfrm>
            <a:off x="2940944" y="2529129"/>
            <a:ext cx="1219199" cy="480738"/>
          </a:xfrm>
          <a:prstGeom prst="roundRect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78" tIns="44445" rIns="90478" bIns="44445" anchor="ctr"/>
          <a:lstStyle/>
          <a:p>
            <a:pPr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Buffer Manager</a:t>
            </a:r>
          </a:p>
          <a:p>
            <a:pPr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(Software Queue)</a:t>
            </a:r>
          </a:p>
        </p:txBody>
      </p:sp>
      <p:sp>
        <p:nvSpPr>
          <p:cNvPr id="23557" name="Rounded Rectangle 6"/>
          <p:cNvSpPr>
            <a:spLocks noChangeArrowheads="1"/>
          </p:cNvSpPr>
          <p:nvPr/>
        </p:nvSpPr>
        <p:spPr bwMode="auto">
          <a:xfrm>
            <a:off x="4592837" y="2449567"/>
            <a:ext cx="1070578" cy="639863"/>
          </a:xfrm>
          <a:prstGeom prst="roundRect">
            <a:avLst>
              <a:gd name="adj" fmla="val 16667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78" tIns="44445" rIns="90478" bIns="44445" anchor="ctr"/>
          <a:lstStyle/>
          <a:p>
            <a:pPr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Flash Memory</a:t>
            </a:r>
          </a:p>
          <a:p>
            <a:pPr indent="-228600"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Controller</a:t>
            </a:r>
          </a:p>
        </p:txBody>
      </p:sp>
      <p:sp>
        <p:nvSpPr>
          <p:cNvPr id="23558" name="Rounded Rectangle 7"/>
          <p:cNvSpPr>
            <a:spLocks noChangeArrowheads="1"/>
          </p:cNvSpPr>
          <p:nvPr/>
        </p:nvSpPr>
        <p:spPr bwMode="auto">
          <a:xfrm>
            <a:off x="3141204" y="3438291"/>
            <a:ext cx="818678" cy="425828"/>
          </a:xfrm>
          <a:prstGeom prst="roundRect">
            <a:avLst>
              <a:gd name="adj" fmla="val 16667"/>
            </a:avLst>
          </a:pr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78" tIns="44445" rIns="90478" bIns="44445" anchor="ctr"/>
          <a:lstStyle/>
          <a:p>
            <a:pPr indent="-228600" algn="ctr"/>
            <a:r>
              <a:rPr lang="en-US" sz="1200">
                <a:latin typeface="Gill Sans Light" panose="020B0302020104020203" pitchFamily="34" charset="-79"/>
                <a:cs typeface="Gill Sans Light" panose="020B0302020104020203" pitchFamily="34" charset="-79"/>
              </a:rPr>
              <a:t>DRAM</a:t>
            </a:r>
          </a:p>
        </p:txBody>
      </p:sp>
      <p:cxnSp>
        <p:nvCxnSpPr>
          <p:cNvPr id="23559" name="Straight Arrow Connector 84"/>
          <p:cNvCxnSpPr>
            <a:cxnSpLocks noChangeShapeType="1"/>
          </p:cNvCxnSpPr>
          <p:nvPr/>
        </p:nvCxnSpPr>
        <p:spPr bwMode="auto">
          <a:xfrm>
            <a:off x="2479966" y="2769498"/>
            <a:ext cx="460978" cy="0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3560" name="Straight Arrow Connector 86"/>
          <p:cNvCxnSpPr>
            <a:cxnSpLocks noChangeShapeType="1"/>
          </p:cNvCxnSpPr>
          <p:nvPr/>
        </p:nvCxnSpPr>
        <p:spPr bwMode="auto">
          <a:xfrm>
            <a:off x="4160143" y="2769498"/>
            <a:ext cx="432694" cy="1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3561" name="Straight Arrow Connector 89"/>
          <p:cNvCxnSpPr>
            <a:cxnSpLocks noChangeShapeType="1"/>
            <a:stCxn id="23558" idx="0"/>
            <a:endCxn id="23556" idx="2"/>
          </p:cNvCxnSpPr>
          <p:nvPr/>
        </p:nvCxnSpPr>
        <p:spPr bwMode="auto">
          <a:xfrm flipV="1">
            <a:off x="3550543" y="3009867"/>
            <a:ext cx="1" cy="428424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43019" name="Group 95"/>
          <p:cNvGrpSpPr>
            <a:grpSpLocks/>
          </p:cNvGrpSpPr>
          <p:nvPr/>
        </p:nvGrpSpPr>
        <p:grpSpPr bwMode="auto">
          <a:xfrm>
            <a:off x="6231213" y="1617639"/>
            <a:ext cx="1892569" cy="2806331"/>
            <a:chOff x="5105400" y="990600"/>
            <a:chExt cx="3048000" cy="4519624"/>
          </a:xfrm>
          <a:solidFill>
            <a:srgbClr val="FFC000"/>
          </a:solidFill>
        </p:grpSpPr>
        <p:sp>
          <p:nvSpPr>
            <p:cNvPr id="43022" name="Rounded Rectangle 9"/>
            <p:cNvSpPr>
              <a:spLocks noChangeArrowheads="1"/>
            </p:cNvSpPr>
            <p:nvPr/>
          </p:nvSpPr>
          <p:spPr bwMode="auto">
            <a:xfrm>
              <a:off x="5791200" y="9906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3" name="Rounded Rectangle 8"/>
            <p:cNvSpPr>
              <a:spLocks noChangeArrowheads="1"/>
            </p:cNvSpPr>
            <p:nvPr/>
          </p:nvSpPr>
          <p:spPr bwMode="auto">
            <a:xfrm>
              <a:off x="5638800" y="11430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4" name="Rounded Rectangle 10"/>
            <p:cNvSpPr>
              <a:spLocks noChangeArrowheads="1"/>
            </p:cNvSpPr>
            <p:nvPr/>
          </p:nvSpPr>
          <p:spPr bwMode="auto">
            <a:xfrm>
              <a:off x="5486400" y="12954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5" name="Rounded Rectangle 11"/>
            <p:cNvSpPr>
              <a:spLocks noChangeArrowheads="1"/>
            </p:cNvSpPr>
            <p:nvPr/>
          </p:nvSpPr>
          <p:spPr bwMode="auto">
            <a:xfrm>
              <a:off x="5334000" y="14478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6" name="Rounded Rectangle 12"/>
            <p:cNvSpPr>
              <a:spLocks noChangeArrowheads="1"/>
            </p:cNvSpPr>
            <p:nvPr/>
          </p:nvSpPr>
          <p:spPr bwMode="auto">
            <a:xfrm>
              <a:off x="7086600" y="9906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7" name="Rounded Rectangle 13"/>
            <p:cNvSpPr>
              <a:spLocks noChangeArrowheads="1"/>
            </p:cNvSpPr>
            <p:nvPr/>
          </p:nvSpPr>
          <p:spPr bwMode="auto">
            <a:xfrm>
              <a:off x="6934200" y="11430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8" name="Rounded Rectangle 14"/>
            <p:cNvSpPr>
              <a:spLocks noChangeArrowheads="1"/>
            </p:cNvSpPr>
            <p:nvPr/>
          </p:nvSpPr>
          <p:spPr bwMode="auto">
            <a:xfrm>
              <a:off x="6781800" y="12954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sp>
          <p:nvSpPr>
            <p:cNvPr id="43029" name="Rounded Rectangle 15"/>
            <p:cNvSpPr>
              <a:spLocks noChangeArrowheads="1"/>
            </p:cNvSpPr>
            <p:nvPr/>
          </p:nvSpPr>
          <p:spPr bwMode="auto">
            <a:xfrm>
              <a:off x="6629400" y="1447800"/>
              <a:ext cx="762000" cy="381000"/>
            </a:xfrm>
            <a:prstGeom prst="roundRect">
              <a:avLst>
                <a:gd name="adj" fmla="val 16667"/>
              </a:avLst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78" tIns="44445" rIns="90478" bIns="44445" anchor="ctr"/>
            <a:lstStyle/>
            <a:p>
              <a:pPr indent="-228600" algn="ctr">
                <a:defRPr/>
              </a:pPr>
              <a:r>
                <a:rPr lang="en-US" sz="800" b="0">
                  <a:latin typeface="Gill Sans Light"/>
                  <a:cs typeface="Gill Sans Light"/>
                </a:rPr>
                <a:t>NAND</a:t>
              </a:r>
            </a:p>
          </p:txBody>
        </p:sp>
        <p:cxnSp>
          <p:nvCxnSpPr>
            <p:cNvPr id="43030" name="Straight Arrow Connector 17"/>
            <p:cNvCxnSpPr>
              <a:cxnSpLocks noChangeShapeType="1"/>
            </p:cNvCxnSpPr>
            <p:nvPr/>
          </p:nvCxnSpPr>
          <p:spPr bwMode="auto">
            <a:xfrm>
              <a:off x="5105400" y="2057400"/>
              <a:ext cx="3048000" cy="0"/>
            </a:xfrm>
            <a:prstGeom prst="straightConnector1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cxnSp>
          <p:nvCxnSpPr>
            <p:cNvPr id="43031" name="Straight Connector 19"/>
            <p:cNvCxnSpPr>
              <a:cxnSpLocks noChangeShapeType="1"/>
              <a:stCxn id="43025" idx="2"/>
            </p:cNvCxnSpPr>
            <p:nvPr/>
          </p:nvCxnSpPr>
          <p:spPr bwMode="auto">
            <a:xfrm>
              <a:off x="57150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2" name="Straight Connector 20"/>
            <p:cNvCxnSpPr>
              <a:cxnSpLocks noChangeShapeType="1"/>
            </p:cNvCxnSpPr>
            <p:nvPr/>
          </p:nvCxnSpPr>
          <p:spPr bwMode="auto">
            <a:xfrm>
              <a:off x="58674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3" name="Straight Connector 21"/>
            <p:cNvCxnSpPr>
              <a:cxnSpLocks noChangeShapeType="1"/>
            </p:cNvCxnSpPr>
            <p:nvPr/>
          </p:nvCxnSpPr>
          <p:spPr bwMode="auto">
            <a:xfrm>
              <a:off x="60198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4" name="Straight Connector 22"/>
            <p:cNvCxnSpPr>
              <a:cxnSpLocks noChangeShapeType="1"/>
            </p:cNvCxnSpPr>
            <p:nvPr/>
          </p:nvCxnSpPr>
          <p:spPr bwMode="auto">
            <a:xfrm>
              <a:off x="6172200" y="1676400"/>
              <a:ext cx="0" cy="3810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5" name="Straight Connector 25"/>
            <p:cNvCxnSpPr>
              <a:cxnSpLocks noChangeShapeType="1"/>
            </p:cNvCxnSpPr>
            <p:nvPr/>
          </p:nvCxnSpPr>
          <p:spPr bwMode="auto">
            <a:xfrm>
              <a:off x="70104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6" name="Straight Connector 26"/>
            <p:cNvCxnSpPr>
              <a:cxnSpLocks noChangeShapeType="1"/>
            </p:cNvCxnSpPr>
            <p:nvPr/>
          </p:nvCxnSpPr>
          <p:spPr bwMode="auto">
            <a:xfrm>
              <a:off x="71628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7" name="Straight Connector 27"/>
            <p:cNvCxnSpPr>
              <a:cxnSpLocks noChangeShapeType="1"/>
            </p:cNvCxnSpPr>
            <p:nvPr/>
          </p:nvCxnSpPr>
          <p:spPr bwMode="auto">
            <a:xfrm>
              <a:off x="7315200" y="1828800"/>
              <a:ext cx="0" cy="2286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3038" name="Straight Connector 28"/>
            <p:cNvCxnSpPr>
              <a:cxnSpLocks noChangeShapeType="1"/>
            </p:cNvCxnSpPr>
            <p:nvPr/>
          </p:nvCxnSpPr>
          <p:spPr bwMode="auto">
            <a:xfrm>
              <a:off x="7467600" y="1676400"/>
              <a:ext cx="0" cy="3810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43039" name="Group 46"/>
            <p:cNvGrpSpPr>
              <a:grpSpLocks/>
            </p:cNvGrpSpPr>
            <p:nvPr/>
          </p:nvGrpSpPr>
          <p:grpSpPr bwMode="auto">
            <a:xfrm>
              <a:off x="5105400" y="2133600"/>
              <a:ext cx="3048000" cy="1066800"/>
              <a:chOff x="5105400" y="2133600"/>
              <a:chExt cx="3048000" cy="1066800"/>
            </a:xfrm>
            <a:grpFill/>
          </p:grpSpPr>
          <p:sp>
            <p:nvSpPr>
              <p:cNvPr id="43077" name="Rounded Rectangle 29"/>
              <p:cNvSpPr>
                <a:spLocks noChangeArrowheads="1"/>
              </p:cNvSpPr>
              <p:nvPr/>
            </p:nvSpPr>
            <p:spPr bwMode="auto">
              <a:xfrm>
                <a:off x="57912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78" name="Rounded Rectangle 30"/>
              <p:cNvSpPr>
                <a:spLocks noChangeArrowheads="1"/>
              </p:cNvSpPr>
              <p:nvPr/>
            </p:nvSpPr>
            <p:spPr bwMode="auto">
              <a:xfrm>
                <a:off x="56388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79" name="Rounded Rectangle 31"/>
              <p:cNvSpPr>
                <a:spLocks noChangeArrowheads="1"/>
              </p:cNvSpPr>
              <p:nvPr/>
            </p:nvSpPr>
            <p:spPr bwMode="auto">
              <a:xfrm>
                <a:off x="54864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80" name="Rounded Rectangle 32"/>
              <p:cNvSpPr>
                <a:spLocks noChangeArrowheads="1"/>
              </p:cNvSpPr>
              <p:nvPr/>
            </p:nvSpPr>
            <p:spPr bwMode="auto">
              <a:xfrm>
                <a:off x="53340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81" name="Rounded Rectangle 33"/>
              <p:cNvSpPr>
                <a:spLocks noChangeArrowheads="1"/>
              </p:cNvSpPr>
              <p:nvPr/>
            </p:nvSpPr>
            <p:spPr bwMode="auto">
              <a:xfrm>
                <a:off x="70866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82" name="Rounded Rectangle 34"/>
              <p:cNvSpPr>
                <a:spLocks noChangeArrowheads="1"/>
              </p:cNvSpPr>
              <p:nvPr/>
            </p:nvSpPr>
            <p:spPr bwMode="auto">
              <a:xfrm>
                <a:off x="69342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83" name="Rounded Rectangle 35"/>
              <p:cNvSpPr>
                <a:spLocks noChangeArrowheads="1"/>
              </p:cNvSpPr>
              <p:nvPr/>
            </p:nvSpPr>
            <p:spPr bwMode="auto">
              <a:xfrm>
                <a:off x="67818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84" name="Rounded Rectangle 36"/>
              <p:cNvSpPr>
                <a:spLocks noChangeArrowheads="1"/>
              </p:cNvSpPr>
              <p:nvPr/>
            </p:nvSpPr>
            <p:spPr bwMode="auto">
              <a:xfrm>
                <a:off x="66294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cxnSp>
            <p:nvCxnSpPr>
              <p:cNvPr id="43085" name="Straight Arrow Connector 37"/>
              <p:cNvCxnSpPr>
                <a:cxnSpLocks noChangeShapeType="1"/>
              </p:cNvCxnSpPr>
              <p:nvPr/>
            </p:nvCxnSpPr>
            <p:spPr bwMode="auto">
              <a:xfrm>
                <a:off x="5105400" y="3200400"/>
                <a:ext cx="3048000" cy="0"/>
              </a:xfrm>
              <a:prstGeom prst="straightConnector1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43086" name="Straight Connector 38"/>
              <p:cNvCxnSpPr>
                <a:cxnSpLocks noChangeShapeType="1"/>
                <a:stCxn id="43080" idx="2"/>
              </p:cNvCxnSpPr>
              <p:nvPr/>
            </p:nvCxnSpPr>
            <p:spPr bwMode="auto">
              <a:xfrm>
                <a:off x="57150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87" name="Straight Connector 39"/>
              <p:cNvCxnSpPr>
                <a:cxnSpLocks noChangeShapeType="1"/>
              </p:cNvCxnSpPr>
              <p:nvPr/>
            </p:nvCxnSpPr>
            <p:spPr bwMode="auto">
              <a:xfrm>
                <a:off x="5867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88" name="Straight Connector 40"/>
              <p:cNvCxnSpPr>
                <a:cxnSpLocks noChangeShapeType="1"/>
              </p:cNvCxnSpPr>
              <p:nvPr/>
            </p:nvCxnSpPr>
            <p:spPr bwMode="auto">
              <a:xfrm>
                <a:off x="6019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89" name="Straight Connector 41"/>
              <p:cNvCxnSpPr>
                <a:cxnSpLocks noChangeShapeType="1"/>
              </p:cNvCxnSpPr>
              <p:nvPr/>
            </p:nvCxnSpPr>
            <p:spPr bwMode="auto">
              <a:xfrm>
                <a:off x="61722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90" name="Straight Connector 42"/>
              <p:cNvCxnSpPr>
                <a:cxnSpLocks noChangeShapeType="1"/>
              </p:cNvCxnSpPr>
              <p:nvPr/>
            </p:nvCxnSpPr>
            <p:spPr bwMode="auto">
              <a:xfrm>
                <a:off x="7010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91" name="Straight Connector 43"/>
              <p:cNvCxnSpPr>
                <a:cxnSpLocks noChangeShapeType="1"/>
              </p:cNvCxnSpPr>
              <p:nvPr/>
            </p:nvCxnSpPr>
            <p:spPr bwMode="auto">
              <a:xfrm>
                <a:off x="7162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92" name="Straight Connector 44"/>
              <p:cNvCxnSpPr>
                <a:cxnSpLocks noChangeShapeType="1"/>
              </p:cNvCxnSpPr>
              <p:nvPr/>
            </p:nvCxnSpPr>
            <p:spPr bwMode="auto">
              <a:xfrm>
                <a:off x="73152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93" name="Straight Connector 45"/>
              <p:cNvCxnSpPr>
                <a:cxnSpLocks noChangeShapeType="1"/>
              </p:cNvCxnSpPr>
              <p:nvPr/>
            </p:nvCxnSpPr>
            <p:spPr bwMode="auto">
              <a:xfrm>
                <a:off x="74676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</p:grpSp>
        <p:grpSp>
          <p:nvGrpSpPr>
            <p:cNvPr id="43040" name="Group 47"/>
            <p:cNvGrpSpPr>
              <a:grpSpLocks/>
            </p:cNvGrpSpPr>
            <p:nvPr/>
          </p:nvGrpSpPr>
          <p:grpSpPr bwMode="auto">
            <a:xfrm>
              <a:off x="5105400" y="3276600"/>
              <a:ext cx="3048000" cy="1066800"/>
              <a:chOff x="5105400" y="2133600"/>
              <a:chExt cx="3048000" cy="1066800"/>
            </a:xfrm>
            <a:grpFill/>
          </p:grpSpPr>
          <p:sp>
            <p:nvSpPr>
              <p:cNvPr id="43060" name="Rounded Rectangle 48"/>
              <p:cNvSpPr>
                <a:spLocks noChangeArrowheads="1"/>
              </p:cNvSpPr>
              <p:nvPr/>
            </p:nvSpPr>
            <p:spPr bwMode="auto">
              <a:xfrm>
                <a:off x="57912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1" name="Rounded Rectangle 49"/>
              <p:cNvSpPr>
                <a:spLocks noChangeArrowheads="1"/>
              </p:cNvSpPr>
              <p:nvPr/>
            </p:nvSpPr>
            <p:spPr bwMode="auto">
              <a:xfrm>
                <a:off x="56388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 dirty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2" name="Rounded Rectangle 50"/>
              <p:cNvSpPr>
                <a:spLocks noChangeArrowheads="1"/>
              </p:cNvSpPr>
              <p:nvPr/>
            </p:nvSpPr>
            <p:spPr bwMode="auto">
              <a:xfrm>
                <a:off x="54864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3" name="Rounded Rectangle 51"/>
              <p:cNvSpPr>
                <a:spLocks noChangeArrowheads="1"/>
              </p:cNvSpPr>
              <p:nvPr/>
            </p:nvSpPr>
            <p:spPr bwMode="auto">
              <a:xfrm>
                <a:off x="53340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4" name="Rounded Rectangle 52"/>
              <p:cNvSpPr>
                <a:spLocks noChangeArrowheads="1"/>
              </p:cNvSpPr>
              <p:nvPr/>
            </p:nvSpPr>
            <p:spPr bwMode="auto">
              <a:xfrm>
                <a:off x="70866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5" name="Rounded Rectangle 53"/>
              <p:cNvSpPr>
                <a:spLocks noChangeArrowheads="1"/>
              </p:cNvSpPr>
              <p:nvPr/>
            </p:nvSpPr>
            <p:spPr bwMode="auto">
              <a:xfrm>
                <a:off x="69342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6" name="Rounded Rectangle 54"/>
              <p:cNvSpPr>
                <a:spLocks noChangeArrowheads="1"/>
              </p:cNvSpPr>
              <p:nvPr/>
            </p:nvSpPr>
            <p:spPr bwMode="auto">
              <a:xfrm>
                <a:off x="67818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67" name="Rounded Rectangle 55"/>
              <p:cNvSpPr>
                <a:spLocks noChangeArrowheads="1"/>
              </p:cNvSpPr>
              <p:nvPr/>
            </p:nvSpPr>
            <p:spPr bwMode="auto">
              <a:xfrm>
                <a:off x="66294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cxnSp>
            <p:nvCxnSpPr>
              <p:cNvPr id="43068" name="Straight Arrow Connector 56"/>
              <p:cNvCxnSpPr>
                <a:cxnSpLocks noChangeShapeType="1"/>
              </p:cNvCxnSpPr>
              <p:nvPr/>
            </p:nvCxnSpPr>
            <p:spPr bwMode="auto">
              <a:xfrm>
                <a:off x="5105400" y="3200400"/>
                <a:ext cx="3048000" cy="0"/>
              </a:xfrm>
              <a:prstGeom prst="straightConnector1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43069" name="Straight Connector 57"/>
              <p:cNvCxnSpPr>
                <a:cxnSpLocks noChangeShapeType="1"/>
                <a:stCxn id="43063" idx="2"/>
              </p:cNvCxnSpPr>
              <p:nvPr/>
            </p:nvCxnSpPr>
            <p:spPr bwMode="auto">
              <a:xfrm>
                <a:off x="57150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0" name="Straight Connector 58"/>
              <p:cNvCxnSpPr>
                <a:cxnSpLocks noChangeShapeType="1"/>
              </p:cNvCxnSpPr>
              <p:nvPr/>
            </p:nvCxnSpPr>
            <p:spPr bwMode="auto">
              <a:xfrm>
                <a:off x="5867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1" name="Straight Connector 59"/>
              <p:cNvCxnSpPr>
                <a:cxnSpLocks noChangeShapeType="1"/>
              </p:cNvCxnSpPr>
              <p:nvPr/>
            </p:nvCxnSpPr>
            <p:spPr bwMode="auto">
              <a:xfrm>
                <a:off x="6019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2" name="Straight Connector 60"/>
              <p:cNvCxnSpPr>
                <a:cxnSpLocks noChangeShapeType="1"/>
              </p:cNvCxnSpPr>
              <p:nvPr/>
            </p:nvCxnSpPr>
            <p:spPr bwMode="auto">
              <a:xfrm>
                <a:off x="61722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3" name="Straight Connector 61"/>
              <p:cNvCxnSpPr>
                <a:cxnSpLocks noChangeShapeType="1"/>
              </p:cNvCxnSpPr>
              <p:nvPr/>
            </p:nvCxnSpPr>
            <p:spPr bwMode="auto">
              <a:xfrm>
                <a:off x="7010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4" name="Straight Connector 62"/>
              <p:cNvCxnSpPr>
                <a:cxnSpLocks noChangeShapeType="1"/>
              </p:cNvCxnSpPr>
              <p:nvPr/>
            </p:nvCxnSpPr>
            <p:spPr bwMode="auto">
              <a:xfrm>
                <a:off x="7162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5" name="Straight Connector 63"/>
              <p:cNvCxnSpPr>
                <a:cxnSpLocks noChangeShapeType="1"/>
              </p:cNvCxnSpPr>
              <p:nvPr/>
            </p:nvCxnSpPr>
            <p:spPr bwMode="auto">
              <a:xfrm>
                <a:off x="73152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76" name="Straight Connector 64"/>
              <p:cNvCxnSpPr>
                <a:cxnSpLocks noChangeShapeType="1"/>
              </p:cNvCxnSpPr>
              <p:nvPr/>
            </p:nvCxnSpPr>
            <p:spPr bwMode="auto">
              <a:xfrm>
                <a:off x="74676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</p:grpSp>
        <p:grpSp>
          <p:nvGrpSpPr>
            <p:cNvPr id="43041" name="Group 65"/>
            <p:cNvGrpSpPr>
              <a:grpSpLocks/>
            </p:cNvGrpSpPr>
            <p:nvPr/>
          </p:nvGrpSpPr>
          <p:grpSpPr bwMode="auto">
            <a:xfrm>
              <a:off x="5105400" y="4419600"/>
              <a:ext cx="3048000" cy="1090624"/>
              <a:chOff x="5105400" y="2133600"/>
              <a:chExt cx="3048000" cy="1090624"/>
            </a:xfrm>
            <a:grpFill/>
          </p:grpSpPr>
          <p:sp>
            <p:nvSpPr>
              <p:cNvPr id="43043" name="Rounded Rectangle 66"/>
              <p:cNvSpPr>
                <a:spLocks noChangeArrowheads="1"/>
              </p:cNvSpPr>
              <p:nvPr/>
            </p:nvSpPr>
            <p:spPr bwMode="auto">
              <a:xfrm>
                <a:off x="57912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4" name="Rounded Rectangle 67"/>
              <p:cNvSpPr>
                <a:spLocks noChangeArrowheads="1"/>
              </p:cNvSpPr>
              <p:nvPr/>
            </p:nvSpPr>
            <p:spPr bwMode="auto">
              <a:xfrm>
                <a:off x="56388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5" name="Rounded Rectangle 68"/>
              <p:cNvSpPr>
                <a:spLocks noChangeArrowheads="1"/>
              </p:cNvSpPr>
              <p:nvPr/>
            </p:nvSpPr>
            <p:spPr bwMode="auto">
              <a:xfrm>
                <a:off x="54864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6" name="Rounded Rectangle 69"/>
              <p:cNvSpPr>
                <a:spLocks noChangeArrowheads="1"/>
              </p:cNvSpPr>
              <p:nvPr/>
            </p:nvSpPr>
            <p:spPr bwMode="auto">
              <a:xfrm>
                <a:off x="53340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 dirty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7" name="Rounded Rectangle 70"/>
              <p:cNvSpPr>
                <a:spLocks noChangeArrowheads="1"/>
              </p:cNvSpPr>
              <p:nvPr/>
            </p:nvSpPr>
            <p:spPr bwMode="auto">
              <a:xfrm>
                <a:off x="7086600" y="21336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 dirty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8" name="Rounded Rectangle 71"/>
              <p:cNvSpPr>
                <a:spLocks noChangeArrowheads="1"/>
              </p:cNvSpPr>
              <p:nvPr/>
            </p:nvSpPr>
            <p:spPr bwMode="auto">
              <a:xfrm>
                <a:off x="6934200" y="22860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49" name="Rounded Rectangle 72"/>
              <p:cNvSpPr>
                <a:spLocks noChangeArrowheads="1"/>
              </p:cNvSpPr>
              <p:nvPr/>
            </p:nvSpPr>
            <p:spPr bwMode="auto">
              <a:xfrm>
                <a:off x="6781800" y="24384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sp>
            <p:nvSpPr>
              <p:cNvPr id="43050" name="Rounded Rectangle 73"/>
              <p:cNvSpPr>
                <a:spLocks noChangeArrowheads="1"/>
              </p:cNvSpPr>
              <p:nvPr/>
            </p:nvSpPr>
            <p:spPr bwMode="auto">
              <a:xfrm>
                <a:off x="6629400" y="2590800"/>
                <a:ext cx="762000" cy="381000"/>
              </a:xfrm>
              <a:prstGeom prst="roundRect">
                <a:avLst>
                  <a:gd name="adj" fmla="val 16667"/>
                </a:avLst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478" tIns="44445" rIns="90478" bIns="44445" anchor="ctr"/>
              <a:lstStyle/>
              <a:p>
                <a:pPr indent="-228600" algn="ctr">
                  <a:defRPr/>
                </a:pPr>
                <a:r>
                  <a:rPr lang="en-US" sz="800" b="0">
                    <a:latin typeface="Gill Sans Light"/>
                    <a:cs typeface="Gill Sans Light"/>
                  </a:rPr>
                  <a:t>NAND</a:t>
                </a:r>
              </a:p>
            </p:txBody>
          </p:sp>
          <p:cxnSp>
            <p:nvCxnSpPr>
              <p:cNvPr id="43051" name="Straight Arrow Connector 74"/>
              <p:cNvCxnSpPr>
                <a:cxnSpLocks noChangeShapeType="1"/>
              </p:cNvCxnSpPr>
              <p:nvPr/>
            </p:nvCxnSpPr>
            <p:spPr bwMode="auto">
              <a:xfrm>
                <a:off x="5105400" y="3224224"/>
                <a:ext cx="3048000" cy="0"/>
              </a:xfrm>
              <a:prstGeom prst="straightConnector1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43052" name="Straight Connector 75"/>
              <p:cNvCxnSpPr>
                <a:cxnSpLocks noChangeShapeType="1"/>
                <a:stCxn id="43046" idx="2"/>
              </p:cNvCxnSpPr>
              <p:nvPr/>
            </p:nvCxnSpPr>
            <p:spPr bwMode="auto">
              <a:xfrm>
                <a:off x="57150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3" name="Straight Connector 76"/>
              <p:cNvCxnSpPr>
                <a:cxnSpLocks noChangeShapeType="1"/>
              </p:cNvCxnSpPr>
              <p:nvPr/>
            </p:nvCxnSpPr>
            <p:spPr bwMode="auto">
              <a:xfrm>
                <a:off x="5867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4" name="Straight Connector 77"/>
              <p:cNvCxnSpPr>
                <a:cxnSpLocks noChangeShapeType="1"/>
              </p:cNvCxnSpPr>
              <p:nvPr/>
            </p:nvCxnSpPr>
            <p:spPr bwMode="auto">
              <a:xfrm>
                <a:off x="6019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5" name="Straight Connector 78"/>
              <p:cNvCxnSpPr>
                <a:cxnSpLocks noChangeShapeType="1"/>
              </p:cNvCxnSpPr>
              <p:nvPr/>
            </p:nvCxnSpPr>
            <p:spPr bwMode="auto">
              <a:xfrm>
                <a:off x="61722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6" name="Straight Connector 79"/>
              <p:cNvCxnSpPr>
                <a:cxnSpLocks noChangeShapeType="1"/>
              </p:cNvCxnSpPr>
              <p:nvPr/>
            </p:nvCxnSpPr>
            <p:spPr bwMode="auto">
              <a:xfrm>
                <a:off x="70104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7" name="Straight Connector 80"/>
              <p:cNvCxnSpPr>
                <a:cxnSpLocks noChangeShapeType="1"/>
              </p:cNvCxnSpPr>
              <p:nvPr/>
            </p:nvCxnSpPr>
            <p:spPr bwMode="auto">
              <a:xfrm>
                <a:off x="71628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8" name="Straight Connector 81"/>
              <p:cNvCxnSpPr>
                <a:cxnSpLocks noChangeShapeType="1"/>
              </p:cNvCxnSpPr>
              <p:nvPr/>
            </p:nvCxnSpPr>
            <p:spPr bwMode="auto">
              <a:xfrm>
                <a:off x="7315200" y="2971800"/>
                <a:ext cx="0" cy="2286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43059" name="Straight Connector 82"/>
              <p:cNvCxnSpPr>
                <a:cxnSpLocks noChangeShapeType="1"/>
              </p:cNvCxnSpPr>
              <p:nvPr/>
            </p:nvCxnSpPr>
            <p:spPr bwMode="auto">
              <a:xfrm>
                <a:off x="7467600" y="2819400"/>
                <a:ext cx="0" cy="381000"/>
              </a:xfrm>
              <a:prstGeom prst="line">
                <a:avLst/>
              </a:prstGeom>
              <a:grpFill/>
              <a:ln w="25400" cap="rnd">
                <a:solidFill>
                  <a:schemeClr val="tx1"/>
                </a:solidFill>
                <a:round/>
                <a:headEnd/>
                <a:tailEnd/>
              </a:ln>
            </p:spPr>
          </p:cxnSp>
        </p:grpSp>
        <p:cxnSp>
          <p:nvCxnSpPr>
            <p:cNvPr id="43042" name="Straight Connector 93"/>
            <p:cNvCxnSpPr>
              <a:cxnSpLocks noChangeShapeType="1"/>
            </p:cNvCxnSpPr>
            <p:nvPr/>
          </p:nvCxnSpPr>
          <p:spPr bwMode="auto">
            <a:xfrm>
              <a:off x="5105400" y="2057400"/>
              <a:ext cx="0" cy="3429000"/>
            </a:xfrm>
            <a:prstGeom prst="line">
              <a:avLst/>
            </a:prstGeom>
            <a:grpFill/>
            <a:ln w="25400" cap="rnd">
              <a:solidFill>
                <a:schemeClr val="tx1"/>
              </a:solidFill>
              <a:round/>
              <a:headEnd/>
              <a:tailEnd/>
            </a:ln>
          </p:spPr>
        </p:cxnSp>
      </p:grpSp>
      <p:cxnSp>
        <p:nvCxnSpPr>
          <p:cNvPr id="23563" name="Straight Arrow Connector 97"/>
          <p:cNvCxnSpPr>
            <a:cxnSpLocks noChangeShapeType="1"/>
            <a:stCxn id="23557" idx="3"/>
          </p:cNvCxnSpPr>
          <p:nvPr/>
        </p:nvCxnSpPr>
        <p:spPr bwMode="auto">
          <a:xfrm>
            <a:off x="5663415" y="2769499"/>
            <a:ext cx="558946" cy="0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3104110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1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Flash Memory: Writes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Writing data is complex!</a:t>
            </a:r>
          </a:p>
          <a:p>
            <a:r>
              <a:rPr lang="en-US" sz="1800" dirty="0"/>
              <a:t>Write and erase cycles require “high” voltage</a:t>
            </a:r>
          </a:p>
          <a:p>
            <a:pPr lvl="1"/>
            <a:r>
              <a:rPr lang="en-US" sz="1600" dirty="0"/>
              <a:t>Damages memory cells, limits SSD lifespan</a:t>
            </a:r>
          </a:p>
          <a:p>
            <a:pPr lvl="1"/>
            <a:r>
              <a:rPr lang="en-US" sz="1600" dirty="0"/>
              <a:t>Controller uses ECC, performs wear leveling</a:t>
            </a:r>
            <a:endParaRPr lang="en-US" sz="1800" dirty="0"/>
          </a:p>
          <a:p>
            <a:r>
              <a:rPr lang="en-US" sz="1800" dirty="0"/>
              <a:t>Data can only be written into empty pages in each block</a:t>
            </a:r>
          </a:p>
          <a:p>
            <a:r>
              <a:rPr lang="en-US" sz="1800" dirty="0"/>
              <a:t>Pages cannot be erased individually, erasing entire block takes time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8744F52-5FB4-A145-BB18-50D8715D7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969541" y="4316218"/>
            <a:ext cx="3204916" cy="160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D1ACE66-8125-D444-9110-7836362EBD45}"/>
              </a:ext>
            </a:extLst>
          </p:cNvPr>
          <p:cNvSpPr/>
          <p:nvPr/>
        </p:nvSpPr>
        <p:spPr>
          <a:xfrm>
            <a:off x="4316160" y="6645273"/>
            <a:ext cx="511679" cy="169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0872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Flash Memory 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Flash </a:t>
            </a:r>
            <a:r>
              <a:rPr lang="en-US" sz="1800"/>
              <a:t>devices include </a:t>
            </a:r>
            <a:r>
              <a:rPr lang="en-US" sz="1800" dirty="0">
                <a:solidFill>
                  <a:srgbClr val="FF0000"/>
                </a:solidFill>
              </a:rPr>
              <a:t>flash translation layer (FTL)</a:t>
            </a:r>
            <a:r>
              <a:rPr lang="en-US" sz="1800" dirty="0"/>
              <a:t> </a:t>
            </a:r>
          </a:p>
          <a:p>
            <a:pPr lvl="1"/>
            <a:r>
              <a:rPr lang="en-US" sz="1600" dirty="0"/>
              <a:t>Maps </a:t>
            </a:r>
            <a:r>
              <a:rPr lang="en-US" sz="1600" dirty="0">
                <a:solidFill>
                  <a:srgbClr val="FF0000"/>
                </a:solidFill>
              </a:rPr>
              <a:t>logical flash pages </a:t>
            </a:r>
            <a:r>
              <a:rPr lang="en-US" sz="1600" dirty="0"/>
              <a:t>to </a:t>
            </a:r>
            <a:r>
              <a:rPr lang="en-US" sz="1600" dirty="0">
                <a:solidFill>
                  <a:srgbClr val="FF0000"/>
                </a:solidFill>
              </a:rPr>
              <a:t>physical pages </a:t>
            </a:r>
            <a:r>
              <a:rPr lang="en-US" sz="1600" dirty="0"/>
              <a:t>on flash device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Wear-levels</a:t>
            </a:r>
            <a:r>
              <a:rPr lang="en-US" sz="1600" dirty="0"/>
              <a:t> by only writing each physical page a limited number of times</a:t>
            </a:r>
          </a:p>
          <a:p>
            <a:pPr lvl="1"/>
            <a:r>
              <a:rPr lang="en-US" sz="1600" dirty="0"/>
              <a:t>Remaps pages that no longer work (</a:t>
            </a:r>
            <a:r>
              <a:rPr lang="en-US" sz="1600" dirty="0">
                <a:solidFill>
                  <a:srgbClr val="FF0000"/>
                </a:solidFill>
              </a:rPr>
              <a:t>sector sparing</a:t>
            </a:r>
            <a:r>
              <a:rPr lang="en-US" sz="1600" dirty="0"/>
              <a:t>)</a:t>
            </a:r>
          </a:p>
          <a:p>
            <a:pPr lvl="1"/>
            <a:endParaRPr lang="en-US" sz="1100" dirty="0">
              <a:solidFill>
                <a:srgbClr val="FF0000"/>
              </a:solidFill>
            </a:endParaRPr>
          </a:p>
          <a:p>
            <a:r>
              <a:rPr lang="en-US" sz="1800" dirty="0"/>
              <a:t>When logical page is overwritten, TTL write new version to already-erased page</a:t>
            </a:r>
          </a:p>
          <a:p>
            <a:pPr lvl="1"/>
            <a:r>
              <a:rPr lang="en-US" sz="1600" dirty="0"/>
              <a:t>Remaps logical page to the new physical page</a:t>
            </a:r>
          </a:p>
          <a:p>
            <a:pPr lvl="1"/>
            <a:endParaRPr lang="en-US" sz="1100" dirty="0"/>
          </a:p>
          <a:p>
            <a:r>
              <a:rPr lang="en-US" sz="1800" dirty="0"/>
              <a:t>FTL maintains pool of empty blocks by coalescing used pages </a:t>
            </a:r>
          </a:p>
          <a:p>
            <a:pPr lvl="1"/>
            <a:r>
              <a:rPr lang="en-US" sz="1600" dirty="0">
                <a:solidFill>
                  <a:srgbClr val="FF0000"/>
                </a:solidFill>
              </a:rPr>
              <a:t>Garbage collects </a:t>
            </a:r>
            <a:r>
              <a:rPr lang="en-US" sz="1600" dirty="0"/>
              <a:t>blocks by copying live pages to new location, then erase</a:t>
            </a:r>
          </a:p>
          <a:p>
            <a:pPr lvl="1"/>
            <a:r>
              <a:rPr lang="en-US" sz="1600" dirty="0"/>
              <a:t>More efficient if blocks stored at the same time are deleted at the same time </a:t>
            </a:r>
            <a:br>
              <a:rPr lang="en-US" sz="1600" dirty="0"/>
            </a:br>
            <a:r>
              <a:rPr lang="en-US" sz="1600" dirty="0"/>
              <a:t>(e.g., keep blocks of file together)</a:t>
            </a:r>
          </a:p>
          <a:p>
            <a:pPr lvl="1"/>
            <a:endParaRPr lang="en-US" sz="1100" dirty="0"/>
          </a:p>
          <a:p>
            <a:pPr lvl="0"/>
            <a:r>
              <a:rPr lang="en-US" sz="1800" dirty="0"/>
              <a:t>How does flash device know which blocks are live?</a:t>
            </a:r>
          </a:p>
          <a:p>
            <a:pPr lvl="1"/>
            <a:r>
              <a:rPr lang="en-US" sz="1600" dirty="0"/>
              <a:t>File system tells device when blocks are no longer in use (</a:t>
            </a:r>
            <a:r>
              <a:rPr lang="en-US" sz="1600" i="1" dirty="0">
                <a:solidFill>
                  <a:srgbClr val="FF0000"/>
                </a:solidFill>
              </a:rPr>
              <a:t>Trim command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010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Example: Writes with GC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29F4F60-FBA3-D14B-9947-D0FFB0B4D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299587"/>
            <a:ext cx="7886700" cy="1345688"/>
          </a:xfrm>
        </p:spPr>
        <p:txBody>
          <a:bodyPr/>
          <a:lstStyle/>
          <a:p>
            <a:r>
              <a:rPr lang="en-US" sz="1600" dirty="0"/>
              <a:t>Rewriting some data requires reading, updating, and writing to new locations</a:t>
            </a:r>
          </a:p>
          <a:p>
            <a:r>
              <a:rPr lang="en-US" sz="1600" dirty="0"/>
              <a:t>If new location was previously used, it also needs to be erased</a:t>
            </a:r>
          </a:p>
          <a:p>
            <a:r>
              <a:rPr lang="en-US" sz="1600" dirty="0"/>
              <a:t>Much larger portions of flash may be erased and rewritten than required by size of new data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2B099F-51A6-134B-9341-42B7039D3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91224" y="1476903"/>
            <a:ext cx="5161550" cy="3653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3E78C46-469B-3640-B437-1091465D26FA}"/>
              </a:ext>
            </a:extLst>
          </p:cNvPr>
          <p:cNvSpPr/>
          <p:nvPr/>
        </p:nvSpPr>
        <p:spPr>
          <a:xfrm>
            <a:off x="4316160" y="6645273"/>
            <a:ext cx="511679" cy="169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270214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C79C-6A7D-684A-9B87-B23E06092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Flash Memory: Write Amplification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DAA93-7E97-DD4E-99CC-806721A44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600" dirty="0"/>
              <a:t>Flash memory must be erased before it can be rewritten</a:t>
            </a:r>
          </a:p>
          <a:p>
            <a:r>
              <a:rPr lang="en-US" sz="1600" dirty="0"/>
              <a:t>Erasure happens in much coarser granularity then writes </a:t>
            </a:r>
          </a:p>
          <a:p>
            <a:r>
              <a:rPr lang="en-US" sz="1600" dirty="0"/>
              <a:t>Flash controllers end up moving (or rewriting) user data and metadata more than once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This multiplying effect increases number of writes required </a:t>
            </a:r>
          </a:p>
          <a:p>
            <a:pPr lvl="1"/>
            <a:r>
              <a:rPr lang="en-US" sz="1400" dirty="0"/>
              <a:t>Shortens life cycle of SSD </a:t>
            </a:r>
          </a:p>
          <a:p>
            <a:pPr lvl="1"/>
            <a:r>
              <a:rPr lang="en-US" sz="1400" dirty="0"/>
              <a:t>Consumes bandwidth, which reduces random write performance</a:t>
            </a:r>
          </a:p>
          <a:p>
            <a:r>
              <a:rPr lang="en-US" sz="1600" dirty="0"/>
              <a:t>Result is very workload dependent performance</a:t>
            </a:r>
          </a:p>
          <a:p>
            <a:r>
              <a:rPr lang="en-US" sz="1600" dirty="0"/>
              <a:t>Latency = queuing time + controller time (find free block) + transfer time</a:t>
            </a:r>
          </a:p>
          <a:p>
            <a:r>
              <a:rPr lang="en-US" sz="1600" dirty="0"/>
              <a:t>Highest bandwidth: sequential OR random writes (limited by empty pages)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BD08C8A-A2FD-E242-8A38-1F97B5C2B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859380" y="2953940"/>
            <a:ext cx="2913560" cy="145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71CCE81-FDD6-1D45-A869-DE1B84A20507}"/>
              </a:ext>
            </a:extLst>
          </p:cNvPr>
          <p:cNvSpPr/>
          <p:nvPr/>
        </p:nvSpPr>
        <p:spPr>
          <a:xfrm>
            <a:off x="4316160" y="6645273"/>
            <a:ext cx="511679" cy="169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5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wikipedia.org</a:t>
            </a:r>
            <a:endParaRPr lang="en-US" sz="5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02804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52AE0-9D39-3148-8A23-5B1AF5B01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Example of Current SSDs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54E9A61-68D9-4748-8E72-92C33D4C3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408023"/>
            <a:ext cx="7886700" cy="1237252"/>
          </a:xfrm>
        </p:spPr>
        <p:txBody>
          <a:bodyPr/>
          <a:lstStyle/>
          <a:p>
            <a:r>
              <a:rPr lang="en-CA" sz="1600" dirty="0"/>
              <a:t>Flash controller could cache random writes and flush them to flash efficiently</a:t>
            </a:r>
          </a:p>
          <a:p>
            <a:pPr lvl="1"/>
            <a:r>
              <a:rPr lang="en-CA" sz="1400" dirty="0"/>
              <a:t>Write latency becomes latency of accessing the cache</a:t>
            </a:r>
          </a:p>
          <a:p>
            <a:r>
              <a:rPr lang="en-CA" sz="1600" dirty="0"/>
              <a:t>For random reads, however, controller can't do much</a:t>
            </a:r>
          </a:p>
          <a:p>
            <a:pPr lvl="1"/>
            <a:r>
              <a:rPr lang="en-CA" sz="1400" dirty="0"/>
              <a:t>Pre-fetching data helps sequential reads but could hurt performance of random reads</a:t>
            </a:r>
            <a:endParaRPr lang="en-US" sz="1400" dirty="0"/>
          </a:p>
        </p:txBody>
      </p:sp>
      <p:pic>
        <p:nvPicPr>
          <p:cNvPr id="10" name="Picture 2" descr="PCI-E3.0 SSD 2TB">
            <a:extLst>
              <a:ext uri="{FF2B5EF4-FFF2-40B4-BE49-F238E27FC236}">
                <a16:creationId xmlns:a16="http://schemas.microsoft.com/office/drawing/2014/main" id="{EE0B6447-9DE8-514B-ACF1-431510E57D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051668" y="1664248"/>
            <a:ext cx="3040665" cy="96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0" descr="A screenshot of a cell phone&#10;&#10;Description automatically generated">
            <a:extLst>
              <a:ext uri="{FF2B5EF4-FFF2-40B4-BE49-F238E27FC236}">
                <a16:creationId xmlns:a16="http://schemas.microsoft.com/office/drawing/2014/main" id="{D4F0DFEB-8391-9F45-807A-5556F371B9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4815" y="2700384"/>
            <a:ext cx="5334370" cy="254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8466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Full Kindle Heavier Than Empty One?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Actually, “Yes”, but not by much</a:t>
            </a:r>
          </a:p>
          <a:p>
            <a:r>
              <a:rPr lang="en-US" sz="1800" dirty="0"/>
              <a:t>Flash works by trapping electrons:</a:t>
            </a:r>
          </a:p>
          <a:p>
            <a:pPr lvl="1"/>
            <a:r>
              <a:rPr lang="en-US" sz="1600" dirty="0"/>
              <a:t>So, erased state lower energy than written state</a:t>
            </a:r>
          </a:p>
          <a:p>
            <a:r>
              <a:rPr lang="en-US" sz="1800" dirty="0"/>
              <a:t>Assuming that:</a:t>
            </a:r>
          </a:p>
          <a:p>
            <a:pPr lvl="1"/>
            <a:r>
              <a:rPr lang="en-US" sz="1600" dirty="0"/>
              <a:t>Kindle has 4 GB flash</a:t>
            </a:r>
          </a:p>
          <a:p>
            <a:pPr lvl="1"/>
            <a:r>
              <a:rPr lang="en-US" sz="1600" dirty="0"/>
              <a:t>½ of all bits in full Kindle are in high-energy state</a:t>
            </a:r>
          </a:p>
          <a:p>
            <a:pPr lvl="1"/>
            <a:r>
              <a:rPr lang="en-US" sz="1600" dirty="0"/>
              <a:t>High-energy state about 10-15 joules higher</a:t>
            </a:r>
          </a:p>
          <a:p>
            <a:pPr lvl="1"/>
            <a:r>
              <a:rPr lang="en-US" sz="1600" dirty="0"/>
              <a:t>Then: Full Kindle is 1 </a:t>
            </a:r>
            <a:r>
              <a:rPr lang="en-US" sz="1600" dirty="0" err="1"/>
              <a:t>attogram</a:t>
            </a:r>
            <a:r>
              <a:rPr lang="en-US" sz="1600" dirty="0"/>
              <a:t> (10</a:t>
            </a:r>
            <a:r>
              <a:rPr lang="en-US" sz="1600" baseline="30000" dirty="0"/>
              <a:t>-18</a:t>
            </a:r>
            <a:r>
              <a:rPr lang="en-US" sz="1600" dirty="0"/>
              <a:t> gram) heavier (Using E = mc2)</a:t>
            </a:r>
          </a:p>
          <a:p>
            <a:r>
              <a:rPr lang="en-US" sz="1800" dirty="0"/>
              <a:t>Of course, this is less than most sensitive scale can measure (10</a:t>
            </a:r>
            <a:r>
              <a:rPr lang="en-US" sz="1800" baseline="30000" dirty="0"/>
              <a:t>-9</a:t>
            </a:r>
            <a:r>
              <a:rPr lang="en-US" sz="1800" dirty="0"/>
              <a:t> grams)</a:t>
            </a:r>
          </a:p>
          <a:p>
            <a:r>
              <a:rPr lang="en-US" sz="1800" dirty="0"/>
              <a:t>This difference is overwhelmed by battery discharge, weight from getting warm, …</a:t>
            </a:r>
          </a:p>
          <a:p>
            <a:endParaRPr lang="en-US" sz="1800" dirty="0"/>
          </a:p>
          <a:p>
            <a:endParaRPr lang="en-US" sz="18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0000"/>
                </a:solidFill>
              </a:rPr>
              <a:t>According to John </a:t>
            </a:r>
            <a:r>
              <a:rPr lang="en-US" sz="1600" dirty="0" err="1">
                <a:solidFill>
                  <a:srgbClr val="FF0000"/>
                </a:solidFill>
              </a:rPr>
              <a:t>Kubiatowicz</a:t>
            </a:r>
            <a:r>
              <a:rPr lang="en-US" sz="1600" dirty="0">
                <a:solidFill>
                  <a:srgbClr val="FF0000"/>
                </a:solidFill>
              </a:rPr>
              <a:t> (New York Times, Oct 24, 2011)</a:t>
            </a:r>
          </a:p>
          <a:p>
            <a:pPr marL="0" indent="0" algn="ctr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2002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SSD Summary</a:t>
            </a:r>
          </a:p>
        </p:txBody>
      </p:sp>
      <p:sp>
        <p:nvSpPr>
          <p:cNvPr id="36866" name="Content Placeholder 2"/>
          <p:cNvSpPr>
            <a:spLocks noGrp="1"/>
          </p:cNvSpPr>
          <p:nvPr>
            <p:ph idx="1"/>
          </p:nvPr>
        </p:nvSpPr>
        <p:spPr>
          <a:xfrm>
            <a:off x="628650" y="2795361"/>
            <a:ext cx="7886700" cy="3849914"/>
          </a:xfrm>
        </p:spPr>
        <p:txBody>
          <a:bodyPr/>
          <a:lstStyle/>
          <a:p>
            <a:r>
              <a:rPr lang="en-US" sz="2000" dirty="0"/>
              <a:t>Pros (vs. hard disk drives)</a:t>
            </a:r>
          </a:p>
          <a:p>
            <a:pPr lvl="1"/>
            <a:r>
              <a:rPr lang="en-US" sz="1800" dirty="0"/>
              <a:t>Low latency, high throughput (eliminate seek/rotational delay)</a:t>
            </a:r>
          </a:p>
          <a:p>
            <a:pPr lvl="1"/>
            <a:r>
              <a:rPr lang="en-US" sz="1800" dirty="0"/>
              <a:t>No moving parts (very light weight, low power, silent, very shock insensitive)</a:t>
            </a:r>
          </a:p>
          <a:p>
            <a:pPr lvl="1"/>
            <a:r>
              <a:rPr lang="en-US" sz="1800" dirty="0"/>
              <a:t>Read at memory speeds (limited by controller and I/O bus)</a:t>
            </a:r>
          </a:p>
          <a:p>
            <a:r>
              <a:rPr lang="en-US" sz="2000" dirty="0"/>
              <a:t>Cons </a:t>
            </a:r>
            <a:r>
              <a:rPr lang="en-US" sz="2000" dirty="0">
                <a:solidFill>
                  <a:srgbClr val="FF0000"/>
                </a:solidFill>
              </a:rPr>
              <a:t>(these are changing rapidly!)</a:t>
            </a:r>
            <a:endParaRPr lang="en-US" sz="2000" dirty="0"/>
          </a:p>
          <a:p>
            <a:pPr lvl="1"/>
            <a:r>
              <a:rPr lang="en-US" sz="1800" dirty="0"/>
              <a:t>Expensive</a:t>
            </a:r>
          </a:p>
          <a:p>
            <a:pPr lvl="1"/>
            <a:r>
              <a:rPr lang="en-US" sz="1800" dirty="0"/>
              <a:t>Asymmetric block write performance</a:t>
            </a:r>
          </a:p>
          <a:p>
            <a:pPr lvl="2"/>
            <a:r>
              <a:rPr lang="en-US" sz="1600" dirty="0"/>
              <a:t>Controller garbage collection (GC) algorithms have major effect on performance</a:t>
            </a:r>
          </a:p>
          <a:p>
            <a:pPr lvl="1"/>
            <a:r>
              <a:rPr lang="en-US" sz="1800" dirty="0"/>
              <a:t>Limited drive lifetime </a:t>
            </a:r>
          </a:p>
          <a:p>
            <a:pPr lvl="2"/>
            <a:r>
              <a:rPr lang="en-US" sz="1600" dirty="0"/>
              <a:t>1-10K writes/page for MLC NAND</a:t>
            </a:r>
          </a:p>
          <a:p>
            <a:pPr lvl="2"/>
            <a:r>
              <a:rPr lang="en-US" sz="1600" dirty="0"/>
              <a:t>Average failure rate is 6 years; life expectancy is 9–11 years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BBA3A8C-571C-2C4E-8567-77D8996D722E}"/>
              </a:ext>
            </a:extLst>
          </p:cNvPr>
          <p:cNvGrpSpPr/>
          <p:nvPr/>
        </p:nvGrpSpPr>
        <p:grpSpPr>
          <a:xfrm>
            <a:off x="1889064" y="1476522"/>
            <a:ext cx="5365872" cy="1068515"/>
            <a:chOff x="-728663" y="708025"/>
            <a:chExt cx="10602915" cy="2111375"/>
          </a:xfrm>
        </p:grpSpPr>
        <p:pic>
          <p:nvPicPr>
            <p:cNvPr id="5" name="Picture 1">
              <a:extLst>
                <a:ext uri="{FF2B5EF4-FFF2-40B4-BE49-F238E27FC236}">
                  <a16:creationId xmlns:a16="http://schemas.microsoft.com/office/drawing/2014/main" id="{9F117586-014A-D546-BA5E-5794329DA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67000" y="708025"/>
              <a:ext cx="3886200" cy="21113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Content Placeholder 1">
              <a:extLst>
                <a:ext uri="{FF2B5EF4-FFF2-40B4-BE49-F238E27FC236}">
                  <a16:creationId xmlns:a16="http://schemas.microsoft.com/office/drawing/2014/main" id="{7372697C-B97A-2D49-9F18-240381A17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28663" y="860424"/>
              <a:ext cx="2720975" cy="1752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E8AE97F6-0F69-3245-B1F0-5CF9C9C27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05664" y="817563"/>
              <a:ext cx="2668588" cy="1838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63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6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HDD vs. SSD</a:t>
            </a:r>
          </a:p>
        </p:txBody>
      </p:sp>
      <p:pic>
        <p:nvPicPr>
          <p:cNvPr id="2050" name="Picture 2" descr="Super Fast SSD Hosting at Hosticon.com | Hosticon Blog">
            <a:extLst>
              <a:ext uri="{FF2B5EF4-FFF2-40B4-BE49-F238E27FC236}">
                <a16:creationId xmlns:a16="http://schemas.microsoft.com/office/drawing/2014/main" id="{CE7FB37E-48AC-CF45-A92C-E31814FE41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006837" y="1557595"/>
            <a:ext cx="3130327" cy="468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54248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>
                <a:sym typeface="Symbol" panose="05050102010706020507" pitchFamily="18" charset="2"/>
              </a:rPr>
              <a:t>I/O devices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Different speeds, different access patterns, different access timing</a:t>
            </a:r>
            <a:endParaRPr lang="en-US" altLang="ko-KR" sz="1400" dirty="0">
              <a:sym typeface="Symbol" panose="05050102010706020507" pitchFamily="18" charset="2"/>
            </a:endParaRPr>
          </a:p>
          <a:p>
            <a:r>
              <a:rPr lang="en-US" altLang="ko-KR" sz="1800" dirty="0">
                <a:sym typeface="Symbol" panose="05050102010706020507" pitchFamily="18" charset="2"/>
              </a:rPr>
              <a:t>I/O controllers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Hardware that controls actual device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Processor accesses through I/O instructions, load/store to special physical memory</a:t>
            </a:r>
          </a:p>
          <a:p>
            <a:r>
              <a:rPr lang="en-US" altLang="ko-KR" sz="1800" dirty="0">
                <a:sym typeface="Symbol" panose="05050102010706020507" pitchFamily="18" charset="2"/>
              </a:rPr>
              <a:t>I/O performance</a:t>
            </a:r>
          </a:p>
          <a:p>
            <a:pPr lvl="1"/>
            <a:r>
              <a:rPr lang="en-US" sz="1600" dirty="0"/>
              <a:t>Latency = overhead + transfer</a:t>
            </a:r>
          </a:p>
          <a:p>
            <a:pPr lvl="1"/>
            <a:r>
              <a:rPr lang="en-US" sz="1600" dirty="0"/>
              <a:t>Queueing theory help in analyzing overhead</a:t>
            </a:r>
          </a:p>
          <a:p>
            <a:r>
              <a:rPr lang="en-US" altLang="ko-KR" sz="1800" dirty="0">
                <a:sym typeface="Symbol" panose="05050102010706020507" pitchFamily="18" charset="2"/>
              </a:rPr>
              <a:t>Disk scheduling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FIFO, SSTF, SCAN, CSCAN, R-CSCAN</a:t>
            </a:r>
            <a:endParaRPr lang="en-US" sz="1800" dirty="0"/>
          </a:p>
          <a:p>
            <a:r>
              <a:rPr lang="en-US" sz="1800" dirty="0"/>
              <a:t>HDD performance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Latency = queuing time + </a:t>
            </a:r>
            <a:r>
              <a:rPr lang="en-US" sz="1600" dirty="0"/>
              <a:t>controller + seek + rotation + transfer</a:t>
            </a:r>
          </a:p>
          <a:p>
            <a:r>
              <a:rPr lang="en-US" sz="1800" dirty="0"/>
              <a:t>SDD performance</a:t>
            </a:r>
          </a:p>
          <a:p>
            <a:pPr lvl="1"/>
            <a:r>
              <a:rPr lang="en-US" altLang="ko-KR" sz="1600" dirty="0">
                <a:sym typeface="Symbol" panose="05050102010706020507" pitchFamily="18" charset="2"/>
              </a:rPr>
              <a:t>Latency = queuing time + </a:t>
            </a:r>
            <a:r>
              <a:rPr lang="en-US" sz="1600" dirty="0"/>
              <a:t>controller + transfer (erasure &amp; wear)</a:t>
            </a:r>
          </a:p>
        </p:txBody>
      </p:sp>
    </p:spTree>
    <p:extLst>
      <p:ext uri="{BB962C8B-B14F-4D97-AF65-F5344CB8AC3E}">
        <p14:creationId xmlns:p14="http://schemas.microsoft.com/office/powerpoint/2010/main" val="87882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830288-9BB8-E345-84FB-64C99FE3A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8BA57BBB-068E-1740-8FAB-876876D58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3888" y="4441002"/>
            <a:ext cx="3466769" cy="173338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4B5E64-04D4-F044-9947-E412A92E317C}"/>
              </a:ext>
            </a:extLst>
          </p:cNvPr>
          <p:cNvSpPr/>
          <p:nvPr/>
        </p:nvSpPr>
        <p:spPr>
          <a:xfrm>
            <a:off x="4153502" y="6703153"/>
            <a:ext cx="827471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globaldigitalcitizen.org</a:t>
            </a:r>
            <a:endParaRPr lang="en-US" sz="6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352109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2BC04-D7A4-2D45-957C-0AC05B07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A5FE-6850-F546-8B5B-00CF64889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by courtesy of Anderson, Culler, </a:t>
            </a:r>
            <a:r>
              <a:rPr lang="en-US" dirty="0" err="1"/>
              <a:t>Stoica</a:t>
            </a:r>
            <a:r>
              <a:rPr lang="en-US" dirty="0"/>
              <a:t>, </a:t>
            </a:r>
            <a:r>
              <a:rPr lang="en-US" dirty="0" err="1"/>
              <a:t>Silberschatz</a:t>
            </a:r>
            <a:r>
              <a:rPr lang="en-US" dirty="0"/>
              <a:t>, Joseph, and Canny</a:t>
            </a:r>
          </a:p>
        </p:txBody>
      </p:sp>
    </p:spTree>
    <p:extLst>
      <p:ext uri="{BB962C8B-B14F-4D97-AF65-F5344CB8AC3E}">
        <p14:creationId xmlns:p14="http://schemas.microsoft.com/office/powerpoint/2010/main" val="2402723184"/>
      </p:ext>
    </p:extLst>
  </p:cSld>
  <p:clrMapOvr>
    <a:masterClrMapping/>
  </p:clrMapOvr>
</p:sld>
</file>

<file path=ppt/theme/theme1.xml><?xml version="1.0" encoding="utf-8"?>
<a:theme xmlns:a="http://schemas.openxmlformats.org/drawingml/2006/main" name="gill-sans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2" id="{C1BE2A55-E0B4-9D4A-BC3B-61AA3D7CE71B}" vid="{17B29218-6A61-0241-B066-754774614DC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gill-sans</Template>
  <TotalTime>47871</TotalTime>
  <Words>5070</Words>
  <Application>Microsoft Macintosh PowerPoint</Application>
  <PresentationFormat>On-screen Show (4:3)</PresentationFormat>
  <Paragraphs>789</Paragraphs>
  <Slides>63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7" baseType="lpstr">
      <vt:lpstr>굴림</vt:lpstr>
      <vt:lpstr>MS PGothic</vt:lpstr>
      <vt:lpstr>Arial</vt:lpstr>
      <vt:lpstr>Calibri</vt:lpstr>
      <vt:lpstr>Calibri Light</vt:lpstr>
      <vt:lpstr>Cambria Math</vt:lpstr>
      <vt:lpstr>Comic Sans MS</vt:lpstr>
      <vt:lpstr>Consolas</vt:lpstr>
      <vt:lpstr>Gill Sans Light</vt:lpstr>
      <vt:lpstr>Gill Sans SemiBold</vt:lpstr>
      <vt:lpstr>Symbol</vt:lpstr>
      <vt:lpstr>Times New Roman</vt:lpstr>
      <vt:lpstr>Ubuntu Mono</vt:lpstr>
      <vt:lpstr>gill-sans</vt:lpstr>
      <vt:lpstr>PowerPoint Presentation</vt:lpstr>
      <vt:lpstr>Lecture 10: I/O Subsystem and Storage Devices</vt:lpstr>
      <vt:lpstr>Outline</vt:lpstr>
      <vt:lpstr>What’s Next?</vt:lpstr>
      <vt:lpstr>Example:  Wide Range of I/O Transfer Rates</vt:lpstr>
      <vt:lpstr>Goal of I/O Subsystem</vt:lpstr>
      <vt:lpstr>I/O Devices: Operational Parameters</vt:lpstr>
      <vt:lpstr>I/O Devices: Data Access</vt:lpstr>
      <vt:lpstr>I/O Devices: Timing</vt:lpstr>
      <vt:lpstr>I/O Devices: Notification Mechanisms</vt:lpstr>
      <vt:lpstr>Typical North/Southbridge Layout</vt:lpstr>
      <vt:lpstr>PCI Evolution</vt:lpstr>
      <vt:lpstr>PCI Express (PCIe)</vt:lpstr>
      <vt:lpstr>I/O Device Controller</vt:lpstr>
      <vt:lpstr>Accessing I/O Devices</vt:lpstr>
      <vt:lpstr>Example:  Memory-mapped Display Controller</vt:lpstr>
      <vt:lpstr>Recall: I/O Data Transfer</vt:lpstr>
      <vt:lpstr>DMA for PCIe Devices</vt:lpstr>
      <vt:lpstr>I/O Devices: Memory Protection</vt:lpstr>
      <vt:lpstr>Memory Translation for PCIe Devices</vt:lpstr>
      <vt:lpstr>I/O Performance Concepts</vt:lpstr>
      <vt:lpstr>I/O Performance Concepts (cont.)</vt:lpstr>
      <vt:lpstr>How Does Overhead Affect Effective Bandwidth?</vt:lpstr>
      <vt:lpstr>Contributing Factors to Overhead</vt:lpstr>
      <vt:lpstr>A Simple Deterministic World</vt:lpstr>
      <vt:lpstr>A Simple Deterministic World (cont.)</vt:lpstr>
      <vt:lpstr>A Bursty World</vt:lpstr>
      <vt:lpstr>How Do We Model Burstiness?</vt:lpstr>
      <vt:lpstr>Background: Properties of Random Variables</vt:lpstr>
      <vt:lpstr>Little’s Law [John Little, 1961]</vt:lpstr>
      <vt:lpstr>Little’s Law Applied to Queues</vt:lpstr>
      <vt:lpstr>A Little Queuing Theory</vt:lpstr>
      <vt:lpstr>Why Unbounded Response Time?</vt:lpstr>
      <vt:lpstr>How Do Real-world Systems Avoid Unbounded Queueing Delays?</vt:lpstr>
      <vt:lpstr>Example: M/M/1 Queue and Disk</vt:lpstr>
      <vt:lpstr>Where are we?</vt:lpstr>
      <vt:lpstr>Storage Devices</vt:lpstr>
      <vt:lpstr>The Amazing Magnetic Disk</vt:lpstr>
      <vt:lpstr>The Amazing Magnetic Disk (cont.)</vt:lpstr>
      <vt:lpstr>Magnetic Disks</vt:lpstr>
      <vt:lpstr>Disk Performance Example</vt:lpstr>
      <vt:lpstr>More Examples</vt:lpstr>
      <vt:lpstr>(Lots of) Intelligence in Controller</vt:lpstr>
      <vt:lpstr>Example of Current HDDs</vt:lpstr>
      <vt:lpstr>Disk Scheduling</vt:lpstr>
      <vt:lpstr>Disk Scheduling (cont.)</vt:lpstr>
      <vt:lpstr>Example: FCFS</vt:lpstr>
      <vt:lpstr>Example: SCAN</vt:lpstr>
      <vt:lpstr>Example: C-SCAN</vt:lpstr>
      <vt:lpstr>Final Notes on Disk Performance</vt:lpstr>
      <vt:lpstr>Flash Memory</vt:lpstr>
      <vt:lpstr>Flash Memory: Reads</vt:lpstr>
      <vt:lpstr>Flash Memory: Writes</vt:lpstr>
      <vt:lpstr>Flash Memory Controller</vt:lpstr>
      <vt:lpstr>Example: Writes with GC</vt:lpstr>
      <vt:lpstr>Flash Memory: Write Amplification</vt:lpstr>
      <vt:lpstr>Example of Current SSDs</vt:lpstr>
      <vt:lpstr>Is Full Kindle Heavier Than Empty One?</vt:lpstr>
      <vt:lpstr>SSD Summary</vt:lpstr>
      <vt:lpstr>HDD vs. SSD</vt:lpstr>
      <vt:lpstr>Summary</vt:lpstr>
      <vt:lpstr>Questions?</vt:lpstr>
      <vt:lpstr>Acknowledgment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Operating Systems</dc:title>
  <dc:subject>Synchronization</dc:subject>
  <dc:creator/>
  <cp:keywords/>
  <dc:description/>
  <cp:lastModifiedBy>Seyed Majid Zahedi</cp:lastModifiedBy>
  <cp:revision>1935</cp:revision>
  <cp:lastPrinted>2019-02-13T05:52:18Z</cp:lastPrinted>
  <dcterms:created xsi:type="dcterms:W3CDTF">2014-10-17T18:24:38Z</dcterms:created>
  <dcterms:modified xsi:type="dcterms:W3CDTF">2026-07-30T20:28:16Z</dcterms:modified>
  <cp:category/>
</cp:coreProperties>
</file>