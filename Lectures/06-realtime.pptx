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51"/>
  </p:notesMasterIdLst>
  <p:handoutMasterIdLst>
    <p:handoutMasterId r:id="rId52"/>
  </p:handoutMasterIdLst>
  <p:sldIdLst>
    <p:sldId id="1900" r:id="rId2"/>
    <p:sldId id="1875" r:id="rId3"/>
    <p:sldId id="393" r:id="rId4"/>
    <p:sldId id="1065" r:id="rId5"/>
    <p:sldId id="259" r:id="rId6"/>
    <p:sldId id="1070" r:id="rId7"/>
    <p:sldId id="350" r:id="rId8"/>
    <p:sldId id="351" r:id="rId9"/>
    <p:sldId id="353" r:id="rId10"/>
    <p:sldId id="355" r:id="rId11"/>
    <p:sldId id="1876" r:id="rId12"/>
    <p:sldId id="1877" r:id="rId13"/>
    <p:sldId id="1084" r:id="rId14"/>
    <p:sldId id="982" r:id="rId15"/>
    <p:sldId id="1071" r:id="rId16"/>
    <p:sldId id="1901" r:id="rId17"/>
    <p:sldId id="1012" r:id="rId18"/>
    <p:sldId id="1074" r:id="rId19"/>
    <p:sldId id="1878" r:id="rId20"/>
    <p:sldId id="1076" r:id="rId21"/>
    <p:sldId id="985" r:id="rId22"/>
    <p:sldId id="1021" r:id="rId23"/>
    <p:sldId id="1077" r:id="rId24"/>
    <p:sldId id="1887" r:id="rId25"/>
    <p:sldId id="1078" r:id="rId26"/>
    <p:sldId id="1881" r:id="rId27"/>
    <p:sldId id="1882" r:id="rId28"/>
    <p:sldId id="1883" r:id="rId29"/>
    <p:sldId id="1885" r:id="rId30"/>
    <p:sldId id="364" r:id="rId31"/>
    <p:sldId id="1064" r:id="rId32"/>
    <p:sldId id="1879" r:id="rId33"/>
    <p:sldId id="278" r:id="rId34"/>
    <p:sldId id="371" r:id="rId35"/>
    <p:sldId id="1899" r:id="rId36"/>
    <p:sldId id="1079" r:id="rId37"/>
    <p:sldId id="1891" r:id="rId38"/>
    <p:sldId id="1886" r:id="rId39"/>
    <p:sldId id="1889" r:id="rId40"/>
    <p:sldId id="1890" r:id="rId41"/>
    <p:sldId id="1893" r:id="rId42"/>
    <p:sldId id="1894" r:id="rId43"/>
    <p:sldId id="1897" r:id="rId44"/>
    <p:sldId id="1895" r:id="rId45"/>
    <p:sldId id="1896" r:id="rId46"/>
    <p:sldId id="1892" r:id="rId47"/>
    <p:sldId id="1898" r:id="rId48"/>
    <p:sldId id="330" r:id="rId49"/>
    <p:sldId id="283" r:id="rId50"/>
  </p:sldIdLst>
  <p:sldSz cx="9144000" cy="6858000" type="screen4x3"/>
  <p:notesSz cx="6858000" cy="91440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eyed Majid Zahedi" initials="SMZ" lastIdx="1" clrIdx="0">
    <p:extLst>
      <p:ext uri="{19B8F6BF-5375-455C-9EA6-DF929625EA0E}">
        <p15:presenceInfo xmlns:p15="http://schemas.microsoft.com/office/powerpoint/2012/main" userId="S::smzahedi@uwaterloo.ca::d17101d1-ee0b-49fa-a766-06364933e71a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clrMru>
    <a:srgbClr val="233A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013" autoAdjust="0"/>
    <p:restoredTop sz="86849" autoAdjust="0"/>
  </p:normalViewPr>
  <p:slideViewPr>
    <p:cSldViewPr snapToGrid="0" snapToObjects="1">
      <p:cViewPr varScale="1">
        <p:scale>
          <a:sx n="110" d="100"/>
          <a:sy n="110" d="100"/>
        </p:scale>
        <p:origin x="1336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8528"/>
    </p:cViewPr>
  </p:outlineViewPr>
  <p:notesTextViewPr>
    <p:cViewPr>
      <p:scale>
        <a:sx n="110" d="100"/>
        <a:sy n="11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commentAuthors" Target="commentAuthor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64801D-7B6B-5F4A-8968-09970CCB169C}" type="datetimeFigureOut">
              <a:rPr lang="en-US" smtClean="0"/>
              <a:pPr/>
              <a:t>6/29/26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8EEC0CD-F1DA-FC46-B0C6-E241E5C04A8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0BC2D66-7F57-E94D-93F5-2C545036412A}" type="datetimeFigureOut">
              <a:rPr lang="en-US" smtClean="0"/>
              <a:pPr/>
              <a:t>6/29/26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D3955F-9E14-2048-A3C7-B473A3FD983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9D75A-08D5-2F4E-8CF6-F3F8A539724C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1354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sz="1200" i="1" kern="1200" dirty="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9D75A-08D5-2F4E-8CF6-F3F8A539724C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500605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3955F-9E14-2048-A3C7-B473A3FD9833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893427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3955F-9E14-2048-A3C7-B473A3FD9833}" type="slidenum">
              <a:rPr lang="en-US" smtClean="0"/>
              <a:pPr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06138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3955F-9E14-2048-A3C7-B473A3FD9833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8490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7D3955F-9E14-2048-A3C7-B473A3FD9833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965335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3D9D75A-08D5-2F4E-8CF6-F3F8A539724C}" type="slidenum">
              <a:rPr lang="en-US" smtClean="0"/>
              <a:pPr/>
              <a:t>49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77483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6A51B06-6896-894F-82D4-314CCEEB803E}"/>
              </a:ext>
            </a:extLst>
          </p:cNvPr>
          <p:cNvCxnSpPr>
            <a:cxnSpLocks/>
          </p:cNvCxnSpPr>
          <p:nvPr/>
        </p:nvCxnSpPr>
        <p:spPr>
          <a:xfrm>
            <a:off x="628650" y="3317875"/>
            <a:ext cx="7886700" cy="0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133600"/>
          </a:xfrm>
        </p:spPr>
        <p:txBody>
          <a:bodyPr anchor="b">
            <a:normAutofit/>
          </a:bodyPr>
          <a:lstStyle>
            <a:lvl1pPr algn="ctr">
              <a:defRPr sz="4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10974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49444C6-8BA7-F348-B554-02FE28B7E8CD}"/>
              </a:ext>
            </a:extLst>
          </p:cNvPr>
          <p:cNvCxnSpPr>
            <a:cxnSpLocks/>
          </p:cNvCxnSpPr>
          <p:nvPr/>
        </p:nvCxnSpPr>
        <p:spPr>
          <a:xfrm>
            <a:off x="628650" y="1270000"/>
            <a:ext cx="7886700" cy="0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/>
        <p:txBody>
          <a:bodyPr/>
          <a:lstStyle>
            <a:lvl1pPr>
              <a:buClr>
                <a:schemeClr val="accent1">
                  <a:lumMod val="50000"/>
                </a:schemeClr>
              </a:buClr>
              <a:defRPr/>
            </a:lvl1pPr>
            <a:lvl2pPr>
              <a:buClr>
                <a:schemeClr val="accent1">
                  <a:lumMod val="50000"/>
                </a:schemeClr>
              </a:buClr>
              <a:defRPr/>
            </a:lvl2pPr>
            <a:lvl3pPr>
              <a:buClr>
                <a:schemeClr val="accent1">
                  <a:lumMod val="50000"/>
                </a:schemeClr>
              </a:buClr>
              <a:defRPr/>
            </a:lvl3pPr>
            <a:lvl4pPr>
              <a:buClr>
                <a:schemeClr val="accent1">
                  <a:lumMod val="50000"/>
                </a:schemeClr>
              </a:buClr>
              <a:defRPr/>
            </a:lvl4pPr>
            <a:lvl5pPr>
              <a:buClr>
                <a:schemeClr val="accent1">
                  <a:lumMod val="50000"/>
                </a:schemeClr>
              </a:buClr>
              <a:defRPr/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2909419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7E3296B-3030-CE4B-AA58-2470CAA71537}"/>
              </a:ext>
            </a:extLst>
          </p:cNvPr>
          <p:cNvCxnSpPr>
            <a:cxnSpLocks/>
          </p:cNvCxnSpPr>
          <p:nvPr/>
        </p:nvCxnSpPr>
        <p:spPr>
          <a:xfrm>
            <a:off x="628650" y="3983038"/>
            <a:ext cx="7886700" cy="0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059499"/>
            <a:ext cx="7886700" cy="2852737"/>
          </a:xfrm>
        </p:spPr>
        <p:txBody>
          <a:bodyPr anchor="b"/>
          <a:lstStyle>
            <a:lvl1pPr>
              <a:defRPr sz="49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29482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520911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AED0F70-B1F2-A04C-A71E-4D79596A566A}"/>
              </a:ext>
            </a:extLst>
          </p:cNvPr>
          <p:cNvCxnSpPr>
            <a:cxnSpLocks/>
          </p:cNvCxnSpPr>
          <p:nvPr/>
        </p:nvCxnSpPr>
        <p:spPr>
          <a:xfrm>
            <a:off x="628650" y="1270000"/>
            <a:ext cx="7886700" cy="0"/>
          </a:xfrm>
          <a:prstGeom prst="line">
            <a:avLst/>
          </a:prstGeom>
          <a:ln w="7620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615445"/>
            <a:ext cx="3886200" cy="502982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615445"/>
            <a:ext cx="3886200" cy="502982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08119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152400"/>
            <a:ext cx="7162800" cy="5334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914400"/>
            <a:ext cx="38862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14400"/>
            <a:ext cx="3886200" cy="5105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74954795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>
            <a:lvl2pPr>
              <a:spcBef>
                <a:spcPts val="703"/>
              </a:spcBef>
            </a:lvl2pPr>
            <a:lvl3pPr>
              <a:spcBef>
                <a:spcPts val="1054"/>
              </a:spcBef>
            </a:lvl3pPr>
            <a:lvl4pPr>
              <a:spcBef>
                <a:spcPts val="703"/>
              </a:spcBef>
            </a:lvl4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58665437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55BB83F7-EA5F-5543-B20B-ABA60310875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28650" y="212725"/>
            <a:ext cx="7886700" cy="985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ADABD95D-79E2-A442-9AE8-74F683DF6A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28650" y="1676400"/>
            <a:ext cx="7886700" cy="496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533778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</p:sldLayoutIdLst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0" b="1" kern="1200">
          <a:solidFill>
            <a:schemeClr val="bg2">
              <a:lumMod val="25000"/>
            </a:schemeClr>
          </a:solidFill>
          <a:latin typeface="Gill Sans SemiBold" panose="020B0502020104020203" pitchFamily="34" charset="-79"/>
          <a:ea typeface="CMU Sans Serif" panose="02000603000000000000" pitchFamily="2" charset="0"/>
          <a:cs typeface="Gill Sans SemiBold" panose="020B0502020104020203" pitchFamily="34" charset="-79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0" b="1">
          <a:solidFill>
            <a:srgbClr val="0D79CA"/>
          </a:solidFill>
          <a:latin typeface="Gill Sans SemiBold" panose="020B0502020104020203" pitchFamily="34" charset="-79"/>
          <a:ea typeface="CMU Sans Serif" panose="02000603000000000000" pitchFamily="2" charset="0"/>
          <a:cs typeface="Gill Sans SemiBold" panose="020B0502020104020203" pitchFamily="34" charset="-79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0" b="1">
          <a:solidFill>
            <a:srgbClr val="0D79CA"/>
          </a:solidFill>
          <a:latin typeface="Gill Sans SemiBold" panose="020B0502020104020203" pitchFamily="34" charset="-79"/>
          <a:ea typeface="CMU Sans Serif" panose="02000603000000000000" pitchFamily="2" charset="0"/>
          <a:cs typeface="Gill Sans SemiBold" panose="020B0502020104020203" pitchFamily="34" charset="-79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0" b="1">
          <a:solidFill>
            <a:srgbClr val="0D79CA"/>
          </a:solidFill>
          <a:latin typeface="Gill Sans SemiBold" panose="020B0502020104020203" pitchFamily="34" charset="-79"/>
          <a:ea typeface="CMU Sans Serif" panose="02000603000000000000" pitchFamily="2" charset="0"/>
          <a:cs typeface="Gill Sans SemiBold" panose="020B0502020104020203" pitchFamily="34" charset="-79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0" b="1">
          <a:solidFill>
            <a:srgbClr val="0D79CA"/>
          </a:solidFill>
          <a:latin typeface="Gill Sans SemiBold" panose="020B0502020104020203" pitchFamily="34" charset="-79"/>
          <a:ea typeface="CMU Sans Serif" panose="02000603000000000000" pitchFamily="2" charset="0"/>
          <a:cs typeface="Gill Sans SemiBold" panose="020B0502020104020203" pitchFamily="34" charset="-79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0" b="1">
          <a:solidFill>
            <a:srgbClr val="0D79CA"/>
          </a:solidFill>
          <a:latin typeface="Gill Sans SemiBold" panose="020B0502020104020203" pitchFamily="34" charset="-79"/>
          <a:ea typeface="CMU Sans Serif" panose="02000603000000000000" pitchFamily="2" charset="0"/>
          <a:cs typeface="Gill Sans SemiBold" panose="020B0502020104020203" pitchFamily="34" charset="-79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0" b="1">
          <a:solidFill>
            <a:srgbClr val="0D79CA"/>
          </a:solidFill>
          <a:latin typeface="Gill Sans SemiBold" panose="020B0502020104020203" pitchFamily="34" charset="-79"/>
          <a:ea typeface="CMU Sans Serif" panose="02000603000000000000" pitchFamily="2" charset="0"/>
          <a:cs typeface="Gill Sans SemiBold" panose="020B0502020104020203" pitchFamily="34" charset="-79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0" b="1">
          <a:solidFill>
            <a:srgbClr val="0D79CA"/>
          </a:solidFill>
          <a:latin typeface="Gill Sans SemiBold" panose="020B0502020104020203" pitchFamily="34" charset="-79"/>
          <a:ea typeface="CMU Sans Serif" panose="02000603000000000000" pitchFamily="2" charset="0"/>
          <a:cs typeface="Gill Sans SemiBold" panose="020B0502020104020203" pitchFamily="34" charset="-79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500" b="1">
          <a:solidFill>
            <a:srgbClr val="0D79CA"/>
          </a:solidFill>
          <a:latin typeface="Gill Sans SemiBold" panose="020B0502020104020203" pitchFamily="34" charset="-79"/>
          <a:ea typeface="CMU Sans Serif" panose="02000603000000000000" pitchFamily="2" charset="0"/>
          <a:cs typeface="Gill Sans SemiBold" panose="020B0502020104020203" pitchFamily="34" charset="-79"/>
        </a:defRPr>
      </a:lvl9pPr>
    </p:titleStyle>
    <p:bodyStyle>
      <a:lvl1pPr marL="228600" indent="-228600" algn="l" rtl="0" eaLnBrk="1" fontAlgn="base" hangingPunct="1">
        <a:spcBef>
          <a:spcPts val="1000"/>
        </a:spcBef>
        <a:spcAft>
          <a:spcPct val="0"/>
        </a:spcAft>
        <a:buClr>
          <a:srgbClr val="21306A"/>
        </a:buClr>
        <a:buFont typeface="Arial" panose="020B0604020202020204" pitchFamily="34" charset="0"/>
        <a:buChar char="•"/>
        <a:defRPr sz="2800" kern="1200">
          <a:solidFill>
            <a:schemeClr val="bg2">
              <a:lumMod val="10000"/>
            </a:schemeClr>
          </a:solidFill>
          <a:latin typeface="Gill Sans Light" panose="020B0302020104020203" pitchFamily="34" charset="-79"/>
          <a:ea typeface="CMU Sans Serif" panose="02000603000000000000" pitchFamily="2" charset="0"/>
          <a:cs typeface="Gill Sans Light" panose="020B0302020104020203" pitchFamily="34" charset="-79"/>
        </a:defRPr>
      </a:lvl1pPr>
      <a:lvl2pPr marL="685800" indent="-228600" algn="l" rtl="0" eaLnBrk="1" fontAlgn="base" hangingPunct="1">
        <a:spcBef>
          <a:spcPts val="500"/>
        </a:spcBef>
        <a:spcAft>
          <a:spcPct val="0"/>
        </a:spcAft>
        <a:buClr>
          <a:srgbClr val="21306A"/>
        </a:buClr>
        <a:buFont typeface="Arial" panose="020B0604020202020204" pitchFamily="34" charset="0"/>
        <a:buChar char="•"/>
        <a:defRPr sz="2400" kern="1200">
          <a:solidFill>
            <a:schemeClr val="bg2">
              <a:lumMod val="10000"/>
            </a:schemeClr>
          </a:solidFill>
          <a:latin typeface="Gill Sans Light" panose="020B0302020104020203" pitchFamily="34" charset="-79"/>
          <a:ea typeface="CMU Sans Serif" panose="02000603000000000000" pitchFamily="2" charset="0"/>
          <a:cs typeface="Gill Sans Light" panose="020B0302020104020203" pitchFamily="34" charset="-79"/>
        </a:defRPr>
      </a:lvl2pPr>
      <a:lvl3pPr marL="1143000" indent="-228600" algn="l" rtl="0" eaLnBrk="1" fontAlgn="base" hangingPunct="1">
        <a:spcBef>
          <a:spcPts val="500"/>
        </a:spcBef>
        <a:spcAft>
          <a:spcPct val="0"/>
        </a:spcAft>
        <a:buClr>
          <a:srgbClr val="21306A"/>
        </a:buClr>
        <a:buFont typeface="Arial" panose="020B0604020202020204" pitchFamily="34" charset="0"/>
        <a:buChar char="•"/>
        <a:defRPr sz="2000" kern="1200">
          <a:solidFill>
            <a:schemeClr val="bg2">
              <a:lumMod val="10000"/>
            </a:schemeClr>
          </a:solidFill>
          <a:latin typeface="Gill Sans Light" panose="020B0302020104020203" pitchFamily="34" charset="-79"/>
          <a:ea typeface="CMU Sans Serif" panose="02000603000000000000" pitchFamily="2" charset="0"/>
          <a:cs typeface="Gill Sans Light" panose="020B0302020104020203" pitchFamily="34" charset="-79"/>
        </a:defRPr>
      </a:lvl3pPr>
      <a:lvl4pPr marL="1600200" indent="-228600" algn="l" rtl="0" eaLnBrk="1" fontAlgn="base" hangingPunct="1">
        <a:spcBef>
          <a:spcPts val="500"/>
        </a:spcBef>
        <a:spcAft>
          <a:spcPct val="0"/>
        </a:spcAft>
        <a:buClr>
          <a:srgbClr val="21306A"/>
        </a:buClr>
        <a:buFont typeface="Arial" panose="020B0604020202020204" pitchFamily="34" charset="0"/>
        <a:buChar char="•"/>
        <a:defRPr kern="1200">
          <a:solidFill>
            <a:schemeClr val="bg2">
              <a:lumMod val="10000"/>
            </a:schemeClr>
          </a:solidFill>
          <a:latin typeface="Gill Sans Light" panose="020B0302020104020203" pitchFamily="34" charset="-79"/>
          <a:ea typeface="CMU Sans Serif" panose="02000603000000000000" pitchFamily="2" charset="0"/>
          <a:cs typeface="Gill Sans Light" panose="020B0302020104020203" pitchFamily="34" charset="-79"/>
        </a:defRPr>
      </a:lvl4pPr>
      <a:lvl5pPr marL="2057400" indent="-228600" algn="l" rtl="0" eaLnBrk="1" fontAlgn="base" hangingPunct="1">
        <a:spcBef>
          <a:spcPts val="500"/>
        </a:spcBef>
        <a:spcAft>
          <a:spcPct val="0"/>
        </a:spcAft>
        <a:buClr>
          <a:srgbClr val="21306A"/>
        </a:buClr>
        <a:buFont typeface="Arial" panose="020B0604020202020204" pitchFamily="34" charset="0"/>
        <a:buChar char="•"/>
        <a:defRPr kern="1200">
          <a:solidFill>
            <a:schemeClr val="bg2">
              <a:lumMod val="10000"/>
            </a:schemeClr>
          </a:solidFill>
          <a:latin typeface="Gill Sans Light" panose="020B0302020104020203" pitchFamily="34" charset="-79"/>
          <a:ea typeface="CMU Sans Serif" panose="02000603000000000000" pitchFamily="2" charset="0"/>
          <a:cs typeface="Gill Sans Light" panose="020B0302020104020203" pitchFamily="34" charset="-79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ece.uwaterloo.ca/~smzahedi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sv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3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929938DB-82CE-8D40-B34B-7A455F7BCC7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28650" y="1212665"/>
            <a:ext cx="7886700" cy="443267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656565068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dirty="0"/>
              <a:t>Lecture 6: </a:t>
            </a:r>
            <a:br>
              <a:rPr lang="en-US" dirty="0"/>
            </a:br>
            <a:r>
              <a:rPr lang="en-US" dirty="0"/>
              <a:t>Real-time Systems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B670F06-8457-6A4A-A75C-84938FC7DD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Prof. Seyed Majid Zahedi</a:t>
            </a:r>
          </a:p>
          <a:p>
            <a:r>
              <a:rPr lang="en-US" sz="1600" dirty="0">
                <a:latin typeface="Ubuntu Mono" panose="020B0509030602030204" pitchFamily="49" charset="0"/>
                <a:hlinkClick r:id="rId3"/>
              </a:rPr>
              <a:t>https://ece.uwaterloo.ca/~smzahedi</a:t>
            </a:r>
            <a:endParaRPr lang="en-US" sz="1600" dirty="0">
              <a:latin typeface="Ubuntu Mono" panose="020B0509030602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024375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608500-3FA8-7342-9461-203D967B68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Outline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FDC85B-6D99-7F4C-B46C-3AB6876F7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Real-time systems</a:t>
            </a:r>
          </a:p>
          <a:p>
            <a:pPr lvl="1"/>
            <a:r>
              <a:rPr lang="en-US" sz="2000" dirty="0"/>
              <a:t>Definitions and features</a:t>
            </a:r>
          </a:p>
          <a:p>
            <a:pPr lvl="1"/>
            <a:endParaRPr lang="en-US" sz="2000" dirty="0"/>
          </a:p>
          <a:p>
            <a:r>
              <a:rPr lang="en-US" sz="2400" dirty="0"/>
              <a:t>Real-time operating systems</a:t>
            </a:r>
          </a:p>
          <a:p>
            <a:pPr lvl="1"/>
            <a:r>
              <a:rPr lang="en-US" sz="2000" dirty="0"/>
              <a:t>Desirable properties, interrupt handling, memory management</a:t>
            </a:r>
          </a:p>
          <a:p>
            <a:pPr lvl="1"/>
            <a:endParaRPr lang="en-US" sz="2000" dirty="0"/>
          </a:p>
          <a:p>
            <a:r>
              <a:rPr lang="en-US" sz="2400" dirty="0"/>
              <a:t>Uniprocessor real-time scheduling</a:t>
            </a:r>
          </a:p>
          <a:p>
            <a:pPr lvl="1"/>
            <a:r>
              <a:rPr lang="en-US" sz="2000" dirty="0"/>
              <a:t>RM, EDF, LLF, …</a:t>
            </a:r>
          </a:p>
          <a:p>
            <a:pPr lvl="1"/>
            <a:r>
              <a:rPr lang="en-US" sz="2000" dirty="0"/>
              <a:t>Priority inversion</a:t>
            </a:r>
          </a:p>
          <a:p>
            <a:pPr lvl="1"/>
            <a:endParaRPr lang="en-US" sz="2000" dirty="0"/>
          </a:p>
          <a:p>
            <a:r>
              <a:rPr lang="en-US" sz="2400" dirty="0"/>
              <a:t>Multiprocessor scheduling</a:t>
            </a:r>
          </a:p>
          <a:p>
            <a:pPr lvl="1"/>
            <a:r>
              <a:rPr lang="en-US" sz="2000" dirty="0"/>
              <a:t>Different scheduling classes, remote blocking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983819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 dirty="0"/>
              <a:t>Real-time Systems (</a:t>
            </a:r>
            <a:r>
              <a:rPr lang="en-US" dirty="0" err="1"/>
              <a:t>RTSes</a:t>
            </a:r>
            <a:r>
              <a:rPr lang="en-US" dirty="0"/>
              <a:t>)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45F8B85-766B-CB48-B8DA-518303346B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76400"/>
            <a:ext cx="7886700" cy="4968875"/>
          </a:xfrm>
        </p:spPr>
        <p:txBody>
          <a:bodyPr/>
          <a:lstStyle/>
          <a:p>
            <a:r>
              <a:rPr lang="en-CA" sz="2400" dirty="0"/>
              <a:t>Definition</a:t>
            </a:r>
          </a:p>
          <a:p>
            <a:pPr lvl="1"/>
            <a:r>
              <a:rPr lang="en-CA" sz="2000" dirty="0"/>
              <a:t>Systems whose correctness depends on their </a:t>
            </a:r>
            <a:r>
              <a:rPr lang="en-CA" sz="2000" dirty="0">
                <a:solidFill>
                  <a:srgbClr val="FF0000"/>
                </a:solidFill>
              </a:rPr>
              <a:t>temporal</a:t>
            </a:r>
            <a:r>
              <a:rPr lang="en-CA" sz="2000" dirty="0"/>
              <a:t> aspects as well as their </a:t>
            </a:r>
            <a:r>
              <a:rPr lang="en-CA" sz="2000" dirty="0">
                <a:solidFill>
                  <a:srgbClr val="FF0000"/>
                </a:solidFill>
              </a:rPr>
              <a:t>functional</a:t>
            </a:r>
            <a:r>
              <a:rPr lang="en-CA" sz="2000" dirty="0"/>
              <a:t> aspects</a:t>
            </a:r>
          </a:p>
          <a:p>
            <a:pPr lvl="2"/>
            <a:endParaRPr lang="en-CA" sz="1800" dirty="0"/>
          </a:p>
          <a:p>
            <a:r>
              <a:rPr lang="en-CA" sz="2400" dirty="0"/>
              <a:t>Performance measure</a:t>
            </a:r>
          </a:p>
          <a:p>
            <a:pPr lvl="1"/>
            <a:r>
              <a:rPr lang="en-CA" sz="2000" dirty="0">
                <a:solidFill>
                  <a:srgbClr val="FF0000"/>
                </a:solidFill>
              </a:rPr>
              <a:t>Timeliness</a:t>
            </a:r>
            <a:r>
              <a:rPr lang="en-CA" sz="2000" dirty="0"/>
              <a:t> on timing constraints (</a:t>
            </a:r>
            <a:r>
              <a:rPr lang="en-CA" sz="2000" dirty="0">
                <a:solidFill>
                  <a:srgbClr val="FF0000"/>
                </a:solidFill>
              </a:rPr>
              <a:t>deadlines</a:t>
            </a:r>
            <a:r>
              <a:rPr lang="en-CA" sz="2000" dirty="0"/>
              <a:t>)</a:t>
            </a:r>
          </a:p>
          <a:p>
            <a:pPr lvl="1"/>
            <a:r>
              <a:rPr lang="en-CA" sz="2000" dirty="0"/>
              <a:t>Speed/average case performance are less significant</a:t>
            </a:r>
          </a:p>
          <a:p>
            <a:pPr lvl="2"/>
            <a:endParaRPr lang="en-CA" sz="1800" dirty="0"/>
          </a:p>
          <a:p>
            <a:r>
              <a:rPr lang="en-CA" sz="2400" dirty="0"/>
              <a:t>Key property</a:t>
            </a:r>
          </a:p>
          <a:p>
            <a:pPr lvl="1"/>
            <a:r>
              <a:rPr lang="en-CA" sz="2000" dirty="0">
                <a:solidFill>
                  <a:srgbClr val="FF0000"/>
                </a:solidFill>
              </a:rPr>
              <a:t>Predictability</a:t>
            </a:r>
            <a:r>
              <a:rPr lang="en-CA" sz="2000" dirty="0"/>
              <a:t> on timing constraints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0602359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DA4C2C67-C42C-9C42-AE5F-AE01C1942F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 altLang="en-US" dirty="0"/>
              <a:t>Recall: Types of Real-time Systems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ED40AF53-55ED-E14B-B10D-EE7F6C9DDF4F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676400"/>
            <a:ext cx="7886700" cy="4968875"/>
          </a:xfrm>
        </p:spPr>
        <p:txBody>
          <a:bodyPr/>
          <a:lstStyle/>
          <a:p>
            <a:r>
              <a:rPr lang="en-US" altLang="en-US" sz="2400" dirty="0">
                <a:solidFill>
                  <a:srgbClr val="FF0000"/>
                </a:solidFill>
              </a:rPr>
              <a:t>Soft</a:t>
            </a:r>
            <a:r>
              <a:rPr lang="en-US" altLang="en-US" sz="2400" dirty="0"/>
              <a:t>: must try to meet all deadlines</a:t>
            </a:r>
          </a:p>
          <a:p>
            <a:pPr lvl="1"/>
            <a:r>
              <a:rPr lang="en-US" altLang="en-US" sz="2000" dirty="0"/>
              <a:t>System does not fail if a few </a:t>
            </a:r>
            <a:br>
              <a:rPr lang="en-US" altLang="en-US" sz="2000" dirty="0"/>
            </a:br>
            <a:r>
              <a:rPr lang="en-US" altLang="en-US" sz="2000" dirty="0"/>
              <a:t>deadlines are missed</a:t>
            </a:r>
          </a:p>
          <a:p>
            <a:pPr marL="914400" lvl="2" indent="0">
              <a:buNone/>
            </a:pPr>
            <a:endParaRPr lang="en-US" altLang="en-US" sz="1600" dirty="0"/>
          </a:p>
          <a:p>
            <a:pPr lvl="2"/>
            <a:endParaRPr lang="en-US" altLang="en-US" sz="1600" dirty="0"/>
          </a:p>
          <a:p>
            <a:r>
              <a:rPr lang="en-US" altLang="en-US" sz="2400" dirty="0">
                <a:solidFill>
                  <a:srgbClr val="FF0000"/>
                </a:solidFill>
              </a:rPr>
              <a:t>Firm</a:t>
            </a:r>
            <a:r>
              <a:rPr lang="en-US" altLang="en-US" sz="2400" dirty="0"/>
              <a:t>: result has no use outside </a:t>
            </a:r>
            <a:br>
              <a:rPr lang="en-US" altLang="en-US" sz="2400" dirty="0"/>
            </a:br>
            <a:r>
              <a:rPr lang="en-US" altLang="en-US" sz="2400" dirty="0"/>
              <a:t>deadline window</a:t>
            </a:r>
          </a:p>
          <a:p>
            <a:pPr lvl="1"/>
            <a:r>
              <a:rPr lang="en-US" altLang="en-US" sz="2000" dirty="0"/>
              <a:t>Tasks that fail are discarded</a:t>
            </a:r>
          </a:p>
          <a:p>
            <a:pPr lvl="2"/>
            <a:endParaRPr lang="en-US" altLang="en-US" sz="1600" dirty="0"/>
          </a:p>
          <a:p>
            <a:pPr marL="914400" lvl="2" indent="0">
              <a:buNone/>
            </a:pPr>
            <a:endParaRPr lang="en-US" altLang="en-US" sz="1600" dirty="0"/>
          </a:p>
          <a:p>
            <a:r>
              <a:rPr lang="en-US" altLang="en-US" sz="2400" dirty="0">
                <a:solidFill>
                  <a:srgbClr val="FF0000"/>
                </a:solidFill>
              </a:rPr>
              <a:t>Hard</a:t>
            </a:r>
            <a:r>
              <a:rPr lang="en-US" altLang="en-US" sz="2400" dirty="0"/>
              <a:t>: must always meet all deadlines</a:t>
            </a:r>
          </a:p>
          <a:p>
            <a:pPr lvl="1"/>
            <a:r>
              <a:rPr lang="en-US" altLang="en-US" sz="2000" dirty="0"/>
              <a:t>System fails if deadline window is missed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414406DB-B4EF-6042-901C-2F1D24D32B20}"/>
              </a:ext>
            </a:extLst>
          </p:cNvPr>
          <p:cNvGrpSpPr/>
          <p:nvPr/>
        </p:nvGrpSpPr>
        <p:grpSpPr>
          <a:xfrm>
            <a:off x="5890581" y="3113199"/>
            <a:ext cx="2624769" cy="1592543"/>
            <a:chOff x="5406853" y="3556176"/>
            <a:chExt cx="2624769" cy="1592543"/>
          </a:xfrm>
        </p:grpSpPr>
        <p:cxnSp>
          <p:nvCxnSpPr>
            <p:cNvPr id="12" name="Elbow Connector 11">
              <a:extLst>
                <a:ext uri="{FF2B5EF4-FFF2-40B4-BE49-F238E27FC236}">
                  <a16:creationId xmlns:a16="http://schemas.microsoft.com/office/drawing/2014/main" id="{ECEC73DD-572B-E449-8EC7-76F25EDE6012}"/>
                </a:ext>
              </a:extLst>
            </p:cNvPr>
            <p:cNvCxnSpPr>
              <a:cxnSpLocks/>
            </p:cNvCxnSpPr>
            <p:nvPr/>
          </p:nvCxnSpPr>
          <p:spPr>
            <a:xfrm>
              <a:off x="5781867" y="3859306"/>
              <a:ext cx="1815721" cy="954741"/>
            </a:xfrm>
            <a:prstGeom prst="bentConnector3">
              <a:avLst>
                <a:gd name="adj1" fmla="val 50000"/>
              </a:avLst>
            </a:prstGeom>
            <a:ln w="19050">
              <a:solidFill>
                <a:schemeClr val="bg2">
                  <a:lumMod val="5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4031F37C-A79A-8441-B264-1EC602BBDB14}"/>
                </a:ext>
              </a:extLst>
            </p:cNvPr>
            <p:cNvGrpSpPr/>
            <p:nvPr/>
          </p:nvGrpSpPr>
          <p:grpSpPr>
            <a:xfrm>
              <a:off x="5406853" y="3556176"/>
              <a:ext cx="2624769" cy="1592543"/>
              <a:chOff x="5339986" y="4336105"/>
              <a:chExt cx="2624769" cy="1592543"/>
            </a:xfrm>
          </p:grpSpPr>
          <p:sp>
            <p:nvSpPr>
              <p:cNvPr id="5" name="Left-Up Arrow 4">
                <a:extLst>
                  <a:ext uri="{FF2B5EF4-FFF2-40B4-BE49-F238E27FC236}">
                    <a16:creationId xmlns:a16="http://schemas.microsoft.com/office/drawing/2014/main" id="{7565B283-85D5-4A41-9DD8-D2C11C370B43}"/>
                  </a:ext>
                </a:extLst>
              </p:cNvPr>
              <p:cNvSpPr/>
              <p:nvPr/>
            </p:nvSpPr>
            <p:spPr>
              <a:xfrm flipH="1">
                <a:off x="5647763" y="4336105"/>
                <a:ext cx="2044321" cy="1325107"/>
              </a:xfrm>
              <a:prstGeom prst="leftUpArrow">
                <a:avLst>
                  <a:gd name="adj1" fmla="val 0"/>
                  <a:gd name="adj2" fmla="val 3957"/>
                  <a:gd name="adj3" fmla="val 7753"/>
                </a:avLst>
              </a:prstGeom>
              <a:solidFill>
                <a:schemeClr val="tx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F6835731-50B5-1349-92FD-8AF9E6F8CF86}"/>
                  </a:ext>
                </a:extLst>
              </p:cNvPr>
              <p:cNvSpPr txBox="1"/>
              <p:nvPr/>
            </p:nvSpPr>
            <p:spPr>
              <a:xfrm rot="16200000">
                <a:off x="4831322" y="4914900"/>
                <a:ext cx="132510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Value/usefulness</a:t>
                </a:r>
              </a:p>
            </p:txBody>
          </p:sp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5FE99492-4824-0248-B7C2-2058C16DB16E}"/>
                  </a:ext>
                </a:extLst>
              </p:cNvPr>
              <p:cNvSpPr txBox="1"/>
              <p:nvPr/>
            </p:nvSpPr>
            <p:spPr>
              <a:xfrm>
                <a:off x="6222259" y="5620871"/>
                <a:ext cx="81464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Deadline</a:t>
                </a: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30DA8B0E-6C1A-5C43-A476-4AD070B13FFF}"/>
                  </a:ext>
                </a:extLst>
              </p:cNvPr>
              <p:cNvSpPr txBox="1"/>
              <p:nvPr/>
            </p:nvSpPr>
            <p:spPr>
              <a:xfrm>
                <a:off x="7419414" y="5620871"/>
                <a:ext cx="54534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Time</a:t>
                </a:r>
              </a:p>
            </p:txBody>
          </p:sp>
        </p:grp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64F4E1A8-4FC3-CA49-B111-2AD746F75916}"/>
              </a:ext>
            </a:extLst>
          </p:cNvPr>
          <p:cNvGrpSpPr/>
          <p:nvPr/>
        </p:nvGrpSpPr>
        <p:grpSpPr>
          <a:xfrm>
            <a:off x="5890581" y="1394013"/>
            <a:ext cx="2624769" cy="1592543"/>
            <a:chOff x="5890581" y="1676400"/>
            <a:chExt cx="2624769" cy="1592543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E32ECD63-9271-5146-9088-4E77FAF631D3}"/>
                </a:ext>
              </a:extLst>
            </p:cNvPr>
            <p:cNvGrpSpPr/>
            <p:nvPr/>
          </p:nvGrpSpPr>
          <p:grpSpPr>
            <a:xfrm>
              <a:off x="5890581" y="1676400"/>
              <a:ext cx="2624769" cy="1592543"/>
              <a:chOff x="5339986" y="4336105"/>
              <a:chExt cx="2624769" cy="1592543"/>
            </a:xfrm>
          </p:grpSpPr>
          <p:sp>
            <p:nvSpPr>
              <p:cNvPr id="29" name="Left-Up Arrow 28">
                <a:extLst>
                  <a:ext uri="{FF2B5EF4-FFF2-40B4-BE49-F238E27FC236}">
                    <a16:creationId xmlns:a16="http://schemas.microsoft.com/office/drawing/2014/main" id="{C53B9B45-1094-8544-8C1A-AB66FC52EC20}"/>
                  </a:ext>
                </a:extLst>
              </p:cNvPr>
              <p:cNvSpPr/>
              <p:nvPr/>
            </p:nvSpPr>
            <p:spPr>
              <a:xfrm flipH="1">
                <a:off x="5647763" y="4336105"/>
                <a:ext cx="2044321" cy="1325107"/>
              </a:xfrm>
              <a:prstGeom prst="leftUpArrow">
                <a:avLst>
                  <a:gd name="adj1" fmla="val 0"/>
                  <a:gd name="adj2" fmla="val 3957"/>
                  <a:gd name="adj3" fmla="val 7753"/>
                </a:avLst>
              </a:prstGeom>
              <a:solidFill>
                <a:schemeClr val="tx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85051E7E-E2AC-6247-BFF3-4B24D00CC062}"/>
                  </a:ext>
                </a:extLst>
              </p:cNvPr>
              <p:cNvSpPr txBox="1"/>
              <p:nvPr/>
            </p:nvSpPr>
            <p:spPr>
              <a:xfrm rot="16200000">
                <a:off x="4831322" y="4914900"/>
                <a:ext cx="132510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Value/usefulness</a:t>
                </a:r>
              </a:p>
            </p:txBody>
          </p:sp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1A7D325-F80B-7041-AC83-00D2CF4FB98D}"/>
                  </a:ext>
                </a:extLst>
              </p:cNvPr>
              <p:cNvSpPr txBox="1"/>
              <p:nvPr/>
            </p:nvSpPr>
            <p:spPr>
              <a:xfrm>
                <a:off x="6222259" y="5620871"/>
                <a:ext cx="81464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Deadline</a:t>
                </a:r>
              </a:p>
            </p:txBody>
          </p:sp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C690818C-0FFE-484F-9BC0-641460E21D86}"/>
                  </a:ext>
                </a:extLst>
              </p:cNvPr>
              <p:cNvSpPr txBox="1"/>
              <p:nvPr/>
            </p:nvSpPr>
            <p:spPr>
              <a:xfrm>
                <a:off x="7419414" y="5620871"/>
                <a:ext cx="54534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Time</a:t>
                </a:r>
              </a:p>
            </p:txBody>
          </p:sp>
        </p:grpSp>
        <p:sp>
          <p:nvSpPr>
            <p:cNvPr id="18" name="Freeform 17">
              <a:extLst>
                <a:ext uri="{FF2B5EF4-FFF2-40B4-BE49-F238E27FC236}">
                  <a16:creationId xmlns:a16="http://schemas.microsoft.com/office/drawing/2014/main" id="{8165537E-23D0-6442-9BDA-94A9716D3D1B}"/>
                </a:ext>
              </a:extLst>
            </p:cNvPr>
            <p:cNvSpPr/>
            <p:nvPr/>
          </p:nvSpPr>
          <p:spPr>
            <a:xfrm>
              <a:off x="6266329" y="1976718"/>
              <a:ext cx="1600200" cy="968188"/>
            </a:xfrm>
            <a:custGeom>
              <a:avLst/>
              <a:gdLst>
                <a:gd name="connsiteX0" fmla="*/ 0 w 1600200"/>
                <a:gd name="connsiteY0" fmla="*/ 0 h 968188"/>
                <a:gd name="connsiteX1" fmla="*/ 914400 w 1600200"/>
                <a:gd name="connsiteY1" fmla="*/ 0 h 968188"/>
                <a:gd name="connsiteX2" fmla="*/ 1600200 w 1600200"/>
                <a:gd name="connsiteY2" fmla="*/ 968188 h 9681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600200" h="968188">
                  <a:moveTo>
                    <a:pt x="0" y="0"/>
                  </a:moveTo>
                  <a:lnTo>
                    <a:pt x="914400" y="0"/>
                  </a:lnTo>
                  <a:lnTo>
                    <a:pt x="1600200" y="968188"/>
                  </a:lnTo>
                </a:path>
              </a:pathLst>
            </a:custGeom>
            <a:noFill/>
            <a:ln w="19050">
              <a:solidFill>
                <a:schemeClr val="accent3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022D25AF-3308-EF48-89F7-393C772AB435}"/>
              </a:ext>
            </a:extLst>
          </p:cNvPr>
          <p:cNvGrpSpPr/>
          <p:nvPr/>
        </p:nvGrpSpPr>
        <p:grpSpPr>
          <a:xfrm>
            <a:off x="5890581" y="4824133"/>
            <a:ext cx="2624769" cy="1802944"/>
            <a:chOff x="5406853" y="3556176"/>
            <a:chExt cx="2624769" cy="1802944"/>
          </a:xfrm>
        </p:grpSpPr>
        <p:cxnSp>
          <p:nvCxnSpPr>
            <p:cNvPr id="37" name="Elbow Connector 36">
              <a:extLst>
                <a:ext uri="{FF2B5EF4-FFF2-40B4-BE49-F238E27FC236}">
                  <a16:creationId xmlns:a16="http://schemas.microsoft.com/office/drawing/2014/main" id="{14327E64-1788-0B45-A208-25272DA07702}"/>
                </a:ext>
              </a:extLst>
            </p:cNvPr>
            <p:cNvCxnSpPr>
              <a:cxnSpLocks/>
            </p:cNvCxnSpPr>
            <p:nvPr/>
          </p:nvCxnSpPr>
          <p:spPr>
            <a:xfrm>
              <a:off x="5781867" y="3859306"/>
              <a:ext cx="1815721" cy="1499814"/>
            </a:xfrm>
            <a:prstGeom prst="bentConnector3">
              <a:avLst>
                <a:gd name="adj1" fmla="val 50000"/>
              </a:avLst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38" name="Group 37">
              <a:extLst>
                <a:ext uri="{FF2B5EF4-FFF2-40B4-BE49-F238E27FC236}">
                  <a16:creationId xmlns:a16="http://schemas.microsoft.com/office/drawing/2014/main" id="{BCF9C022-1544-3A49-92A3-B5FA19E32E18}"/>
                </a:ext>
              </a:extLst>
            </p:cNvPr>
            <p:cNvGrpSpPr/>
            <p:nvPr/>
          </p:nvGrpSpPr>
          <p:grpSpPr>
            <a:xfrm>
              <a:off x="5406853" y="3556176"/>
              <a:ext cx="2624769" cy="1592543"/>
              <a:chOff x="5339986" y="4336105"/>
              <a:chExt cx="2624769" cy="1592543"/>
            </a:xfrm>
          </p:grpSpPr>
          <p:sp>
            <p:nvSpPr>
              <p:cNvPr id="39" name="Left-Up Arrow 38">
                <a:extLst>
                  <a:ext uri="{FF2B5EF4-FFF2-40B4-BE49-F238E27FC236}">
                    <a16:creationId xmlns:a16="http://schemas.microsoft.com/office/drawing/2014/main" id="{41D2CDEB-C5B8-5A43-AA9F-FBE8DB9814BB}"/>
                  </a:ext>
                </a:extLst>
              </p:cNvPr>
              <p:cNvSpPr/>
              <p:nvPr/>
            </p:nvSpPr>
            <p:spPr>
              <a:xfrm flipH="1">
                <a:off x="5647763" y="4336105"/>
                <a:ext cx="2044321" cy="1325107"/>
              </a:xfrm>
              <a:prstGeom prst="leftUpArrow">
                <a:avLst>
                  <a:gd name="adj1" fmla="val 0"/>
                  <a:gd name="adj2" fmla="val 3957"/>
                  <a:gd name="adj3" fmla="val 7753"/>
                </a:avLst>
              </a:prstGeom>
              <a:solidFill>
                <a:schemeClr val="tx1"/>
              </a:solidFill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0" name="TextBox 39">
                <a:extLst>
                  <a:ext uri="{FF2B5EF4-FFF2-40B4-BE49-F238E27FC236}">
                    <a16:creationId xmlns:a16="http://schemas.microsoft.com/office/drawing/2014/main" id="{FDCA0B0B-BC11-9843-B2BD-D3DC89264253}"/>
                  </a:ext>
                </a:extLst>
              </p:cNvPr>
              <p:cNvSpPr txBox="1"/>
              <p:nvPr/>
            </p:nvSpPr>
            <p:spPr>
              <a:xfrm rot="16200000">
                <a:off x="4831322" y="4914900"/>
                <a:ext cx="132510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Value/usefulness</a:t>
                </a:r>
              </a:p>
            </p:txBody>
          </p:sp>
          <p:sp>
            <p:nvSpPr>
              <p:cNvPr id="41" name="TextBox 40">
                <a:extLst>
                  <a:ext uri="{FF2B5EF4-FFF2-40B4-BE49-F238E27FC236}">
                    <a16:creationId xmlns:a16="http://schemas.microsoft.com/office/drawing/2014/main" id="{911C6B19-6D34-0C4F-A933-086B48133E81}"/>
                  </a:ext>
                </a:extLst>
              </p:cNvPr>
              <p:cNvSpPr txBox="1"/>
              <p:nvPr/>
            </p:nvSpPr>
            <p:spPr>
              <a:xfrm>
                <a:off x="6222259" y="5620871"/>
                <a:ext cx="81464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Deadline</a:t>
                </a:r>
              </a:p>
            </p:txBody>
          </p:sp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A4C47419-1785-A64C-AC30-C30452AC15B3}"/>
                  </a:ext>
                </a:extLst>
              </p:cNvPr>
              <p:cNvSpPr txBox="1"/>
              <p:nvPr/>
            </p:nvSpPr>
            <p:spPr>
              <a:xfrm>
                <a:off x="7419414" y="5620871"/>
                <a:ext cx="54534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sz="140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Time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064360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4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47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1EA011-E89F-FE49-99B5-4331D0CB76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Recall: Real-time Spectrum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0BF81DD-0668-A742-81CB-0D4B1C0A0099}"/>
              </a:ext>
            </a:extLst>
          </p:cNvPr>
          <p:cNvGrpSpPr/>
          <p:nvPr/>
        </p:nvGrpSpPr>
        <p:grpSpPr>
          <a:xfrm>
            <a:off x="879035" y="3429000"/>
            <a:ext cx="7385929" cy="923241"/>
            <a:chOff x="252000" y="3429000"/>
            <a:chExt cx="8640000" cy="1080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3CB8205-207D-CD4C-BEF9-8745122F3C9D}"/>
                </a:ext>
              </a:extLst>
            </p:cNvPr>
            <p:cNvSpPr/>
            <p:nvPr/>
          </p:nvSpPr>
          <p:spPr>
            <a:xfrm>
              <a:off x="252000" y="3429000"/>
              <a:ext cx="8640000" cy="1080000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33000">
                  <a:srgbClr val="FFFF00"/>
                </a:gs>
                <a:gs pos="67000">
                  <a:srgbClr val="FFC000"/>
                </a:gs>
                <a:gs pos="100000">
                  <a:srgbClr val="FF0000"/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C350754A-6FE4-164E-AC55-723D7C6B0276}"/>
                </a:ext>
              </a:extLst>
            </p:cNvPr>
            <p:cNvSpPr/>
            <p:nvPr/>
          </p:nvSpPr>
          <p:spPr>
            <a:xfrm>
              <a:off x="252000" y="3429000"/>
              <a:ext cx="1080000" cy="1080000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905A3E7E-90A5-9847-8158-C2F58B5DEA42}"/>
                </a:ext>
              </a:extLst>
            </p:cNvPr>
            <p:cNvSpPr/>
            <p:nvPr/>
          </p:nvSpPr>
          <p:spPr>
            <a:xfrm>
              <a:off x="2412000" y="3429000"/>
              <a:ext cx="1080000" cy="1080000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3097393-A466-8E4A-B554-EE3C94395361}"/>
                </a:ext>
              </a:extLst>
            </p:cNvPr>
            <p:cNvSpPr/>
            <p:nvPr/>
          </p:nvSpPr>
          <p:spPr>
            <a:xfrm>
              <a:off x="4572000" y="3429000"/>
              <a:ext cx="1080000" cy="1080000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7E780FD1-D59F-9847-AEF7-7E33D009E6AF}"/>
                </a:ext>
              </a:extLst>
            </p:cNvPr>
            <p:cNvSpPr/>
            <p:nvPr/>
          </p:nvSpPr>
          <p:spPr>
            <a:xfrm>
              <a:off x="6732000" y="3429000"/>
              <a:ext cx="1080000" cy="1080000"/>
            </a:xfrm>
            <a:prstGeom prst="rect">
              <a:avLst/>
            </a:prstGeom>
            <a:noFill/>
            <a:ln>
              <a:solidFill>
                <a:schemeClr val="tx1"/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F7A2B90A-7472-CE4E-A281-EC16BE009549}"/>
              </a:ext>
            </a:extLst>
          </p:cNvPr>
          <p:cNvSpPr txBox="1"/>
          <p:nvPr/>
        </p:nvSpPr>
        <p:spPr>
          <a:xfrm>
            <a:off x="1340655" y="4518212"/>
            <a:ext cx="92204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Computer</a:t>
            </a:r>
            <a:b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</a:br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simulation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4035560-5FA9-8E4B-ADB0-4F11F0296659}"/>
              </a:ext>
            </a:extLst>
          </p:cNvPr>
          <p:cNvSpPr txBox="1"/>
          <p:nvPr/>
        </p:nvSpPr>
        <p:spPr>
          <a:xfrm>
            <a:off x="2321580" y="4518212"/>
            <a:ext cx="78899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User</a:t>
            </a:r>
            <a:b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</a:br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interface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8D556D4-E6EC-CB4A-8292-4E675B2E3206}"/>
              </a:ext>
            </a:extLst>
          </p:cNvPr>
          <p:cNvSpPr txBox="1"/>
          <p:nvPr/>
        </p:nvSpPr>
        <p:spPr>
          <a:xfrm>
            <a:off x="3179963" y="4518212"/>
            <a:ext cx="10086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Internet</a:t>
            </a:r>
            <a:b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</a:br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video/audio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915221D-B780-C245-8FFB-A8FB5DE5B52B}"/>
              </a:ext>
            </a:extLst>
          </p:cNvPr>
          <p:cNvSpPr txBox="1"/>
          <p:nvPr/>
        </p:nvSpPr>
        <p:spPr>
          <a:xfrm>
            <a:off x="4226391" y="4518212"/>
            <a:ext cx="6912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Cruise</a:t>
            </a:r>
            <a:b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</a:br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control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E786223-4187-DA47-B0D8-DDA71E613D8B}"/>
              </a:ext>
            </a:extLst>
          </p:cNvPr>
          <p:cNvSpPr txBox="1"/>
          <p:nvPr/>
        </p:nvSpPr>
        <p:spPr>
          <a:xfrm>
            <a:off x="4879468" y="4518212"/>
            <a:ext cx="12672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Tele-</a:t>
            </a:r>
            <a:b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</a:br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communication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D91688B-E1F8-A74F-9FCF-EECDB79A1CC5}"/>
              </a:ext>
            </a:extLst>
          </p:cNvPr>
          <p:cNvSpPr txBox="1"/>
          <p:nvPr/>
        </p:nvSpPr>
        <p:spPr>
          <a:xfrm>
            <a:off x="6108760" y="4518212"/>
            <a:ext cx="69121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Flight</a:t>
            </a:r>
            <a:b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</a:br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control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D070986-1BC9-F84E-A596-6F1A062BA79B}"/>
              </a:ext>
            </a:extLst>
          </p:cNvPr>
          <p:cNvSpPr txBox="1"/>
          <p:nvPr/>
        </p:nvSpPr>
        <p:spPr>
          <a:xfrm>
            <a:off x="6916740" y="4518212"/>
            <a:ext cx="87716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Electronic</a:t>
            </a:r>
            <a:b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</a:br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engine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2D11B0-F6C5-4442-BA29-164F87116C15}"/>
              </a:ext>
            </a:extLst>
          </p:cNvPr>
          <p:cNvSpPr txBox="1"/>
          <p:nvPr/>
        </p:nvSpPr>
        <p:spPr>
          <a:xfrm>
            <a:off x="4101968" y="2887688"/>
            <a:ext cx="9400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Soft RT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9A62162A-5593-6741-86AE-7869C437E287}"/>
              </a:ext>
            </a:extLst>
          </p:cNvPr>
          <p:cNvSpPr txBox="1"/>
          <p:nvPr/>
        </p:nvSpPr>
        <p:spPr>
          <a:xfrm>
            <a:off x="879035" y="2887688"/>
            <a:ext cx="8791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0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No RT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5F6438-37CB-3046-B266-96144FFF5F7D}"/>
              </a:ext>
            </a:extLst>
          </p:cNvPr>
          <p:cNvSpPr txBox="1"/>
          <p:nvPr/>
        </p:nvSpPr>
        <p:spPr>
          <a:xfrm>
            <a:off x="7212688" y="2887688"/>
            <a:ext cx="10522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20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Hard RT</a:t>
            </a:r>
          </a:p>
        </p:txBody>
      </p:sp>
      <p:sp>
        <p:nvSpPr>
          <p:cNvPr id="23" name="Right Arrow 22">
            <a:extLst>
              <a:ext uri="{FF2B5EF4-FFF2-40B4-BE49-F238E27FC236}">
                <a16:creationId xmlns:a16="http://schemas.microsoft.com/office/drawing/2014/main" id="{6A1F7392-68C9-7A46-BC22-BAD74498BB23}"/>
              </a:ext>
            </a:extLst>
          </p:cNvPr>
          <p:cNvSpPr/>
          <p:nvPr/>
        </p:nvSpPr>
        <p:spPr>
          <a:xfrm>
            <a:off x="5221527" y="2945397"/>
            <a:ext cx="1909482" cy="284693"/>
          </a:xfrm>
          <a:prstGeom prst="rightArrow">
            <a:avLst/>
          </a:prstGeom>
          <a:gradFill>
            <a:gsLst>
              <a:gs pos="0">
                <a:srgbClr val="FFC000"/>
              </a:gs>
              <a:gs pos="100000">
                <a:srgbClr val="FF0000"/>
              </a:gs>
            </a:gsLst>
            <a:lin ang="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ight Arrow 23">
            <a:extLst>
              <a:ext uri="{FF2B5EF4-FFF2-40B4-BE49-F238E27FC236}">
                <a16:creationId xmlns:a16="http://schemas.microsoft.com/office/drawing/2014/main" id="{578767CB-66A9-E841-A926-845EC82667D2}"/>
              </a:ext>
            </a:extLst>
          </p:cNvPr>
          <p:cNvSpPr/>
          <p:nvPr/>
        </p:nvSpPr>
        <p:spPr>
          <a:xfrm flipH="1">
            <a:off x="1943259" y="2945397"/>
            <a:ext cx="1909482" cy="284693"/>
          </a:xfrm>
          <a:prstGeom prst="rightArrow">
            <a:avLst/>
          </a:prstGeom>
          <a:gradFill>
            <a:gsLst>
              <a:gs pos="0">
                <a:srgbClr val="FFC000"/>
              </a:gs>
              <a:gs pos="100000">
                <a:schemeClr val="bg1"/>
              </a:gs>
            </a:gsLst>
            <a:lin ang="0" scaled="1"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82160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2" name="Rectangle 2">
            <a:extLst>
              <a:ext uri="{FF2B5EF4-FFF2-40B4-BE49-F238E27FC236}">
                <a16:creationId xmlns:a16="http://schemas.microsoft.com/office/drawing/2014/main" id="{D34E4CC3-931F-C547-B26F-6D05928B9CF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 altLang="en-US" dirty="0"/>
              <a:t>General-purpose OS are Inadequate for </a:t>
            </a:r>
            <a:r>
              <a:rPr lang="en-US" altLang="en-US" dirty="0" err="1"/>
              <a:t>RTSes</a:t>
            </a:r>
            <a:endParaRPr lang="en-US" altLang="en-US" dirty="0"/>
          </a:p>
        </p:txBody>
      </p:sp>
      <p:sp>
        <p:nvSpPr>
          <p:cNvPr id="63493" name="Rectangle 3">
            <a:extLst>
              <a:ext uri="{FF2B5EF4-FFF2-40B4-BE49-F238E27FC236}">
                <a16:creationId xmlns:a16="http://schemas.microsoft.com/office/drawing/2014/main" id="{095A5A6C-9B94-DE4D-BA2C-CE0C670F8F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676400"/>
            <a:ext cx="7886700" cy="4968875"/>
          </a:xfrm>
        </p:spPr>
        <p:txBody>
          <a:bodyPr/>
          <a:lstStyle/>
          <a:p>
            <a:r>
              <a:rPr lang="en-US" altLang="en-US" sz="2000" dirty="0">
                <a:solidFill>
                  <a:srgbClr val="FF0000"/>
                </a:solidFill>
              </a:rPr>
              <a:t>Multitasking/scheduling</a:t>
            </a:r>
          </a:p>
          <a:p>
            <a:pPr lvl="1"/>
            <a:r>
              <a:rPr lang="en-US" altLang="en-US" sz="1800" dirty="0"/>
              <a:t>Provided through system calls</a:t>
            </a:r>
          </a:p>
          <a:p>
            <a:pPr lvl="1"/>
            <a:r>
              <a:rPr lang="en-US" altLang="en-US" sz="1800" dirty="0"/>
              <a:t>Does not take time into account and could introduce unbounded delays</a:t>
            </a:r>
          </a:p>
          <a:p>
            <a:pPr lvl="2"/>
            <a:endParaRPr lang="en-US" altLang="en-US" sz="1400" dirty="0"/>
          </a:p>
          <a:p>
            <a:r>
              <a:rPr lang="en-US" altLang="en-US" sz="2000" dirty="0">
                <a:solidFill>
                  <a:srgbClr val="FF0000"/>
                </a:solidFill>
              </a:rPr>
              <a:t>Interrupt management</a:t>
            </a:r>
          </a:p>
          <a:p>
            <a:pPr lvl="1"/>
            <a:r>
              <a:rPr lang="en-US" altLang="en-US" sz="1800" dirty="0"/>
              <a:t>Achieved by setting interrupt priority more than process priority</a:t>
            </a:r>
          </a:p>
          <a:p>
            <a:pPr lvl="1"/>
            <a:r>
              <a:rPr lang="en-US" altLang="en-US" sz="1800" dirty="0"/>
              <a:t>Increases system reactivity but may cause unbounded delays even due to unimportant interrupts</a:t>
            </a:r>
          </a:p>
          <a:p>
            <a:pPr lvl="2"/>
            <a:endParaRPr lang="en-US" altLang="en-US" sz="1400" dirty="0"/>
          </a:p>
          <a:p>
            <a:r>
              <a:rPr lang="en-US" altLang="en-US" sz="2000" dirty="0">
                <a:solidFill>
                  <a:srgbClr val="FF0000"/>
                </a:solidFill>
              </a:rPr>
              <a:t>Basic IPC and synchronization primitives</a:t>
            </a:r>
          </a:p>
          <a:p>
            <a:pPr lvl="1"/>
            <a:r>
              <a:rPr lang="en-US" altLang="en-US" sz="1800" dirty="0"/>
              <a:t>May cause priority inversion </a:t>
            </a:r>
          </a:p>
          <a:p>
            <a:pPr lvl="1"/>
            <a:r>
              <a:rPr lang="en-US" altLang="en-US" sz="1800" dirty="0"/>
              <a:t>Causes unbounded delays</a:t>
            </a:r>
          </a:p>
          <a:p>
            <a:pPr lvl="2"/>
            <a:endParaRPr lang="en-US" altLang="en-US" sz="1800" dirty="0"/>
          </a:p>
        </p:txBody>
      </p:sp>
    </p:spTree>
    <p:extLst>
      <p:ext uri="{BB962C8B-B14F-4D97-AF65-F5344CB8AC3E}">
        <p14:creationId xmlns:p14="http://schemas.microsoft.com/office/powerpoint/2010/main" val="4048370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49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493" grpId="0" uiExpand="1" build="p" bldLvl="2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6" name="Rectangle 2">
            <a:extLst>
              <a:ext uri="{FF2B5EF4-FFF2-40B4-BE49-F238E27FC236}">
                <a16:creationId xmlns:a16="http://schemas.microsoft.com/office/drawing/2014/main" id="{7FD682AD-274A-7C49-9E4A-C08394B0E1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 altLang="en-US" dirty="0"/>
              <a:t>Real-time Operating System (RTOS):</a:t>
            </a:r>
            <a:br>
              <a:rPr lang="en-US" altLang="en-US" dirty="0"/>
            </a:br>
            <a:r>
              <a:rPr lang="en-US" altLang="en-US" dirty="0"/>
              <a:t>Desirable Properties</a:t>
            </a:r>
          </a:p>
        </p:txBody>
      </p:sp>
      <p:sp>
        <p:nvSpPr>
          <p:cNvPr id="64517" name="Rectangle 3">
            <a:extLst>
              <a:ext uri="{FF2B5EF4-FFF2-40B4-BE49-F238E27FC236}">
                <a16:creationId xmlns:a16="http://schemas.microsoft.com/office/drawing/2014/main" id="{48F2F5A9-588A-DB4F-AC76-FC18076F97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676400"/>
            <a:ext cx="7886700" cy="4968875"/>
          </a:xfrm>
        </p:spPr>
        <p:txBody>
          <a:bodyPr/>
          <a:lstStyle/>
          <a:p>
            <a:r>
              <a:rPr lang="en-US" altLang="en-US" sz="2400" dirty="0">
                <a:solidFill>
                  <a:srgbClr val="FF0000"/>
                </a:solidFill>
              </a:rPr>
              <a:t>Predictability</a:t>
            </a:r>
          </a:p>
          <a:p>
            <a:pPr lvl="1"/>
            <a:r>
              <a:rPr lang="en-US" altLang="en-US" sz="2000" dirty="0"/>
              <a:t>Guaranteeing in advance deadline satisfaction</a:t>
            </a:r>
          </a:p>
          <a:p>
            <a:pPr lvl="1"/>
            <a:r>
              <a:rPr lang="en-US" altLang="en-US" sz="2000" dirty="0"/>
              <a:t>Notifying when deadline cannot be guaranteed</a:t>
            </a:r>
          </a:p>
          <a:p>
            <a:r>
              <a:rPr lang="en-US" altLang="en-US" sz="2400" dirty="0">
                <a:solidFill>
                  <a:srgbClr val="FF0000"/>
                </a:solidFill>
              </a:rPr>
              <a:t>Timeliness</a:t>
            </a:r>
          </a:p>
          <a:p>
            <a:pPr lvl="1"/>
            <a:r>
              <a:rPr lang="en-US" altLang="en-US" sz="2000" dirty="0"/>
              <a:t>Handling tasks with explicit time constraints</a:t>
            </a:r>
          </a:p>
          <a:p>
            <a:r>
              <a:rPr lang="en-US" altLang="en-US" sz="2400" dirty="0">
                <a:solidFill>
                  <a:srgbClr val="FF0000"/>
                </a:solidFill>
              </a:rPr>
              <a:t>Fault tolerance</a:t>
            </a:r>
          </a:p>
          <a:p>
            <a:pPr lvl="1"/>
            <a:r>
              <a:rPr lang="en-US" altLang="en-US" sz="2000" dirty="0"/>
              <a:t>Avoiding crashes even with HW/SW failures</a:t>
            </a:r>
          </a:p>
          <a:p>
            <a:r>
              <a:rPr lang="en-US" altLang="en-US" sz="2400" dirty="0">
                <a:solidFill>
                  <a:srgbClr val="FF0000"/>
                </a:solidFill>
              </a:rPr>
              <a:t> Design for peak load</a:t>
            </a:r>
          </a:p>
          <a:p>
            <a:pPr lvl="1"/>
            <a:r>
              <a:rPr lang="en-US" altLang="en-US" sz="2000" dirty="0"/>
              <a:t>All scenarios must be considered</a:t>
            </a:r>
          </a:p>
          <a:p>
            <a:r>
              <a:rPr lang="en-US" altLang="en-US" sz="2400" dirty="0">
                <a:solidFill>
                  <a:srgbClr val="FF0000"/>
                </a:solidFill>
              </a:rPr>
              <a:t>Maintainability</a:t>
            </a:r>
          </a:p>
          <a:p>
            <a:pPr lvl="1"/>
            <a:r>
              <a:rPr lang="en-US" altLang="en-US" sz="2000" dirty="0"/>
              <a:t>Supporting future updates, debugging, and extension without compromising timing guarantees</a:t>
            </a:r>
          </a:p>
          <a:p>
            <a:pPr lvl="1"/>
            <a:endParaRPr lang="en-US" altLang="en-US" sz="2000" dirty="0"/>
          </a:p>
        </p:txBody>
      </p:sp>
      <p:pic>
        <p:nvPicPr>
          <p:cNvPr id="2052" name="Picture 4" descr="Minions, Is That a Banana in Your Pocket? | Minions banana song, Minions,  Minions wallpaper">
            <a:extLst>
              <a:ext uri="{FF2B5EF4-FFF2-40B4-BE49-F238E27FC236}">
                <a16:creationId xmlns:a16="http://schemas.microsoft.com/office/drawing/2014/main" id="{6F876E53-D3AD-C140-9384-AD719C9013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654325" y="1676400"/>
            <a:ext cx="1861025" cy="273633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0132966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4" name="Rectangle 2">
            <a:extLst>
              <a:ext uri="{FF2B5EF4-FFF2-40B4-BE49-F238E27FC236}">
                <a16:creationId xmlns:a16="http://schemas.microsoft.com/office/drawing/2014/main" id="{FD270794-5FA6-0446-844A-73F245DA4DD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 altLang="en-US"/>
              <a:t>Microarchitecture</a:t>
            </a:r>
            <a:endParaRPr lang="en-US" altLang="en-US" dirty="0"/>
          </a:p>
        </p:txBody>
      </p:sp>
      <p:sp>
        <p:nvSpPr>
          <p:cNvPr id="66565" name="Rectangle 3">
            <a:extLst>
              <a:ext uri="{FF2B5EF4-FFF2-40B4-BE49-F238E27FC236}">
                <a16:creationId xmlns:a16="http://schemas.microsoft.com/office/drawing/2014/main" id="{3406D40E-F7DE-AF47-8ADD-E5A28F96EC23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676400"/>
            <a:ext cx="7886700" cy="4968875"/>
          </a:xfrm>
        </p:spPr>
        <p:txBody>
          <a:bodyPr/>
          <a:lstStyle/>
          <a:p>
            <a:r>
              <a:rPr lang="en-US" altLang="en-US" sz="2000" dirty="0"/>
              <a:t>I/O devices and CPU typically share the same bus</a:t>
            </a:r>
          </a:p>
          <a:p>
            <a:pPr lvl="1"/>
            <a:r>
              <a:rPr lang="en-US" altLang="en-US" sz="1800" dirty="0"/>
              <a:t>DMA steals CPU memory cycle to </a:t>
            </a:r>
            <a:br>
              <a:rPr lang="en-US" altLang="en-US" sz="1800" dirty="0"/>
            </a:br>
            <a:r>
              <a:rPr lang="en-US" altLang="en-US" sz="1800" dirty="0"/>
              <a:t>transfer data (cycle stealing)</a:t>
            </a:r>
          </a:p>
          <a:p>
            <a:pPr lvl="1"/>
            <a:r>
              <a:rPr lang="en-US" altLang="en-US" sz="1800" dirty="0"/>
              <a:t>CPU waits until the transfer is completed</a:t>
            </a:r>
          </a:p>
          <a:p>
            <a:pPr lvl="2"/>
            <a:r>
              <a:rPr lang="en-US" altLang="en-US" sz="1600" dirty="0"/>
              <a:t>Source of </a:t>
            </a:r>
            <a:r>
              <a:rPr lang="en-US" altLang="en-US" sz="1600" dirty="0">
                <a:solidFill>
                  <a:srgbClr val="FF0000"/>
                </a:solidFill>
              </a:rPr>
              <a:t>non-determinism</a:t>
            </a:r>
            <a:r>
              <a:rPr lang="en-US" altLang="en-US" sz="1600" dirty="0"/>
              <a:t>!</a:t>
            </a:r>
          </a:p>
          <a:p>
            <a:pPr lvl="1"/>
            <a:r>
              <a:rPr lang="en-US" altLang="en-US" sz="1800" dirty="0"/>
              <a:t>Possible solution: </a:t>
            </a:r>
            <a:r>
              <a:rPr lang="en-US" altLang="en-US" sz="1800" dirty="0">
                <a:solidFill>
                  <a:srgbClr val="FF0000"/>
                </a:solidFill>
              </a:rPr>
              <a:t>time-slice method</a:t>
            </a:r>
          </a:p>
          <a:p>
            <a:pPr lvl="2"/>
            <a:r>
              <a:rPr lang="en-US" altLang="en-US" sz="1600" dirty="0"/>
              <a:t>Each memory cycle is split in two adjacent </a:t>
            </a:r>
            <a:br>
              <a:rPr lang="en-US" altLang="en-US" sz="1600" dirty="0"/>
            </a:br>
            <a:r>
              <a:rPr lang="en-US" altLang="en-US" sz="1600" dirty="0"/>
              <a:t>time slots one for CPU one for DMA</a:t>
            </a:r>
          </a:p>
          <a:p>
            <a:pPr lvl="2"/>
            <a:r>
              <a:rPr lang="en-US" altLang="en-US" sz="1600" dirty="0"/>
              <a:t>More costly, but more predictable!</a:t>
            </a:r>
          </a:p>
          <a:p>
            <a:pPr lvl="3"/>
            <a:endParaRPr lang="en-US" altLang="en-US" sz="1400" dirty="0"/>
          </a:p>
          <a:p>
            <a:r>
              <a:rPr lang="en-US" altLang="en-US" sz="2000" dirty="0"/>
              <a:t>Caches speedup execution by keeping data close to CPU</a:t>
            </a:r>
          </a:p>
          <a:p>
            <a:pPr lvl="1"/>
            <a:r>
              <a:rPr lang="en-US" altLang="en-US" sz="1800" dirty="0"/>
              <a:t>The same load/store instruction could experience different delays depending on </a:t>
            </a:r>
            <a:r>
              <a:rPr lang="en-US" altLang="en-US" sz="1800" dirty="0">
                <a:solidFill>
                  <a:srgbClr val="FF0000"/>
                </a:solidFill>
              </a:rPr>
              <a:t>hitting or missing</a:t>
            </a:r>
            <a:r>
              <a:rPr lang="en-US" altLang="en-US" sz="1800" dirty="0"/>
              <a:t> in cache ⇒ source of non-determinism!</a:t>
            </a:r>
          </a:p>
          <a:p>
            <a:pPr lvl="1"/>
            <a:r>
              <a:rPr lang="en-US" altLang="en-US" sz="1800" dirty="0"/>
              <a:t>Possible solution: processors without cache</a:t>
            </a:r>
          </a:p>
          <a:p>
            <a:pPr lvl="2"/>
            <a:r>
              <a:rPr lang="en-US" altLang="en-US" sz="1600" dirty="0"/>
              <a:t>Slow execution, but more predictable!</a:t>
            </a:r>
          </a:p>
          <a:p>
            <a:pPr lvl="3"/>
            <a:endParaRPr lang="en-US" altLang="en-US" sz="1400" dirty="0"/>
          </a:p>
        </p:txBody>
      </p:sp>
      <p:pic>
        <p:nvPicPr>
          <p:cNvPr id="1026" name="Picture 2" descr="What is Micro processor Generation of Microprocesor">
            <a:extLst>
              <a:ext uri="{FF2B5EF4-FFF2-40B4-BE49-F238E27FC236}">
                <a16:creationId xmlns:a16="http://schemas.microsoft.com/office/drawing/2014/main" id="{1BD4EA67-EC1D-FB4B-B13E-65BFE69D77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163310" y="2109470"/>
            <a:ext cx="2352040" cy="156914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115709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56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565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2" name="Rectangle 2">
            <a:extLst>
              <a:ext uri="{FF2B5EF4-FFF2-40B4-BE49-F238E27FC236}">
                <a16:creationId xmlns:a16="http://schemas.microsoft.com/office/drawing/2014/main" id="{B47E6D0E-9547-9347-8B80-3C50DC9691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 altLang="en-US" dirty="0"/>
              <a:t>System Calls and Interrupts</a:t>
            </a:r>
          </a:p>
        </p:txBody>
      </p:sp>
      <p:sp>
        <p:nvSpPr>
          <p:cNvPr id="68613" name="Rectangle 3">
            <a:extLst>
              <a:ext uri="{FF2B5EF4-FFF2-40B4-BE49-F238E27FC236}">
                <a16:creationId xmlns:a16="http://schemas.microsoft.com/office/drawing/2014/main" id="{6CAAC481-2997-EE41-8D85-D120115E88E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1335" y="1676400"/>
            <a:ext cx="7886700" cy="4968875"/>
          </a:xfrm>
        </p:spPr>
        <p:txBody>
          <a:bodyPr/>
          <a:lstStyle/>
          <a:p>
            <a:r>
              <a:rPr lang="en-US" altLang="en-US" sz="1800" dirty="0"/>
              <a:t>System call handler is usually </a:t>
            </a:r>
            <a:r>
              <a:rPr lang="en-US" altLang="en-US" sz="1800" dirty="0">
                <a:solidFill>
                  <a:srgbClr val="FF0000"/>
                </a:solidFill>
              </a:rPr>
              <a:t>non-preemptable</a:t>
            </a:r>
          </a:p>
          <a:p>
            <a:pPr lvl="1"/>
            <a:r>
              <a:rPr lang="en-US" altLang="en-US" sz="1600" dirty="0"/>
              <a:t>Real-time task could be </a:t>
            </a:r>
            <a:r>
              <a:rPr lang="en-US" altLang="en-US" sz="1600" dirty="0">
                <a:solidFill>
                  <a:srgbClr val="FF0000"/>
                </a:solidFill>
              </a:rPr>
              <a:t>delayed</a:t>
            </a:r>
            <a:r>
              <a:rPr lang="en-US" altLang="en-US" sz="1600" dirty="0"/>
              <a:t> while handler runs </a:t>
            </a:r>
          </a:p>
          <a:p>
            <a:pPr lvl="1"/>
            <a:r>
              <a:rPr lang="en-US" altLang="en-US" sz="1600" dirty="0"/>
              <a:t>Delays could lead to </a:t>
            </a:r>
            <a:r>
              <a:rPr lang="en-US" altLang="en-US" sz="1600" dirty="0">
                <a:solidFill>
                  <a:srgbClr val="FF0000"/>
                </a:solidFill>
              </a:rPr>
              <a:t>missed deadlines</a:t>
            </a:r>
          </a:p>
          <a:p>
            <a:pPr lvl="1"/>
            <a:r>
              <a:rPr lang="en-US" altLang="en-US" sz="1600" dirty="0"/>
              <a:t>Possible solution: make all kernel primitives, </a:t>
            </a:r>
            <a:br>
              <a:rPr lang="en-US" altLang="en-US" sz="1600" dirty="0"/>
            </a:br>
            <a:r>
              <a:rPr lang="en-US" altLang="en-US" sz="1600" dirty="0"/>
              <a:t>including system call handlers, preemptable!</a:t>
            </a:r>
          </a:p>
          <a:p>
            <a:endParaRPr lang="en-US" altLang="en-US" sz="1800" dirty="0"/>
          </a:p>
          <a:p>
            <a:r>
              <a:rPr lang="en-US" altLang="en-US" sz="1800" dirty="0"/>
              <a:t>Interrupt handler should </a:t>
            </a:r>
            <a:r>
              <a:rPr lang="en-US" altLang="en-US" sz="1800" dirty="0">
                <a:solidFill>
                  <a:srgbClr val="FF0000"/>
                </a:solidFill>
              </a:rPr>
              <a:t>remain</a:t>
            </a:r>
            <a:r>
              <a:rPr lang="en-US" altLang="en-US" sz="1800" dirty="0"/>
              <a:t> non-preemptable</a:t>
            </a:r>
          </a:p>
          <a:p>
            <a:pPr lvl="1"/>
            <a:r>
              <a:rPr lang="en-US" altLang="en-US" sz="1600" dirty="0"/>
              <a:t>Interrupt handler runs immediately when interrupts happen</a:t>
            </a:r>
          </a:p>
          <a:p>
            <a:pPr lvl="1"/>
            <a:r>
              <a:rPr lang="en-US" altLang="en-US" sz="1600" dirty="0"/>
              <a:t>While handler runs, execution of interrupted task is delayed</a:t>
            </a:r>
          </a:p>
          <a:p>
            <a:pPr lvl="1"/>
            <a:r>
              <a:rPr lang="en-US" altLang="en-US" sz="1600" dirty="0"/>
              <a:t>Solution1: disable all interrupts, only keep timer interrupt, tasks directly communicate with any I/O devices they need, data is transferred by polling</a:t>
            </a:r>
          </a:p>
          <a:p>
            <a:pPr lvl="2"/>
            <a:r>
              <a:rPr lang="en-US" altLang="en-US" sz="1400" dirty="0">
                <a:solidFill>
                  <a:srgbClr val="00B050"/>
                </a:solidFill>
              </a:rPr>
              <a:t>+ Unbounded delays due to unexpected device handling is eliminated</a:t>
            </a:r>
          </a:p>
          <a:p>
            <a:pPr lvl="2"/>
            <a:r>
              <a:rPr lang="en-US" altLang="en-US" sz="1400" dirty="0">
                <a:solidFill>
                  <a:srgbClr val="00B050"/>
                </a:solidFill>
              </a:rPr>
              <a:t>+ Time for data transfers can be estimated precisely</a:t>
            </a:r>
          </a:p>
          <a:p>
            <a:pPr lvl="2"/>
            <a:r>
              <a:rPr lang="en-US" altLang="en-US" sz="1400" dirty="0">
                <a:solidFill>
                  <a:srgbClr val="00B050"/>
                </a:solidFill>
              </a:rPr>
              <a:t>+ No change of kernel is needed when adding devices</a:t>
            </a:r>
          </a:p>
          <a:p>
            <a:pPr lvl="2"/>
            <a:r>
              <a:rPr lang="en-US" altLang="en-US" sz="1400" dirty="0">
                <a:solidFill>
                  <a:srgbClr val="FF0000"/>
                </a:solidFill>
              </a:rPr>
              <a:t>− Performance of processor is degraded (busy waiting)</a:t>
            </a:r>
          </a:p>
          <a:p>
            <a:pPr lvl="2"/>
            <a:r>
              <a:rPr lang="en-US" altLang="en-US" sz="1400" dirty="0">
                <a:solidFill>
                  <a:srgbClr val="FF0000"/>
                </a:solidFill>
              </a:rPr>
              <a:t>− Tasks must know low level details of drives</a:t>
            </a:r>
          </a:p>
          <a:p>
            <a:pPr marL="0" indent="0">
              <a:buNone/>
            </a:pPr>
            <a:endParaRPr lang="en-US" altLang="en-US" sz="1800" dirty="0"/>
          </a:p>
          <a:p>
            <a:endParaRPr lang="en-US" altLang="en-US" sz="1800" dirty="0"/>
          </a:p>
          <a:p>
            <a:endParaRPr lang="en-US" altLang="en-US" sz="1800" dirty="0"/>
          </a:p>
        </p:txBody>
      </p:sp>
      <p:pic>
        <p:nvPicPr>
          <p:cNvPr id="2050" name="Picture 2" descr="Please don't interrupt me. I'm trying to ignore you. - Regina George: Life  Ruiner | Meme Generator">
            <a:extLst>
              <a:ext uri="{FF2B5EF4-FFF2-40B4-BE49-F238E27FC236}">
                <a16:creationId xmlns:a16="http://schemas.microsoft.com/office/drawing/2014/main" id="{832337EE-A40A-E444-AA8C-AAC8C288EA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86871" y="1676400"/>
            <a:ext cx="1921164" cy="1921164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50783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13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979BD0-F46D-CE40-A6B5-62EF2A3637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 altLang="en-US" dirty="0"/>
              <a:t>System Calls and Interrupts (cont.)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6F41B-9600-7449-8456-A1D693D499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76400"/>
            <a:ext cx="7886700" cy="4968875"/>
          </a:xfrm>
        </p:spPr>
        <p:txBody>
          <a:bodyPr/>
          <a:lstStyle/>
          <a:p>
            <a:r>
              <a:rPr lang="en-US" altLang="en-US" sz="1600" dirty="0"/>
              <a:t>Solution II: disable interrupts, only keep timer interrupts, handle I/O by timer-activated device routines within kernel tasks, data is transferred by polling</a:t>
            </a:r>
          </a:p>
          <a:p>
            <a:pPr lvl="1"/>
            <a:r>
              <a:rPr lang="en-US" altLang="en-US" sz="1400" dirty="0">
                <a:solidFill>
                  <a:srgbClr val="00B050"/>
                </a:solidFill>
              </a:rPr>
              <a:t>+ Unbounded delays due to unexpected device handling is eliminated</a:t>
            </a:r>
          </a:p>
          <a:p>
            <a:pPr lvl="1"/>
            <a:r>
              <a:rPr lang="en-US" altLang="en-US" sz="1400" dirty="0">
                <a:solidFill>
                  <a:srgbClr val="00B050"/>
                </a:solidFill>
              </a:rPr>
              <a:t>+ Execution time of periodic device routines can be estimated in advance</a:t>
            </a:r>
          </a:p>
          <a:p>
            <a:pPr lvl="1"/>
            <a:r>
              <a:rPr lang="en-US" altLang="en-US" sz="1400" dirty="0">
                <a:solidFill>
                  <a:srgbClr val="00B050"/>
                </a:solidFill>
              </a:rPr>
              <a:t>+ Hardware details are encapsulated in dedicated device routines</a:t>
            </a:r>
          </a:p>
          <a:p>
            <a:pPr lvl="1"/>
            <a:r>
              <a:rPr lang="en-US" altLang="en-US" sz="1400" dirty="0">
                <a:solidFill>
                  <a:srgbClr val="FF0000"/>
                </a:solidFill>
              </a:rPr>
              <a:t>−</a:t>
            </a:r>
            <a:r>
              <a:rPr lang="en-US" altLang="en-US" sz="1400" dirty="0"/>
              <a:t> </a:t>
            </a:r>
            <a:r>
              <a:rPr lang="en-US" altLang="en-US" sz="1400" dirty="0">
                <a:solidFill>
                  <a:srgbClr val="FF0000"/>
                </a:solidFill>
              </a:rPr>
              <a:t>Performance of processor is degraded (still busy waiting for I/O)</a:t>
            </a:r>
          </a:p>
          <a:p>
            <a:pPr lvl="1"/>
            <a:r>
              <a:rPr lang="en-US" altLang="en-US" sz="1400" dirty="0">
                <a:solidFill>
                  <a:srgbClr val="FF0000"/>
                </a:solidFill>
              </a:rPr>
              <a:t>− Kernel has to be modified every time new device is added</a:t>
            </a:r>
          </a:p>
          <a:p>
            <a:pPr lvl="1"/>
            <a:r>
              <a:rPr lang="en-US" altLang="en-US" sz="1400" dirty="0">
                <a:solidFill>
                  <a:srgbClr val="FF0000"/>
                </a:solidFill>
              </a:rPr>
              <a:t>− Communicating with devices involves more inter-task communications than first solution</a:t>
            </a:r>
          </a:p>
          <a:p>
            <a:endParaRPr lang="en-US" altLang="en-US" sz="1600" dirty="0"/>
          </a:p>
          <a:p>
            <a:r>
              <a:rPr lang="en-US" altLang="en-US" sz="1600" dirty="0"/>
              <a:t>Solution III: enable interrupts, reduce device drivers to least possible size, driver activates proper task to handle device, kernel runs driver-activated tasks like any other task, user tasks may have higher priority than driver-activated tasks</a:t>
            </a:r>
          </a:p>
          <a:p>
            <a:pPr lvl="1"/>
            <a:r>
              <a:rPr lang="en-US" altLang="en-US" sz="1400" dirty="0">
                <a:solidFill>
                  <a:srgbClr val="00B050"/>
                </a:solidFill>
              </a:rPr>
              <a:t>+ Busy waiting is eliminated</a:t>
            </a:r>
          </a:p>
          <a:p>
            <a:pPr lvl="1"/>
            <a:r>
              <a:rPr lang="en-US" altLang="en-US" sz="1400" dirty="0">
                <a:solidFill>
                  <a:srgbClr val="00B050"/>
                </a:solidFill>
              </a:rPr>
              <a:t>+ Kernel doesn’t need to be modified when adding new devices!</a:t>
            </a:r>
          </a:p>
          <a:p>
            <a:pPr lvl="1"/>
            <a:r>
              <a:rPr lang="en-US" altLang="en-US" sz="1400" dirty="0">
                <a:solidFill>
                  <a:schemeClr val="accent5">
                    <a:lumMod val="75000"/>
                  </a:schemeClr>
                </a:solidFill>
              </a:rPr>
              <a:t>o Communicating with devices may still involve some inter-task communications</a:t>
            </a:r>
          </a:p>
          <a:p>
            <a:pPr lvl="1"/>
            <a:r>
              <a:rPr lang="en-US" altLang="en-US" sz="1400" dirty="0">
                <a:solidFill>
                  <a:schemeClr val="accent5">
                    <a:lumMod val="75000"/>
                  </a:schemeClr>
                </a:solidFill>
              </a:rPr>
              <a:t>o Unbounded delay due to unexpected device handling is not eliminated but is dramatically reduced</a:t>
            </a:r>
          </a:p>
          <a:p>
            <a:pPr lvl="1"/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1595537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20" name="Rectangle 2">
            <a:extLst>
              <a:ext uri="{FF2B5EF4-FFF2-40B4-BE49-F238E27FC236}">
                <a16:creationId xmlns:a16="http://schemas.microsoft.com/office/drawing/2014/main" id="{59F0A504-CAA2-7249-9DE4-C9F5466E22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 altLang="en-US" dirty="0"/>
              <a:t>Memory Management</a:t>
            </a:r>
          </a:p>
        </p:txBody>
      </p:sp>
      <p:sp>
        <p:nvSpPr>
          <p:cNvPr id="86021" name="Rectangle 3">
            <a:extLst>
              <a:ext uri="{FF2B5EF4-FFF2-40B4-BE49-F238E27FC236}">
                <a16:creationId xmlns:a16="http://schemas.microsoft.com/office/drawing/2014/main" id="{9FFD09A8-AB99-2247-9305-201C8E545515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676400"/>
            <a:ext cx="7886700" cy="4968875"/>
          </a:xfrm>
        </p:spPr>
        <p:txBody>
          <a:bodyPr/>
          <a:lstStyle/>
          <a:p>
            <a:r>
              <a:rPr lang="en-US" altLang="en-US" sz="1800" dirty="0"/>
              <a:t>General-purpose OSes allow each process to access only its own virtual address</a:t>
            </a:r>
            <a:endParaRPr lang="en-CA" sz="1800" dirty="0"/>
          </a:p>
          <a:p>
            <a:pPr lvl="1"/>
            <a:r>
              <a:rPr lang="en-US" altLang="en-US" sz="1600" dirty="0"/>
              <a:t>Virtual and physical address spaces are divided into virtual and physical </a:t>
            </a:r>
            <a:r>
              <a:rPr lang="en-US" altLang="en-US" sz="1600" i="1" dirty="0">
                <a:solidFill>
                  <a:srgbClr val="FF0000"/>
                </a:solidFill>
              </a:rPr>
              <a:t>pages</a:t>
            </a:r>
          </a:p>
          <a:p>
            <a:pPr lvl="1"/>
            <a:r>
              <a:rPr lang="en-CA" sz="1600" dirty="0"/>
              <a:t>Virtual to physical page translations are stored in memory as </a:t>
            </a:r>
            <a:r>
              <a:rPr lang="en-CA" sz="1600" i="1" dirty="0">
                <a:solidFill>
                  <a:srgbClr val="FF0000"/>
                </a:solidFill>
              </a:rPr>
              <a:t>page tables (PT)</a:t>
            </a:r>
            <a:endParaRPr lang="en-CA" sz="1600" dirty="0"/>
          </a:p>
          <a:p>
            <a:pPr lvl="1"/>
            <a:r>
              <a:rPr lang="en-CA" sz="1600" dirty="0"/>
              <a:t>To speedup memory accesses, PT entries are cached in </a:t>
            </a:r>
            <a:r>
              <a:rPr lang="en-CA" sz="1600" i="1" dirty="0">
                <a:solidFill>
                  <a:srgbClr val="FF0000"/>
                </a:solidFill>
              </a:rPr>
              <a:t>translation lookaside buffer (TLB)</a:t>
            </a:r>
          </a:p>
          <a:p>
            <a:pPr lvl="1"/>
            <a:r>
              <a:rPr lang="en-CA" sz="1600" dirty="0"/>
              <a:t>TLBs introduce non-deterministic delay (hit or miss)</a:t>
            </a:r>
          </a:p>
          <a:p>
            <a:pPr lvl="1"/>
            <a:r>
              <a:rPr lang="en-US" altLang="en-US" sz="1600" dirty="0"/>
              <a:t>Possible solution: avoid using virtual memory, allow user tasks to use physical memory</a:t>
            </a:r>
          </a:p>
          <a:p>
            <a:pPr lvl="1"/>
            <a:endParaRPr lang="en-US" altLang="en-US" sz="1600" dirty="0"/>
          </a:p>
          <a:p>
            <a:r>
              <a:rPr lang="en-US" altLang="en-US" sz="1800" dirty="0"/>
              <a:t>When memory is full, most OSes swap out some pages to make room for others</a:t>
            </a:r>
            <a:br>
              <a:rPr lang="en-US" altLang="en-US" sz="1800" dirty="0"/>
            </a:br>
            <a:r>
              <a:rPr lang="en-US" altLang="en-US" sz="1800" dirty="0"/>
              <a:t>(this is called </a:t>
            </a:r>
            <a:r>
              <a:rPr lang="en-US" altLang="en-US" sz="1800" i="1" dirty="0">
                <a:solidFill>
                  <a:srgbClr val="FF0000"/>
                </a:solidFill>
              </a:rPr>
              <a:t>paging</a:t>
            </a:r>
            <a:r>
              <a:rPr lang="en-US" altLang="en-US" sz="1800" dirty="0"/>
              <a:t>, more about it later!)</a:t>
            </a:r>
            <a:endParaRPr lang="en-US" altLang="en-US" sz="2000" dirty="0"/>
          </a:p>
          <a:p>
            <a:pPr lvl="1"/>
            <a:r>
              <a:rPr lang="en-US" altLang="en-US" sz="1600" dirty="0"/>
              <a:t>Accessing evicted pages causes </a:t>
            </a:r>
            <a:r>
              <a:rPr lang="en-US" altLang="en-US" sz="1600" i="1" dirty="0">
                <a:solidFill>
                  <a:srgbClr val="FF0000"/>
                </a:solidFill>
              </a:rPr>
              <a:t>page fault</a:t>
            </a:r>
          </a:p>
          <a:p>
            <a:pPr lvl="1"/>
            <a:r>
              <a:rPr lang="en-US" altLang="en-US" sz="1600" dirty="0"/>
              <a:t>Page fault handling &amp; </a:t>
            </a:r>
            <a:r>
              <a:rPr lang="en-US" altLang="en-US" sz="1600" dirty="0">
                <a:solidFill>
                  <a:srgbClr val="FF0000"/>
                </a:solidFill>
              </a:rPr>
              <a:t>page replacement policy</a:t>
            </a:r>
            <a:r>
              <a:rPr lang="en-US" altLang="en-US" sz="1600" dirty="0"/>
              <a:t> cause non-deterministic delays</a:t>
            </a:r>
          </a:p>
          <a:p>
            <a:pPr lvl="1"/>
            <a:r>
              <a:rPr lang="en-US" altLang="en-US" sz="1600" dirty="0"/>
              <a:t>Possible solution: use selective page locking to increase determinism</a:t>
            </a:r>
            <a:endParaRPr lang="en-US" altLang="en-US" sz="2000" dirty="0"/>
          </a:p>
          <a:p>
            <a:pPr lvl="1"/>
            <a:endParaRPr lang="en-US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0289671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1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2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021" grpId="0" uiExpand="1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4" name="Rectangle 2">
            <a:extLst>
              <a:ext uri="{FF2B5EF4-FFF2-40B4-BE49-F238E27FC236}">
                <a16:creationId xmlns:a16="http://schemas.microsoft.com/office/drawing/2014/main" id="{E14DE09B-0E92-4748-8BED-D7EF457546D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 altLang="en-US" dirty="0"/>
              <a:t>Programming Languages </a:t>
            </a:r>
          </a:p>
        </p:txBody>
      </p:sp>
      <p:sp>
        <p:nvSpPr>
          <p:cNvPr id="87045" name="Rectangle 3">
            <a:extLst>
              <a:ext uri="{FF2B5EF4-FFF2-40B4-BE49-F238E27FC236}">
                <a16:creationId xmlns:a16="http://schemas.microsoft.com/office/drawing/2014/main" id="{C12C666D-2756-214F-97EF-1FA200174AC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676400"/>
            <a:ext cx="7886700" cy="4968875"/>
          </a:xfrm>
        </p:spPr>
        <p:txBody>
          <a:bodyPr/>
          <a:lstStyle/>
          <a:p>
            <a:r>
              <a:rPr lang="en-US" altLang="en-US" sz="1800" dirty="0"/>
              <a:t>Dynamic memory operations (e.g., malloc and free) are </a:t>
            </a:r>
            <a:r>
              <a:rPr lang="en-US" altLang="en-US" sz="1800" dirty="0">
                <a:solidFill>
                  <a:srgbClr val="FF0000"/>
                </a:solidFill>
              </a:rPr>
              <a:t>unpredictable</a:t>
            </a:r>
          </a:p>
          <a:p>
            <a:pPr lvl="1"/>
            <a:r>
              <a:rPr lang="en-US" altLang="en-US" sz="1600" dirty="0"/>
              <a:t>Memory allocator runs </a:t>
            </a:r>
            <a:r>
              <a:rPr lang="en-US" altLang="en-US" sz="1600" dirty="0">
                <a:solidFill>
                  <a:srgbClr val="FF0000"/>
                </a:solidFill>
              </a:rPr>
              <a:t>non-deterministic</a:t>
            </a:r>
            <a:r>
              <a:rPr lang="en-US" altLang="en-US" sz="1600" dirty="0"/>
              <a:t> space optimization algorithms</a:t>
            </a:r>
          </a:p>
          <a:p>
            <a:pPr lvl="1"/>
            <a:r>
              <a:rPr lang="en-US" altLang="en-US" sz="1600" dirty="0"/>
              <a:t>Requests could fail due to </a:t>
            </a:r>
            <a:r>
              <a:rPr lang="en-US" altLang="en-US" sz="1600" dirty="0">
                <a:solidFill>
                  <a:srgbClr val="FF0000"/>
                </a:solidFill>
              </a:rPr>
              <a:t>fragmentation</a:t>
            </a:r>
            <a:r>
              <a:rPr lang="en-US" altLang="en-US" sz="1600" dirty="0"/>
              <a:t> even if there is free memory</a:t>
            </a:r>
          </a:p>
          <a:p>
            <a:pPr lvl="4"/>
            <a:endParaRPr lang="en-US" altLang="en-US" sz="900" dirty="0"/>
          </a:p>
          <a:p>
            <a:pPr lvl="4"/>
            <a:endParaRPr lang="en-US" altLang="en-US" sz="900" dirty="0"/>
          </a:p>
          <a:p>
            <a:pPr lvl="4"/>
            <a:endParaRPr lang="en-US" altLang="en-US" sz="1100" dirty="0"/>
          </a:p>
          <a:p>
            <a:pPr lvl="4"/>
            <a:endParaRPr lang="en-US" altLang="en-US" sz="1100" dirty="0"/>
          </a:p>
          <a:p>
            <a:pPr lvl="4"/>
            <a:endParaRPr lang="en-US" altLang="en-US" sz="1100" dirty="0"/>
          </a:p>
          <a:p>
            <a:pPr lvl="4"/>
            <a:endParaRPr lang="en-US" altLang="en-US" sz="1100" dirty="0"/>
          </a:p>
          <a:p>
            <a:pPr lvl="4"/>
            <a:endParaRPr lang="en-US" altLang="en-US" sz="1100" dirty="0"/>
          </a:p>
          <a:p>
            <a:pPr lvl="1"/>
            <a:r>
              <a:rPr lang="en-US" altLang="en-US" sz="1600" dirty="0"/>
              <a:t>Possible solution: partition memory into fixed-size blocks (</a:t>
            </a:r>
            <a:r>
              <a:rPr lang="en-US" altLang="en-US" sz="1600" i="1" dirty="0">
                <a:solidFill>
                  <a:srgbClr val="FF0000"/>
                </a:solidFill>
              </a:rPr>
              <a:t>partition pools</a:t>
            </a:r>
            <a:r>
              <a:rPr lang="en-US" altLang="en-US" sz="1600" dirty="0"/>
              <a:t>)</a:t>
            </a:r>
          </a:p>
          <a:p>
            <a:pPr lvl="1"/>
            <a:r>
              <a:rPr lang="en-US" altLang="en-US" sz="1600" dirty="0"/>
              <a:t>Another solution: prevent dynamic data structures all together</a:t>
            </a:r>
          </a:p>
          <a:p>
            <a:pPr lvl="2"/>
            <a:r>
              <a:rPr lang="en-US" altLang="en-US" sz="1400" dirty="0"/>
              <a:t>Flexibility is reduced in dynamic environment</a:t>
            </a:r>
          </a:p>
          <a:p>
            <a:r>
              <a:rPr lang="en-US" altLang="en-US" sz="1800" dirty="0"/>
              <a:t>Recursion could lead to </a:t>
            </a:r>
            <a:r>
              <a:rPr lang="en-US" altLang="en-US" sz="1800" dirty="0">
                <a:solidFill>
                  <a:srgbClr val="FF0000"/>
                </a:solidFill>
              </a:rPr>
              <a:t>unbounded execution time</a:t>
            </a:r>
          </a:p>
          <a:p>
            <a:pPr lvl="1"/>
            <a:r>
              <a:rPr lang="en-US" altLang="en-US" sz="1600" dirty="0"/>
              <a:t>Possible solution: only allow time-bound loops</a:t>
            </a:r>
          </a:p>
          <a:p>
            <a:r>
              <a:rPr lang="en-US" altLang="en-US" sz="1800" dirty="0"/>
              <a:t> Example of RT programming languages</a:t>
            </a:r>
          </a:p>
          <a:p>
            <a:pPr lvl="1"/>
            <a:r>
              <a:rPr lang="en-US" altLang="en-US" sz="1600" dirty="0"/>
              <a:t>Real-Time Java, Concurrent C, Euclid</a:t>
            </a:r>
          </a:p>
          <a:p>
            <a:pPr lvl="1"/>
            <a:endParaRPr lang="en-US" altLang="en-US" sz="1600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589160D-4645-9E48-934E-1B8A9E99DE7A}"/>
              </a:ext>
            </a:extLst>
          </p:cNvPr>
          <p:cNvSpPr/>
          <p:nvPr/>
        </p:nvSpPr>
        <p:spPr>
          <a:xfrm>
            <a:off x="5860142" y="3058552"/>
            <a:ext cx="2281822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en-US" sz="1400" dirty="0">
                <a:solidFill>
                  <a:srgbClr val="FF0000"/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Defragmentation</a:t>
            </a:r>
            <a:r>
              <a:rPr lang="en-US" alt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 is not feasible, all copies of  </a:t>
            </a:r>
            <a:r>
              <a:rPr lang="en-US" altLang="en-US" sz="1200" dirty="0">
                <a:latin typeface="Ubuntu Mono" panose="020B0509030602030204" pitchFamily="49" charset="0"/>
                <a:cs typeface="Gill Sans Light" panose="020B0302020104020203" pitchFamily="34" charset="-79"/>
              </a:rPr>
              <a:t>p2</a:t>
            </a:r>
            <a:r>
              <a:rPr lang="en-US" alt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 become broken if OS moves allocated</a:t>
            </a:r>
          </a:p>
        </p:txBody>
      </p:sp>
      <p:graphicFrame>
        <p:nvGraphicFramePr>
          <p:cNvPr id="9" name="Table 3">
            <a:extLst>
              <a:ext uri="{FF2B5EF4-FFF2-40B4-BE49-F238E27FC236}">
                <a16:creationId xmlns:a16="http://schemas.microsoft.com/office/drawing/2014/main" id="{A4F8AAD9-A543-4B4F-AF49-62BADBB576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0643372"/>
              </p:ext>
            </p:extLst>
          </p:nvPr>
        </p:nvGraphicFramePr>
        <p:xfrm>
          <a:off x="2952000" y="2809441"/>
          <a:ext cx="2520000" cy="2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">
                  <a:extLst>
                    <a:ext uri="{9D8B030D-6E8A-4147-A177-3AD203B41FA5}">
                      <a16:colId xmlns:a16="http://schemas.microsoft.com/office/drawing/2014/main" val="3626042597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604865758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295383061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1017282905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1672456308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861733401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1810117463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1935545632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735171378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748252995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b="0" i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b="0" i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b="0" i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b="0" i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6211628"/>
                  </a:ext>
                </a:extLst>
              </a:tr>
            </a:tbl>
          </a:graphicData>
        </a:graphic>
      </p:graphicFrame>
      <p:graphicFrame>
        <p:nvGraphicFramePr>
          <p:cNvPr id="10" name="Table 3">
            <a:extLst>
              <a:ext uri="{FF2B5EF4-FFF2-40B4-BE49-F238E27FC236}">
                <a16:creationId xmlns:a16="http://schemas.microsoft.com/office/drawing/2014/main" id="{E357CD54-1AB6-3F44-A0FB-67B9E22A8DE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3245373"/>
              </p:ext>
            </p:extLst>
          </p:nvPr>
        </p:nvGraphicFramePr>
        <p:xfrm>
          <a:off x="2952000" y="3133729"/>
          <a:ext cx="2520000" cy="2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">
                  <a:extLst>
                    <a:ext uri="{9D8B030D-6E8A-4147-A177-3AD203B41FA5}">
                      <a16:colId xmlns:a16="http://schemas.microsoft.com/office/drawing/2014/main" val="3626042597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604865758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295383061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1017282905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1672456308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861733401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1810117463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1935545632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735171378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748252995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b="0" i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6211628"/>
                  </a:ext>
                </a:extLst>
              </a:tr>
            </a:tbl>
          </a:graphicData>
        </a:graphic>
      </p:graphicFrame>
      <p:graphicFrame>
        <p:nvGraphicFramePr>
          <p:cNvPr id="11" name="Table 3">
            <a:extLst>
              <a:ext uri="{FF2B5EF4-FFF2-40B4-BE49-F238E27FC236}">
                <a16:creationId xmlns:a16="http://schemas.microsoft.com/office/drawing/2014/main" id="{7103BAD1-1436-154A-BB49-DF0DDB597E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31217639"/>
              </p:ext>
            </p:extLst>
          </p:nvPr>
        </p:nvGraphicFramePr>
        <p:xfrm>
          <a:off x="2952000" y="3471048"/>
          <a:ext cx="2520000" cy="2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">
                  <a:extLst>
                    <a:ext uri="{9D8B030D-6E8A-4147-A177-3AD203B41FA5}">
                      <a16:colId xmlns:a16="http://schemas.microsoft.com/office/drawing/2014/main" val="3626042597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604865758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295383061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1017282905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1672456308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861733401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1810117463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1935545632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735171378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748252995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endParaRPr lang="en-US" sz="800" b="0" i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b="0" i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b="0" i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b="0" i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6211628"/>
                  </a:ext>
                </a:extLst>
              </a:tr>
            </a:tbl>
          </a:graphicData>
        </a:graphic>
      </p:graphicFrame>
      <p:graphicFrame>
        <p:nvGraphicFramePr>
          <p:cNvPr id="12" name="Table 3">
            <a:extLst>
              <a:ext uri="{FF2B5EF4-FFF2-40B4-BE49-F238E27FC236}">
                <a16:creationId xmlns:a16="http://schemas.microsoft.com/office/drawing/2014/main" id="{74DDD073-FFFC-E14D-9E47-42D3B53860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4973771"/>
              </p:ext>
            </p:extLst>
          </p:nvPr>
        </p:nvGraphicFramePr>
        <p:xfrm>
          <a:off x="2952000" y="3803875"/>
          <a:ext cx="2520000" cy="2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">
                  <a:extLst>
                    <a:ext uri="{9D8B030D-6E8A-4147-A177-3AD203B41FA5}">
                      <a16:colId xmlns:a16="http://schemas.microsoft.com/office/drawing/2014/main" val="3626042597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604865758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3295383061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1017282905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1672456308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861733401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1810117463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1935545632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735171378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748252995"/>
                    </a:ext>
                  </a:extLst>
                </a:gridCol>
              </a:tblGrid>
              <a:tr h="252000">
                <a:tc>
                  <a:txBody>
                    <a:bodyPr/>
                    <a:lstStyle/>
                    <a:p>
                      <a:endParaRPr lang="en-US" sz="800" b="0" i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b="0" i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b="0" i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800" b="0" i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800" b="0" i="0" dirty="0">
                        <a:latin typeface="Gill Sans Light" panose="020B0302020104020203" pitchFamily="34" charset="-79"/>
                        <a:cs typeface="Gill Sans Light" panose="020B0302020104020203" pitchFamily="34" charset="-79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86211628"/>
                  </a:ext>
                </a:extLst>
              </a:tr>
            </a:tbl>
          </a:graphicData>
        </a:graphic>
      </p:graphicFrame>
      <p:sp>
        <p:nvSpPr>
          <p:cNvPr id="13" name="TextBox 12">
            <a:extLst>
              <a:ext uri="{FF2B5EF4-FFF2-40B4-BE49-F238E27FC236}">
                <a16:creationId xmlns:a16="http://schemas.microsoft.com/office/drawing/2014/main" id="{B91E069C-F055-D742-96E3-A902AE1E6A65}"/>
              </a:ext>
            </a:extLst>
          </p:cNvPr>
          <p:cNvSpPr txBox="1"/>
          <p:nvPr/>
        </p:nvSpPr>
        <p:spPr>
          <a:xfrm>
            <a:off x="1391742" y="2796942"/>
            <a:ext cx="11721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Ubuntu Mono" panose="020B0509030602030204" pitchFamily="49" charset="0"/>
              </a:rPr>
              <a:t>p1 = malloc(3)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47D4976-2F2F-674A-8729-F0B1FDEE2E65}"/>
              </a:ext>
            </a:extLst>
          </p:cNvPr>
          <p:cNvSpPr txBox="1"/>
          <p:nvPr/>
        </p:nvSpPr>
        <p:spPr>
          <a:xfrm>
            <a:off x="1391742" y="3121230"/>
            <a:ext cx="11721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Ubuntu Mono" panose="020B0509030602030204" pitchFamily="49" charset="0"/>
              </a:rPr>
              <a:t>p2 = malloc(4)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BEC8DA2-B78F-FE4D-8314-E40A6EA88F47}"/>
              </a:ext>
            </a:extLst>
          </p:cNvPr>
          <p:cNvSpPr txBox="1"/>
          <p:nvPr/>
        </p:nvSpPr>
        <p:spPr>
          <a:xfrm>
            <a:off x="1391742" y="3458549"/>
            <a:ext cx="74892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latin typeface="Ubuntu Mono" panose="020B0509030602030204" pitchFamily="49" charset="0"/>
              </a:rPr>
              <a:t>free(p1)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9E22EE1-7F8D-C646-A674-49EF0CD0F552}"/>
              </a:ext>
            </a:extLst>
          </p:cNvPr>
          <p:cNvSpPr txBox="1"/>
          <p:nvPr/>
        </p:nvSpPr>
        <p:spPr>
          <a:xfrm>
            <a:off x="1391742" y="3791376"/>
            <a:ext cx="1172116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100" dirty="0">
                <a:solidFill>
                  <a:srgbClr val="FF0000"/>
                </a:solidFill>
                <a:latin typeface="Ubuntu Mono" panose="020B0509030602030204" pitchFamily="49" charset="0"/>
              </a:rPr>
              <a:t>p1 = malloc(4)</a:t>
            </a:r>
          </a:p>
        </p:txBody>
      </p:sp>
      <p:pic>
        <p:nvPicPr>
          <p:cNvPr id="17" name="Graphic 16" descr="Warning">
            <a:extLst>
              <a:ext uri="{FF2B5EF4-FFF2-40B4-BE49-F238E27FC236}">
                <a16:creationId xmlns:a16="http://schemas.microsoft.com/office/drawing/2014/main" id="{8730A227-9F95-C243-8AFA-EBB8DBB2D39E}"/>
              </a:ext>
            </a:extLst>
          </p:cNvPr>
          <p:cNvPicPr>
            <a:picLocks noChangeAspect="1"/>
          </p:cNvPicPr>
          <p:nvPr/>
        </p:nvPicPr>
        <p:blipFill>
          <a:blip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70446" y="3803875"/>
            <a:ext cx="221296" cy="2212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0230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045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045" grpId="0" uiExpand="1" build="p" bldLvl="2"/>
      <p:bldP spid="8" grpId="0"/>
      <p:bldP spid="13" grpId="0"/>
      <p:bldP spid="14" grpId="0"/>
      <p:bldP spid="15" grpId="0"/>
      <p:bldP spid="16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40" name="Rectangle 2"/>
          <p:cNvSpPr>
            <a:spLocks noGrp="1" noChangeArrowheads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 dirty="0"/>
              <a:t>Scheduling</a:t>
            </a:r>
          </a:p>
        </p:txBody>
      </p:sp>
      <p:sp>
        <p:nvSpPr>
          <p:cNvPr id="39941" name="Rectangle 3"/>
          <p:cNvSpPr>
            <a:spLocks noGrp="1" noChangeArrowheads="1"/>
          </p:cNvSpPr>
          <p:nvPr>
            <p:ph idx="1"/>
          </p:nvPr>
        </p:nvSpPr>
        <p:spPr>
          <a:xfrm>
            <a:off x="628650" y="1676400"/>
            <a:ext cx="7886700" cy="4968875"/>
          </a:xfrm>
        </p:spPr>
        <p:txBody>
          <a:bodyPr/>
          <a:lstStyle/>
          <a:p>
            <a:r>
              <a:rPr lang="en-US" sz="1800" dirty="0"/>
              <a:t>General-purpose schedulers are </a:t>
            </a:r>
            <a:r>
              <a:rPr lang="en-US" sz="1800" dirty="0">
                <a:solidFill>
                  <a:srgbClr val="FF0000"/>
                </a:solidFill>
              </a:rPr>
              <a:t>system-oriented </a:t>
            </a:r>
            <a:endParaRPr lang="en-US" sz="1800" dirty="0"/>
          </a:p>
          <a:p>
            <a:pPr lvl="1"/>
            <a:r>
              <a:rPr lang="en-US" sz="1600"/>
              <a:t>Maximize </a:t>
            </a:r>
            <a:r>
              <a:rPr lang="en-US" sz="1600" dirty="0"/>
              <a:t>avg. system throughput</a:t>
            </a:r>
            <a:endParaRPr lang="en-US" sz="1600" dirty="0">
              <a:solidFill>
                <a:srgbClr val="FF0000"/>
              </a:solidFill>
            </a:endParaRPr>
          </a:p>
          <a:p>
            <a:r>
              <a:rPr lang="en-US" sz="1800" dirty="0" err="1"/>
              <a:t>RTSes</a:t>
            </a:r>
            <a:r>
              <a:rPr lang="en-US" sz="1800" dirty="0"/>
              <a:t> need </a:t>
            </a:r>
            <a:r>
              <a:rPr lang="en-US" sz="1800" dirty="0">
                <a:solidFill>
                  <a:srgbClr val="FF0000"/>
                </a:solidFill>
              </a:rPr>
              <a:t>task-centric</a:t>
            </a:r>
            <a:r>
              <a:rPr lang="en-US" sz="1800" dirty="0"/>
              <a:t> scheduling </a:t>
            </a:r>
          </a:p>
          <a:p>
            <a:pPr lvl="1"/>
            <a:r>
              <a:rPr lang="en-US" sz="1600" dirty="0"/>
              <a:t>Minimize </a:t>
            </a:r>
            <a:r>
              <a:rPr lang="en-US" sz="1600" dirty="0">
                <a:solidFill>
                  <a:srgbClr val="FF0000"/>
                </a:solidFill>
              </a:rPr>
              <a:t>worst-case</a:t>
            </a:r>
            <a:r>
              <a:rPr lang="en-US" sz="1600" dirty="0"/>
              <a:t> response time for each task</a:t>
            </a:r>
          </a:p>
          <a:p>
            <a:pPr lvl="1"/>
            <a:r>
              <a:rPr lang="en-US" sz="1600" dirty="0"/>
              <a:t>Predictability </a:t>
            </a:r>
            <a:r>
              <a:rPr lang="en-US" sz="1600" dirty="0">
                <a:latin typeface="+mj-lt"/>
              </a:rPr>
              <a:t>≠</a:t>
            </a:r>
            <a:r>
              <a:rPr lang="en-US" sz="1600" dirty="0"/>
              <a:t> fast computing</a:t>
            </a:r>
          </a:p>
          <a:p>
            <a:r>
              <a:rPr lang="en-US" sz="1800" dirty="0"/>
              <a:t>Real-time tasks</a:t>
            </a:r>
          </a:p>
          <a:p>
            <a:pPr lvl="1"/>
            <a:r>
              <a:rPr lang="en-US" altLang="en-US" sz="1600" dirty="0">
                <a:solidFill>
                  <a:srgbClr val="FF0000"/>
                </a:solidFill>
              </a:rPr>
              <a:t>Periodic:</a:t>
            </a:r>
            <a:r>
              <a:rPr lang="en-US" altLang="en-US" sz="1600" dirty="0"/>
              <a:t> set of jobs arriving at fixed period (</a:t>
            </a:r>
            <a:r>
              <a:rPr lang="en-US" altLang="en-US" sz="1600" i="1" dirty="0"/>
              <a:t>p</a:t>
            </a:r>
            <a:r>
              <a:rPr lang="en-US" altLang="en-US" sz="1600" dirty="0"/>
              <a:t>) </a:t>
            </a:r>
          </a:p>
          <a:p>
            <a:pPr lvl="2"/>
            <a:r>
              <a:rPr lang="en-US" altLang="en-US" sz="1400" dirty="0"/>
              <a:t>Each job has worst-case execution time (</a:t>
            </a:r>
            <a:r>
              <a:rPr lang="en-US" altLang="en-US" sz="1400" i="1" dirty="0"/>
              <a:t>e</a:t>
            </a:r>
            <a:r>
              <a:rPr lang="en-US" altLang="en-US" sz="1400" dirty="0"/>
              <a:t>) and hard relative deadline (</a:t>
            </a:r>
            <a:r>
              <a:rPr lang="en-US" altLang="en-US" sz="1400" i="1" dirty="0"/>
              <a:t>d</a:t>
            </a:r>
            <a:r>
              <a:rPr lang="en-US" altLang="en-US" sz="1400" dirty="0"/>
              <a:t> </a:t>
            </a:r>
            <a:r>
              <a:rPr lang="en-US" altLang="en-US" sz="1400" dirty="0">
                <a:latin typeface="+mj-lt"/>
              </a:rPr>
              <a:t>≤</a:t>
            </a:r>
            <a:r>
              <a:rPr lang="en-US" altLang="en-US" sz="1400" dirty="0"/>
              <a:t> </a:t>
            </a:r>
            <a:r>
              <a:rPr lang="en-US" altLang="en-US" sz="1400" i="1" dirty="0"/>
              <a:t>p, </a:t>
            </a:r>
            <a:r>
              <a:rPr lang="en-US" altLang="en-US" sz="1400" dirty="0"/>
              <a:t>usually </a:t>
            </a:r>
            <a:r>
              <a:rPr lang="en-US" altLang="en-US" sz="1400" i="1" dirty="0"/>
              <a:t>d </a:t>
            </a:r>
            <a:r>
              <a:rPr lang="en-US" altLang="en-US" sz="1400" dirty="0">
                <a:latin typeface="+mj-lt"/>
              </a:rPr>
              <a:t>=</a:t>
            </a:r>
            <a:r>
              <a:rPr lang="en-US" altLang="en-US" sz="1400" i="1" dirty="0"/>
              <a:t> p</a:t>
            </a:r>
            <a:r>
              <a:rPr lang="en-US" altLang="en-US" sz="1400" dirty="0"/>
              <a:t>) </a:t>
            </a:r>
          </a:p>
          <a:p>
            <a:pPr lvl="2"/>
            <a:r>
              <a:rPr lang="en-US" altLang="en-US" sz="1400" dirty="0"/>
              <a:t>Utilization of task is </a:t>
            </a:r>
            <a:r>
              <a:rPr lang="en-US" altLang="en-US" sz="1400" i="1" dirty="0"/>
              <a:t>e </a:t>
            </a:r>
            <a:r>
              <a:rPr lang="en-US" altLang="en-US" sz="1400" i="1" dirty="0">
                <a:latin typeface="+mj-lt"/>
              </a:rPr>
              <a:t>/ </a:t>
            </a:r>
            <a:r>
              <a:rPr lang="en-US" altLang="en-US" sz="1400" i="1" dirty="0"/>
              <a:t>p</a:t>
            </a:r>
          </a:p>
          <a:p>
            <a:pPr lvl="3"/>
            <a:endParaRPr lang="en-US" altLang="en-US" sz="1050" dirty="0"/>
          </a:p>
          <a:p>
            <a:pPr lvl="3"/>
            <a:endParaRPr lang="en-US" altLang="en-US" sz="1050" dirty="0"/>
          </a:p>
          <a:p>
            <a:pPr lvl="3"/>
            <a:endParaRPr lang="en-US" altLang="en-US" sz="1050" dirty="0"/>
          </a:p>
          <a:p>
            <a:pPr lvl="3"/>
            <a:endParaRPr lang="en-US" altLang="en-US" sz="1050" dirty="0"/>
          </a:p>
          <a:p>
            <a:pPr marL="1371600" lvl="3" indent="0">
              <a:buNone/>
            </a:pPr>
            <a:endParaRPr lang="en-US" altLang="en-US" sz="1050" dirty="0"/>
          </a:p>
          <a:p>
            <a:pPr lvl="1"/>
            <a:r>
              <a:rPr lang="en-US" altLang="en-US" sz="1600" dirty="0">
                <a:solidFill>
                  <a:srgbClr val="FF0000"/>
                </a:solidFill>
              </a:rPr>
              <a:t>Aperiodic:</a:t>
            </a:r>
            <a:r>
              <a:rPr lang="en-US" altLang="en-US" sz="1600" dirty="0"/>
              <a:t> arrive randomly without any hard deadline</a:t>
            </a:r>
          </a:p>
          <a:p>
            <a:pPr lvl="1"/>
            <a:r>
              <a:rPr lang="en-US" altLang="en-US" sz="1600" dirty="0">
                <a:solidFill>
                  <a:srgbClr val="FF0000"/>
                </a:solidFill>
              </a:rPr>
              <a:t>Sporadic</a:t>
            </a:r>
            <a:r>
              <a:rPr lang="en-US" altLang="en-US" sz="1600" dirty="0"/>
              <a:t> task arrives randomly with hard deadline</a:t>
            </a:r>
          </a:p>
          <a:p>
            <a:pPr lvl="1"/>
            <a:r>
              <a:rPr lang="en-US" altLang="en-US" sz="1600" dirty="0">
                <a:solidFill>
                  <a:srgbClr val="FF0000"/>
                </a:solidFill>
              </a:rPr>
              <a:t>Independent</a:t>
            </a:r>
            <a:r>
              <a:rPr lang="en-US" altLang="en-US" sz="1600" dirty="0"/>
              <a:t> vs. </a:t>
            </a:r>
            <a:r>
              <a:rPr lang="en-US" altLang="en-US" sz="1600" dirty="0">
                <a:solidFill>
                  <a:srgbClr val="FF0000"/>
                </a:solidFill>
              </a:rPr>
              <a:t>interdependent</a:t>
            </a:r>
            <a:r>
              <a:rPr lang="en-US" altLang="en-US" sz="1600" dirty="0"/>
              <a:t> and</a:t>
            </a:r>
            <a:r>
              <a:rPr lang="en-US" altLang="en-US" sz="1600" dirty="0">
                <a:solidFill>
                  <a:srgbClr val="FF0000"/>
                </a:solidFill>
              </a:rPr>
              <a:t> preemptable</a:t>
            </a:r>
            <a:r>
              <a:rPr lang="en-US" altLang="en-US" sz="1600" dirty="0"/>
              <a:t> vs. </a:t>
            </a:r>
            <a:r>
              <a:rPr lang="en-US" altLang="en-US" sz="1600" dirty="0">
                <a:solidFill>
                  <a:srgbClr val="FF0000"/>
                </a:solidFill>
              </a:rPr>
              <a:t>non-preemptable</a:t>
            </a:r>
            <a:endParaRPr lang="en-US" altLang="en-US" sz="2800" dirty="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504DAA2D-7B88-B44D-A189-213B50EDBBBA}"/>
              </a:ext>
            </a:extLst>
          </p:cNvPr>
          <p:cNvGrpSpPr/>
          <p:nvPr/>
        </p:nvGrpSpPr>
        <p:grpSpPr>
          <a:xfrm>
            <a:off x="1806950" y="4447372"/>
            <a:ext cx="5174421" cy="1151012"/>
            <a:chOff x="1806950" y="4447372"/>
            <a:chExt cx="5174421" cy="1151012"/>
          </a:xfrm>
        </p:grpSpPr>
        <p:sp>
          <p:nvSpPr>
            <p:cNvPr id="5" name="Rectangle 107">
              <a:extLst>
                <a:ext uri="{FF2B5EF4-FFF2-40B4-BE49-F238E27FC236}">
                  <a16:creationId xmlns:a16="http://schemas.microsoft.com/office/drawing/2014/main" id="{FBFA5DFD-E2BB-604A-A33B-D3D72A6B9B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92947" y="4927046"/>
              <a:ext cx="943200" cy="1836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400" b="0" dirty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6" name="Rectangle 88">
              <a:extLst>
                <a:ext uri="{FF2B5EF4-FFF2-40B4-BE49-F238E27FC236}">
                  <a16:creationId xmlns:a16="http://schemas.microsoft.com/office/drawing/2014/main" id="{52ACFA45-1DAB-F748-9853-496940F5E7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80387" y="4927046"/>
              <a:ext cx="943200" cy="1836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400" b="0" dirty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7" name="Rectangle 102">
              <a:extLst>
                <a:ext uri="{FF2B5EF4-FFF2-40B4-BE49-F238E27FC236}">
                  <a16:creationId xmlns:a16="http://schemas.microsoft.com/office/drawing/2014/main" id="{5814E8EA-19EC-B743-ADB3-BCB28C7759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5436" y="4927046"/>
              <a:ext cx="943200" cy="183600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sz="1400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9" name="Line 55">
              <a:extLst>
                <a:ext uri="{FF2B5EF4-FFF2-40B4-BE49-F238E27FC236}">
                  <a16:creationId xmlns:a16="http://schemas.microsoft.com/office/drawing/2014/main" id="{D1124563-FEA8-3542-94A3-44ED9931648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15713" y="5059407"/>
              <a:ext cx="0" cy="1040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400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0" name="Line 56">
              <a:extLst>
                <a:ext uri="{FF2B5EF4-FFF2-40B4-BE49-F238E27FC236}">
                  <a16:creationId xmlns:a16="http://schemas.microsoft.com/office/drawing/2014/main" id="{58066FB8-3F4A-FB43-B2C5-CFD517D7536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52284" y="5059407"/>
              <a:ext cx="0" cy="1040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400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1" name="Line 57">
              <a:extLst>
                <a:ext uri="{FF2B5EF4-FFF2-40B4-BE49-F238E27FC236}">
                  <a16:creationId xmlns:a16="http://schemas.microsoft.com/office/drawing/2014/main" id="{361ACBB9-E290-D544-9436-10FD7AE45B6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8855" y="5059407"/>
              <a:ext cx="0" cy="1040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400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2" name="Line 58">
              <a:extLst>
                <a:ext uri="{FF2B5EF4-FFF2-40B4-BE49-F238E27FC236}">
                  <a16:creationId xmlns:a16="http://schemas.microsoft.com/office/drawing/2014/main" id="{1DC667E4-3079-974C-8514-2FEA85BCD09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25426" y="5059407"/>
              <a:ext cx="0" cy="1040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400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3" name="Line 59">
              <a:extLst>
                <a:ext uri="{FF2B5EF4-FFF2-40B4-BE49-F238E27FC236}">
                  <a16:creationId xmlns:a16="http://schemas.microsoft.com/office/drawing/2014/main" id="{36287E55-C8FA-6743-81C6-6FBA5771CB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61997" y="5059407"/>
              <a:ext cx="0" cy="1040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400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4" name="Line 60">
              <a:extLst>
                <a:ext uri="{FF2B5EF4-FFF2-40B4-BE49-F238E27FC236}">
                  <a16:creationId xmlns:a16="http://schemas.microsoft.com/office/drawing/2014/main" id="{E05367A8-041F-C54C-82DF-3AD5F38B74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98568" y="5059407"/>
              <a:ext cx="0" cy="1040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400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5" name="Line 61">
              <a:extLst>
                <a:ext uri="{FF2B5EF4-FFF2-40B4-BE49-F238E27FC236}">
                  <a16:creationId xmlns:a16="http://schemas.microsoft.com/office/drawing/2014/main" id="{97EFFAB0-902E-C743-A5BE-E14EF318CC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35139" y="5059407"/>
              <a:ext cx="0" cy="1040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400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6" name="Line 62">
              <a:extLst>
                <a:ext uri="{FF2B5EF4-FFF2-40B4-BE49-F238E27FC236}">
                  <a16:creationId xmlns:a16="http://schemas.microsoft.com/office/drawing/2014/main" id="{1548AA33-289B-944C-BE7A-264CE6E11F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71710" y="5059407"/>
              <a:ext cx="0" cy="1040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400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7" name="Line 63">
              <a:extLst>
                <a:ext uri="{FF2B5EF4-FFF2-40B4-BE49-F238E27FC236}">
                  <a16:creationId xmlns:a16="http://schemas.microsoft.com/office/drawing/2014/main" id="{C8214CD0-63F6-E144-AEB8-A7C8E1332E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08281" y="5059407"/>
              <a:ext cx="0" cy="1040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400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8" name="Line 64">
              <a:extLst>
                <a:ext uri="{FF2B5EF4-FFF2-40B4-BE49-F238E27FC236}">
                  <a16:creationId xmlns:a16="http://schemas.microsoft.com/office/drawing/2014/main" id="{6EDD5BDF-5F03-984B-B64B-5E62A41932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44852" y="5059407"/>
              <a:ext cx="0" cy="1040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400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9" name="Line 65">
              <a:extLst>
                <a:ext uri="{FF2B5EF4-FFF2-40B4-BE49-F238E27FC236}">
                  <a16:creationId xmlns:a16="http://schemas.microsoft.com/office/drawing/2014/main" id="{0A713F3C-B764-0F40-BF8E-0C8E7BA17E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81424" y="5059407"/>
              <a:ext cx="0" cy="1040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400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0" name="Line 66">
              <a:extLst>
                <a:ext uri="{FF2B5EF4-FFF2-40B4-BE49-F238E27FC236}">
                  <a16:creationId xmlns:a16="http://schemas.microsoft.com/office/drawing/2014/main" id="{2A2363BE-B135-D649-A021-EDE1797C1F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17995" y="5059407"/>
              <a:ext cx="0" cy="1040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400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1" name="Line 67">
              <a:extLst>
                <a:ext uri="{FF2B5EF4-FFF2-40B4-BE49-F238E27FC236}">
                  <a16:creationId xmlns:a16="http://schemas.microsoft.com/office/drawing/2014/main" id="{0EE3AE8F-6544-FD4B-9A54-6796688914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54566" y="5059407"/>
              <a:ext cx="0" cy="1040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400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2" name="Line 68">
              <a:extLst>
                <a:ext uri="{FF2B5EF4-FFF2-40B4-BE49-F238E27FC236}">
                  <a16:creationId xmlns:a16="http://schemas.microsoft.com/office/drawing/2014/main" id="{44E4A78A-7368-5449-9478-DA69E9B23C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91137" y="5059407"/>
              <a:ext cx="0" cy="1040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400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3" name="Line 69">
              <a:extLst>
                <a:ext uri="{FF2B5EF4-FFF2-40B4-BE49-F238E27FC236}">
                  <a16:creationId xmlns:a16="http://schemas.microsoft.com/office/drawing/2014/main" id="{05A1CD21-6CAE-1044-BA68-0EA14F0B09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27708" y="5059407"/>
              <a:ext cx="0" cy="1040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400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4" name="Line 70">
              <a:extLst>
                <a:ext uri="{FF2B5EF4-FFF2-40B4-BE49-F238E27FC236}">
                  <a16:creationId xmlns:a16="http://schemas.microsoft.com/office/drawing/2014/main" id="{8A19CC1E-7098-3844-AE9C-AE4D25EA61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64279" y="5059407"/>
              <a:ext cx="0" cy="1040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400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5" name="Line 71">
              <a:extLst>
                <a:ext uri="{FF2B5EF4-FFF2-40B4-BE49-F238E27FC236}">
                  <a16:creationId xmlns:a16="http://schemas.microsoft.com/office/drawing/2014/main" id="{9BEE1F4F-79B1-8846-A99D-59F5A086BE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91137" y="5059407"/>
              <a:ext cx="0" cy="1040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400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6" name="Line 72">
              <a:extLst>
                <a:ext uri="{FF2B5EF4-FFF2-40B4-BE49-F238E27FC236}">
                  <a16:creationId xmlns:a16="http://schemas.microsoft.com/office/drawing/2014/main" id="{89096D82-CB9D-3E4C-AE5B-BA0DFF0BBC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27708" y="5059407"/>
              <a:ext cx="0" cy="1040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400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7" name="Line 73">
              <a:extLst>
                <a:ext uri="{FF2B5EF4-FFF2-40B4-BE49-F238E27FC236}">
                  <a16:creationId xmlns:a16="http://schemas.microsoft.com/office/drawing/2014/main" id="{7E0BF8B9-6A06-964D-9DFA-A5E72CCCCA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364279" y="5059407"/>
              <a:ext cx="0" cy="1040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400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8" name="Line 74">
              <a:extLst>
                <a:ext uri="{FF2B5EF4-FFF2-40B4-BE49-F238E27FC236}">
                  <a16:creationId xmlns:a16="http://schemas.microsoft.com/office/drawing/2014/main" id="{9817C4F4-327D-DF45-B816-C4ED7468223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600850" y="5059407"/>
              <a:ext cx="0" cy="1040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400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6BD66A0E-6DEF-DE4A-B533-6F905784B23B}"/>
                </a:ext>
              </a:extLst>
            </p:cNvPr>
            <p:cNvSpPr txBox="1"/>
            <p:nvPr/>
          </p:nvSpPr>
          <p:spPr>
            <a:xfrm>
              <a:off x="1806950" y="4859811"/>
              <a:ext cx="715709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T: (7, 4)</a:t>
              </a:r>
            </a:p>
          </p:txBody>
        </p:sp>
        <p:sp>
          <p:nvSpPr>
            <p:cNvPr id="34" name="Line 87">
              <a:extLst>
                <a:ext uri="{FF2B5EF4-FFF2-40B4-BE49-F238E27FC236}">
                  <a16:creationId xmlns:a16="http://schemas.microsoft.com/office/drawing/2014/main" id="{C6D12EBB-4B66-D546-B3C1-755CB5656FC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35139" y="4761211"/>
              <a:ext cx="0" cy="34848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400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35" name="Line 93">
              <a:extLst>
                <a:ext uri="{FF2B5EF4-FFF2-40B4-BE49-F238E27FC236}">
                  <a16:creationId xmlns:a16="http://schemas.microsoft.com/office/drawing/2014/main" id="{889F6351-FE44-5E4E-B6E7-CFB9AE2D001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91137" y="4761211"/>
              <a:ext cx="0" cy="34848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400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36" name="Line 84">
              <a:extLst>
                <a:ext uri="{FF2B5EF4-FFF2-40B4-BE49-F238E27FC236}">
                  <a16:creationId xmlns:a16="http://schemas.microsoft.com/office/drawing/2014/main" id="{8E6BE6F3-ED45-8540-B740-805D5908506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85041" y="4761211"/>
              <a:ext cx="0" cy="348480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400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8" name="Line 53">
              <a:extLst>
                <a:ext uri="{FF2B5EF4-FFF2-40B4-BE49-F238E27FC236}">
                  <a16:creationId xmlns:a16="http://schemas.microsoft.com/office/drawing/2014/main" id="{21EA3CC2-C905-8B43-B7E7-B23CF0DA460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79142" y="5111453"/>
              <a:ext cx="4402229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400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6B5EB579-8B58-6241-8773-D7FCC23484C9}"/>
                </a:ext>
              </a:extLst>
            </p:cNvPr>
            <p:cNvSpPr txBox="1"/>
            <p:nvPr/>
          </p:nvSpPr>
          <p:spPr>
            <a:xfrm>
              <a:off x="4159357" y="5311727"/>
              <a:ext cx="1834907" cy="28665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2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 Period </a:t>
              </a:r>
              <a:r>
                <a:rPr lang="en-US" sz="1200" dirty="0">
                  <a:latin typeface="+mj-lt"/>
                  <a:cs typeface="Gill Sans Light" panose="020B0302020104020203" pitchFamily="34" charset="-79"/>
                </a:rPr>
                <a:t>=</a:t>
              </a:r>
              <a:r>
                <a:rPr lang="en-US" sz="12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 Relative deadline</a:t>
              </a:r>
              <a:endParaRPr lang="en-US" sz="1200" baseline="-25000" dirty="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6B65F683-5F7C-F54A-99AC-8A9CF149270B}"/>
                </a:ext>
              </a:extLst>
            </p:cNvPr>
            <p:cNvCxnSpPr>
              <a:cxnSpLocks/>
            </p:cNvCxnSpPr>
            <p:nvPr/>
          </p:nvCxnSpPr>
          <p:spPr>
            <a:xfrm>
              <a:off x="4262485" y="5314811"/>
              <a:ext cx="1628652" cy="0"/>
            </a:xfrm>
            <a:prstGeom prst="straightConnector1">
              <a:avLst/>
            </a:prstGeom>
            <a:ln w="12700">
              <a:solidFill>
                <a:schemeClr val="tx1"/>
              </a:solidFill>
              <a:prstDash val="solid"/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6AAE5A72-390A-0E48-9C5B-5B4ABCE06CD0}"/>
                </a:ext>
              </a:extLst>
            </p:cNvPr>
            <p:cNvSpPr txBox="1"/>
            <p:nvPr/>
          </p:nvSpPr>
          <p:spPr>
            <a:xfrm>
              <a:off x="4146925" y="4447372"/>
              <a:ext cx="1131192" cy="46166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12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Execution </a:t>
              </a:r>
              <a:br>
                <a:rPr lang="en-US" sz="12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</a:br>
              <a:r>
                <a:rPr lang="en-US" sz="12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time</a:t>
              </a:r>
              <a:endParaRPr lang="en-US" sz="1200" baseline="-25000" dirty="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200210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41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41" grpId="0" uiExpand="1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8F7A9-35AA-B344-8222-9E7E5C0A38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 dirty="0"/>
              <a:t>Terminology of Real-time Scheduling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D1F5FE-5319-844A-B3DC-24B196FE9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76400"/>
            <a:ext cx="7886700" cy="4968875"/>
          </a:xfrm>
        </p:spPr>
        <p:txBody>
          <a:bodyPr/>
          <a:lstStyle/>
          <a:p>
            <a:r>
              <a:rPr lang="en-US" altLang="en-US" sz="1800" dirty="0">
                <a:solidFill>
                  <a:srgbClr val="FF0000"/>
                </a:solidFill>
              </a:rPr>
              <a:t>Static scheduling: </a:t>
            </a:r>
            <a:r>
              <a:rPr lang="en-US" altLang="en-US" sz="1800" dirty="0"/>
              <a:t>priority of each task does not change over time</a:t>
            </a:r>
          </a:p>
          <a:p>
            <a:pPr lvl="1"/>
            <a:r>
              <a:rPr lang="en-US" altLang="en-US" sz="1600" dirty="0"/>
              <a:t>E.g., rate monotonic (RM)</a:t>
            </a:r>
          </a:p>
          <a:p>
            <a:pPr lvl="3"/>
            <a:endParaRPr lang="en-US" altLang="en-US" sz="1000" dirty="0"/>
          </a:p>
          <a:p>
            <a:r>
              <a:rPr lang="en-US" altLang="en-US" sz="1800" dirty="0">
                <a:solidFill>
                  <a:srgbClr val="FF0000"/>
                </a:solidFill>
              </a:rPr>
              <a:t>Dynamic scheduling:</a:t>
            </a:r>
            <a:r>
              <a:rPr lang="en-US" altLang="en-US" sz="1800" dirty="0"/>
              <a:t> priority of each job does not change over time</a:t>
            </a:r>
          </a:p>
          <a:p>
            <a:pPr lvl="1"/>
            <a:r>
              <a:rPr lang="en-US" altLang="en-US" sz="1600" dirty="0"/>
              <a:t>E.g., earliest deadline first (EDF)</a:t>
            </a:r>
          </a:p>
          <a:p>
            <a:pPr lvl="3"/>
            <a:endParaRPr lang="en-US" altLang="en-US" sz="1000" dirty="0"/>
          </a:p>
          <a:p>
            <a:r>
              <a:rPr lang="en-US" altLang="en-US" sz="1800" dirty="0">
                <a:solidFill>
                  <a:srgbClr val="FF0000"/>
                </a:solidFill>
              </a:rPr>
              <a:t>Fully-dynamic scheduling</a:t>
            </a:r>
            <a:r>
              <a:rPr lang="en-US" altLang="en-US" sz="1800" dirty="0"/>
              <a:t>: priority of each job could change over time </a:t>
            </a:r>
          </a:p>
          <a:p>
            <a:pPr lvl="1"/>
            <a:r>
              <a:rPr lang="en-US" altLang="en-US" sz="1600" dirty="0"/>
              <a:t>E.g., least laxity first (LLF)</a:t>
            </a:r>
          </a:p>
          <a:p>
            <a:pPr lvl="3"/>
            <a:endParaRPr lang="en-US" altLang="en-US" sz="1000" dirty="0"/>
          </a:p>
          <a:p>
            <a:r>
              <a:rPr lang="en-US" altLang="en-US" sz="1800" dirty="0"/>
              <a:t>Schedule </a:t>
            </a:r>
            <a:r>
              <a:rPr lang="en-US" altLang="en-US" sz="1800" i="1" dirty="0"/>
              <a:t>S</a:t>
            </a:r>
            <a:r>
              <a:rPr lang="en-US" altLang="en-US" sz="1800" dirty="0"/>
              <a:t> is </a:t>
            </a:r>
            <a:r>
              <a:rPr lang="en-US" altLang="en-US" sz="1800" i="1" dirty="0">
                <a:solidFill>
                  <a:srgbClr val="FF0000"/>
                </a:solidFill>
              </a:rPr>
              <a:t>feasible</a:t>
            </a:r>
            <a:r>
              <a:rPr lang="en-US" altLang="en-US" sz="1800" dirty="0"/>
              <a:t> if all deadline are met</a:t>
            </a:r>
          </a:p>
          <a:p>
            <a:pPr lvl="2"/>
            <a:endParaRPr lang="en-US" altLang="en-US" sz="1000" dirty="0"/>
          </a:p>
          <a:p>
            <a:r>
              <a:rPr lang="en-US" altLang="en-US" sz="1800" dirty="0"/>
              <a:t>Task set </a:t>
            </a:r>
            <a:r>
              <a:rPr lang="en-US" altLang="en-US" sz="1800" i="1" dirty="0"/>
              <a:t>T</a:t>
            </a:r>
            <a:r>
              <a:rPr lang="en-US" altLang="en-US" sz="1800" dirty="0"/>
              <a:t> is </a:t>
            </a:r>
            <a:r>
              <a:rPr lang="en-US" altLang="en-US" sz="1800" i="1" dirty="0">
                <a:solidFill>
                  <a:srgbClr val="FF0000"/>
                </a:solidFill>
              </a:rPr>
              <a:t>schedulable</a:t>
            </a:r>
            <a:r>
              <a:rPr lang="en-US" altLang="en-US" sz="1800" dirty="0"/>
              <a:t> under scheduling class </a:t>
            </a:r>
            <a:r>
              <a:rPr lang="en-US" altLang="en-US" sz="1800" i="1" dirty="0"/>
              <a:t>C</a:t>
            </a:r>
            <a:r>
              <a:rPr lang="en-US" altLang="en-US" sz="1800" dirty="0"/>
              <a:t> if there exists scheduling algorithm </a:t>
            </a:r>
            <a:r>
              <a:rPr lang="en-US" altLang="en-US" sz="1800" i="1" dirty="0"/>
              <a:t>A</a:t>
            </a:r>
            <a:r>
              <a:rPr lang="en-US" altLang="en-US" sz="1800" dirty="0"/>
              <a:t> in </a:t>
            </a:r>
            <a:r>
              <a:rPr lang="en-US" altLang="en-US" sz="1800" i="1" dirty="0"/>
              <a:t>C</a:t>
            </a:r>
            <a:r>
              <a:rPr lang="en-US" altLang="en-US" sz="1800" dirty="0"/>
              <a:t> that produces feasible schedule for </a:t>
            </a:r>
            <a:r>
              <a:rPr lang="en-US" altLang="en-US" sz="1800" i="1" dirty="0"/>
              <a:t>T</a:t>
            </a:r>
          </a:p>
          <a:p>
            <a:pPr lvl="2"/>
            <a:endParaRPr lang="en-US" altLang="en-US" sz="1000" i="1" dirty="0"/>
          </a:p>
          <a:p>
            <a:r>
              <a:rPr lang="en-US" altLang="en-US" sz="1800" dirty="0"/>
              <a:t>Scheduling algorithm </a:t>
            </a:r>
            <a:r>
              <a:rPr lang="en-US" altLang="en-US" sz="1800" i="1" dirty="0"/>
              <a:t>A</a:t>
            </a:r>
            <a:r>
              <a:rPr lang="en-US" altLang="en-US" sz="1800" dirty="0"/>
              <a:t> is </a:t>
            </a:r>
            <a:r>
              <a:rPr lang="en-US" altLang="en-US" sz="1800" i="1" dirty="0">
                <a:solidFill>
                  <a:srgbClr val="FF0000"/>
                </a:solidFill>
              </a:rPr>
              <a:t>optimal</a:t>
            </a:r>
            <a:r>
              <a:rPr lang="en-US" altLang="en-US" sz="1800" dirty="0"/>
              <a:t> </a:t>
            </a:r>
            <a:r>
              <a:rPr lang="en-US" altLang="en-US" sz="1800" dirty="0" err="1"/>
              <a:t>w.r.t.</a:t>
            </a:r>
            <a:r>
              <a:rPr lang="en-US" altLang="en-US" sz="1800" dirty="0"/>
              <a:t> scheduling class </a:t>
            </a:r>
            <a:r>
              <a:rPr lang="en-US" altLang="en-US" sz="1800" i="1" dirty="0"/>
              <a:t>C</a:t>
            </a:r>
            <a:r>
              <a:rPr lang="en-US" altLang="en-US" sz="1800" dirty="0"/>
              <a:t> if it produces feasible schedule for any schedulable task set </a:t>
            </a:r>
            <a:r>
              <a:rPr lang="en-US" altLang="en-US" sz="1800" i="1" dirty="0"/>
              <a:t>T</a:t>
            </a:r>
            <a:r>
              <a:rPr lang="en-US" altLang="en-US" sz="1800" dirty="0"/>
              <a:t> under </a:t>
            </a:r>
            <a:r>
              <a:rPr lang="en-US" altLang="en-US" sz="1800" i="1" dirty="0"/>
              <a:t>C</a:t>
            </a:r>
          </a:p>
        </p:txBody>
      </p:sp>
    </p:spTree>
    <p:extLst>
      <p:ext uri="{BB962C8B-B14F-4D97-AF65-F5344CB8AC3E}">
        <p14:creationId xmlns:p14="http://schemas.microsoft.com/office/powerpoint/2010/main" val="879700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B73F6-B32B-677C-2D1B-A195ADE0DD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Online vs Offline Scheduling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49A42C-7F32-3C3C-F28A-1EAEB6115E2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CA" sz="2000" b="1" dirty="0">
                    <a:solidFill>
                      <a:srgbClr val="FF0000"/>
                    </a:solidFill>
                  </a:rPr>
                  <a:t>Online scheduler</a:t>
                </a:r>
                <a:r>
                  <a:rPr lang="en-CA" sz="2000" dirty="0"/>
                  <a:t> makes decisions </a:t>
                </a:r>
                <a:r>
                  <a:rPr lang="en-CA" sz="2000" b="1" dirty="0">
                    <a:solidFill>
                      <a:srgbClr val="FF0000"/>
                    </a:solidFill>
                  </a:rPr>
                  <a:t>as time progresses</a:t>
                </a:r>
                <a:r>
                  <a:rPr lang="en-CA" sz="2000" dirty="0"/>
                  <a:t>, using only information available up to current time</a:t>
                </a:r>
              </a:p>
              <a:p>
                <a:r>
                  <a:rPr lang="en-CA" sz="2000" dirty="0"/>
                  <a:t>At time </a:t>
                </a:r>
                <a14:m>
                  <m:oMath xmlns:m="http://schemas.openxmlformats.org/officeDocument/2006/math">
                    <m:r>
                      <a:rPr lang="en-CA" sz="2000" i="1"/>
                      <m:t>𝑡</m:t>
                    </m:r>
                  </m:oMath>
                </a14:m>
                <a:r>
                  <a:rPr lang="en-CA" sz="2000" dirty="0"/>
                  <a:t>, online scheduler knows things like:</a:t>
                </a:r>
              </a:p>
              <a:p>
                <a:pPr lvl="1"/>
                <a:r>
                  <a:rPr lang="en-CA" sz="1800" dirty="0"/>
                  <a:t>Which jobs have already arrived</a:t>
                </a:r>
              </a:p>
              <a:p>
                <a:pPr lvl="1"/>
                <a:r>
                  <a:rPr lang="en-CA" sz="1800" dirty="0"/>
                  <a:t>Their deadlines</a:t>
                </a:r>
              </a:p>
              <a:p>
                <a:pPr lvl="1"/>
                <a:r>
                  <a:rPr lang="en-CA" sz="1800" dirty="0"/>
                  <a:t>Their remaining execution times, if known</a:t>
                </a:r>
              </a:p>
              <a:p>
                <a:pPr lvl="1"/>
                <a:r>
                  <a:rPr lang="en-CA" sz="1800" dirty="0"/>
                  <a:t>Their priorities or task parameters</a:t>
                </a:r>
              </a:p>
              <a:p>
                <a:r>
                  <a:rPr lang="en-CA" sz="2000" dirty="0"/>
                  <a:t>But it </a:t>
                </a:r>
                <a:r>
                  <a:rPr lang="en-CA" sz="2000" b="1" dirty="0">
                    <a:solidFill>
                      <a:srgbClr val="FF0000"/>
                    </a:solidFill>
                  </a:rPr>
                  <a:t>does not</a:t>
                </a:r>
                <a:r>
                  <a:rPr lang="en-CA" sz="2000" dirty="0"/>
                  <a:t> know future job arrivals (unless they are specified by the task model)</a:t>
                </a:r>
              </a:p>
              <a:p>
                <a:pPr lvl="1"/>
                <a:r>
                  <a:rPr lang="en-CA" sz="1600" dirty="0"/>
                  <a:t>E.g., Aperiodic or sporadic tasks</a:t>
                </a:r>
              </a:p>
              <a:p>
                <a:r>
                  <a:rPr lang="en-CA" sz="2000" dirty="0"/>
                  <a:t>By contrast, </a:t>
                </a:r>
                <a:r>
                  <a:rPr lang="en-CA" sz="2000" b="1" dirty="0">
                    <a:solidFill>
                      <a:srgbClr val="FF0000"/>
                    </a:solidFill>
                  </a:rPr>
                  <a:t>offline scheduler</a:t>
                </a:r>
                <a:r>
                  <a:rPr lang="en-CA" sz="2000" dirty="0"/>
                  <a:t> is allowed to know entire future in advance</a:t>
                </a:r>
              </a:p>
              <a:p>
                <a:pPr lvl="1"/>
                <a:r>
                  <a:rPr lang="en-CA" sz="1600" dirty="0"/>
                  <a:t>All release times, execution times, and deadlines of all jobs.</a:t>
                </a:r>
              </a:p>
              <a:p>
                <a:endParaRPr lang="en-US" sz="2000" dirty="0"/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649A42C-7F32-3C3C-F28A-1EAEB6115E2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43" t="-7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602536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General-purpose Schedulers for </a:t>
            </a:r>
            <a:r>
              <a:rPr lang="en-US" dirty="0" err="1"/>
              <a:t>RTSes</a:t>
            </a:r>
            <a:endParaRPr lang="en-US" dirty="0"/>
          </a:p>
        </p:txBody>
      </p:sp>
      <p:sp>
        <p:nvSpPr>
          <p:cNvPr id="3686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 dirty="0"/>
              <a:t>RR example:</a:t>
            </a:r>
          </a:p>
        </p:txBody>
      </p:sp>
      <p:sp>
        <p:nvSpPr>
          <p:cNvPr id="55" name="Rectangle 108">
            <a:extLst>
              <a:ext uri="{FF2B5EF4-FFF2-40B4-BE49-F238E27FC236}">
                <a16:creationId xmlns:a16="http://schemas.microsoft.com/office/drawing/2014/main" id="{807422E7-50A7-A840-8FB4-249C6765EF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3140868"/>
            <a:ext cx="381000" cy="304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6" name="Rectangle 107">
            <a:extLst>
              <a:ext uri="{FF2B5EF4-FFF2-40B4-BE49-F238E27FC236}">
                <a16:creationId xmlns:a16="http://schemas.microsoft.com/office/drawing/2014/main" id="{6ABCA86B-EF1C-FC4B-A249-BF9735F80D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7054" y="4665040"/>
            <a:ext cx="381600" cy="306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58" name="Rectangle 6">
            <a:extLst>
              <a:ext uri="{FF2B5EF4-FFF2-40B4-BE49-F238E27FC236}">
                <a16:creationId xmlns:a16="http://schemas.microsoft.com/office/drawing/2014/main" id="{48667871-47AE-F24C-A847-A867E13FF0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2413" y="3899335"/>
            <a:ext cx="381600" cy="306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59" name="Rectangle 7">
            <a:extLst>
              <a:ext uri="{FF2B5EF4-FFF2-40B4-BE49-F238E27FC236}">
                <a16:creationId xmlns:a16="http://schemas.microsoft.com/office/drawing/2014/main" id="{5215A5AC-2A8F-2646-90C1-75C4440573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7283" y="3140868"/>
            <a:ext cx="381000" cy="304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0" name="Rectangle 8">
            <a:extLst>
              <a:ext uri="{FF2B5EF4-FFF2-40B4-BE49-F238E27FC236}">
                <a16:creationId xmlns:a16="http://schemas.microsoft.com/office/drawing/2014/main" id="{EE78ABBD-C27E-DF41-AC16-964871C219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1413" y="3140868"/>
            <a:ext cx="381000" cy="304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64" name="Rectangle 88">
            <a:extLst>
              <a:ext uri="{FF2B5EF4-FFF2-40B4-BE49-F238E27FC236}">
                <a16:creationId xmlns:a16="http://schemas.microsoft.com/office/drawing/2014/main" id="{4D56455F-13DA-154D-A679-C614C5E2C0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3412" y="4665040"/>
            <a:ext cx="381600" cy="306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70" name="Rectangle 100">
            <a:extLst>
              <a:ext uri="{FF2B5EF4-FFF2-40B4-BE49-F238E27FC236}">
                <a16:creationId xmlns:a16="http://schemas.microsoft.com/office/drawing/2014/main" id="{7CA275BC-E192-D140-B700-9DA59823C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5454" y="3899335"/>
            <a:ext cx="381600" cy="306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71" name="Rectangle 102">
            <a:extLst>
              <a:ext uri="{FF2B5EF4-FFF2-40B4-BE49-F238E27FC236}">
                <a16:creationId xmlns:a16="http://schemas.microsoft.com/office/drawing/2014/main" id="{D42266B3-6B49-264F-9CCC-2A9BF396AE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3903" y="4665040"/>
            <a:ext cx="381600" cy="306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09680543-D6AC-0D4F-84F2-D63BC2A0D069}"/>
              </a:ext>
            </a:extLst>
          </p:cNvPr>
          <p:cNvGrpSpPr/>
          <p:nvPr/>
        </p:nvGrpSpPr>
        <p:grpSpPr>
          <a:xfrm>
            <a:off x="1427790" y="3106221"/>
            <a:ext cx="5587013" cy="2289691"/>
            <a:chOff x="1427790" y="3106221"/>
            <a:chExt cx="5587013" cy="2289691"/>
          </a:xfrm>
        </p:grpSpPr>
        <p:sp>
          <p:nvSpPr>
            <p:cNvPr id="141" name="Text Box 77">
              <a:extLst>
                <a:ext uri="{FF2B5EF4-FFF2-40B4-BE49-F238E27FC236}">
                  <a16:creationId xmlns:a16="http://schemas.microsoft.com/office/drawing/2014/main" id="{BD6FAB27-403C-5441-84B5-778CDC725EA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52813" y="5029200"/>
              <a:ext cx="60960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u="none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10</a:t>
              </a:r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8AE050F3-0AAB-4847-A1DC-6A617E239B7D}"/>
                </a:ext>
              </a:extLst>
            </p:cNvPr>
            <p:cNvGrpSpPr/>
            <p:nvPr/>
          </p:nvGrpSpPr>
          <p:grpSpPr>
            <a:xfrm>
              <a:off x="1427790" y="3106221"/>
              <a:ext cx="5587013" cy="2289691"/>
              <a:chOff x="204177" y="3106221"/>
              <a:chExt cx="5587013" cy="2289691"/>
            </a:xfrm>
          </p:grpSpPr>
          <p:sp>
            <p:nvSpPr>
              <p:cNvPr id="76" name="Line 11">
                <a:extLst>
                  <a:ext uri="{FF2B5EF4-FFF2-40B4-BE49-F238E27FC236}">
                    <a16:creationId xmlns:a16="http://schemas.microsoft.com/office/drawing/2014/main" id="{E6654388-91B5-6A40-B658-6BAD740D28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8800" y="33718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7" name="Line 12">
                <a:extLst>
                  <a:ext uri="{FF2B5EF4-FFF2-40B4-BE49-F238E27FC236}">
                    <a16:creationId xmlns:a16="http://schemas.microsoft.com/office/drawing/2014/main" id="{9BF2E656-54FA-9E4C-89C5-0F86AFCCE12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9800" y="33718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8" name="Line 13">
                <a:extLst>
                  <a:ext uri="{FF2B5EF4-FFF2-40B4-BE49-F238E27FC236}">
                    <a16:creationId xmlns:a16="http://schemas.microsoft.com/office/drawing/2014/main" id="{771EEB50-61EC-FF42-9BE9-1F4F480E7F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0800" y="33718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" name="Line 14">
                <a:extLst>
                  <a:ext uri="{FF2B5EF4-FFF2-40B4-BE49-F238E27FC236}">
                    <a16:creationId xmlns:a16="http://schemas.microsoft.com/office/drawing/2014/main" id="{F454B126-5971-D24D-87A0-AC90941E73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1800" y="33718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" name="Line 15">
                <a:extLst>
                  <a:ext uri="{FF2B5EF4-FFF2-40B4-BE49-F238E27FC236}">
                    <a16:creationId xmlns:a16="http://schemas.microsoft.com/office/drawing/2014/main" id="{FC9C946D-8F09-CE46-A4D1-1D9B3ACAF68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52800" y="33718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" name="Line 16">
                <a:extLst>
                  <a:ext uri="{FF2B5EF4-FFF2-40B4-BE49-F238E27FC236}">
                    <a16:creationId xmlns:a16="http://schemas.microsoft.com/office/drawing/2014/main" id="{553B0625-5B39-9C45-9C26-A466D9C960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33800" y="33718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" name="Line 17">
                <a:extLst>
                  <a:ext uri="{FF2B5EF4-FFF2-40B4-BE49-F238E27FC236}">
                    <a16:creationId xmlns:a16="http://schemas.microsoft.com/office/drawing/2014/main" id="{C91AC0C3-FC12-AB45-BE6D-3043D2786B4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14800" y="33718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" name="Line 18">
                <a:extLst>
                  <a:ext uri="{FF2B5EF4-FFF2-40B4-BE49-F238E27FC236}">
                    <a16:creationId xmlns:a16="http://schemas.microsoft.com/office/drawing/2014/main" id="{6ABCE2ED-464E-1642-BB00-7DC2B0E984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95800" y="33718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4" name="Line 19">
                <a:extLst>
                  <a:ext uri="{FF2B5EF4-FFF2-40B4-BE49-F238E27FC236}">
                    <a16:creationId xmlns:a16="http://schemas.microsoft.com/office/drawing/2014/main" id="{AD91419E-7D05-FE4A-813A-B7BB196BC8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76800" y="33718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5" name="Line 20">
                <a:extLst>
                  <a:ext uri="{FF2B5EF4-FFF2-40B4-BE49-F238E27FC236}">
                    <a16:creationId xmlns:a16="http://schemas.microsoft.com/office/drawing/2014/main" id="{3E313553-7F30-2549-B292-6B9869E998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57800" y="33718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" name="Line 33">
                <a:extLst>
                  <a:ext uri="{FF2B5EF4-FFF2-40B4-BE49-F238E27FC236}">
                    <a16:creationId xmlns:a16="http://schemas.microsoft.com/office/drawing/2014/main" id="{7F3C2D4C-FE95-5A4B-A277-EC45A85CC4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8800" y="41338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99" name="Line 34">
                <a:extLst>
                  <a:ext uri="{FF2B5EF4-FFF2-40B4-BE49-F238E27FC236}">
                    <a16:creationId xmlns:a16="http://schemas.microsoft.com/office/drawing/2014/main" id="{722F9BA3-F992-BD4D-A99B-99E88B0D17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9800" y="41338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00" name="Line 35">
                <a:extLst>
                  <a:ext uri="{FF2B5EF4-FFF2-40B4-BE49-F238E27FC236}">
                    <a16:creationId xmlns:a16="http://schemas.microsoft.com/office/drawing/2014/main" id="{EBFCD0BC-F472-6041-B5FB-01B4963A6D7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0800" y="41338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01" name="Line 36">
                <a:extLst>
                  <a:ext uri="{FF2B5EF4-FFF2-40B4-BE49-F238E27FC236}">
                    <a16:creationId xmlns:a16="http://schemas.microsoft.com/office/drawing/2014/main" id="{FAED3EE6-D092-5743-80D2-025991D4CB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1800" y="41338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02" name="Line 37">
                <a:extLst>
                  <a:ext uri="{FF2B5EF4-FFF2-40B4-BE49-F238E27FC236}">
                    <a16:creationId xmlns:a16="http://schemas.microsoft.com/office/drawing/2014/main" id="{010C73F6-ED42-9541-8DD6-C81B4EFE40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52800" y="41338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03" name="Line 38">
                <a:extLst>
                  <a:ext uri="{FF2B5EF4-FFF2-40B4-BE49-F238E27FC236}">
                    <a16:creationId xmlns:a16="http://schemas.microsoft.com/office/drawing/2014/main" id="{AF647188-3689-6F47-B317-572EE81788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33800" y="41338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04" name="Line 39">
                <a:extLst>
                  <a:ext uri="{FF2B5EF4-FFF2-40B4-BE49-F238E27FC236}">
                    <a16:creationId xmlns:a16="http://schemas.microsoft.com/office/drawing/2014/main" id="{FF659902-4DD4-9C44-AADE-A2602CC0D6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14800" y="41338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05" name="Line 40">
                <a:extLst>
                  <a:ext uri="{FF2B5EF4-FFF2-40B4-BE49-F238E27FC236}">
                    <a16:creationId xmlns:a16="http://schemas.microsoft.com/office/drawing/2014/main" id="{1A5FF5C7-6256-634B-9710-33CD0DAF46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95800" y="41338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06" name="Line 41">
                <a:extLst>
                  <a:ext uri="{FF2B5EF4-FFF2-40B4-BE49-F238E27FC236}">
                    <a16:creationId xmlns:a16="http://schemas.microsoft.com/office/drawing/2014/main" id="{25399F57-905D-D64B-9D8A-1BBD9C4AFD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76800" y="41338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07" name="Line 42">
                <a:extLst>
                  <a:ext uri="{FF2B5EF4-FFF2-40B4-BE49-F238E27FC236}">
                    <a16:creationId xmlns:a16="http://schemas.microsoft.com/office/drawing/2014/main" id="{9D0EB5C7-59A2-7847-8A7C-8E8070558D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57800" y="41338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96" name="Line 9">
                <a:extLst>
                  <a:ext uri="{FF2B5EF4-FFF2-40B4-BE49-F238E27FC236}">
                    <a16:creationId xmlns:a16="http://schemas.microsoft.com/office/drawing/2014/main" id="{FBDFBE4F-9929-2645-BBFD-F96BD5EDF0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7800" y="3448050"/>
                <a:ext cx="434339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7" name="Line 31">
                <a:extLst>
                  <a:ext uri="{FF2B5EF4-FFF2-40B4-BE49-F238E27FC236}">
                    <a16:creationId xmlns:a16="http://schemas.microsoft.com/office/drawing/2014/main" id="{F1836CA6-95DD-004B-9ECC-E51448205E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7800" y="4210050"/>
                <a:ext cx="434339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18" name="Line 53">
                <a:extLst>
                  <a:ext uri="{FF2B5EF4-FFF2-40B4-BE49-F238E27FC236}">
                    <a16:creationId xmlns:a16="http://schemas.microsoft.com/office/drawing/2014/main" id="{811A3E30-E590-E146-B2EB-943D366F9D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7800" y="4972050"/>
                <a:ext cx="434339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19" name="Line 55">
                <a:extLst>
                  <a:ext uri="{FF2B5EF4-FFF2-40B4-BE49-F238E27FC236}">
                    <a16:creationId xmlns:a16="http://schemas.microsoft.com/office/drawing/2014/main" id="{47F8936D-F3DB-F64C-A49B-052D2A26117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8800" y="48958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20" name="Line 56">
                <a:extLst>
                  <a:ext uri="{FF2B5EF4-FFF2-40B4-BE49-F238E27FC236}">
                    <a16:creationId xmlns:a16="http://schemas.microsoft.com/office/drawing/2014/main" id="{A5BE532B-21E2-6542-9748-5F8061106D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9800" y="48958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21" name="Line 57">
                <a:extLst>
                  <a:ext uri="{FF2B5EF4-FFF2-40B4-BE49-F238E27FC236}">
                    <a16:creationId xmlns:a16="http://schemas.microsoft.com/office/drawing/2014/main" id="{538A4260-7071-0743-AF40-D4A9147067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0800" y="48958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22" name="Line 58">
                <a:extLst>
                  <a:ext uri="{FF2B5EF4-FFF2-40B4-BE49-F238E27FC236}">
                    <a16:creationId xmlns:a16="http://schemas.microsoft.com/office/drawing/2014/main" id="{1118F597-8C2D-2545-97BC-75BFD00C0A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1800" y="48958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23" name="Line 59">
                <a:extLst>
                  <a:ext uri="{FF2B5EF4-FFF2-40B4-BE49-F238E27FC236}">
                    <a16:creationId xmlns:a16="http://schemas.microsoft.com/office/drawing/2014/main" id="{6EBD5DA5-0D3E-A640-A6EB-2D783D76CC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52800" y="48958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24" name="Line 60">
                <a:extLst>
                  <a:ext uri="{FF2B5EF4-FFF2-40B4-BE49-F238E27FC236}">
                    <a16:creationId xmlns:a16="http://schemas.microsoft.com/office/drawing/2014/main" id="{CB483230-5E83-FA4E-AA4C-EE25431741E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33800" y="48958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25" name="Line 61">
                <a:extLst>
                  <a:ext uri="{FF2B5EF4-FFF2-40B4-BE49-F238E27FC236}">
                    <a16:creationId xmlns:a16="http://schemas.microsoft.com/office/drawing/2014/main" id="{C208D5D6-7B3C-D647-B976-A9FC658158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14800" y="48958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26" name="Line 62">
                <a:extLst>
                  <a:ext uri="{FF2B5EF4-FFF2-40B4-BE49-F238E27FC236}">
                    <a16:creationId xmlns:a16="http://schemas.microsoft.com/office/drawing/2014/main" id="{FF7BE6F8-32BE-834F-9321-89B9302761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95800" y="48958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27" name="Line 63">
                <a:extLst>
                  <a:ext uri="{FF2B5EF4-FFF2-40B4-BE49-F238E27FC236}">
                    <a16:creationId xmlns:a16="http://schemas.microsoft.com/office/drawing/2014/main" id="{D17DB9BB-1AE6-E640-A021-D0D30687113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76800" y="48958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28" name="Line 64">
                <a:extLst>
                  <a:ext uri="{FF2B5EF4-FFF2-40B4-BE49-F238E27FC236}">
                    <a16:creationId xmlns:a16="http://schemas.microsoft.com/office/drawing/2014/main" id="{096E3BBB-7E91-7448-8488-B6F0377856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57800" y="48958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39" name="Text Box 75">
                <a:extLst>
                  <a:ext uri="{FF2B5EF4-FFF2-40B4-BE49-F238E27FC236}">
                    <a16:creationId xmlns:a16="http://schemas.microsoft.com/office/drawing/2014/main" id="{B69B2959-086A-734F-BF9C-84FD58C39AA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95400" y="5024437"/>
                <a:ext cx="60960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u="sng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u="sng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u="sng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u="sng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u="sng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u="none" dirty="0">
                    <a:latin typeface="Gill Sans Light" panose="020B0302020104020203" pitchFamily="34" charset="-79"/>
                    <a:ea typeface="Gill Sans" charset="0"/>
                    <a:cs typeface="Gill Sans Light" panose="020B0302020104020203" pitchFamily="34" charset="-79"/>
                  </a:rPr>
                  <a:t>0</a:t>
                </a:r>
              </a:p>
            </p:txBody>
          </p:sp>
          <p:sp>
            <p:nvSpPr>
              <p:cNvPr id="140" name="Text Box 76">
                <a:extLst>
                  <a:ext uri="{FF2B5EF4-FFF2-40B4-BE49-F238E27FC236}">
                    <a16:creationId xmlns:a16="http://schemas.microsoft.com/office/drawing/2014/main" id="{7B33ED14-DEAA-714C-838D-AE6FFEF5E98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00400" y="5029200"/>
                <a:ext cx="609600" cy="3667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u="sng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u="sng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u="sng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u="sng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u="sng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u="none">
                    <a:latin typeface="Gill Sans Light" panose="020B0302020104020203" pitchFamily="34" charset="-79"/>
                    <a:ea typeface="Gill Sans" charset="0"/>
                    <a:cs typeface="Gill Sans Light" panose="020B0302020104020203" pitchFamily="34" charset="-79"/>
                  </a:rPr>
                  <a:t>5</a:t>
                </a:r>
              </a:p>
            </p:txBody>
          </p:sp>
          <p:sp>
            <p:nvSpPr>
              <p:cNvPr id="143" name="TextBox 142">
                <a:extLst>
                  <a:ext uri="{FF2B5EF4-FFF2-40B4-BE49-F238E27FC236}">
                    <a16:creationId xmlns:a16="http://schemas.microsoft.com/office/drawing/2014/main" id="{C1D9BB01-37F8-DF43-B100-91BE9BE90E78}"/>
                  </a:ext>
                </a:extLst>
              </p:cNvPr>
              <p:cNvSpPr txBox="1"/>
              <p:nvPr/>
            </p:nvSpPr>
            <p:spPr>
              <a:xfrm>
                <a:off x="204178" y="3106221"/>
                <a:ext cx="9508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T</a:t>
                </a:r>
                <a:r>
                  <a:rPr lang="en-US" baseline="-2500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1</a:t>
                </a:r>
                <a:r>
                  <a:rPr lang="en-US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: (2, 1)</a:t>
                </a:r>
              </a:p>
            </p:txBody>
          </p:sp>
          <p:sp>
            <p:nvSpPr>
              <p:cNvPr id="144" name="TextBox 143">
                <a:extLst>
                  <a:ext uri="{FF2B5EF4-FFF2-40B4-BE49-F238E27FC236}">
                    <a16:creationId xmlns:a16="http://schemas.microsoft.com/office/drawing/2014/main" id="{5EAB6269-B273-FB4D-8ACC-02ADFBA018C6}"/>
                  </a:ext>
                </a:extLst>
              </p:cNvPr>
              <p:cNvSpPr txBox="1"/>
              <p:nvPr/>
            </p:nvSpPr>
            <p:spPr>
              <a:xfrm>
                <a:off x="204177" y="3876436"/>
                <a:ext cx="9508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T</a:t>
                </a:r>
                <a:r>
                  <a:rPr lang="en-US" baseline="-2500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2</a:t>
                </a:r>
                <a:r>
                  <a:rPr lang="en-US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: (5, 1)</a:t>
                </a:r>
              </a:p>
            </p:txBody>
          </p:sp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4775FF46-DD7D-6741-9C5F-289682DE793B}"/>
                  </a:ext>
                </a:extLst>
              </p:cNvPr>
              <p:cNvSpPr txBox="1"/>
              <p:nvPr/>
            </p:nvSpPr>
            <p:spPr>
              <a:xfrm>
                <a:off x="204177" y="4630221"/>
                <a:ext cx="10662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T</a:t>
                </a:r>
                <a:r>
                  <a:rPr lang="en-US" baseline="-2500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3</a:t>
                </a:r>
                <a:r>
                  <a:rPr lang="en-US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: (10, 3)</a:t>
                </a:r>
              </a:p>
            </p:txBody>
          </p:sp>
        </p:grp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9000E9DC-4373-AF49-8088-68980D9CD3D8}"/>
              </a:ext>
            </a:extLst>
          </p:cNvPr>
          <p:cNvGrpSpPr/>
          <p:nvPr/>
        </p:nvGrpSpPr>
        <p:grpSpPr>
          <a:xfrm>
            <a:off x="2686043" y="3062287"/>
            <a:ext cx="3795370" cy="1909763"/>
            <a:chOff x="2686043" y="3062287"/>
            <a:chExt cx="3795370" cy="1909763"/>
          </a:xfrm>
        </p:grpSpPr>
        <p:sp>
          <p:nvSpPr>
            <p:cNvPr id="61" name="Line 85">
              <a:extLst>
                <a:ext uri="{FF2B5EF4-FFF2-40B4-BE49-F238E27FC236}">
                  <a16:creationId xmlns:a16="http://schemas.microsoft.com/office/drawing/2014/main" id="{8C9E0F09-4FD8-454C-AC36-569992ABF2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34010" y="3067050"/>
              <a:ext cx="0" cy="3810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" name="Line 91">
              <a:extLst>
                <a:ext uri="{FF2B5EF4-FFF2-40B4-BE49-F238E27FC236}">
                  <a16:creationId xmlns:a16="http://schemas.microsoft.com/office/drawing/2014/main" id="{BFF89F3D-4A6E-0549-B902-404C5F8DA6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98434" y="3067050"/>
              <a:ext cx="0" cy="3810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" name="Line 97">
              <a:extLst>
                <a:ext uri="{FF2B5EF4-FFF2-40B4-BE49-F238E27FC236}">
                  <a16:creationId xmlns:a16="http://schemas.microsoft.com/office/drawing/2014/main" id="{E26EC408-8E28-0D4A-9492-3DA96F581BF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57413" y="3062287"/>
              <a:ext cx="0" cy="3810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9" name="Line 99">
              <a:extLst>
                <a:ext uri="{FF2B5EF4-FFF2-40B4-BE49-F238E27FC236}">
                  <a16:creationId xmlns:a16="http://schemas.microsoft.com/office/drawing/2014/main" id="{261888CF-EAB8-204F-BDA3-04C6D3F609C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19413" y="3062287"/>
              <a:ext cx="0" cy="3810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49" name="Line 99">
              <a:extLst>
                <a:ext uri="{FF2B5EF4-FFF2-40B4-BE49-F238E27FC236}">
                  <a16:creationId xmlns:a16="http://schemas.microsoft.com/office/drawing/2014/main" id="{767EB589-6F13-8442-B316-BBBCEC05BA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81109" y="3062287"/>
              <a:ext cx="0" cy="3810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62" name="Line 86">
              <a:extLst>
                <a:ext uri="{FF2B5EF4-FFF2-40B4-BE49-F238E27FC236}">
                  <a16:creationId xmlns:a16="http://schemas.microsoft.com/office/drawing/2014/main" id="{E5432E05-5941-E34E-B998-11745AFE0F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76413" y="3829050"/>
              <a:ext cx="0" cy="3810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63" name="Line 87">
              <a:extLst>
                <a:ext uri="{FF2B5EF4-FFF2-40B4-BE49-F238E27FC236}">
                  <a16:creationId xmlns:a16="http://schemas.microsoft.com/office/drawing/2014/main" id="{A9D7E84E-7F61-BC49-96E4-1CDED4312E0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81109" y="4591050"/>
              <a:ext cx="0" cy="3810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65" name="Line 92">
              <a:extLst>
                <a:ext uri="{FF2B5EF4-FFF2-40B4-BE49-F238E27FC236}">
                  <a16:creationId xmlns:a16="http://schemas.microsoft.com/office/drawing/2014/main" id="{9CE5BF88-0BBF-CE47-BC9B-52BC777A760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81413" y="3829050"/>
              <a:ext cx="0" cy="3810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46" name="Line 82">
              <a:extLst>
                <a:ext uri="{FF2B5EF4-FFF2-40B4-BE49-F238E27FC236}">
                  <a16:creationId xmlns:a16="http://schemas.microsoft.com/office/drawing/2014/main" id="{01D3A4C8-9B2D-B543-B3E7-10F1E53D4F0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86043" y="3067050"/>
              <a:ext cx="0" cy="3810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7" name="Line 83">
              <a:extLst>
                <a:ext uri="{FF2B5EF4-FFF2-40B4-BE49-F238E27FC236}">
                  <a16:creationId xmlns:a16="http://schemas.microsoft.com/office/drawing/2014/main" id="{6F8E65B2-ED4B-AC44-B7B3-A687534EC9E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86043" y="3829050"/>
              <a:ext cx="0" cy="3810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48" name="Line 84">
              <a:extLst>
                <a:ext uri="{FF2B5EF4-FFF2-40B4-BE49-F238E27FC236}">
                  <a16:creationId xmlns:a16="http://schemas.microsoft.com/office/drawing/2014/main" id="{0476B92C-B4B1-BB4F-B62B-96139F1424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86043" y="4591050"/>
              <a:ext cx="0" cy="3810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sp>
        <p:nvSpPr>
          <p:cNvPr id="150" name="Rounded Rectangular Callout 149">
            <a:extLst>
              <a:ext uri="{FF2B5EF4-FFF2-40B4-BE49-F238E27FC236}">
                <a16:creationId xmlns:a16="http://schemas.microsoft.com/office/drawing/2014/main" id="{C8772730-AD97-6641-9D4E-45AF768793EF}"/>
              </a:ext>
            </a:extLst>
          </p:cNvPr>
          <p:cNvSpPr/>
          <p:nvPr/>
        </p:nvSpPr>
        <p:spPr>
          <a:xfrm>
            <a:off x="5909154" y="2055486"/>
            <a:ext cx="1472650" cy="673913"/>
          </a:xfrm>
          <a:prstGeom prst="wedgeRoundRectCallout">
            <a:avLst>
              <a:gd name="adj1" fmla="val -62199"/>
              <a:gd name="adj2" fmla="val 101737"/>
              <a:gd name="adj3" fmla="val 16667"/>
            </a:avLst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T2 missed its deadline!</a:t>
            </a:r>
          </a:p>
        </p:txBody>
      </p:sp>
    </p:spTree>
    <p:extLst>
      <p:ext uri="{BB962C8B-B14F-4D97-AF65-F5344CB8AC3E}">
        <p14:creationId xmlns:p14="http://schemas.microsoft.com/office/powerpoint/2010/main" val="11150432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5" grpId="0" animBg="1"/>
      <p:bldP spid="56" grpId="0" animBg="1"/>
      <p:bldP spid="58" grpId="0" animBg="1"/>
      <p:bldP spid="59" grpId="0" animBg="1"/>
      <p:bldP spid="60" grpId="0" animBg="1"/>
      <p:bldP spid="64" grpId="0" animBg="1"/>
      <p:bldP spid="70" grpId="0" animBg="1"/>
      <p:bldP spid="71" grpId="0" animBg="1"/>
      <p:bldP spid="150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Rectangle 108">
            <a:extLst>
              <a:ext uri="{FF2B5EF4-FFF2-40B4-BE49-F238E27FC236}">
                <a16:creationId xmlns:a16="http://schemas.microsoft.com/office/drawing/2014/main" id="{C5D69C2D-DBA5-7D41-A641-747D7D5054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53093" y="4187126"/>
            <a:ext cx="381000" cy="304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51" name="Rectangle 108">
            <a:extLst>
              <a:ext uri="{FF2B5EF4-FFF2-40B4-BE49-F238E27FC236}">
                <a16:creationId xmlns:a16="http://schemas.microsoft.com/office/drawing/2014/main" id="{DF2FEF47-5B3F-3F41-9DA0-BFC72D508F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21837" y="4187126"/>
            <a:ext cx="381000" cy="304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595F6E-2C18-804C-A7A0-50DD2FBC1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Rate Monotonic (RM)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7B04F9-B3E7-2943-B528-B7D2E9235BC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/>
              <a:t>RM makes following assumptions</a:t>
            </a:r>
          </a:p>
          <a:p>
            <a:pPr lvl="1"/>
            <a:r>
              <a:rPr lang="en-US" sz="1600" dirty="0"/>
              <a:t>Tasks are periodic and independent with known and fixed execution times</a:t>
            </a:r>
          </a:p>
          <a:p>
            <a:r>
              <a:rPr lang="en-US" sz="1800" dirty="0"/>
              <a:t>RM is static online scheduling policy</a:t>
            </a:r>
            <a:endParaRPr lang="en-US" altLang="en-US" sz="1800" dirty="0"/>
          </a:p>
          <a:p>
            <a:pPr lvl="1"/>
            <a:r>
              <a:rPr lang="en-US" altLang="en-US" sz="1600" dirty="0"/>
              <a:t>Higher priorities are assigned to tasks with shorter periods</a:t>
            </a:r>
          </a:p>
          <a:p>
            <a:pPr lvl="1"/>
            <a:r>
              <a:rPr lang="en-US" altLang="en-US" sz="1600" dirty="0"/>
              <a:t>Priority of each task is fixed and doesn’t change at run-time</a:t>
            </a:r>
          </a:p>
          <a:p>
            <a:pPr lvl="1"/>
            <a:r>
              <a:rPr lang="en-CA" sz="1600" dirty="0"/>
              <a:t>RM is optimal </a:t>
            </a:r>
            <a:r>
              <a:rPr lang="en-CA" sz="1600" dirty="0" err="1"/>
              <a:t>w.r.t.</a:t>
            </a:r>
            <a:r>
              <a:rPr lang="en-CA" sz="1600" dirty="0"/>
              <a:t> </a:t>
            </a:r>
            <a:r>
              <a:rPr lang="en-CA" sz="1600" u="sng" dirty="0">
                <a:solidFill>
                  <a:srgbClr val="FF0000"/>
                </a:solidFill>
              </a:rPr>
              <a:t>static schedulers</a:t>
            </a:r>
            <a:endParaRPr lang="en-US" sz="1800" dirty="0"/>
          </a:p>
        </p:txBody>
      </p:sp>
      <p:sp>
        <p:nvSpPr>
          <p:cNvPr id="96" name="Rectangle 108">
            <a:extLst>
              <a:ext uri="{FF2B5EF4-FFF2-40B4-BE49-F238E27FC236}">
                <a16:creationId xmlns:a16="http://schemas.microsoft.com/office/drawing/2014/main" id="{9ED25685-03EE-6C4C-A76E-9047158C28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99734" y="4187126"/>
            <a:ext cx="381000" cy="304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7" name="Rectangle 107">
            <a:extLst>
              <a:ext uri="{FF2B5EF4-FFF2-40B4-BE49-F238E27FC236}">
                <a16:creationId xmlns:a16="http://schemas.microsoft.com/office/drawing/2014/main" id="{75F29606-8810-6D47-9075-B99DE72CA5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37054" y="5711298"/>
            <a:ext cx="381600" cy="306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98" name="Rectangle 6">
            <a:extLst>
              <a:ext uri="{FF2B5EF4-FFF2-40B4-BE49-F238E27FC236}">
                <a16:creationId xmlns:a16="http://schemas.microsoft.com/office/drawing/2014/main" id="{48B30551-8B5C-6F42-BBAA-6CA98C74F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52413" y="4945593"/>
            <a:ext cx="381600" cy="306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00" name="Rectangle 7">
            <a:extLst>
              <a:ext uri="{FF2B5EF4-FFF2-40B4-BE49-F238E27FC236}">
                <a16:creationId xmlns:a16="http://schemas.microsoft.com/office/drawing/2014/main" id="{10499B68-1F62-E941-8428-9A9A22D4FE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2500" y="4187126"/>
            <a:ext cx="381000" cy="304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6" name="Rectangle 8">
            <a:extLst>
              <a:ext uri="{FF2B5EF4-FFF2-40B4-BE49-F238E27FC236}">
                <a16:creationId xmlns:a16="http://schemas.microsoft.com/office/drawing/2014/main" id="{4920FA26-DE0B-B24E-AA51-7893D83FA0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71413" y="4187126"/>
            <a:ext cx="381000" cy="304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8" name="Rectangle 88">
            <a:extLst>
              <a:ext uri="{FF2B5EF4-FFF2-40B4-BE49-F238E27FC236}">
                <a16:creationId xmlns:a16="http://schemas.microsoft.com/office/drawing/2014/main" id="{7D04D06D-7C67-9D49-A895-BA86DA4037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1393" y="5711298"/>
            <a:ext cx="381600" cy="306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93" name="Rectangle 100">
            <a:extLst>
              <a:ext uri="{FF2B5EF4-FFF2-40B4-BE49-F238E27FC236}">
                <a16:creationId xmlns:a16="http://schemas.microsoft.com/office/drawing/2014/main" id="{DE74C35D-67C1-3F4D-913C-57A56A74D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0221" y="4945593"/>
            <a:ext cx="381600" cy="306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94" name="Rectangle 102">
            <a:extLst>
              <a:ext uri="{FF2B5EF4-FFF2-40B4-BE49-F238E27FC236}">
                <a16:creationId xmlns:a16="http://schemas.microsoft.com/office/drawing/2014/main" id="{8422CE50-F4FD-614F-96F6-30EC039E9A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9358" y="5711298"/>
            <a:ext cx="381600" cy="306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7A4DBC61-9670-4B48-ABC3-2FE26F979543}"/>
              </a:ext>
            </a:extLst>
          </p:cNvPr>
          <p:cNvGrpSpPr/>
          <p:nvPr/>
        </p:nvGrpSpPr>
        <p:grpSpPr>
          <a:xfrm>
            <a:off x="1427790" y="4152479"/>
            <a:ext cx="5579062" cy="2289691"/>
            <a:chOff x="1427790" y="3106221"/>
            <a:chExt cx="5579062" cy="2289691"/>
          </a:xfrm>
        </p:grpSpPr>
        <p:sp>
          <p:nvSpPr>
            <p:cNvPr id="197" name="Text Box 77">
              <a:extLst>
                <a:ext uri="{FF2B5EF4-FFF2-40B4-BE49-F238E27FC236}">
                  <a16:creationId xmlns:a16="http://schemas.microsoft.com/office/drawing/2014/main" id="{9BDE9DD3-7BB8-EE45-B2DF-8264765FCF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52813" y="5029200"/>
              <a:ext cx="60960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u="none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10</a:t>
              </a:r>
            </a:p>
          </p:txBody>
        </p:sp>
        <p:grpSp>
          <p:nvGrpSpPr>
            <p:cNvPr id="198" name="Group 197">
              <a:extLst>
                <a:ext uri="{FF2B5EF4-FFF2-40B4-BE49-F238E27FC236}">
                  <a16:creationId xmlns:a16="http://schemas.microsoft.com/office/drawing/2014/main" id="{A31B1D97-C64C-DB49-BFD3-0FC1B0428047}"/>
                </a:ext>
              </a:extLst>
            </p:cNvPr>
            <p:cNvGrpSpPr/>
            <p:nvPr/>
          </p:nvGrpSpPr>
          <p:grpSpPr>
            <a:xfrm>
              <a:off x="1427790" y="3106221"/>
              <a:ext cx="5579062" cy="2289691"/>
              <a:chOff x="204177" y="3106221"/>
              <a:chExt cx="5579062" cy="2289691"/>
            </a:xfrm>
          </p:grpSpPr>
          <p:sp>
            <p:nvSpPr>
              <p:cNvPr id="199" name="Line 11">
                <a:extLst>
                  <a:ext uri="{FF2B5EF4-FFF2-40B4-BE49-F238E27FC236}">
                    <a16:creationId xmlns:a16="http://schemas.microsoft.com/office/drawing/2014/main" id="{58D9A6F5-7FA6-B444-B5B2-549E4E3AFF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8800" y="33718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0" name="Line 12">
                <a:extLst>
                  <a:ext uri="{FF2B5EF4-FFF2-40B4-BE49-F238E27FC236}">
                    <a16:creationId xmlns:a16="http://schemas.microsoft.com/office/drawing/2014/main" id="{AAE6396A-7634-724D-B421-1E8866D3F24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9800" y="33718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1" name="Line 13">
                <a:extLst>
                  <a:ext uri="{FF2B5EF4-FFF2-40B4-BE49-F238E27FC236}">
                    <a16:creationId xmlns:a16="http://schemas.microsoft.com/office/drawing/2014/main" id="{94B472A6-1AFE-9041-BDF8-E27A762851D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0800" y="33718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2" name="Line 14">
                <a:extLst>
                  <a:ext uri="{FF2B5EF4-FFF2-40B4-BE49-F238E27FC236}">
                    <a16:creationId xmlns:a16="http://schemas.microsoft.com/office/drawing/2014/main" id="{84D70100-8022-7E46-89C8-5FB6BF43B68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1800" y="33718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3" name="Line 15">
                <a:extLst>
                  <a:ext uri="{FF2B5EF4-FFF2-40B4-BE49-F238E27FC236}">
                    <a16:creationId xmlns:a16="http://schemas.microsoft.com/office/drawing/2014/main" id="{548839BB-BB4B-714D-9611-DFF374973F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52800" y="33718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4" name="Line 16">
                <a:extLst>
                  <a:ext uri="{FF2B5EF4-FFF2-40B4-BE49-F238E27FC236}">
                    <a16:creationId xmlns:a16="http://schemas.microsoft.com/office/drawing/2014/main" id="{6F457A2F-7D7F-BB48-8488-3F5B27DC3BE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33800" y="33718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" name="Line 17">
                <a:extLst>
                  <a:ext uri="{FF2B5EF4-FFF2-40B4-BE49-F238E27FC236}">
                    <a16:creationId xmlns:a16="http://schemas.microsoft.com/office/drawing/2014/main" id="{4C809D63-4CD6-CE4D-A7C4-523FFBDB62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14800" y="33718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6" name="Line 18">
                <a:extLst>
                  <a:ext uri="{FF2B5EF4-FFF2-40B4-BE49-F238E27FC236}">
                    <a16:creationId xmlns:a16="http://schemas.microsoft.com/office/drawing/2014/main" id="{86CC0099-7A1B-4D41-B36E-0C7D693D73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95800" y="33718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7" name="Line 19">
                <a:extLst>
                  <a:ext uri="{FF2B5EF4-FFF2-40B4-BE49-F238E27FC236}">
                    <a16:creationId xmlns:a16="http://schemas.microsoft.com/office/drawing/2014/main" id="{EFC72FE8-221E-BC4D-A350-08080E44D2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76800" y="33718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8" name="Line 20">
                <a:extLst>
                  <a:ext uri="{FF2B5EF4-FFF2-40B4-BE49-F238E27FC236}">
                    <a16:creationId xmlns:a16="http://schemas.microsoft.com/office/drawing/2014/main" id="{FC1DCBF7-3B93-134B-A847-F78DE5A5EB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57800" y="33718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9" name="Line 33">
                <a:extLst>
                  <a:ext uri="{FF2B5EF4-FFF2-40B4-BE49-F238E27FC236}">
                    <a16:creationId xmlns:a16="http://schemas.microsoft.com/office/drawing/2014/main" id="{27634708-4EA2-6947-B2AA-61D68044A1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8800" y="41338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210" name="Line 34">
                <a:extLst>
                  <a:ext uri="{FF2B5EF4-FFF2-40B4-BE49-F238E27FC236}">
                    <a16:creationId xmlns:a16="http://schemas.microsoft.com/office/drawing/2014/main" id="{446F1F99-4B13-AF45-BC8B-04E29BAB4C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9800" y="41338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211" name="Line 35">
                <a:extLst>
                  <a:ext uri="{FF2B5EF4-FFF2-40B4-BE49-F238E27FC236}">
                    <a16:creationId xmlns:a16="http://schemas.microsoft.com/office/drawing/2014/main" id="{5C540D72-C941-7D4B-B4D6-73B92ED21C8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0800" y="41338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212" name="Line 36">
                <a:extLst>
                  <a:ext uri="{FF2B5EF4-FFF2-40B4-BE49-F238E27FC236}">
                    <a16:creationId xmlns:a16="http://schemas.microsoft.com/office/drawing/2014/main" id="{4E3E381E-1003-684A-92B0-2251280EA7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1800" y="41338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213" name="Line 37">
                <a:extLst>
                  <a:ext uri="{FF2B5EF4-FFF2-40B4-BE49-F238E27FC236}">
                    <a16:creationId xmlns:a16="http://schemas.microsoft.com/office/drawing/2014/main" id="{D3335E21-7AC9-4440-AE94-5C01F3BF51F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52800" y="41338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214" name="Line 38">
                <a:extLst>
                  <a:ext uri="{FF2B5EF4-FFF2-40B4-BE49-F238E27FC236}">
                    <a16:creationId xmlns:a16="http://schemas.microsoft.com/office/drawing/2014/main" id="{95DDAD3D-E048-E24A-BD0B-E84E887F876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33800" y="41338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215" name="Line 39">
                <a:extLst>
                  <a:ext uri="{FF2B5EF4-FFF2-40B4-BE49-F238E27FC236}">
                    <a16:creationId xmlns:a16="http://schemas.microsoft.com/office/drawing/2014/main" id="{9E7A6504-028A-8A4F-A9D3-1E676DBF07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14800" y="41338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216" name="Line 40">
                <a:extLst>
                  <a:ext uri="{FF2B5EF4-FFF2-40B4-BE49-F238E27FC236}">
                    <a16:creationId xmlns:a16="http://schemas.microsoft.com/office/drawing/2014/main" id="{AB223EDB-CBC5-DA47-AB48-92F7638B04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95800" y="41338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217" name="Line 41">
                <a:extLst>
                  <a:ext uri="{FF2B5EF4-FFF2-40B4-BE49-F238E27FC236}">
                    <a16:creationId xmlns:a16="http://schemas.microsoft.com/office/drawing/2014/main" id="{19E5E545-D811-454E-B027-14513AB2F20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76800" y="41338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218" name="Line 42">
                <a:extLst>
                  <a:ext uri="{FF2B5EF4-FFF2-40B4-BE49-F238E27FC236}">
                    <a16:creationId xmlns:a16="http://schemas.microsoft.com/office/drawing/2014/main" id="{D30BEE9E-CA12-3B4D-85E9-08302D4933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57800" y="41338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219" name="Line 9">
                <a:extLst>
                  <a:ext uri="{FF2B5EF4-FFF2-40B4-BE49-F238E27FC236}">
                    <a16:creationId xmlns:a16="http://schemas.microsoft.com/office/drawing/2014/main" id="{1F4B2342-3275-CE46-88E2-76CB899FB7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39849" y="3448050"/>
                <a:ext cx="434339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0" name="Line 31">
                <a:extLst>
                  <a:ext uri="{FF2B5EF4-FFF2-40B4-BE49-F238E27FC236}">
                    <a16:creationId xmlns:a16="http://schemas.microsoft.com/office/drawing/2014/main" id="{CF706BE1-DAB0-4A46-8EA5-89093CE784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39849" y="4210050"/>
                <a:ext cx="434339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221" name="Line 53">
                <a:extLst>
                  <a:ext uri="{FF2B5EF4-FFF2-40B4-BE49-F238E27FC236}">
                    <a16:creationId xmlns:a16="http://schemas.microsoft.com/office/drawing/2014/main" id="{7FB77A16-702D-154F-B11A-8DF311D2B1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39849" y="4972050"/>
                <a:ext cx="434339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222" name="Line 55">
                <a:extLst>
                  <a:ext uri="{FF2B5EF4-FFF2-40B4-BE49-F238E27FC236}">
                    <a16:creationId xmlns:a16="http://schemas.microsoft.com/office/drawing/2014/main" id="{7CFF1B08-55D4-1D4F-81AF-67E3FD811F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8800" y="48958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223" name="Line 56">
                <a:extLst>
                  <a:ext uri="{FF2B5EF4-FFF2-40B4-BE49-F238E27FC236}">
                    <a16:creationId xmlns:a16="http://schemas.microsoft.com/office/drawing/2014/main" id="{A019D63A-BE5D-3543-AE30-B9A5DB376CD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9800" y="48958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224" name="Line 57">
                <a:extLst>
                  <a:ext uri="{FF2B5EF4-FFF2-40B4-BE49-F238E27FC236}">
                    <a16:creationId xmlns:a16="http://schemas.microsoft.com/office/drawing/2014/main" id="{8FB9D406-185A-FB48-8086-5D89377BC8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0800" y="48958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225" name="Line 58">
                <a:extLst>
                  <a:ext uri="{FF2B5EF4-FFF2-40B4-BE49-F238E27FC236}">
                    <a16:creationId xmlns:a16="http://schemas.microsoft.com/office/drawing/2014/main" id="{E8C282BD-EF6E-2E41-B463-29DA99F123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1800" y="48958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226" name="Line 59">
                <a:extLst>
                  <a:ext uri="{FF2B5EF4-FFF2-40B4-BE49-F238E27FC236}">
                    <a16:creationId xmlns:a16="http://schemas.microsoft.com/office/drawing/2014/main" id="{EA59A00E-3517-7C48-8DE3-E3FDDD99E0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52800" y="48958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227" name="Line 60">
                <a:extLst>
                  <a:ext uri="{FF2B5EF4-FFF2-40B4-BE49-F238E27FC236}">
                    <a16:creationId xmlns:a16="http://schemas.microsoft.com/office/drawing/2014/main" id="{8BD058B7-B1A7-8642-B445-BD2CBF4B75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33800" y="48958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228" name="Line 61">
                <a:extLst>
                  <a:ext uri="{FF2B5EF4-FFF2-40B4-BE49-F238E27FC236}">
                    <a16:creationId xmlns:a16="http://schemas.microsoft.com/office/drawing/2014/main" id="{2D24E25E-2A95-6542-9E27-31187CD7808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14800" y="48958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229" name="Line 62">
                <a:extLst>
                  <a:ext uri="{FF2B5EF4-FFF2-40B4-BE49-F238E27FC236}">
                    <a16:creationId xmlns:a16="http://schemas.microsoft.com/office/drawing/2014/main" id="{E801D67F-CA47-B243-9628-02A5DAB924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95800" y="48958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230" name="Line 63">
                <a:extLst>
                  <a:ext uri="{FF2B5EF4-FFF2-40B4-BE49-F238E27FC236}">
                    <a16:creationId xmlns:a16="http://schemas.microsoft.com/office/drawing/2014/main" id="{C9FD0770-9D6E-954D-95EC-15374FCBFB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76800" y="48958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231" name="Line 64">
                <a:extLst>
                  <a:ext uri="{FF2B5EF4-FFF2-40B4-BE49-F238E27FC236}">
                    <a16:creationId xmlns:a16="http://schemas.microsoft.com/office/drawing/2014/main" id="{84294A5C-C32D-9D43-9AFA-2529C3F1FF0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57800" y="48958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232" name="Text Box 75">
                <a:extLst>
                  <a:ext uri="{FF2B5EF4-FFF2-40B4-BE49-F238E27FC236}">
                    <a16:creationId xmlns:a16="http://schemas.microsoft.com/office/drawing/2014/main" id="{600A5471-2A29-0249-B1AD-1EBDC11C2C9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95400" y="5024437"/>
                <a:ext cx="60960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u="sng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u="sng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u="sng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u="sng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u="sng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u="none" dirty="0">
                    <a:latin typeface="Gill Sans Light" panose="020B0302020104020203" pitchFamily="34" charset="-79"/>
                    <a:ea typeface="Gill Sans" charset="0"/>
                    <a:cs typeface="Gill Sans Light" panose="020B0302020104020203" pitchFamily="34" charset="-79"/>
                  </a:rPr>
                  <a:t>0</a:t>
                </a:r>
              </a:p>
            </p:txBody>
          </p:sp>
          <p:sp>
            <p:nvSpPr>
              <p:cNvPr id="233" name="Text Box 76">
                <a:extLst>
                  <a:ext uri="{FF2B5EF4-FFF2-40B4-BE49-F238E27FC236}">
                    <a16:creationId xmlns:a16="http://schemas.microsoft.com/office/drawing/2014/main" id="{5397D7E8-0BD7-9D4A-9AE8-38CAF7BA8C2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00400" y="5029200"/>
                <a:ext cx="609600" cy="3667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u="sng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u="sng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u="sng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u="sng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u="sng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u="none">
                    <a:latin typeface="Gill Sans Light" panose="020B0302020104020203" pitchFamily="34" charset="-79"/>
                    <a:ea typeface="Gill Sans" charset="0"/>
                    <a:cs typeface="Gill Sans Light" panose="020B0302020104020203" pitchFamily="34" charset="-79"/>
                  </a:rPr>
                  <a:t>5</a:t>
                </a:r>
              </a:p>
            </p:txBody>
          </p:sp>
          <p:sp>
            <p:nvSpPr>
              <p:cNvPr id="234" name="TextBox 233">
                <a:extLst>
                  <a:ext uri="{FF2B5EF4-FFF2-40B4-BE49-F238E27FC236}">
                    <a16:creationId xmlns:a16="http://schemas.microsoft.com/office/drawing/2014/main" id="{F1043599-8175-4E49-A512-77ABBC62F5C4}"/>
                  </a:ext>
                </a:extLst>
              </p:cNvPr>
              <p:cNvSpPr txBox="1"/>
              <p:nvPr/>
            </p:nvSpPr>
            <p:spPr>
              <a:xfrm>
                <a:off x="204178" y="3106221"/>
                <a:ext cx="9508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T</a:t>
                </a:r>
                <a:r>
                  <a:rPr lang="en-US" baseline="-2500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1</a:t>
                </a:r>
                <a:r>
                  <a:rPr lang="en-US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: (2, 1)</a:t>
                </a:r>
              </a:p>
            </p:txBody>
          </p:sp>
          <p:sp>
            <p:nvSpPr>
              <p:cNvPr id="235" name="TextBox 234">
                <a:extLst>
                  <a:ext uri="{FF2B5EF4-FFF2-40B4-BE49-F238E27FC236}">
                    <a16:creationId xmlns:a16="http://schemas.microsoft.com/office/drawing/2014/main" id="{D2BC2D16-938F-B848-AB75-290D38456FAB}"/>
                  </a:ext>
                </a:extLst>
              </p:cNvPr>
              <p:cNvSpPr txBox="1"/>
              <p:nvPr/>
            </p:nvSpPr>
            <p:spPr>
              <a:xfrm>
                <a:off x="204177" y="3876436"/>
                <a:ext cx="9508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T</a:t>
                </a:r>
                <a:r>
                  <a:rPr lang="en-US" baseline="-2500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2</a:t>
                </a:r>
                <a:r>
                  <a:rPr lang="en-US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: (5, 1)</a:t>
                </a:r>
              </a:p>
            </p:txBody>
          </p:sp>
          <p:sp>
            <p:nvSpPr>
              <p:cNvPr id="236" name="TextBox 235">
                <a:extLst>
                  <a:ext uri="{FF2B5EF4-FFF2-40B4-BE49-F238E27FC236}">
                    <a16:creationId xmlns:a16="http://schemas.microsoft.com/office/drawing/2014/main" id="{93BFDD35-6D15-F942-8418-6BF72558E8F1}"/>
                  </a:ext>
                </a:extLst>
              </p:cNvPr>
              <p:cNvSpPr txBox="1"/>
              <p:nvPr/>
            </p:nvSpPr>
            <p:spPr>
              <a:xfrm>
                <a:off x="204177" y="4630221"/>
                <a:ext cx="106625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T</a:t>
                </a:r>
                <a:r>
                  <a:rPr lang="en-US" baseline="-2500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3</a:t>
                </a:r>
                <a:r>
                  <a:rPr lang="en-US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: (10, 3)</a:t>
                </a:r>
              </a:p>
            </p:txBody>
          </p:sp>
        </p:grpSp>
      </p:grpSp>
      <p:grpSp>
        <p:nvGrpSpPr>
          <p:cNvPr id="237" name="Group 236">
            <a:extLst>
              <a:ext uri="{FF2B5EF4-FFF2-40B4-BE49-F238E27FC236}">
                <a16:creationId xmlns:a16="http://schemas.microsoft.com/office/drawing/2014/main" id="{D45512F6-6E14-AB4F-86A1-101285699014}"/>
              </a:ext>
            </a:extLst>
          </p:cNvPr>
          <p:cNvGrpSpPr/>
          <p:nvPr/>
        </p:nvGrpSpPr>
        <p:grpSpPr>
          <a:xfrm>
            <a:off x="2682405" y="4108545"/>
            <a:ext cx="3799008" cy="1909763"/>
            <a:chOff x="2682405" y="3062287"/>
            <a:chExt cx="3799008" cy="1909763"/>
          </a:xfrm>
        </p:grpSpPr>
        <p:sp>
          <p:nvSpPr>
            <p:cNvPr id="238" name="Line 85">
              <a:extLst>
                <a:ext uri="{FF2B5EF4-FFF2-40B4-BE49-F238E27FC236}">
                  <a16:creationId xmlns:a16="http://schemas.microsoft.com/office/drawing/2014/main" id="{C107EE39-144D-F241-A324-9B1F5E22B0B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34010" y="3067050"/>
              <a:ext cx="0" cy="3810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9" name="Line 91">
              <a:extLst>
                <a:ext uri="{FF2B5EF4-FFF2-40B4-BE49-F238E27FC236}">
                  <a16:creationId xmlns:a16="http://schemas.microsoft.com/office/drawing/2014/main" id="{DC56EB40-0240-4647-8B3A-E70DB0C515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98434" y="3067050"/>
              <a:ext cx="0" cy="3810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0" name="Line 97">
              <a:extLst>
                <a:ext uri="{FF2B5EF4-FFF2-40B4-BE49-F238E27FC236}">
                  <a16:creationId xmlns:a16="http://schemas.microsoft.com/office/drawing/2014/main" id="{041A44F7-9910-1A46-9AEA-8B912BE3E2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57413" y="3062287"/>
              <a:ext cx="0" cy="3810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1" name="Line 99">
              <a:extLst>
                <a:ext uri="{FF2B5EF4-FFF2-40B4-BE49-F238E27FC236}">
                  <a16:creationId xmlns:a16="http://schemas.microsoft.com/office/drawing/2014/main" id="{8124575E-BA6A-C542-97FE-C01953CF9CA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719413" y="3062287"/>
              <a:ext cx="0" cy="3810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2" name="Line 99">
              <a:extLst>
                <a:ext uri="{FF2B5EF4-FFF2-40B4-BE49-F238E27FC236}">
                  <a16:creationId xmlns:a16="http://schemas.microsoft.com/office/drawing/2014/main" id="{854CD3A5-FCF5-B843-830C-2DF43C4CCA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81109" y="3062287"/>
              <a:ext cx="0" cy="3810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243" name="Line 86">
              <a:extLst>
                <a:ext uri="{FF2B5EF4-FFF2-40B4-BE49-F238E27FC236}">
                  <a16:creationId xmlns:a16="http://schemas.microsoft.com/office/drawing/2014/main" id="{F8499DA7-C4C1-4041-85AA-83F9216F8D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76413" y="3829050"/>
              <a:ext cx="0" cy="3810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44" name="Line 87">
              <a:extLst>
                <a:ext uri="{FF2B5EF4-FFF2-40B4-BE49-F238E27FC236}">
                  <a16:creationId xmlns:a16="http://schemas.microsoft.com/office/drawing/2014/main" id="{68ECE507-29AE-984C-9C39-EB99F9AAC32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81109" y="4591050"/>
              <a:ext cx="0" cy="3810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45" name="Line 92">
              <a:extLst>
                <a:ext uri="{FF2B5EF4-FFF2-40B4-BE49-F238E27FC236}">
                  <a16:creationId xmlns:a16="http://schemas.microsoft.com/office/drawing/2014/main" id="{37A2502A-B806-1545-AE03-B33D8A91A3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81413" y="3829050"/>
              <a:ext cx="0" cy="3810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46" name="Line 82">
              <a:extLst>
                <a:ext uri="{FF2B5EF4-FFF2-40B4-BE49-F238E27FC236}">
                  <a16:creationId xmlns:a16="http://schemas.microsoft.com/office/drawing/2014/main" id="{7398B594-3182-6D48-BD72-66F8C2AF9CF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82405" y="3067050"/>
              <a:ext cx="0" cy="3810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7" name="Line 83">
              <a:extLst>
                <a:ext uri="{FF2B5EF4-FFF2-40B4-BE49-F238E27FC236}">
                  <a16:creationId xmlns:a16="http://schemas.microsoft.com/office/drawing/2014/main" id="{84668CE3-72A5-E64F-82FB-EEC06AB78B2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82405" y="3829050"/>
              <a:ext cx="0" cy="3810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48" name="Line 84">
              <a:extLst>
                <a:ext uri="{FF2B5EF4-FFF2-40B4-BE49-F238E27FC236}">
                  <a16:creationId xmlns:a16="http://schemas.microsoft.com/office/drawing/2014/main" id="{82B212E6-994C-C04A-98DE-A98F199D6E8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682405" y="4591050"/>
              <a:ext cx="0" cy="38100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 dirty="0"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568865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9" grpId="0" animBg="1"/>
      <p:bldP spid="251" grpId="0" animBg="1"/>
      <p:bldP spid="3" grpId="0" build="p"/>
      <p:bldP spid="96" grpId="0" animBg="1"/>
      <p:bldP spid="97" grpId="0" animBg="1"/>
      <p:bldP spid="98" grpId="0" animBg="1"/>
      <p:bldP spid="100" grpId="0" animBg="1"/>
      <p:bldP spid="106" grpId="0" animBg="1"/>
      <p:bldP spid="108" grpId="0" animBg="1"/>
      <p:bldP spid="193" grpId="0" animBg="1"/>
      <p:bldP spid="194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95F6E-2C18-804C-A7A0-50DD2FBC1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RM: Schedulability</a:t>
            </a:r>
          </a:p>
        </p:txBody>
      </p:sp>
      <p:sp>
        <p:nvSpPr>
          <p:cNvPr id="99" name="Rectangle 108">
            <a:extLst>
              <a:ext uri="{FF2B5EF4-FFF2-40B4-BE49-F238E27FC236}">
                <a16:creationId xmlns:a16="http://schemas.microsoft.com/office/drawing/2014/main" id="{2185A3E9-2FB2-8F4A-8EC0-C1E127FD20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9180" y="2899898"/>
            <a:ext cx="316971" cy="25357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1" name="Rectangle 6">
            <a:extLst>
              <a:ext uri="{FF2B5EF4-FFF2-40B4-BE49-F238E27FC236}">
                <a16:creationId xmlns:a16="http://schemas.microsoft.com/office/drawing/2014/main" id="{8A239408-0455-4743-8DB4-5249A46789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4196" y="3529479"/>
            <a:ext cx="633931" cy="2545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02" name="Rectangle 7">
            <a:extLst>
              <a:ext uri="{FF2B5EF4-FFF2-40B4-BE49-F238E27FC236}">
                <a16:creationId xmlns:a16="http://schemas.microsoft.com/office/drawing/2014/main" id="{9FFAF010-75E1-CB47-9E4B-583EC731E1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19597" y="2899898"/>
            <a:ext cx="316971" cy="25357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" name="Rectangle 8">
            <a:extLst>
              <a:ext uri="{FF2B5EF4-FFF2-40B4-BE49-F238E27FC236}">
                <a16:creationId xmlns:a16="http://schemas.microsoft.com/office/drawing/2014/main" id="{DDB75706-8248-9E43-BA1F-7FF116C8A4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67224" y="2899898"/>
            <a:ext cx="316971" cy="25357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4" name="Rectangle 88">
            <a:extLst>
              <a:ext uri="{FF2B5EF4-FFF2-40B4-BE49-F238E27FC236}">
                <a16:creationId xmlns:a16="http://schemas.microsoft.com/office/drawing/2014/main" id="{42979F64-9EC9-784D-AED2-DE3AFFC666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34860" y="4167927"/>
            <a:ext cx="317471" cy="2545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05" name="Rectangle 100">
            <a:extLst>
              <a:ext uri="{FF2B5EF4-FFF2-40B4-BE49-F238E27FC236}">
                <a16:creationId xmlns:a16="http://schemas.microsoft.com/office/drawing/2014/main" id="{9E6FB2E7-0453-B943-A9B5-F0789712E9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51819" y="3529479"/>
            <a:ext cx="317471" cy="2545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07" name="Rectangle 103">
            <a:extLst>
              <a:ext uri="{FF2B5EF4-FFF2-40B4-BE49-F238E27FC236}">
                <a16:creationId xmlns:a16="http://schemas.microsoft.com/office/drawing/2014/main" id="{B51693E2-4F81-CD49-A373-E7BAB4BEA3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5275" y="3529479"/>
            <a:ext cx="317471" cy="2545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1DFA07D-3C07-4D4C-AB4E-F4DD7360F330}"/>
              </a:ext>
            </a:extLst>
          </p:cNvPr>
          <p:cNvGrpSpPr/>
          <p:nvPr/>
        </p:nvGrpSpPr>
        <p:grpSpPr>
          <a:xfrm>
            <a:off x="1932597" y="2871074"/>
            <a:ext cx="4521313" cy="1904900"/>
            <a:chOff x="1932597" y="2871074"/>
            <a:chExt cx="4521313" cy="1904900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1442D22D-9B21-F046-AC1E-596E48BB10D0}"/>
                </a:ext>
              </a:extLst>
            </p:cNvPr>
            <p:cNvGrpSpPr/>
            <p:nvPr/>
          </p:nvGrpSpPr>
          <p:grpSpPr>
            <a:xfrm>
              <a:off x="2959273" y="3155457"/>
              <a:ext cx="3486683" cy="1267886"/>
              <a:chOff x="2110789" y="3684559"/>
              <a:chExt cx="5768880" cy="1267886"/>
            </a:xfrm>
          </p:grpSpPr>
          <p:sp>
            <p:nvSpPr>
              <p:cNvPr id="130" name="Line 9">
                <a:extLst>
                  <a:ext uri="{FF2B5EF4-FFF2-40B4-BE49-F238E27FC236}">
                    <a16:creationId xmlns:a16="http://schemas.microsoft.com/office/drawing/2014/main" id="{246FF43C-7C8C-404B-BFDA-5C741B14842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0789" y="3684559"/>
                <a:ext cx="576888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" name="Line 31">
                <a:extLst>
                  <a:ext uri="{FF2B5EF4-FFF2-40B4-BE49-F238E27FC236}">
                    <a16:creationId xmlns:a16="http://schemas.microsoft.com/office/drawing/2014/main" id="{78F0DFF7-0AB4-4440-9B40-CA1D8845A7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0789" y="4318502"/>
                <a:ext cx="576888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52" name="Line 53">
                <a:extLst>
                  <a:ext uri="{FF2B5EF4-FFF2-40B4-BE49-F238E27FC236}">
                    <a16:creationId xmlns:a16="http://schemas.microsoft.com/office/drawing/2014/main" id="{BB941E68-C46C-7742-ABF8-09596F281A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10789" y="4952445"/>
                <a:ext cx="576888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ABBD9B1-CA7F-5549-994F-738FCA89C59E}"/>
                </a:ext>
              </a:extLst>
            </p:cNvPr>
            <p:cNvGrpSpPr/>
            <p:nvPr/>
          </p:nvGrpSpPr>
          <p:grpSpPr>
            <a:xfrm>
              <a:off x="1932597" y="2871074"/>
              <a:ext cx="4521313" cy="1904900"/>
              <a:chOff x="1932597" y="2871074"/>
              <a:chExt cx="4521313" cy="1904900"/>
            </a:xfrm>
          </p:grpSpPr>
          <p:sp>
            <p:nvSpPr>
              <p:cNvPr id="110" name="Line 11">
                <a:extLst>
                  <a:ext uri="{FF2B5EF4-FFF2-40B4-BE49-F238E27FC236}">
                    <a16:creationId xmlns:a16="http://schemas.microsoft.com/office/drawing/2014/main" id="{CAF5498E-1FE5-4148-88E5-03506EA47FB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4196" y="3092063"/>
                <a:ext cx="0" cy="1267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" name="Line 12">
                <a:extLst>
                  <a:ext uri="{FF2B5EF4-FFF2-40B4-BE49-F238E27FC236}">
                    <a16:creationId xmlns:a16="http://schemas.microsoft.com/office/drawing/2014/main" id="{EC8E568B-5C69-4046-A923-E6E0B8B09D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1167" y="3092063"/>
                <a:ext cx="0" cy="1267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" name="Line 13">
                <a:extLst>
                  <a:ext uri="{FF2B5EF4-FFF2-40B4-BE49-F238E27FC236}">
                    <a16:creationId xmlns:a16="http://schemas.microsoft.com/office/drawing/2014/main" id="{5A393E64-3F0C-3045-B28A-E13BDB69C0A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18138" y="3092063"/>
                <a:ext cx="0" cy="1267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" name="Line 14">
                <a:extLst>
                  <a:ext uri="{FF2B5EF4-FFF2-40B4-BE49-F238E27FC236}">
                    <a16:creationId xmlns:a16="http://schemas.microsoft.com/office/drawing/2014/main" id="{CB49FB46-BBFF-4A47-805D-2953E5904F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35110" y="3092063"/>
                <a:ext cx="0" cy="1267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" name="Line 15">
                <a:extLst>
                  <a:ext uri="{FF2B5EF4-FFF2-40B4-BE49-F238E27FC236}">
                    <a16:creationId xmlns:a16="http://schemas.microsoft.com/office/drawing/2014/main" id="{FD0A71B5-89B1-0F44-A616-C116A043A06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52081" y="3092063"/>
                <a:ext cx="0" cy="1267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" name="Line 16">
                <a:extLst>
                  <a:ext uri="{FF2B5EF4-FFF2-40B4-BE49-F238E27FC236}">
                    <a16:creationId xmlns:a16="http://schemas.microsoft.com/office/drawing/2014/main" id="{FC736FC2-6BFE-AB47-8AB3-1A33F20586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69053" y="3092063"/>
                <a:ext cx="0" cy="1267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" name="Line 17">
                <a:extLst>
                  <a:ext uri="{FF2B5EF4-FFF2-40B4-BE49-F238E27FC236}">
                    <a16:creationId xmlns:a16="http://schemas.microsoft.com/office/drawing/2014/main" id="{87F62892-BC26-5346-8B15-12A8285FB8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86024" y="3092063"/>
                <a:ext cx="0" cy="1267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" name="Line 18">
                <a:extLst>
                  <a:ext uri="{FF2B5EF4-FFF2-40B4-BE49-F238E27FC236}">
                    <a16:creationId xmlns:a16="http://schemas.microsoft.com/office/drawing/2014/main" id="{996ECB54-679C-8A44-862C-BF7E950D48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02996" y="3092063"/>
                <a:ext cx="0" cy="1267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" name="Line 19">
                <a:extLst>
                  <a:ext uri="{FF2B5EF4-FFF2-40B4-BE49-F238E27FC236}">
                    <a16:creationId xmlns:a16="http://schemas.microsoft.com/office/drawing/2014/main" id="{1D313268-5A33-E14C-90A3-2A69E3137F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19967" y="3092063"/>
                <a:ext cx="0" cy="1267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" name="Line 20">
                <a:extLst>
                  <a:ext uri="{FF2B5EF4-FFF2-40B4-BE49-F238E27FC236}">
                    <a16:creationId xmlns:a16="http://schemas.microsoft.com/office/drawing/2014/main" id="{4C65626B-C6F6-4344-88BD-4A630BE409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36938" y="3092063"/>
                <a:ext cx="0" cy="1267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2" name="Line 33">
                <a:extLst>
                  <a:ext uri="{FF2B5EF4-FFF2-40B4-BE49-F238E27FC236}">
                    <a16:creationId xmlns:a16="http://schemas.microsoft.com/office/drawing/2014/main" id="{7F1C4AF9-D529-E444-B8C2-12600CAFE8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4196" y="3726006"/>
                <a:ext cx="0" cy="1267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33" name="Line 34">
                <a:extLst>
                  <a:ext uri="{FF2B5EF4-FFF2-40B4-BE49-F238E27FC236}">
                    <a16:creationId xmlns:a16="http://schemas.microsoft.com/office/drawing/2014/main" id="{A1419B5A-0AF7-6048-9210-CD87960E323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1167" y="3726006"/>
                <a:ext cx="0" cy="1267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34" name="Line 35">
                <a:extLst>
                  <a:ext uri="{FF2B5EF4-FFF2-40B4-BE49-F238E27FC236}">
                    <a16:creationId xmlns:a16="http://schemas.microsoft.com/office/drawing/2014/main" id="{D7437753-BEBB-8B44-9A00-320DCC999FE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18138" y="3726006"/>
                <a:ext cx="0" cy="1267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35" name="Line 36">
                <a:extLst>
                  <a:ext uri="{FF2B5EF4-FFF2-40B4-BE49-F238E27FC236}">
                    <a16:creationId xmlns:a16="http://schemas.microsoft.com/office/drawing/2014/main" id="{812BB19D-B38A-B84A-9713-17A5B42938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35110" y="3726006"/>
                <a:ext cx="0" cy="1267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36" name="Line 37">
                <a:extLst>
                  <a:ext uri="{FF2B5EF4-FFF2-40B4-BE49-F238E27FC236}">
                    <a16:creationId xmlns:a16="http://schemas.microsoft.com/office/drawing/2014/main" id="{D800672F-80EE-E048-AE2D-A5DE81FE0AC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52081" y="3726006"/>
                <a:ext cx="0" cy="1267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37" name="Line 38">
                <a:extLst>
                  <a:ext uri="{FF2B5EF4-FFF2-40B4-BE49-F238E27FC236}">
                    <a16:creationId xmlns:a16="http://schemas.microsoft.com/office/drawing/2014/main" id="{EF655022-4EA4-654D-AEF8-ADFD592485B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69053" y="3726006"/>
                <a:ext cx="0" cy="1267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38" name="Line 39">
                <a:extLst>
                  <a:ext uri="{FF2B5EF4-FFF2-40B4-BE49-F238E27FC236}">
                    <a16:creationId xmlns:a16="http://schemas.microsoft.com/office/drawing/2014/main" id="{5D0EC99B-C9D4-334B-B111-AE08B446FE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86024" y="3726006"/>
                <a:ext cx="0" cy="1267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39" name="Line 40">
                <a:extLst>
                  <a:ext uri="{FF2B5EF4-FFF2-40B4-BE49-F238E27FC236}">
                    <a16:creationId xmlns:a16="http://schemas.microsoft.com/office/drawing/2014/main" id="{8E6D111D-890B-2449-A8D3-29F493D8AC2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02996" y="3726006"/>
                <a:ext cx="0" cy="1267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40" name="Line 41">
                <a:extLst>
                  <a:ext uri="{FF2B5EF4-FFF2-40B4-BE49-F238E27FC236}">
                    <a16:creationId xmlns:a16="http://schemas.microsoft.com/office/drawing/2014/main" id="{E3AF6637-05E2-B948-883D-577A3BDC92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19967" y="3726006"/>
                <a:ext cx="0" cy="1267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41" name="Line 42">
                <a:extLst>
                  <a:ext uri="{FF2B5EF4-FFF2-40B4-BE49-F238E27FC236}">
                    <a16:creationId xmlns:a16="http://schemas.microsoft.com/office/drawing/2014/main" id="{6E00583F-5705-F244-A1D7-496B0CEC86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36938" y="3726006"/>
                <a:ext cx="0" cy="1267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53" name="Line 55">
                <a:extLst>
                  <a:ext uri="{FF2B5EF4-FFF2-40B4-BE49-F238E27FC236}">
                    <a16:creationId xmlns:a16="http://schemas.microsoft.com/office/drawing/2014/main" id="{F9E4E0C4-9ABD-B041-BAE6-7A42373351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84196" y="4359949"/>
                <a:ext cx="0" cy="1267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54" name="Line 56">
                <a:extLst>
                  <a:ext uri="{FF2B5EF4-FFF2-40B4-BE49-F238E27FC236}">
                    <a16:creationId xmlns:a16="http://schemas.microsoft.com/office/drawing/2014/main" id="{2B513121-C003-FD4E-A3D2-6E51A36478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01167" y="4359949"/>
                <a:ext cx="0" cy="1267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55" name="Line 57">
                <a:extLst>
                  <a:ext uri="{FF2B5EF4-FFF2-40B4-BE49-F238E27FC236}">
                    <a16:creationId xmlns:a16="http://schemas.microsoft.com/office/drawing/2014/main" id="{29AEFD41-62B0-F746-88B9-BC89000F9C6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918138" y="4359949"/>
                <a:ext cx="0" cy="1267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56" name="Line 58">
                <a:extLst>
                  <a:ext uri="{FF2B5EF4-FFF2-40B4-BE49-F238E27FC236}">
                    <a16:creationId xmlns:a16="http://schemas.microsoft.com/office/drawing/2014/main" id="{FE6C05DB-6F46-4245-A72C-D3B65A7109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235110" y="4359949"/>
                <a:ext cx="0" cy="1267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57" name="Line 59">
                <a:extLst>
                  <a:ext uri="{FF2B5EF4-FFF2-40B4-BE49-F238E27FC236}">
                    <a16:creationId xmlns:a16="http://schemas.microsoft.com/office/drawing/2014/main" id="{FCBAE1E7-7423-514D-BC39-053C9D4C44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552081" y="4359949"/>
                <a:ext cx="0" cy="1267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58" name="Line 60">
                <a:extLst>
                  <a:ext uri="{FF2B5EF4-FFF2-40B4-BE49-F238E27FC236}">
                    <a16:creationId xmlns:a16="http://schemas.microsoft.com/office/drawing/2014/main" id="{23418B95-3144-CC42-B034-DE4C8B3968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69053" y="4359949"/>
                <a:ext cx="0" cy="1267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59" name="Line 61">
                <a:extLst>
                  <a:ext uri="{FF2B5EF4-FFF2-40B4-BE49-F238E27FC236}">
                    <a16:creationId xmlns:a16="http://schemas.microsoft.com/office/drawing/2014/main" id="{678150DE-0BDE-0C4C-A6FC-22A3BC0FA9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86024" y="4359949"/>
                <a:ext cx="0" cy="1267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60" name="Line 62">
                <a:extLst>
                  <a:ext uri="{FF2B5EF4-FFF2-40B4-BE49-F238E27FC236}">
                    <a16:creationId xmlns:a16="http://schemas.microsoft.com/office/drawing/2014/main" id="{51A0AE5F-F7E1-1745-8822-4BF66320E3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502996" y="4359949"/>
                <a:ext cx="0" cy="1267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61" name="Line 63">
                <a:extLst>
                  <a:ext uri="{FF2B5EF4-FFF2-40B4-BE49-F238E27FC236}">
                    <a16:creationId xmlns:a16="http://schemas.microsoft.com/office/drawing/2014/main" id="{748F8E06-3E54-CC49-83A0-2561B3F4AF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819967" y="4359949"/>
                <a:ext cx="0" cy="1267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62" name="Line 64">
                <a:extLst>
                  <a:ext uri="{FF2B5EF4-FFF2-40B4-BE49-F238E27FC236}">
                    <a16:creationId xmlns:a16="http://schemas.microsoft.com/office/drawing/2014/main" id="{FED1D107-5EDF-CB4B-B707-1323889077B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136938" y="4359949"/>
                <a:ext cx="0" cy="12678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73" name="Text Box 75">
                <a:extLst>
                  <a:ext uri="{FF2B5EF4-FFF2-40B4-BE49-F238E27FC236}">
                    <a16:creationId xmlns:a16="http://schemas.microsoft.com/office/drawing/2014/main" id="{A29C5E39-7925-8248-A5E6-FEE1290B26C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840436" y="4466926"/>
                <a:ext cx="507154" cy="3050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u="sng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u="sng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u="sng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u="sng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u="sng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u="none" dirty="0">
                    <a:latin typeface="Gill Sans Light" panose="020B0302020104020203" pitchFamily="34" charset="-79"/>
                    <a:ea typeface="Gill Sans" charset="0"/>
                    <a:cs typeface="Gill Sans Light" panose="020B0302020104020203" pitchFamily="34" charset="-79"/>
                  </a:rPr>
                  <a:t>0</a:t>
                </a:r>
              </a:p>
            </p:txBody>
          </p:sp>
          <p:sp>
            <p:nvSpPr>
              <p:cNvPr id="174" name="Text Box 76">
                <a:extLst>
                  <a:ext uri="{FF2B5EF4-FFF2-40B4-BE49-F238E27FC236}">
                    <a16:creationId xmlns:a16="http://schemas.microsoft.com/office/drawing/2014/main" id="{2442229D-CF3E-6C4B-971F-735ED9AA457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425293" y="4470889"/>
                <a:ext cx="507154" cy="3050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u="sng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u="sng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u="sng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u="sng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u="sng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u="none">
                    <a:latin typeface="Gill Sans Light" panose="020B0302020104020203" pitchFamily="34" charset="-79"/>
                    <a:ea typeface="Gill Sans" charset="0"/>
                    <a:cs typeface="Gill Sans Light" panose="020B0302020104020203" pitchFamily="34" charset="-79"/>
                  </a:rPr>
                  <a:t>5</a:t>
                </a:r>
              </a:p>
            </p:txBody>
          </p:sp>
          <p:sp>
            <p:nvSpPr>
              <p:cNvPr id="175" name="Text Box 77">
                <a:extLst>
                  <a:ext uri="{FF2B5EF4-FFF2-40B4-BE49-F238E27FC236}">
                    <a16:creationId xmlns:a16="http://schemas.microsoft.com/office/drawing/2014/main" id="{332EA37A-2818-0E44-8727-76F6B75C840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46756" y="4470889"/>
                <a:ext cx="507154" cy="3050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 xmlns="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u="sng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u="sng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u="sng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u="sng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u="sng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u="none" dirty="0">
                    <a:latin typeface="Gill Sans Light" panose="020B0302020104020203" pitchFamily="34" charset="-79"/>
                    <a:ea typeface="Gill Sans" charset="0"/>
                    <a:cs typeface="Gill Sans Light" panose="020B0302020104020203" pitchFamily="34" charset="-79"/>
                  </a:rPr>
                  <a:t>10</a:t>
                </a:r>
              </a:p>
            </p:txBody>
          </p:sp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F90B7494-78E9-354E-AB84-2DC1B5555AA4}"/>
                  </a:ext>
                </a:extLst>
              </p:cNvPr>
              <p:cNvSpPr txBox="1"/>
              <p:nvPr/>
            </p:nvSpPr>
            <p:spPr>
              <a:xfrm>
                <a:off x="1932598" y="2871074"/>
                <a:ext cx="791046" cy="3072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T</a:t>
                </a:r>
                <a:r>
                  <a:rPr lang="en-US" baseline="-2500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1</a:t>
                </a:r>
                <a:r>
                  <a:rPr lang="en-US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: (3, 1)</a:t>
                </a:r>
              </a:p>
            </p:txBody>
          </p:sp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27EC51B4-F2E6-C74E-AE44-367BBC1A88DE}"/>
                  </a:ext>
                </a:extLst>
              </p:cNvPr>
              <p:cNvSpPr txBox="1"/>
              <p:nvPr/>
            </p:nvSpPr>
            <p:spPr>
              <a:xfrm>
                <a:off x="1932597" y="3511851"/>
                <a:ext cx="791046" cy="3072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T</a:t>
                </a:r>
                <a:r>
                  <a:rPr lang="en-US" baseline="-2500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2</a:t>
                </a:r>
                <a:r>
                  <a:rPr lang="en-US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: (5, 2)</a:t>
                </a:r>
              </a:p>
            </p:txBody>
          </p:sp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88888F42-94D9-7740-BE92-8416F47C1499}"/>
                  </a:ext>
                </a:extLst>
              </p:cNvPr>
              <p:cNvSpPr txBox="1"/>
              <p:nvPr/>
            </p:nvSpPr>
            <p:spPr>
              <a:xfrm>
                <a:off x="1932597" y="4138960"/>
                <a:ext cx="791046" cy="30726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T</a:t>
                </a:r>
                <a:r>
                  <a:rPr lang="en-US" baseline="-2500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3</a:t>
                </a:r>
                <a:r>
                  <a:rPr lang="en-US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: (8, 2)</a:t>
                </a:r>
              </a:p>
            </p:txBody>
          </p:sp>
        </p:grp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E2B5E5FE-D88A-5140-80DD-FC4468D2713B}"/>
              </a:ext>
            </a:extLst>
          </p:cNvPr>
          <p:cNvGrpSpPr/>
          <p:nvPr/>
        </p:nvGrpSpPr>
        <p:grpSpPr>
          <a:xfrm>
            <a:off x="2978216" y="2834523"/>
            <a:ext cx="3158722" cy="1588819"/>
            <a:chOff x="2978216" y="2834523"/>
            <a:chExt cx="3158722" cy="1588819"/>
          </a:xfrm>
        </p:grpSpPr>
        <p:sp>
          <p:nvSpPr>
            <p:cNvPr id="180" name="Line 85">
              <a:extLst>
                <a:ext uri="{FF2B5EF4-FFF2-40B4-BE49-F238E27FC236}">
                  <a16:creationId xmlns:a16="http://schemas.microsoft.com/office/drawing/2014/main" id="{FBFB73AE-2C21-E346-B5EC-9FAA08F2799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918128" y="2838486"/>
              <a:ext cx="0" cy="3169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1" name="Line 91">
              <a:extLst>
                <a:ext uri="{FF2B5EF4-FFF2-40B4-BE49-F238E27FC236}">
                  <a16:creationId xmlns:a16="http://schemas.microsoft.com/office/drawing/2014/main" id="{4FEA9CD6-7724-DE4C-AFF9-679F48976E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69053" y="2838486"/>
              <a:ext cx="0" cy="3169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2" name="Line 97">
              <a:extLst>
                <a:ext uri="{FF2B5EF4-FFF2-40B4-BE49-F238E27FC236}">
                  <a16:creationId xmlns:a16="http://schemas.microsoft.com/office/drawing/2014/main" id="{C2305820-F62B-5A47-9A21-6E65CCD79B7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825546" y="2834523"/>
              <a:ext cx="0" cy="3169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5" name="Line 86">
              <a:extLst>
                <a:ext uri="{FF2B5EF4-FFF2-40B4-BE49-F238E27FC236}">
                  <a16:creationId xmlns:a16="http://schemas.microsoft.com/office/drawing/2014/main" id="{6817482B-2753-4B46-9F2F-418100CE0F4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52081" y="3472428"/>
              <a:ext cx="0" cy="3169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86" name="Line 87">
              <a:extLst>
                <a:ext uri="{FF2B5EF4-FFF2-40B4-BE49-F238E27FC236}">
                  <a16:creationId xmlns:a16="http://schemas.microsoft.com/office/drawing/2014/main" id="{4089FFC4-4891-A24A-BC2E-931C540ED46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02996" y="4106371"/>
              <a:ext cx="0" cy="3169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87" name="Line 92">
              <a:extLst>
                <a:ext uri="{FF2B5EF4-FFF2-40B4-BE49-F238E27FC236}">
                  <a16:creationId xmlns:a16="http://schemas.microsoft.com/office/drawing/2014/main" id="{445BDC44-6C90-C64E-9D39-DDD47758ECD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136938" y="3472428"/>
              <a:ext cx="0" cy="3169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90" name="Line 82">
              <a:extLst>
                <a:ext uri="{FF2B5EF4-FFF2-40B4-BE49-F238E27FC236}">
                  <a16:creationId xmlns:a16="http://schemas.microsoft.com/office/drawing/2014/main" id="{3A4BD3F7-A5BC-3A4C-8978-C49A47B92F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78216" y="2838486"/>
              <a:ext cx="0" cy="3169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1" name="Line 83">
              <a:extLst>
                <a:ext uri="{FF2B5EF4-FFF2-40B4-BE49-F238E27FC236}">
                  <a16:creationId xmlns:a16="http://schemas.microsoft.com/office/drawing/2014/main" id="{02BC63E5-AC7C-7E49-9F14-CC36555B93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78216" y="3472428"/>
              <a:ext cx="0" cy="3169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92" name="Line 84">
              <a:extLst>
                <a:ext uri="{FF2B5EF4-FFF2-40B4-BE49-F238E27FC236}">
                  <a16:creationId xmlns:a16="http://schemas.microsoft.com/office/drawing/2014/main" id="{982ECE74-2B59-8F41-A2A0-1FABF8E094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78216" y="4106371"/>
              <a:ext cx="0" cy="3169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sp>
        <p:nvSpPr>
          <p:cNvPr id="195" name="Rounded Rectangular Callout 194">
            <a:extLst>
              <a:ext uri="{FF2B5EF4-FFF2-40B4-BE49-F238E27FC236}">
                <a16:creationId xmlns:a16="http://schemas.microsoft.com/office/drawing/2014/main" id="{B585161B-648D-6F4B-BD0B-AD6B0ED0F87F}"/>
              </a:ext>
            </a:extLst>
          </p:cNvPr>
          <p:cNvSpPr/>
          <p:nvPr/>
        </p:nvSpPr>
        <p:spPr>
          <a:xfrm>
            <a:off x="5418079" y="4973610"/>
            <a:ext cx="1397077" cy="758741"/>
          </a:xfrm>
          <a:prstGeom prst="wedgeRoundRectCallout">
            <a:avLst>
              <a:gd name="adj1" fmla="val -42868"/>
              <a:gd name="adj2" fmla="val -111286"/>
              <a:gd name="adj3" fmla="val 16667"/>
            </a:avLst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T</a:t>
            </a:r>
            <a:r>
              <a:rPr lang="en-US" baseline="-25000" dirty="0">
                <a:solidFill>
                  <a:schemeClr val="bg2">
                    <a:lumMod val="10000"/>
                  </a:schemeClr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3</a:t>
            </a: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 missed </a:t>
            </a:r>
            <a:br>
              <a:rPr lang="en-US" dirty="0">
                <a:solidFill>
                  <a:schemeClr val="bg2">
                    <a:lumMod val="10000"/>
                  </a:schemeClr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</a:br>
            <a:r>
              <a:rPr lang="en-US" dirty="0">
                <a:solidFill>
                  <a:schemeClr val="bg2">
                    <a:lumMod val="10000"/>
                  </a:schemeClr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its deadline!</a:t>
            </a:r>
          </a:p>
        </p:txBody>
      </p:sp>
    </p:spTree>
    <p:extLst>
      <p:ext uri="{BB962C8B-B14F-4D97-AF65-F5344CB8AC3E}">
        <p14:creationId xmlns:p14="http://schemas.microsoft.com/office/powerpoint/2010/main" val="29328989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9" grpId="0" animBg="1"/>
      <p:bldP spid="101" grpId="0" animBg="1"/>
      <p:bldP spid="102" grpId="0" animBg="1"/>
      <p:bldP spid="103" grpId="0" animBg="1"/>
      <p:bldP spid="104" grpId="0" animBg="1"/>
      <p:bldP spid="105" grpId="0" animBg="1"/>
      <p:bldP spid="107" grpId="0" animBg="1"/>
      <p:bldP spid="19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7CC4B-035C-7845-BC20-33C75CED4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RM: Schedulability Test </a:t>
            </a:r>
            <a:r>
              <a:rPr lang="en-US" sz="2000" dirty="0"/>
              <a:t>[</a:t>
            </a:r>
            <a:r>
              <a:rPr lang="en-CA" sz="2000" dirty="0"/>
              <a:t>Liu &amp; </a:t>
            </a:r>
            <a:r>
              <a:rPr lang="en-CA" sz="2000" dirty="0" err="1"/>
              <a:t>Layland</a:t>
            </a:r>
            <a:r>
              <a:rPr lang="en-CA" sz="2000" dirty="0"/>
              <a:t> 1973</a:t>
            </a:r>
            <a:r>
              <a:rPr lang="en-US" sz="2000" dirty="0"/>
              <a:t>]</a:t>
            </a:r>
            <a:endParaRPr lang="en-US" sz="3600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C0992-B10F-7242-BDDA-41BD0F368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For </a:t>
            </a:r>
            <a:r>
              <a:rPr lang="en-US" sz="2000" i="1" dirty="0"/>
              <a:t>n</a:t>
            </a:r>
            <a:r>
              <a:rPr lang="en-US" sz="2000" dirty="0"/>
              <a:t> periodic tasks with execution time </a:t>
            </a:r>
            <a:r>
              <a:rPr lang="en-US" sz="2000" i="1" dirty="0" err="1">
                <a:latin typeface="+mj-lt"/>
              </a:rPr>
              <a:t>e</a:t>
            </a:r>
            <a:r>
              <a:rPr lang="en-US" sz="2000" i="1" baseline="-25000" dirty="0" err="1">
                <a:latin typeface="+mj-lt"/>
              </a:rPr>
              <a:t>i</a:t>
            </a:r>
            <a:r>
              <a:rPr lang="en-US" sz="2000" dirty="0"/>
              <a:t> and deadline and period </a:t>
            </a:r>
            <a:r>
              <a:rPr lang="en-US" sz="2000" i="1" dirty="0">
                <a:latin typeface="+mj-lt"/>
              </a:rPr>
              <a:t>p</a:t>
            </a:r>
            <a:r>
              <a:rPr lang="en-US" sz="2000" i="1" baseline="-25000" dirty="0">
                <a:latin typeface="+mj-lt"/>
              </a:rPr>
              <a:t>i</a:t>
            </a:r>
            <a:r>
              <a:rPr lang="en-US" sz="2000" dirty="0"/>
              <a:t>, RM is guaranteed to produce feasible schedule if</a:t>
            </a:r>
          </a:p>
          <a:p>
            <a:pPr lvl="2"/>
            <a:endParaRPr lang="en-US" sz="1400" dirty="0"/>
          </a:p>
          <a:p>
            <a:pPr lvl="2"/>
            <a:endParaRPr lang="en-US" sz="1400" dirty="0"/>
          </a:p>
          <a:p>
            <a:pPr lvl="2"/>
            <a:endParaRPr lang="en-US" sz="1400" dirty="0"/>
          </a:p>
          <a:p>
            <a:pPr lvl="2"/>
            <a:endParaRPr lang="en-US" sz="1400" dirty="0"/>
          </a:p>
          <a:p>
            <a:pPr lvl="2"/>
            <a:endParaRPr lang="en-US" sz="1400" dirty="0"/>
          </a:p>
          <a:p>
            <a:pPr lvl="2"/>
            <a:endParaRPr lang="en-US" sz="1400" dirty="0"/>
          </a:p>
          <a:p>
            <a:pPr lvl="2"/>
            <a:endParaRPr lang="en-US" sz="1400" dirty="0"/>
          </a:p>
          <a:p>
            <a:pPr lvl="2"/>
            <a:endParaRPr lang="en-US" sz="1400" dirty="0"/>
          </a:p>
          <a:p>
            <a:pPr lvl="2"/>
            <a:endParaRPr lang="en-US" sz="1400" dirty="0"/>
          </a:p>
          <a:p>
            <a:pPr marL="914400" lvl="2" indent="0">
              <a:buNone/>
            </a:pPr>
            <a:endParaRPr lang="en-US" sz="1400" dirty="0"/>
          </a:p>
          <a:p>
            <a:pPr lvl="1"/>
            <a:r>
              <a:rPr lang="en-US" sz="1800" dirty="0"/>
              <a:t>If condition does not hold, then deadlines may or may not be met!</a:t>
            </a:r>
          </a:p>
          <a:p>
            <a:pPr lvl="1"/>
            <a:r>
              <a:rPr lang="en-US" sz="1800" dirty="0"/>
              <a:t>Example:   T</a:t>
            </a:r>
            <a:r>
              <a:rPr lang="en-US" sz="1800" baseline="-25000" dirty="0"/>
              <a:t>1</a:t>
            </a:r>
            <a:r>
              <a:rPr lang="en-US" sz="1800" dirty="0"/>
              <a:t>(3,1),   T</a:t>
            </a:r>
            <a:r>
              <a:rPr lang="en-US" sz="1800" baseline="-25000" dirty="0"/>
              <a:t>2</a:t>
            </a:r>
            <a:r>
              <a:rPr lang="en-US" sz="1800" dirty="0"/>
              <a:t>(5,2),   T</a:t>
            </a:r>
            <a:r>
              <a:rPr lang="en-US" sz="1800" baseline="-25000" dirty="0"/>
              <a:t>3</a:t>
            </a:r>
            <a:r>
              <a:rPr lang="en-US" sz="1800" dirty="0"/>
              <a:t>(8,2)</a:t>
            </a:r>
            <a:endParaRPr lang="en-US" sz="900" dirty="0">
              <a:latin typeface="+mj-lt"/>
            </a:endParaRPr>
          </a:p>
          <a:p>
            <a:pPr lvl="2"/>
            <a:r>
              <a:rPr lang="en-US" sz="1600" dirty="0">
                <a:latin typeface="+mj-lt"/>
              </a:rPr>
              <a:t>1/3 + 2/5 + 2/8 </a:t>
            </a:r>
            <a:r>
              <a:rPr lang="en-US" sz="1600">
                <a:latin typeface="+mj-lt"/>
              </a:rPr>
              <a:t>(= 0.9833</a:t>
            </a:r>
            <a:r>
              <a:rPr lang="en-US" sz="1600" dirty="0">
                <a:latin typeface="+mj-lt"/>
              </a:rPr>
              <a:t>) ≥ 3(2</a:t>
            </a:r>
            <a:r>
              <a:rPr lang="en-US" sz="1600" baseline="30000" dirty="0">
                <a:latin typeface="+mj-lt"/>
              </a:rPr>
              <a:t>1/3</a:t>
            </a:r>
            <a:r>
              <a:rPr lang="en-US" sz="1600" dirty="0">
                <a:latin typeface="+mj-lt"/>
              </a:rPr>
              <a:t>-1) (≈ 0.78) ⇒ </a:t>
            </a:r>
            <a:r>
              <a:rPr lang="en-US" sz="1600" dirty="0"/>
              <a:t>No guarantee!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E6CD210-529F-7843-A732-03F6C88BA5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6033" y="3298712"/>
            <a:ext cx="2358541" cy="638025"/>
          </a:xfrm>
          <a:prstGeom prst="rect">
            <a:avLst/>
          </a:prstGeom>
        </p:spPr>
      </p:pic>
      <p:grpSp>
        <p:nvGrpSpPr>
          <p:cNvPr id="9" name="Group 8">
            <a:extLst>
              <a:ext uri="{FF2B5EF4-FFF2-40B4-BE49-F238E27FC236}">
                <a16:creationId xmlns:a16="http://schemas.microsoft.com/office/drawing/2014/main" id="{06761E80-D8AF-584E-9A32-67B8A26CA5CC}"/>
              </a:ext>
            </a:extLst>
          </p:cNvPr>
          <p:cNvGrpSpPr/>
          <p:nvPr/>
        </p:nvGrpSpPr>
        <p:grpSpPr>
          <a:xfrm>
            <a:off x="4481957" y="2754768"/>
            <a:ext cx="3619154" cy="2324738"/>
            <a:chOff x="2555304" y="3297881"/>
            <a:chExt cx="3619154" cy="2324738"/>
          </a:xfrm>
        </p:grpSpPr>
        <p:pic>
          <p:nvPicPr>
            <p:cNvPr id="5" name="Picture 4" descr="A screenshot of a cell phone&#10;&#10;Description automatically generated">
              <a:extLst>
                <a:ext uri="{FF2B5EF4-FFF2-40B4-BE49-F238E27FC236}">
                  <a16:creationId xmlns:a16="http://schemas.microsoft.com/office/drawing/2014/main" id="{F0FB92A9-652C-EB4D-B782-5B2D0065E7C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2969542" y="3297881"/>
              <a:ext cx="3204916" cy="2016961"/>
            </a:xfrm>
            <a:prstGeom prst="rect">
              <a:avLst/>
            </a:prstGeom>
          </p:spPr>
        </p:pic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5F513522-BBA0-1442-9C67-2DC22FE13894}"/>
                </a:ext>
              </a:extLst>
            </p:cNvPr>
            <p:cNvSpPr txBox="1"/>
            <p:nvPr/>
          </p:nvSpPr>
          <p:spPr>
            <a:xfrm rot="16200000">
              <a:off x="2265802" y="4006949"/>
              <a:ext cx="88678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Utilization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79F9B48F-2F27-4F42-9ACA-88D0468F6571}"/>
                </a:ext>
              </a:extLst>
            </p:cNvPr>
            <p:cNvSpPr txBox="1"/>
            <p:nvPr/>
          </p:nvSpPr>
          <p:spPr>
            <a:xfrm>
              <a:off x="3890563" y="5314842"/>
              <a:ext cx="136287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Number of tasks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6443543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 uiExpand="1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Rectangle 108">
            <a:extLst>
              <a:ext uri="{FF2B5EF4-FFF2-40B4-BE49-F238E27FC236}">
                <a16:creationId xmlns:a16="http://schemas.microsoft.com/office/drawing/2014/main" id="{822E6532-7D6A-064C-97B2-C0EB45112B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9477" y="4154572"/>
            <a:ext cx="316971" cy="25357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4" name="Rectangle 103">
            <a:extLst>
              <a:ext uri="{FF2B5EF4-FFF2-40B4-BE49-F238E27FC236}">
                <a16:creationId xmlns:a16="http://schemas.microsoft.com/office/drawing/2014/main" id="{27EF0E9A-CA3F-FE44-911F-168CA92F6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7400" y="4784153"/>
            <a:ext cx="630200" cy="2545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95" name="Rectangle 100">
            <a:extLst>
              <a:ext uri="{FF2B5EF4-FFF2-40B4-BE49-F238E27FC236}">
                <a16:creationId xmlns:a16="http://schemas.microsoft.com/office/drawing/2014/main" id="{902A37C5-C8B3-214E-8958-96DE495266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4323" y="5421760"/>
            <a:ext cx="633685" cy="2545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96" name="Rectangle 108">
            <a:extLst>
              <a:ext uri="{FF2B5EF4-FFF2-40B4-BE49-F238E27FC236}">
                <a16:creationId xmlns:a16="http://schemas.microsoft.com/office/drawing/2014/main" id="{FAEFCE44-9215-7E43-B396-CE35A80C70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6588" y="4154572"/>
            <a:ext cx="316971" cy="25357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97" name="Rectangle 108">
            <a:extLst>
              <a:ext uri="{FF2B5EF4-FFF2-40B4-BE49-F238E27FC236}">
                <a16:creationId xmlns:a16="http://schemas.microsoft.com/office/drawing/2014/main" id="{C79A98CD-9F45-DB4C-8B49-C0B9BF624B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8396" y="4154572"/>
            <a:ext cx="316971" cy="25357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84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Earliest Deadline First (EDF)</a:t>
            </a:r>
          </a:p>
        </p:txBody>
      </p:sp>
      <p:sp>
        <p:nvSpPr>
          <p:cNvPr id="18444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dirty="0"/>
              <a:t>EDF is dynamic online scheduling policy</a:t>
            </a:r>
          </a:p>
          <a:p>
            <a:pPr lvl="1"/>
            <a:r>
              <a:rPr lang="en-US" sz="1600" dirty="0"/>
              <a:t>Scheduler always schedules active task with </a:t>
            </a:r>
            <a:r>
              <a:rPr lang="en-US" sz="1600" dirty="0">
                <a:solidFill>
                  <a:srgbClr val="FF0000"/>
                </a:solidFill>
              </a:rPr>
              <a:t>earliest deadline</a:t>
            </a:r>
            <a:endParaRPr lang="en-US" sz="1600" dirty="0"/>
          </a:p>
          <a:p>
            <a:pPr lvl="1"/>
            <a:r>
              <a:rPr lang="en-US" sz="1600" dirty="0"/>
              <a:t>Current priority of tasks depends on how close their deadline is</a:t>
            </a:r>
          </a:p>
          <a:p>
            <a:pPr lvl="1"/>
            <a:r>
              <a:rPr lang="en-US" sz="1600" dirty="0"/>
              <a:t>Tasks’ priorities change during execution</a:t>
            </a:r>
          </a:p>
          <a:p>
            <a:pPr lvl="1"/>
            <a:r>
              <a:rPr lang="en-US" sz="1600" dirty="0"/>
              <a:t>EDF is optimal </a:t>
            </a:r>
            <a:r>
              <a:rPr lang="en-US" sz="1600" dirty="0" err="1"/>
              <a:t>w.r.t.</a:t>
            </a:r>
            <a:r>
              <a:rPr lang="en-US" sz="1600" dirty="0"/>
              <a:t> all </a:t>
            </a:r>
            <a:r>
              <a:rPr lang="en-US" sz="1600" u="sng" dirty="0">
                <a:solidFill>
                  <a:srgbClr val="FF0000"/>
                </a:solidFill>
              </a:rPr>
              <a:t>online schedulers</a:t>
            </a:r>
          </a:p>
          <a:p>
            <a:endParaRPr lang="en-US" sz="1800" dirty="0"/>
          </a:p>
        </p:txBody>
      </p:sp>
      <p:sp>
        <p:nvSpPr>
          <p:cNvPr id="99" name="Rectangle 108">
            <a:extLst>
              <a:ext uri="{FF2B5EF4-FFF2-40B4-BE49-F238E27FC236}">
                <a16:creationId xmlns:a16="http://schemas.microsoft.com/office/drawing/2014/main" id="{400927F5-6F75-8F4D-94C4-772965A1CB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25900" y="4154572"/>
            <a:ext cx="316971" cy="25357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0" name="Rectangle 6">
            <a:extLst>
              <a:ext uri="{FF2B5EF4-FFF2-40B4-BE49-F238E27FC236}">
                <a16:creationId xmlns:a16="http://schemas.microsoft.com/office/drawing/2014/main" id="{544D9607-1305-184A-96C4-E41AC91F7A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0916" y="4784153"/>
            <a:ext cx="633931" cy="2545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01" name="Rectangle 7">
            <a:extLst>
              <a:ext uri="{FF2B5EF4-FFF2-40B4-BE49-F238E27FC236}">
                <a16:creationId xmlns:a16="http://schemas.microsoft.com/office/drawing/2014/main" id="{C4C78A85-FF25-8744-928C-64FB2CA067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6317" y="4154572"/>
            <a:ext cx="316971" cy="25357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2" name="Rectangle 8">
            <a:extLst>
              <a:ext uri="{FF2B5EF4-FFF2-40B4-BE49-F238E27FC236}">
                <a16:creationId xmlns:a16="http://schemas.microsoft.com/office/drawing/2014/main" id="{A3B14A2A-B142-4D41-8D4A-CF5C0BEB7B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23944" y="4154572"/>
            <a:ext cx="316971" cy="25357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3" name="Rectangle 88">
            <a:extLst>
              <a:ext uri="{FF2B5EF4-FFF2-40B4-BE49-F238E27FC236}">
                <a16:creationId xmlns:a16="http://schemas.microsoft.com/office/drawing/2014/main" id="{2117A14C-D6AC-AB4A-B292-45A1BE7175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1580" y="5422601"/>
            <a:ext cx="317471" cy="2545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04" name="Rectangle 100">
            <a:extLst>
              <a:ext uri="{FF2B5EF4-FFF2-40B4-BE49-F238E27FC236}">
                <a16:creationId xmlns:a16="http://schemas.microsoft.com/office/drawing/2014/main" id="{49D70B69-F84A-E348-8256-87332B575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8539" y="5421760"/>
            <a:ext cx="317471" cy="2545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05" name="Rectangle 103">
            <a:extLst>
              <a:ext uri="{FF2B5EF4-FFF2-40B4-BE49-F238E27FC236}">
                <a16:creationId xmlns:a16="http://schemas.microsoft.com/office/drawing/2014/main" id="{A07CFAA3-B737-164B-8DA2-7A7413125A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6483" y="4784153"/>
            <a:ext cx="630200" cy="2545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DDDB825-5AD4-8949-8685-7FF158B7C9D0}"/>
              </a:ext>
            </a:extLst>
          </p:cNvPr>
          <p:cNvGrpSpPr/>
          <p:nvPr/>
        </p:nvGrpSpPr>
        <p:grpSpPr>
          <a:xfrm>
            <a:off x="1089317" y="4089197"/>
            <a:ext cx="6795556" cy="1953337"/>
            <a:chOff x="1089317" y="4089197"/>
            <a:chExt cx="6795556" cy="1953337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6BBB3889-5F69-E04A-BA72-5A407CCD5B08}"/>
                </a:ext>
              </a:extLst>
            </p:cNvPr>
            <p:cNvGrpSpPr/>
            <p:nvPr/>
          </p:nvGrpSpPr>
          <p:grpSpPr>
            <a:xfrm>
              <a:off x="1089317" y="4125748"/>
              <a:ext cx="6795556" cy="1916786"/>
              <a:chOff x="204177" y="4020621"/>
              <a:chExt cx="8168266" cy="2303979"/>
            </a:xfrm>
          </p:grpSpPr>
          <p:sp>
            <p:nvSpPr>
              <p:cNvPr id="110" name="Line 11">
                <a:extLst>
                  <a:ext uri="{FF2B5EF4-FFF2-40B4-BE49-F238E27FC236}">
                    <a16:creationId xmlns:a16="http://schemas.microsoft.com/office/drawing/2014/main" id="{7DCC62CD-EF55-654D-9EEB-0B398E0F5C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8800" y="42862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1" name="Line 12">
                <a:extLst>
                  <a:ext uri="{FF2B5EF4-FFF2-40B4-BE49-F238E27FC236}">
                    <a16:creationId xmlns:a16="http://schemas.microsoft.com/office/drawing/2014/main" id="{0ED1B051-5E68-3B48-9F62-9DFDD24E56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9800" y="42862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2" name="Line 13">
                <a:extLst>
                  <a:ext uri="{FF2B5EF4-FFF2-40B4-BE49-F238E27FC236}">
                    <a16:creationId xmlns:a16="http://schemas.microsoft.com/office/drawing/2014/main" id="{64E349C5-1974-FC4B-A0CA-6715E993DD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0800" y="42862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3" name="Line 14">
                <a:extLst>
                  <a:ext uri="{FF2B5EF4-FFF2-40B4-BE49-F238E27FC236}">
                    <a16:creationId xmlns:a16="http://schemas.microsoft.com/office/drawing/2014/main" id="{BCDD042F-5531-464A-B476-CD93EECC82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1800" y="42862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4" name="Line 15">
                <a:extLst>
                  <a:ext uri="{FF2B5EF4-FFF2-40B4-BE49-F238E27FC236}">
                    <a16:creationId xmlns:a16="http://schemas.microsoft.com/office/drawing/2014/main" id="{11546986-72A8-A442-9A23-4B12DF9B9C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52800" y="42862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5" name="Line 16">
                <a:extLst>
                  <a:ext uri="{FF2B5EF4-FFF2-40B4-BE49-F238E27FC236}">
                    <a16:creationId xmlns:a16="http://schemas.microsoft.com/office/drawing/2014/main" id="{18E53577-3A94-344A-ACC5-E90A296814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33800" y="42862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6" name="Line 17">
                <a:extLst>
                  <a:ext uri="{FF2B5EF4-FFF2-40B4-BE49-F238E27FC236}">
                    <a16:creationId xmlns:a16="http://schemas.microsoft.com/office/drawing/2014/main" id="{49ED9411-A298-B044-B107-A884129787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14800" y="42862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7" name="Line 18">
                <a:extLst>
                  <a:ext uri="{FF2B5EF4-FFF2-40B4-BE49-F238E27FC236}">
                    <a16:creationId xmlns:a16="http://schemas.microsoft.com/office/drawing/2014/main" id="{C24CDD0C-3CAB-AD48-B42F-F4CA6767EB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95800" y="42862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8" name="Line 19">
                <a:extLst>
                  <a:ext uri="{FF2B5EF4-FFF2-40B4-BE49-F238E27FC236}">
                    <a16:creationId xmlns:a16="http://schemas.microsoft.com/office/drawing/2014/main" id="{BC710129-A242-2842-B879-6DA80C0BFA2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76800" y="42862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19" name="Line 20">
                <a:extLst>
                  <a:ext uri="{FF2B5EF4-FFF2-40B4-BE49-F238E27FC236}">
                    <a16:creationId xmlns:a16="http://schemas.microsoft.com/office/drawing/2014/main" id="{D4B9CA9D-1B63-B544-97EF-A881C6CF3CC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57800" y="42862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0" name="Line 21">
                <a:extLst>
                  <a:ext uri="{FF2B5EF4-FFF2-40B4-BE49-F238E27FC236}">
                    <a16:creationId xmlns:a16="http://schemas.microsoft.com/office/drawing/2014/main" id="{437230E7-4E7F-A148-8F49-E1E990CB13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38800" y="42862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1" name="Line 22">
                <a:extLst>
                  <a:ext uri="{FF2B5EF4-FFF2-40B4-BE49-F238E27FC236}">
                    <a16:creationId xmlns:a16="http://schemas.microsoft.com/office/drawing/2014/main" id="{7B29021B-4529-0241-8204-11AABD02C86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19800" y="42862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2" name="Line 23">
                <a:extLst>
                  <a:ext uri="{FF2B5EF4-FFF2-40B4-BE49-F238E27FC236}">
                    <a16:creationId xmlns:a16="http://schemas.microsoft.com/office/drawing/2014/main" id="{EEBEEE73-B8E9-0E4C-938F-1ACB65EFA6A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00800" y="42862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3" name="Line 24">
                <a:extLst>
                  <a:ext uri="{FF2B5EF4-FFF2-40B4-BE49-F238E27FC236}">
                    <a16:creationId xmlns:a16="http://schemas.microsoft.com/office/drawing/2014/main" id="{2AB9C5D7-83DF-004A-AC21-CA1903DAFD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81800" y="42862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4" name="Line 25">
                <a:extLst>
                  <a:ext uri="{FF2B5EF4-FFF2-40B4-BE49-F238E27FC236}">
                    <a16:creationId xmlns:a16="http://schemas.microsoft.com/office/drawing/2014/main" id="{DE1B7E20-4288-4D4A-883A-515C2065DE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62800" y="42862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5" name="Line 26">
                <a:extLst>
                  <a:ext uri="{FF2B5EF4-FFF2-40B4-BE49-F238E27FC236}">
                    <a16:creationId xmlns:a16="http://schemas.microsoft.com/office/drawing/2014/main" id="{28597FF2-D652-C044-956D-B645B369B85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543800" y="42862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6" name="Line 27">
                <a:extLst>
                  <a:ext uri="{FF2B5EF4-FFF2-40B4-BE49-F238E27FC236}">
                    <a16:creationId xmlns:a16="http://schemas.microsoft.com/office/drawing/2014/main" id="{ECF95D1A-E63C-B343-9CF7-FAE689F0B4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81800" y="42862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7" name="Line 28">
                <a:extLst>
                  <a:ext uri="{FF2B5EF4-FFF2-40B4-BE49-F238E27FC236}">
                    <a16:creationId xmlns:a16="http://schemas.microsoft.com/office/drawing/2014/main" id="{BB41BF18-3452-8F48-BC23-093BACB41B9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62800" y="42862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8" name="Line 29">
                <a:extLst>
                  <a:ext uri="{FF2B5EF4-FFF2-40B4-BE49-F238E27FC236}">
                    <a16:creationId xmlns:a16="http://schemas.microsoft.com/office/drawing/2014/main" id="{41919C4B-24A2-2243-9401-8298666709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543800" y="42862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29" name="Line 30">
                <a:extLst>
                  <a:ext uri="{FF2B5EF4-FFF2-40B4-BE49-F238E27FC236}">
                    <a16:creationId xmlns:a16="http://schemas.microsoft.com/office/drawing/2014/main" id="{5D535D09-B7B7-BC44-ABEC-8415C1B148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924800" y="42862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0" name="Line 9">
                <a:extLst>
                  <a:ext uri="{FF2B5EF4-FFF2-40B4-BE49-F238E27FC236}">
                    <a16:creationId xmlns:a16="http://schemas.microsoft.com/office/drawing/2014/main" id="{A7649233-8A76-0145-9BE6-5FD8083572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38243" y="4362450"/>
                <a:ext cx="69342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31" name="Line 31">
                <a:extLst>
                  <a:ext uri="{FF2B5EF4-FFF2-40B4-BE49-F238E27FC236}">
                    <a16:creationId xmlns:a16="http://schemas.microsoft.com/office/drawing/2014/main" id="{AD0D8EB7-3B4B-C941-B644-95CABA66F43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38243" y="5124450"/>
                <a:ext cx="69342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32" name="Line 33">
                <a:extLst>
                  <a:ext uri="{FF2B5EF4-FFF2-40B4-BE49-F238E27FC236}">
                    <a16:creationId xmlns:a16="http://schemas.microsoft.com/office/drawing/2014/main" id="{0B182CD3-293A-F14A-823D-845499D6AA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8800" y="50482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33" name="Line 34">
                <a:extLst>
                  <a:ext uri="{FF2B5EF4-FFF2-40B4-BE49-F238E27FC236}">
                    <a16:creationId xmlns:a16="http://schemas.microsoft.com/office/drawing/2014/main" id="{A74C34B3-DEE7-8C4E-8373-1815F1FBF3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9800" y="50482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34" name="Line 35">
                <a:extLst>
                  <a:ext uri="{FF2B5EF4-FFF2-40B4-BE49-F238E27FC236}">
                    <a16:creationId xmlns:a16="http://schemas.microsoft.com/office/drawing/2014/main" id="{0ED57470-84E3-2948-9FC8-081D521DFE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0800" y="50482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35" name="Line 36">
                <a:extLst>
                  <a:ext uri="{FF2B5EF4-FFF2-40B4-BE49-F238E27FC236}">
                    <a16:creationId xmlns:a16="http://schemas.microsoft.com/office/drawing/2014/main" id="{3DBF969B-3698-7146-9E08-29E0AC2AF4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1800" y="50482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36" name="Line 37">
                <a:extLst>
                  <a:ext uri="{FF2B5EF4-FFF2-40B4-BE49-F238E27FC236}">
                    <a16:creationId xmlns:a16="http://schemas.microsoft.com/office/drawing/2014/main" id="{78169A49-C763-EF4E-8972-F556007D27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52800" y="50482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37" name="Line 38">
                <a:extLst>
                  <a:ext uri="{FF2B5EF4-FFF2-40B4-BE49-F238E27FC236}">
                    <a16:creationId xmlns:a16="http://schemas.microsoft.com/office/drawing/2014/main" id="{F75E3789-2D99-3A49-9C76-EA9E9DBA9F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33800" y="50482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38" name="Line 39">
                <a:extLst>
                  <a:ext uri="{FF2B5EF4-FFF2-40B4-BE49-F238E27FC236}">
                    <a16:creationId xmlns:a16="http://schemas.microsoft.com/office/drawing/2014/main" id="{5FA0AB05-185E-B14A-860C-2B9D50844F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14800" y="50482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39" name="Line 40">
                <a:extLst>
                  <a:ext uri="{FF2B5EF4-FFF2-40B4-BE49-F238E27FC236}">
                    <a16:creationId xmlns:a16="http://schemas.microsoft.com/office/drawing/2014/main" id="{3AB4FACA-C409-C041-BF69-0413EA06A8A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95800" y="50482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40" name="Line 41">
                <a:extLst>
                  <a:ext uri="{FF2B5EF4-FFF2-40B4-BE49-F238E27FC236}">
                    <a16:creationId xmlns:a16="http://schemas.microsoft.com/office/drawing/2014/main" id="{F2EDF69F-4EC9-934F-83BA-8E69737C8B9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76800" y="50482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41" name="Line 42">
                <a:extLst>
                  <a:ext uri="{FF2B5EF4-FFF2-40B4-BE49-F238E27FC236}">
                    <a16:creationId xmlns:a16="http://schemas.microsoft.com/office/drawing/2014/main" id="{096C35BD-ABCF-1746-BE5E-E7B944FB099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57800" y="50482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42" name="Line 43">
                <a:extLst>
                  <a:ext uri="{FF2B5EF4-FFF2-40B4-BE49-F238E27FC236}">
                    <a16:creationId xmlns:a16="http://schemas.microsoft.com/office/drawing/2014/main" id="{030F31B3-25AB-7E4D-8D8A-FA10E6EAA3A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38800" y="50482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43" name="Line 44">
                <a:extLst>
                  <a:ext uri="{FF2B5EF4-FFF2-40B4-BE49-F238E27FC236}">
                    <a16:creationId xmlns:a16="http://schemas.microsoft.com/office/drawing/2014/main" id="{710A480E-9A92-F042-9504-C718DD00E2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19800" y="50482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44" name="Line 45">
                <a:extLst>
                  <a:ext uri="{FF2B5EF4-FFF2-40B4-BE49-F238E27FC236}">
                    <a16:creationId xmlns:a16="http://schemas.microsoft.com/office/drawing/2014/main" id="{96B61919-2AE4-334B-80E9-EE55E621E7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00800" y="50482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45" name="Line 46">
                <a:extLst>
                  <a:ext uri="{FF2B5EF4-FFF2-40B4-BE49-F238E27FC236}">
                    <a16:creationId xmlns:a16="http://schemas.microsoft.com/office/drawing/2014/main" id="{B75197F7-D073-7F46-8A5E-20A0EA23A51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81800" y="50482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46" name="Line 47">
                <a:extLst>
                  <a:ext uri="{FF2B5EF4-FFF2-40B4-BE49-F238E27FC236}">
                    <a16:creationId xmlns:a16="http://schemas.microsoft.com/office/drawing/2014/main" id="{37AB7835-2756-3841-A1FA-F20906608D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62800" y="50482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47" name="Line 48">
                <a:extLst>
                  <a:ext uri="{FF2B5EF4-FFF2-40B4-BE49-F238E27FC236}">
                    <a16:creationId xmlns:a16="http://schemas.microsoft.com/office/drawing/2014/main" id="{1E23F856-82D8-8847-926B-B3797D9879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543800" y="50482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48" name="Line 49">
                <a:extLst>
                  <a:ext uri="{FF2B5EF4-FFF2-40B4-BE49-F238E27FC236}">
                    <a16:creationId xmlns:a16="http://schemas.microsoft.com/office/drawing/2014/main" id="{0D284A91-9FDB-8040-BED0-7C749F8410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81800" y="50482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49" name="Line 50">
                <a:extLst>
                  <a:ext uri="{FF2B5EF4-FFF2-40B4-BE49-F238E27FC236}">
                    <a16:creationId xmlns:a16="http://schemas.microsoft.com/office/drawing/2014/main" id="{DC5EE435-FFF8-154B-A1B9-AEA4B690D95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62800" y="50482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50" name="Line 51">
                <a:extLst>
                  <a:ext uri="{FF2B5EF4-FFF2-40B4-BE49-F238E27FC236}">
                    <a16:creationId xmlns:a16="http://schemas.microsoft.com/office/drawing/2014/main" id="{52B24566-B660-0349-96A9-341235999D9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543800" y="50482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52" name="Line 53">
                <a:extLst>
                  <a:ext uri="{FF2B5EF4-FFF2-40B4-BE49-F238E27FC236}">
                    <a16:creationId xmlns:a16="http://schemas.microsoft.com/office/drawing/2014/main" id="{C96F5541-37A8-C441-A60F-8C008C6232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38243" y="5886450"/>
                <a:ext cx="6934200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53" name="Line 55">
                <a:extLst>
                  <a:ext uri="{FF2B5EF4-FFF2-40B4-BE49-F238E27FC236}">
                    <a16:creationId xmlns:a16="http://schemas.microsoft.com/office/drawing/2014/main" id="{C55F6955-32DE-4247-912D-7008EFEA93F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828800" y="58102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54" name="Line 56">
                <a:extLst>
                  <a:ext uri="{FF2B5EF4-FFF2-40B4-BE49-F238E27FC236}">
                    <a16:creationId xmlns:a16="http://schemas.microsoft.com/office/drawing/2014/main" id="{BB01D894-1BBD-7348-88D9-3659CA4722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209800" y="58102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55" name="Line 57">
                <a:extLst>
                  <a:ext uri="{FF2B5EF4-FFF2-40B4-BE49-F238E27FC236}">
                    <a16:creationId xmlns:a16="http://schemas.microsoft.com/office/drawing/2014/main" id="{30E659C1-7945-7D4F-ABF7-FC8A333E2D0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590800" y="58102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56" name="Line 58">
                <a:extLst>
                  <a:ext uri="{FF2B5EF4-FFF2-40B4-BE49-F238E27FC236}">
                    <a16:creationId xmlns:a16="http://schemas.microsoft.com/office/drawing/2014/main" id="{23B03753-41D4-E746-93C5-7A240C4D7B7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71800" y="58102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57" name="Line 59">
                <a:extLst>
                  <a:ext uri="{FF2B5EF4-FFF2-40B4-BE49-F238E27FC236}">
                    <a16:creationId xmlns:a16="http://schemas.microsoft.com/office/drawing/2014/main" id="{475E0C0D-05DD-F245-8037-07AC4D02CDB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52800" y="58102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58" name="Line 60">
                <a:extLst>
                  <a:ext uri="{FF2B5EF4-FFF2-40B4-BE49-F238E27FC236}">
                    <a16:creationId xmlns:a16="http://schemas.microsoft.com/office/drawing/2014/main" id="{E64357B6-7C94-904D-86E3-7F9DC73F4A3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33800" y="58102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59" name="Line 61">
                <a:extLst>
                  <a:ext uri="{FF2B5EF4-FFF2-40B4-BE49-F238E27FC236}">
                    <a16:creationId xmlns:a16="http://schemas.microsoft.com/office/drawing/2014/main" id="{292F1DBF-4BAF-1A48-B2EF-AEB0DDD472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114800" y="58102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60" name="Line 62">
                <a:extLst>
                  <a:ext uri="{FF2B5EF4-FFF2-40B4-BE49-F238E27FC236}">
                    <a16:creationId xmlns:a16="http://schemas.microsoft.com/office/drawing/2014/main" id="{AB0247FB-4487-D245-8BB9-C4E5C68997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495800" y="58102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61" name="Line 63">
                <a:extLst>
                  <a:ext uri="{FF2B5EF4-FFF2-40B4-BE49-F238E27FC236}">
                    <a16:creationId xmlns:a16="http://schemas.microsoft.com/office/drawing/2014/main" id="{F833D54F-B4A3-864A-800E-95B9FA5F46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76800" y="58102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62" name="Line 64">
                <a:extLst>
                  <a:ext uri="{FF2B5EF4-FFF2-40B4-BE49-F238E27FC236}">
                    <a16:creationId xmlns:a16="http://schemas.microsoft.com/office/drawing/2014/main" id="{F7829FA0-D479-D34D-999F-CDB64672F70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257800" y="58102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63" name="Line 65">
                <a:extLst>
                  <a:ext uri="{FF2B5EF4-FFF2-40B4-BE49-F238E27FC236}">
                    <a16:creationId xmlns:a16="http://schemas.microsoft.com/office/drawing/2014/main" id="{E0B61D5E-A681-DF4E-970C-FFB3359B327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638800" y="58102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64" name="Line 66">
                <a:extLst>
                  <a:ext uri="{FF2B5EF4-FFF2-40B4-BE49-F238E27FC236}">
                    <a16:creationId xmlns:a16="http://schemas.microsoft.com/office/drawing/2014/main" id="{C9011647-A79F-C04C-95BC-6518471CFB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019800" y="58102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65" name="Line 67">
                <a:extLst>
                  <a:ext uri="{FF2B5EF4-FFF2-40B4-BE49-F238E27FC236}">
                    <a16:creationId xmlns:a16="http://schemas.microsoft.com/office/drawing/2014/main" id="{DB29C545-BD19-7047-8891-E3AAC5900C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400800" y="58102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66" name="Line 68">
                <a:extLst>
                  <a:ext uri="{FF2B5EF4-FFF2-40B4-BE49-F238E27FC236}">
                    <a16:creationId xmlns:a16="http://schemas.microsoft.com/office/drawing/2014/main" id="{663467CF-B236-094F-97EF-3EB554209D4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81800" y="58102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67" name="Line 69">
                <a:extLst>
                  <a:ext uri="{FF2B5EF4-FFF2-40B4-BE49-F238E27FC236}">
                    <a16:creationId xmlns:a16="http://schemas.microsoft.com/office/drawing/2014/main" id="{BEBAACCB-E553-514C-88D5-52728731CC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62800" y="58102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68" name="Line 70">
                <a:extLst>
                  <a:ext uri="{FF2B5EF4-FFF2-40B4-BE49-F238E27FC236}">
                    <a16:creationId xmlns:a16="http://schemas.microsoft.com/office/drawing/2014/main" id="{71BD0B2D-A2DD-0C4D-92A6-962ABA2076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543800" y="58102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69" name="Line 71">
                <a:extLst>
                  <a:ext uri="{FF2B5EF4-FFF2-40B4-BE49-F238E27FC236}">
                    <a16:creationId xmlns:a16="http://schemas.microsoft.com/office/drawing/2014/main" id="{98EB32E0-E9A2-964F-91D6-2C818D584C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781800" y="58102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70" name="Line 72">
                <a:extLst>
                  <a:ext uri="{FF2B5EF4-FFF2-40B4-BE49-F238E27FC236}">
                    <a16:creationId xmlns:a16="http://schemas.microsoft.com/office/drawing/2014/main" id="{236CEC5A-8381-B246-9B80-205D4C829B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162800" y="58102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71" name="Line 73">
                <a:extLst>
                  <a:ext uri="{FF2B5EF4-FFF2-40B4-BE49-F238E27FC236}">
                    <a16:creationId xmlns:a16="http://schemas.microsoft.com/office/drawing/2014/main" id="{727B94EE-736F-D846-AA63-0BC611CE7A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543800" y="58102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72" name="Line 74">
                <a:extLst>
                  <a:ext uri="{FF2B5EF4-FFF2-40B4-BE49-F238E27FC236}">
                    <a16:creationId xmlns:a16="http://schemas.microsoft.com/office/drawing/2014/main" id="{CFBECFB4-609E-5B49-97E3-FADB7AE280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924800" y="58102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  <p:sp>
            <p:nvSpPr>
              <p:cNvPr id="173" name="Text Box 75">
                <a:extLst>
                  <a:ext uri="{FF2B5EF4-FFF2-40B4-BE49-F238E27FC236}">
                    <a16:creationId xmlns:a16="http://schemas.microsoft.com/office/drawing/2014/main" id="{95653C08-68DC-B84A-BB6A-7EB39EBDC18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95400" y="5938837"/>
                <a:ext cx="60960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u="sng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u="sng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u="sng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u="sng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u="sng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u="none" dirty="0">
                    <a:latin typeface="Gill Sans Light" panose="020B0302020104020203" pitchFamily="34" charset="-79"/>
                    <a:ea typeface="Gill Sans" charset="0"/>
                    <a:cs typeface="Gill Sans Light" panose="020B0302020104020203" pitchFamily="34" charset="-79"/>
                  </a:rPr>
                  <a:t>0</a:t>
                </a:r>
              </a:p>
            </p:txBody>
          </p:sp>
          <p:sp>
            <p:nvSpPr>
              <p:cNvPr id="174" name="Text Box 76">
                <a:extLst>
                  <a:ext uri="{FF2B5EF4-FFF2-40B4-BE49-F238E27FC236}">
                    <a16:creationId xmlns:a16="http://schemas.microsoft.com/office/drawing/2014/main" id="{A7997E60-BE3E-654B-BEA8-1BB745F6152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00400" y="5943600"/>
                <a:ext cx="609600" cy="3667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u="sng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u="sng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u="sng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u="sng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u="sng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u="none">
                    <a:latin typeface="Gill Sans Light" panose="020B0302020104020203" pitchFamily="34" charset="-79"/>
                    <a:ea typeface="Gill Sans" charset="0"/>
                    <a:cs typeface="Gill Sans Light" panose="020B0302020104020203" pitchFamily="34" charset="-79"/>
                  </a:rPr>
                  <a:t>5</a:t>
                </a:r>
              </a:p>
            </p:txBody>
          </p:sp>
          <p:sp>
            <p:nvSpPr>
              <p:cNvPr id="175" name="Text Box 77">
                <a:extLst>
                  <a:ext uri="{FF2B5EF4-FFF2-40B4-BE49-F238E27FC236}">
                    <a16:creationId xmlns:a16="http://schemas.microsoft.com/office/drawing/2014/main" id="{3F1D7E3F-48A4-8F4D-BAF7-28EC3628CF0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029200" y="5943600"/>
                <a:ext cx="609600" cy="3667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u="sng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u="sng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u="sng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u="sng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u="sng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u="none">
                    <a:latin typeface="Gill Sans Light" panose="020B0302020104020203" pitchFamily="34" charset="-79"/>
                    <a:ea typeface="Gill Sans" charset="0"/>
                    <a:cs typeface="Gill Sans Light" panose="020B0302020104020203" pitchFamily="34" charset="-79"/>
                  </a:rPr>
                  <a:t>10</a:t>
                </a:r>
              </a:p>
            </p:txBody>
          </p:sp>
          <p:sp>
            <p:nvSpPr>
              <p:cNvPr id="176" name="Text Box 78">
                <a:extLst>
                  <a:ext uri="{FF2B5EF4-FFF2-40B4-BE49-F238E27FC236}">
                    <a16:creationId xmlns:a16="http://schemas.microsoft.com/office/drawing/2014/main" id="{FE252842-CDE4-3240-BA3E-840C17BD9C9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6934200" y="5957887"/>
                <a:ext cx="609600" cy="3667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=""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 u="sng">
                    <a:solidFill>
                      <a:schemeClr val="tx1"/>
                    </a:solidFill>
                    <a:latin typeface="Arial" charset="0"/>
                  </a:defRPr>
                </a:lvl1pPr>
                <a:lvl2pPr marL="742950" indent="-285750" eaLnBrk="0" hangingPunct="0">
                  <a:defRPr u="sng">
                    <a:solidFill>
                      <a:schemeClr val="tx1"/>
                    </a:solidFill>
                    <a:latin typeface="Arial" charset="0"/>
                  </a:defRPr>
                </a:lvl2pPr>
                <a:lvl3pPr marL="1143000" indent="-228600" eaLnBrk="0" hangingPunct="0">
                  <a:defRPr u="sng">
                    <a:solidFill>
                      <a:schemeClr val="tx1"/>
                    </a:solidFill>
                    <a:latin typeface="Arial" charset="0"/>
                  </a:defRPr>
                </a:lvl3pPr>
                <a:lvl4pPr marL="1600200" indent="-228600" eaLnBrk="0" hangingPunct="0">
                  <a:defRPr u="sng">
                    <a:solidFill>
                      <a:schemeClr val="tx1"/>
                    </a:solidFill>
                    <a:latin typeface="Arial" charset="0"/>
                  </a:defRPr>
                </a:lvl4pPr>
                <a:lvl5pPr marL="2057400" indent="-228600" eaLnBrk="0" hangingPunct="0">
                  <a:defRPr u="sng">
                    <a:solidFill>
                      <a:schemeClr val="tx1"/>
                    </a:solidFill>
                    <a:latin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>
                    <a:solidFill>
                      <a:schemeClr val="tx1"/>
                    </a:solidFill>
                    <a:latin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>
                    <a:solidFill>
                      <a:schemeClr val="tx1"/>
                    </a:solidFill>
                    <a:latin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>
                    <a:solidFill>
                      <a:schemeClr val="tx1"/>
                    </a:solidFill>
                    <a:latin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u="sng">
                    <a:solidFill>
                      <a:schemeClr val="tx1"/>
                    </a:solidFill>
                    <a:latin typeface="Arial" charset="0"/>
                  </a:defRPr>
                </a:lvl9pPr>
              </a:lstStyle>
              <a:p>
                <a:pPr eaLnBrk="1" hangingPunct="1">
                  <a:spcBef>
                    <a:spcPct val="50000"/>
                  </a:spcBef>
                </a:pPr>
                <a:r>
                  <a:rPr lang="en-US" u="none">
                    <a:latin typeface="Gill Sans Light" panose="020B0302020104020203" pitchFamily="34" charset="-79"/>
                    <a:ea typeface="Gill Sans" charset="0"/>
                    <a:cs typeface="Gill Sans Light" panose="020B0302020104020203" pitchFamily="34" charset="-79"/>
                  </a:rPr>
                  <a:t>15</a:t>
                </a:r>
              </a:p>
            </p:txBody>
          </p:sp>
          <p:sp>
            <p:nvSpPr>
              <p:cNvPr id="177" name="TextBox 176">
                <a:extLst>
                  <a:ext uri="{FF2B5EF4-FFF2-40B4-BE49-F238E27FC236}">
                    <a16:creationId xmlns:a16="http://schemas.microsoft.com/office/drawing/2014/main" id="{59BB381F-0164-0248-BF93-17CD30BE4D09}"/>
                  </a:ext>
                </a:extLst>
              </p:cNvPr>
              <p:cNvSpPr txBox="1"/>
              <p:nvPr/>
            </p:nvSpPr>
            <p:spPr>
              <a:xfrm>
                <a:off x="204178" y="4020621"/>
                <a:ext cx="9508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T</a:t>
                </a:r>
                <a:r>
                  <a:rPr lang="en-US" baseline="-2500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1</a:t>
                </a:r>
                <a:r>
                  <a:rPr lang="en-US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: (3, 1)</a:t>
                </a:r>
              </a:p>
            </p:txBody>
          </p:sp>
          <p:sp>
            <p:nvSpPr>
              <p:cNvPr id="178" name="TextBox 177">
                <a:extLst>
                  <a:ext uri="{FF2B5EF4-FFF2-40B4-BE49-F238E27FC236}">
                    <a16:creationId xmlns:a16="http://schemas.microsoft.com/office/drawing/2014/main" id="{925CF4DA-F5CF-C44D-A7C9-271BC4406291}"/>
                  </a:ext>
                </a:extLst>
              </p:cNvPr>
              <p:cNvSpPr txBox="1"/>
              <p:nvPr/>
            </p:nvSpPr>
            <p:spPr>
              <a:xfrm>
                <a:off x="204177" y="4790836"/>
                <a:ext cx="9508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T</a:t>
                </a:r>
                <a:r>
                  <a:rPr lang="en-US" baseline="-2500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2</a:t>
                </a:r>
                <a:r>
                  <a:rPr lang="en-US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: (5, 2)</a:t>
                </a:r>
              </a:p>
            </p:txBody>
          </p:sp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97B08D5D-8BA8-E746-B5B2-9F9FD6437442}"/>
                  </a:ext>
                </a:extLst>
              </p:cNvPr>
              <p:cNvSpPr txBox="1"/>
              <p:nvPr/>
            </p:nvSpPr>
            <p:spPr>
              <a:xfrm>
                <a:off x="204177" y="5544621"/>
                <a:ext cx="95083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T</a:t>
                </a:r>
                <a:r>
                  <a:rPr lang="en-US" baseline="-25000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3</a:t>
                </a:r>
                <a:r>
                  <a:rPr lang="en-US" dirty="0">
                    <a:latin typeface="Gill Sans Light" panose="020B0302020104020203" pitchFamily="34" charset="-79"/>
                    <a:cs typeface="Gill Sans Light" panose="020B0302020104020203" pitchFamily="34" charset="-79"/>
                  </a:rPr>
                  <a:t>: (8, 2)</a:t>
                </a:r>
              </a:p>
            </p:txBody>
          </p:sp>
          <p:sp>
            <p:nvSpPr>
              <p:cNvPr id="151" name="Line 52">
                <a:extLst>
                  <a:ext uri="{FF2B5EF4-FFF2-40B4-BE49-F238E27FC236}">
                    <a16:creationId xmlns:a16="http://schemas.microsoft.com/office/drawing/2014/main" id="{4B0E9048-6442-4A4F-A4FE-BCD24508D91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7924800" y="5048250"/>
                <a:ext cx="0" cy="1524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b="0">
                  <a:latin typeface="Gill Sans" charset="0"/>
                  <a:ea typeface="Gill Sans" charset="0"/>
                  <a:cs typeface="Gill Sans" charset="0"/>
                </a:endParaRPr>
              </a:p>
            </p:txBody>
          </p:sp>
        </p:grpSp>
        <p:sp>
          <p:nvSpPr>
            <p:cNvPr id="180" name="Line 85">
              <a:extLst>
                <a:ext uri="{FF2B5EF4-FFF2-40B4-BE49-F238E27FC236}">
                  <a16:creationId xmlns:a16="http://schemas.microsoft.com/office/drawing/2014/main" id="{49133799-84EC-0749-B74B-3B38E50C8B0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74848" y="4093160"/>
              <a:ext cx="0" cy="3169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1" name="Line 91">
              <a:extLst>
                <a:ext uri="{FF2B5EF4-FFF2-40B4-BE49-F238E27FC236}">
                  <a16:creationId xmlns:a16="http://schemas.microsoft.com/office/drawing/2014/main" id="{D874C330-4613-6448-9025-B102179F625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25773" y="4093160"/>
              <a:ext cx="0" cy="3169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2" name="Line 97">
              <a:extLst>
                <a:ext uri="{FF2B5EF4-FFF2-40B4-BE49-F238E27FC236}">
                  <a16:creationId xmlns:a16="http://schemas.microsoft.com/office/drawing/2014/main" id="{30C7F832-5E10-9042-B124-3772DA11B1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82266" y="4089197"/>
              <a:ext cx="0" cy="3169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83" name="Line 99">
              <a:extLst>
                <a:ext uri="{FF2B5EF4-FFF2-40B4-BE49-F238E27FC236}">
                  <a16:creationId xmlns:a16="http://schemas.microsoft.com/office/drawing/2014/main" id="{5F4B3A29-A812-2145-BF37-352C2D5662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927601" y="4089197"/>
              <a:ext cx="0" cy="3169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4" name="Line 99">
              <a:extLst>
                <a:ext uri="{FF2B5EF4-FFF2-40B4-BE49-F238E27FC236}">
                  <a16:creationId xmlns:a16="http://schemas.microsoft.com/office/drawing/2014/main" id="{760EF680-242F-D24D-BB81-DB1E1F3245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78008" y="4089197"/>
              <a:ext cx="0" cy="3169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85" name="Line 86">
              <a:extLst>
                <a:ext uri="{FF2B5EF4-FFF2-40B4-BE49-F238E27FC236}">
                  <a16:creationId xmlns:a16="http://schemas.microsoft.com/office/drawing/2014/main" id="{E87B418F-2A2D-ED40-A28E-1D494A17AC5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08801" y="4727102"/>
              <a:ext cx="0" cy="3169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86" name="Line 87">
              <a:extLst>
                <a:ext uri="{FF2B5EF4-FFF2-40B4-BE49-F238E27FC236}">
                  <a16:creationId xmlns:a16="http://schemas.microsoft.com/office/drawing/2014/main" id="{A3F8BF8D-C416-E947-80A9-41DD23C40AB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659716" y="5361045"/>
              <a:ext cx="0" cy="3169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87" name="Line 92">
              <a:extLst>
                <a:ext uri="{FF2B5EF4-FFF2-40B4-BE49-F238E27FC236}">
                  <a16:creationId xmlns:a16="http://schemas.microsoft.com/office/drawing/2014/main" id="{5F2CC7A8-2309-9F47-B9C5-CD15CB38B4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93658" y="4727102"/>
              <a:ext cx="0" cy="3169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88" name="Line 93">
              <a:extLst>
                <a:ext uri="{FF2B5EF4-FFF2-40B4-BE49-F238E27FC236}">
                  <a16:creationId xmlns:a16="http://schemas.microsoft.com/office/drawing/2014/main" id="{88C0128A-952A-9E43-97F1-9723256F93D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95487" y="5361045"/>
              <a:ext cx="0" cy="3169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89" name="Line 98">
              <a:extLst>
                <a:ext uri="{FF2B5EF4-FFF2-40B4-BE49-F238E27FC236}">
                  <a16:creationId xmlns:a16="http://schemas.microsoft.com/office/drawing/2014/main" id="{A91DED0C-128F-E54B-87D1-E70EB6E854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878515" y="4723140"/>
              <a:ext cx="0" cy="3169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90" name="Line 82">
              <a:extLst>
                <a:ext uri="{FF2B5EF4-FFF2-40B4-BE49-F238E27FC236}">
                  <a16:creationId xmlns:a16="http://schemas.microsoft.com/office/drawing/2014/main" id="{9D01588B-05D4-B94E-A29B-B48EC20F648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34936" y="4093160"/>
              <a:ext cx="0" cy="3169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dirty="0"/>
            </a:p>
          </p:txBody>
        </p:sp>
        <p:sp>
          <p:nvSpPr>
            <p:cNvPr id="191" name="Line 83">
              <a:extLst>
                <a:ext uri="{FF2B5EF4-FFF2-40B4-BE49-F238E27FC236}">
                  <a16:creationId xmlns:a16="http://schemas.microsoft.com/office/drawing/2014/main" id="{2FCFDFA0-3F0A-2446-9A33-81F48C3A350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34936" y="4727102"/>
              <a:ext cx="0" cy="3169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92" name="Line 84">
              <a:extLst>
                <a:ext uri="{FF2B5EF4-FFF2-40B4-BE49-F238E27FC236}">
                  <a16:creationId xmlns:a16="http://schemas.microsoft.com/office/drawing/2014/main" id="{1D44BA13-5224-A54C-9501-BA4F4D85188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34936" y="5361045"/>
              <a:ext cx="0" cy="3169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4506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1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3" grpId="0" animBg="1"/>
      <p:bldP spid="194" grpId="0" animBg="1"/>
      <p:bldP spid="195" grpId="0" animBg="1"/>
      <p:bldP spid="196" grpId="0" animBg="1"/>
      <p:bldP spid="197" grpId="0" animBg="1"/>
      <p:bldP spid="18444" grpId="0" uiExpand="1" build="p"/>
      <p:bldP spid="99" grpId="0" animBg="1"/>
      <p:bldP spid="100" grpId="0" animBg="1"/>
      <p:bldP spid="101" grpId="0" animBg="1"/>
      <p:bldP spid="102" grpId="0" animBg="1"/>
      <p:bldP spid="103" grpId="0" animBg="1"/>
      <p:bldP spid="104" grpId="0" animBg="1"/>
      <p:bldP spid="10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7CC4B-035C-7845-BC20-33C75CED43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EDF: Schedulability Test </a:t>
            </a:r>
            <a:r>
              <a:rPr lang="en-US" sz="2000" dirty="0"/>
              <a:t>[</a:t>
            </a:r>
            <a:r>
              <a:rPr lang="en-CA" sz="2000" dirty="0"/>
              <a:t>Liu &amp; </a:t>
            </a:r>
            <a:r>
              <a:rPr lang="en-CA" sz="2000" dirty="0" err="1"/>
              <a:t>Layland</a:t>
            </a:r>
            <a:r>
              <a:rPr lang="en-CA" sz="2000" dirty="0"/>
              <a:t> 1973</a:t>
            </a:r>
            <a:r>
              <a:rPr lang="en-US" sz="2000" dirty="0"/>
              <a:t>]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6C0992-B10F-7242-BDDA-41BD0F368E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Even EDF won't work if you have too many tasks</a:t>
            </a:r>
          </a:p>
          <a:p>
            <a:r>
              <a:rPr lang="en-US" sz="2400" dirty="0"/>
              <a:t>For </a:t>
            </a:r>
            <a:r>
              <a:rPr lang="en-US" sz="2400" i="1" dirty="0"/>
              <a:t>n</a:t>
            </a:r>
            <a:r>
              <a:rPr lang="en-US" sz="2400" dirty="0"/>
              <a:t> periodic tasks with execution time </a:t>
            </a:r>
            <a:r>
              <a:rPr lang="en-US" sz="2400" i="1" dirty="0" err="1"/>
              <a:t>e</a:t>
            </a:r>
            <a:r>
              <a:rPr lang="en-US" sz="2400" i="1" baseline="-25000" dirty="0" err="1"/>
              <a:t>i</a:t>
            </a:r>
            <a:r>
              <a:rPr lang="en-US" sz="2400" dirty="0"/>
              <a:t> and deadline and period </a:t>
            </a:r>
            <a:r>
              <a:rPr lang="en-US" sz="2400" i="1" dirty="0"/>
              <a:t>p</a:t>
            </a:r>
            <a:r>
              <a:rPr lang="en-US" sz="2400" i="1" baseline="-25000" dirty="0"/>
              <a:t>i</a:t>
            </a:r>
            <a:r>
              <a:rPr lang="en-US" sz="2400" dirty="0"/>
              <a:t>, EDF is guaranteed to produce feasible schedule if</a:t>
            </a:r>
          </a:p>
          <a:p>
            <a:endParaRPr lang="en-US" sz="2400" dirty="0"/>
          </a:p>
          <a:p>
            <a:pPr lvl="1"/>
            <a:endParaRPr lang="en-US" sz="2000" dirty="0"/>
          </a:p>
          <a:p>
            <a:pPr lvl="1"/>
            <a:endParaRPr lang="en-US" sz="2000" dirty="0"/>
          </a:p>
          <a:p>
            <a:r>
              <a:rPr lang="en-US" sz="2400" dirty="0"/>
              <a:t>System is overloaded if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5F29FBE-5DEF-7449-8443-E8F9AB455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6619" y="3208580"/>
            <a:ext cx="1630763" cy="772010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24ABA7A-F818-7F45-83E8-9F2A642B6C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56619" y="5118001"/>
            <a:ext cx="1630763" cy="7720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9954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7DB4BB-DDBF-224D-B50B-46F4B32AB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/>
              <a:t>EDF schedule could be suboptimal for overloaded system</a:t>
            </a:r>
          </a:p>
          <a:p>
            <a:r>
              <a:rPr lang="en-US" sz="2400" dirty="0"/>
              <a:t>Domino effect example:  T</a:t>
            </a:r>
            <a:r>
              <a:rPr lang="en-US" sz="2400" baseline="-25000" dirty="0"/>
              <a:t>1</a:t>
            </a:r>
            <a:r>
              <a:rPr lang="en-US" sz="2400" dirty="0"/>
              <a:t>(4,3), T</a:t>
            </a:r>
            <a:r>
              <a:rPr lang="en-US" sz="2400" baseline="-25000" dirty="0"/>
              <a:t>2</a:t>
            </a:r>
            <a:r>
              <a:rPr lang="en-US" sz="2400" dirty="0"/>
              <a:t>(5,3), T</a:t>
            </a:r>
            <a:r>
              <a:rPr lang="en-US" sz="2400" baseline="-25000" dirty="0"/>
              <a:t>3</a:t>
            </a:r>
            <a:r>
              <a:rPr lang="en-US" sz="2400" dirty="0"/>
              <a:t>(6,3), T</a:t>
            </a:r>
            <a:r>
              <a:rPr lang="en-US" sz="2400" baseline="-25000" dirty="0"/>
              <a:t>4</a:t>
            </a:r>
            <a:r>
              <a:rPr lang="en-US" sz="2400" dirty="0"/>
              <a:t>(7,3)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US" sz="2400" dirty="0"/>
          </a:p>
          <a:p>
            <a:r>
              <a:rPr lang="en-US" sz="2400" dirty="0"/>
              <a:t>Better schedules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D5FEA80-4421-1D46-8715-53B565225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Overloaded System under EDF</a:t>
            </a:r>
          </a:p>
        </p:txBody>
      </p:sp>
      <p:grpSp>
        <p:nvGrpSpPr>
          <p:cNvPr id="74" name="Group 73">
            <a:extLst>
              <a:ext uri="{FF2B5EF4-FFF2-40B4-BE49-F238E27FC236}">
                <a16:creationId xmlns:a16="http://schemas.microsoft.com/office/drawing/2014/main" id="{0C21340E-42EB-0542-B08E-7D596C93ED26}"/>
              </a:ext>
            </a:extLst>
          </p:cNvPr>
          <p:cNvGrpSpPr/>
          <p:nvPr/>
        </p:nvGrpSpPr>
        <p:grpSpPr>
          <a:xfrm>
            <a:off x="1295400" y="3019425"/>
            <a:ext cx="4343400" cy="804862"/>
            <a:chOff x="1295400" y="3019425"/>
            <a:chExt cx="4343400" cy="804862"/>
          </a:xfrm>
        </p:grpSpPr>
        <p:sp>
          <p:nvSpPr>
            <p:cNvPr id="7" name="Rectangle 88">
              <a:extLst>
                <a:ext uri="{FF2B5EF4-FFF2-40B4-BE49-F238E27FC236}">
                  <a16:creationId xmlns:a16="http://schemas.microsoft.com/office/drawing/2014/main" id="{0F28788A-353D-0C49-85FD-A717898A35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9216" y="3019425"/>
              <a:ext cx="1136070" cy="3810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T</a:t>
              </a:r>
              <a:r>
                <a:rPr lang="en-US" sz="1600" baseline="-250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1</a:t>
              </a:r>
            </a:p>
          </p:txBody>
        </p:sp>
        <p:sp>
          <p:nvSpPr>
            <p:cNvPr id="37" name="Rectangle 88">
              <a:extLst>
                <a:ext uri="{FF2B5EF4-FFF2-40B4-BE49-F238E27FC236}">
                  <a16:creationId xmlns:a16="http://schemas.microsoft.com/office/drawing/2014/main" id="{D1C4B226-1D41-AD46-B3E7-F0502B14C0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3041" y="3019425"/>
              <a:ext cx="765263" cy="3810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T</a:t>
              </a:r>
              <a:r>
                <a:rPr lang="en-US" sz="1600" baseline="-250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2</a:t>
              </a:r>
            </a:p>
          </p:txBody>
        </p:sp>
        <p:sp>
          <p:nvSpPr>
            <p:cNvPr id="38" name="Rectangle 88">
              <a:extLst>
                <a:ext uri="{FF2B5EF4-FFF2-40B4-BE49-F238E27FC236}">
                  <a16:creationId xmlns:a16="http://schemas.microsoft.com/office/drawing/2014/main" id="{6ED33E0B-F017-2448-822A-D3085B20BA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52799" y="3019425"/>
              <a:ext cx="383245" cy="3810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T</a:t>
              </a:r>
              <a:r>
                <a:rPr lang="en-US" sz="1600" baseline="-250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3</a:t>
              </a:r>
            </a:p>
          </p:txBody>
        </p:sp>
        <p:sp>
          <p:nvSpPr>
            <p:cNvPr id="39" name="Rectangle 88">
              <a:extLst>
                <a:ext uri="{FF2B5EF4-FFF2-40B4-BE49-F238E27FC236}">
                  <a16:creationId xmlns:a16="http://schemas.microsoft.com/office/drawing/2014/main" id="{94ACF76A-E70A-B34F-8584-4C527E13A3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36044" y="3019425"/>
              <a:ext cx="380998" cy="381000"/>
            </a:xfrm>
            <a:prstGeom prst="rect">
              <a:avLst/>
            </a:prstGeom>
            <a:solidFill>
              <a:schemeClr val="accent6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T</a:t>
              </a:r>
              <a:r>
                <a:rPr lang="en-US" sz="1600" baseline="-250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4</a:t>
              </a:r>
            </a:p>
          </p:txBody>
        </p:sp>
        <p:sp>
          <p:nvSpPr>
            <p:cNvPr id="10" name="Line 53">
              <a:extLst>
                <a:ext uri="{FF2B5EF4-FFF2-40B4-BE49-F238E27FC236}">
                  <a16:creationId xmlns:a16="http://schemas.microsoft.com/office/drawing/2014/main" id="{4A2E4D0D-2AC2-BE42-AEB5-3A37566CC09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7800" y="3400425"/>
              <a:ext cx="40923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1" name="Line 55">
              <a:extLst>
                <a:ext uri="{FF2B5EF4-FFF2-40B4-BE49-F238E27FC236}">
                  <a16:creationId xmlns:a16="http://schemas.microsoft.com/office/drawing/2014/main" id="{65F9E5B1-31E2-204D-BA11-7AE39C477F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8800" y="3324225"/>
              <a:ext cx="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2" name="Line 56">
              <a:extLst>
                <a:ext uri="{FF2B5EF4-FFF2-40B4-BE49-F238E27FC236}">
                  <a16:creationId xmlns:a16="http://schemas.microsoft.com/office/drawing/2014/main" id="{8EE85F80-540B-AC43-9915-EDA3E48117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9800" y="3324225"/>
              <a:ext cx="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3" name="Line 57">
              <a:extLst>
                <a:ext uri="{FF2B5EF4-FFF2-40B4-BE49-F238E27FC236}">
                  <a16:creationId xmlns:a16="http://schemas.microsoft.com/office/drawing/2014/main" id="{2E6F95E0-655F-4D45-B4FB-89A41D4A77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0800" y="3324225"/>
              <a:ext cx="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4" name="Line 58">
              <a:extLst>
                <a:ext uri="{FF2B5EF4-FFF2-40B4-BE49-F238E27FC236}">
                  <a16:creationId xmlns:a16="http://schemas.microsoft.com/office/drawing/2014/main" id="{15A338D9-A488-094B-BDE7-5F85731327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800" y="3324225"/>
              <a:ext cx="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5" name="Line 59">
              <a:extLst>
                <a:ext uri="{FF2B5EF4-FFF2-40B4-BE49-F238E27FC236}">
                  <a16:creationId xmlns:a16="http://schemas.microsoft.com/office/drawing/2014/main" id="{23ADBC02-7854-6347-AB7A-6DD00DF051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2800" y="3324225"/>
              <a:ext cx="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6" name="Line 60">
              <a:extLst>
                <a:ext uri="{FF2B5EF4-FFF2-40B4-BE49-F238E27FC236}">
                  <a16:creationId xmlns:a16="http://schemas.microsoft.com/office/drawing/2014/main" id="{93C98433-C96E-0548-90C4-612963081F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3800" y="3324225"/>
              <a:ext cx="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7" name="Line 61">
              <a:extLst>
                <a:ext uri="{FF2B5EF4-FFF2-40B4-BE49-F238E27FC236}">
                  <a16:creationId xmlns:a16="http://schemas.microsoft.com/office/drawing/2014/main" id="{9FBDEF97-FDD0-DF4F-88B7-4F39BA63BC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4800" y="3324225"/>
              <a:ext cx="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8" name="Line 62">
              <a:extLst>
                <a:ext uri="{FF2B5EF4-FFF2-40B4-BE49-F238E27FC236}">
                  <a16:creationId xmlns:a16="http://schemas.microsoft.com/office/drawing/2014/main" id="{DEFF82C4-771C-2B41-9FF6-FAE6A83D9D3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5800" y="3324225"/>
              <a:ext cx="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9" name="Line 63">
              <a:extLst>
                <a:ext uri="{FF2B5EF4-FFF2-40B4-BE49-F238E27FC236}">
                  <a16:creationId xmlns:a16="http://schemas.microsoft.com/office/drawing/2014/main" id="{897AE922-379D-3142-89B1-1E400F13EA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6800" y="3324225"/>
              <a:ext cx="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0" name="Line 64">
              <a:extLst>
                <a:ext uri="{FF2B5EF4-FFF2-40B4-BE49-F238E27FC236}">
                  <a16:creationId xmlns:a16="http://schemas.microsoft.com/office/drawing/2014/main" id="{8772DA95-8140-3D44-9B9F-EAEA4BAD3E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7800" y="3324225"/>
              <a:ext cx="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31" name="Text Box 75">
              <a:extLst>
                <a:ext uri="{FF2B5EF4-FFF2-40B4-BE49-F238E27FC236}">
                  <a16:creationId xmlns:a16="http://schemas.microsoft.com/office/drawing/2014/main" id="{3E94F86B-A6B8-7040-ABA8-C0F505C94A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5400" y="3452812"/>
              <a:ext cx="6096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u="none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0</a:t>
              </a:r>
            </a:p>
          </p:txBody>
        </p:sp>
        <p:sp>
          <p:nvSpPr>
            <p:cNvPr id="32" name="Text Box 76">
              <a:extLst>
                <a:ext uri="{FF2B5EF4-FFF2-40B4-BE49-F238E27FC236}">
                  <a16:creationId xmlns:a16="http://schemas.microsoft.com/office/drawing/2014/main" id="{6A390E13-09E8-B248-BB25-5B6BF074F9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0400" y="3457575"/>
              <a:ext cx="60960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u="none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5</a:t>
              </a:r>
            </a:p>
          </p:txBody>
        </p:sp>
        <p:sp>
          <p:nvSpPr>
            <p:cNvPr id="33" name="Text Box 77">
              <a:extLst>
                <a:ext uri="{FF2B5EF4-FFF2-40B4-BE49-F238E27FC236}">
                  <a16:creationId xmlns:a16="http://schemas.microsoft.com/office/drawing/2014/main" id="{99455491-C1D6-C449-BB13-CD1078C0FB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9200" y="3457575"/>
              <a:ext cx="60960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u="none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10</a:t>
              </a: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3595461A-D412-BC41-B3BD-0E32F51937B8}"/>
              </a:ext>
            </a:extLst>
          </p:cNvPr>
          <p:cNvGrpSpPr/>
          <p:nvPr/>
        </p:nvGrpSpPr>
        <p:grpSpPr>
          <a:xfrm>
            <a:off x="1295400" y="4788567"/>
            <a:ext cx="4343400" cy="804862"/>
            <a:chOff x="1295400" y="4788567"/>
            <a:chExt cx="4343400" cy="804862"/>
          </a:xfrm>
        </p:grpSpPr>
        <p:sp>
          <p:nvSpPr>
            <p:cNvPr id="40" name="Rectangle 88">
              <a:extLst>
                <a:ext uri="{FF2B5EF4-FFF2-40B4-BE49-F238E27FC236}">
                  <a16:creationId xmlns:a16="http://schemas.microsoft.com/office/drawing/2014/main" id="{D7D3A4C0-23D8-4E41-A8FC-CE3D8C4821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9216" y="4788567"/>
              <a:ext cx="1131579" cy="3810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T</a:t>
              </a:r>
              <a:r>
                <a:rPr lang="en-US" sz="1600" baseline="-250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1</a:t>
              </a:r>
            </a:p>
          </p:txBody>
        </p:sp>
        <p:sp>
          <p:nvSpPr>
            <p:cNvPr id="41" name="Rectangle 88">
              <a:extLst>
                <a:ext uri="{FF2B5EF4-FFF2-40B4-BE49-F238E27FC236}">
                  <a16:creationId xmlns:a16="http://schemas.microsoft.com/office/drawing/2014/main" id="{E085BEAC-A76A-B049-9A96-9F578CC8E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0798" y="4788567"/>
              <a:ext cx="1142999" cy="3810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T</a:t>
              </a:r>
              <a:r>
                <a:rPr lang="en-US" sz="1600" baseline="-250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3</a:t>
              </a:r>
            </a:p>
          </p:txBody>
        </p:sp>
        <p:sp>
          <p:nvSpPr>
            <p:cNvPr id="44" name="Line 53">
              <a:extLst>
                <a:ext uri="{FF2B5EF4-FFF2-40B4-BE49-F238E27FC236}">
                  <a16:creationId xmlns:a16="http://schemas.microsoft.com/office/drawing/2014/main" id="{AD7651A8-5036-F548-8C1E-28E139A5CE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7800" y="5169567"/>
              <a:ext cx="40923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45" name="Line 55">
              <a:extLst>
                <a:ext uri="{FF2B5EF4-FFF2-40B4-BE49-F238E27FC236}">
                  <a16:creationId xmlns:a16="http://schemas.microsoft.com/office/drawing/2014/main" id="{23CD2B22-9B19-8C4C-8C3A-42D2657254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8800" y="5093367"/>
              <a:ext cx="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46" name="Line 56">
              <a:extLst>
                <a:ext uri="{FF2B5EF4-FFF2-40B4-BE49-F238E27FC236}">
                  <a16:creationId xmlns:a16="http://schemas.microsoft.com/office/drawing/2014/main" id="{CA2007BA-99C1-E64A-8CCE-D5415EE2F3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9800" y="5093367"/>
              <a:ext cx="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47" name="Line 57">
              <a:extLst>
                <a:ext uri="{FF2B5EF4-FFF2-40B4-BE49-F238E27FC236}">
                  <a16:creationId xmlns:a16="http://schemas.microsoft.com/office/drawing/2014/main" id="{669AAAC1-E73F-A04D-83A3-36679F4B28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0800" y="5093367"/>
              <a:ext cx="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48" name="Line 58">
              <a:extLst>
                <a:ext uri="{FF2B5EF4-FFF2-40B4-BE49-F238E27FC236}">
                  <a16:creationId xmlns:a16="http://schemas.microsoft.com/office/drawing/2014/main" id="{CCE0B396-01FE-2144-B36B-F3F742CD76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800" y="5093367"/>
              <a:ext cx="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49" name="Line 59">
              <a:extLst>
                <a:ext uri="{FF2B5EF4-FFF2-40B4-BE49-F238E27FC236}">
                  <a16:creationId xmlns:a16="http://schemas.microsoft.com/office/drawing/2014/main" id="{B8367214-386B-5248-AF4D-54A3D38130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2800" y="5093367"/>
              <a:ext cx="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50" name="Line 60">
              <a:extLst>
                <a:ext uri="{FF2B5EF4-FFF2-40B4-BE49-F238E27FC236}">
                  <a16:creationId xmlns:a16="http://schemas.microsoft.com/office/drawing/2014/main" id="{02421E46-1EF7-914F-804C-8BA95A089B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3800" y="5093367"/>
              <a:ext cx="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51" name="Line 61">
              <a:extLst>
                <a:ext uri="{FF2B5EF4-FFF2-40B4-BE49-F238E27FC236}">
                  <a16:creationId xmlns:a16="http://schemas.microsoft.com/office/drawing/2014/main" id="{2C8D3902-87B9-D841-B875-2C696B27A5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4800" y="5093367"/>
              <a:ext cx="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52" name="Line 62">
              <a:extLst>
                <a:ext uri="{FF2B5EF4-FFF2-40B4-BE49-F238E27FC236}">
                  <a16:creationId xmlns:a16="http://schemas.microsoft.com/office/drawing/2014/main" id="{8C964F22-0BAE-0349-BC52-5797E7BDF9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5800" y="5093367"/>
              <a:ext cx="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53" name="Line 63">
              <a:extLst>
                <a:ext uri="{FF2B5EF4-FFF2-40B4-BE49-F238E27FC236}">
                  <a16:creationId xmlns:a16="http://schemas.microsoft.com/office/drawing/2014/main" id="{949AABCB-898C-0344-A56D-9F0272505D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6800" y="5093367"/>
              <a:ext cx="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54" name="Line 64">
              <a:extLst>
                <a:ext uri="{FF2B5EF4-FFF2-40B4-BE49-F238E27FC236}">
                  <a16:creationId xmlns:a16="http://schemas.microsoft.com/office/drawing/2014/main" id="{6A21CECA-281E-AA45-8586-5911A631EC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7800" y="5093367"/>
              <a:ext cx="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55" name="Text Box 75">
              <a:extLst>
                <a:ext uri="{FF2B5EF4-FFF2-40B4-BE49-F238E27FC236}">
                  <a16:creationId xmlns:a16="http://schemas.microsoft.com/office/drawing/2014/main" id="{D0CF36FE-EF75-B840-9C18-068D249C89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5400" y="5221954"/>
              <a:ext cx="6096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u="none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0</a:t>
              </a:r>
            </a:p>
          </p:txBody>
        </p:sp>
        <p:sp>
          <p:nvSpPr>
            <p:cNvPr id="56" name="Text Box 76">
              <a:extLst>
                <a:ext uri="{FF2B5EF4-FFF2-40B4-BE49-F238E27FC236}">
                  <a16:creationId xmlns:a16="http://schemas.microsoft.com/office/drawing/2014/main" id="{3FA7DF46-9A55-3C45-A225-3B8F99EB0C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0400" y="5226717"/>
              <a:ext cx="60960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u="none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5</a:t>
              </a:r>
            </a:p>
          </p:txBody>
        </p:sp>
        <p:sp>
          <p:nvSpPr>
            <p:cNvPr id="57" name="Text Box 77">
              <a:extLst>
                <a:ext uri="{FF2B5EF4-FFF2-40B4-BE49-F238E27FC236}">
                  <a16:creationId xmlns:a16="http://schemas.microsoft.com/office/drawing/2014/main" id="{08CDEA96-B19B-094A-A3DA-9C8ACB8B84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9200" y="5226717"/>
              <a:ext cx="60960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u="none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10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22D00608-AC2D-C746-A438-2794B8F72899}"/>
              </a:ext>
            </a:extLst>
          </p:cNvPr>
          <p:cNvGrpSpPr/>
          <p:nvPr/>
        </p:nvGrpSpPr>
        <p:grpSpPr>
          <a:xfrm>
            <a:off x="1295400" y="5774663"/>
            <a:ext cx="4343400" cy="804862"/>
            <a:chOff x="1295400" y="5774663"/>
            <a:chExt cx="4343400" cy="804862"/>
          </a:xfrm>
        </p:grpSpPr>
        <p:sp>
          <p:nvSpPr>
            <p:cNvPr id="58" name="Rectangle 88">
              <a:extLst>
                <a:ext uri="{FF2B5EF4-FFF2-40B4-BE49-F238E27FC236}">
                  <a16:creationId xmlns:a16="http://schemas.microsoft.com/office/drawing/2014/main" id="{7A4E616E-B949-5946-B702-026EDC5F98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59216" y="5774663"/>
              <a:ext cx="1131579" cy="3810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T</a:t>
              </a:r>
              <a:r>
                <a:rPr lang="en-US" sz="1600" baseline="-250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1</a:t>
              </a:r>
            </a:p>
          </p:txBody>
        </p:sp>
        <p:sp>
          <p:nvSpPr>
            <p:cNvPr id="59" name="Rectangle 88">
              <a:extLst>
                <a:ext uri="{FF2B5EF4-FFF2-40B4-BE49-F238E27FC236}">
                  <a16:creationId xmlns:a16="http://schemas.microsoft.com/office/drawing/2014/main" id="{06C8624E-42D9-904E-A71B-EA30A2D219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90798" y="5774663"/>
              <a:ext cx="1142999" cy="3810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ctr"/>
              <a:r>
                <a:rPr lang="en-US" sz="16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T</a:t>
              </a:r>
              <a:r>
                <a:rPr lang="en-US" sz="1600" baseline="-25000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4</a:t>
              </a:r>
            </a:p>
          </p:txBody>
        </p:sp>
        <p:sp>
          <p:nvSpPr>
            <p:cNvPr id="60" name="Line 53">
              <a:extLst>
                <a:ext uri="{FF2B5EF4-FFF2-40B4-BE49-F238E27FC236}">
                  <a16:creationId xmlns:a16="http://schemas.microsoft.com/office/drawing/2014/main" id="{85401474-6698-7247-9BFB-F7DC050F24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447800" y="6155663"/>
              <a:ext cx="409238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61" name="Line 55">
              <a:extLst>
                <a:ext uri="{FF2B5EF4-FFF2-40B4-BE49-F238E27FC236}">
                  <a16:creationId xmlns:a16="http://schemas.microsoft.com/office/drawing/2014/main" id="{C3C8D42E-F02D-1E4D-A3F4-1017237006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8800" y="6079463"/>
              <a:ext cx="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62" name="Line 56">
              <a:extLst>
                <a:ext uri="{FF2B5EF4-FFF2-40B4-BE49-F238E27FC236}">
                  <a16:creationId xmlns:a16="http://schemas.microsoft.com/office/drawing/2014/main" id="{E650BE95-9F08-704C-B5D3-D1485D477D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09800" y="6079463"/>
              <a:ext cx="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63" name="Line 57">
              <a:extLst>
                <a:ext uri="{FF2B5EF4-FFF2-40B4-BE49-F238E27FC236}">
                  <a16:creationId xmlns:a16="http://schemas.microsoft.com/office/drawing/2014/main" id="{B65D2215-E4FE-954B-A710-94A55C5891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590800" y="6079463"/>
              <a:ext cx="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64" name="Line 58">
              <a:extLst>
                <a:ext uri="{FF2B5EF4-FFF2-40B4-BE49-F238E27FC236}">
                  <a16:creationId xmlns:a16="http://schemas.microsoft.com/office/drawing/2014/main" id="{2F83076F-C319-4F46-8E0D-A2CA1E0C90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1800" y="6079463"/>
              <a:ext cx="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65" name="Line 59">
              <a:extLst>
                <a:ext uri="{FF2B5EF4-FFF2-40B4-BE49-F238E27FC236}">
                  <a16:creationId xmlns:a16="http://schemas.microsoft.com/office/drawing/2014/main" id="{2B15AE24-D4EC-D248-9777-79DFE88AE0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52800" y="6079463"/>
              <a:ext cx="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66" name="Line 60">
              <a:extLst>
                <a:ext uri="{FF2B5EF4-FFF2-40B4-BE49-F238E27FC236}">
                  <a16:creationId xmlns:a16="http://schemas.microsoft.com/office/drawing/2014/main" id="{5D47525F-72BD-3744-8CA0-6469EB9D19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33800" y="6079463"/>
              <a:ext cx="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67" name="Line 61">
              <a:extLst>
                <a:ext uri="{FF2B5EF4-FFF2-40B4-BE49-F238E27FC236}">
                  <a16:creationId xmlns:a16="http://schemas.microsoft.com/office/drawing/2014/main" id="{22663E3D-09B8-AF4F-B7CA-A16A222A176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14800" y="6079463"/>
              <a:ext cx="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68" name="Line 62">
              <a:extLst>
                <a:ext uri="{FF2B5EF4-FFF2-40B4-BE49-F238E27FC236}">
                  <a16:creationId xmlns:a16="http://schemas.microsoft.com/office/drawing/2014/main" id="{4B8D9D45-D12F-8D4F-A930-B6D74B146E9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95800" y="6079463"/>
              <a:ext cx="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69" name="Line 63">
              <a:extLst>
                <a:ext uri="{FF2B5EF4-FFF2-40B4-BE49-F238E27FC236}">
                  <a16:creationId xmlns:a16="http://schemas.microsoft.com/office/drawing/2014/main" id="{A57169AF-0E18-9049-A830-6C8BD52139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76800" y="6079463"/>
              <a:ext cx="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70" name="Line 64">
              <a:extLst>
                <a:ext uri="{FF2B5EF4-FFF2-40B4-BE49-F238E27FC236}">
                  <a16:creationId xmlns:a16="http://schemas.microsoft.com/office/drawing/2014/main" id="{258B0D98-F4F1-7F43-B1DC-EE610D8B436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57800" y="6079463"/>
              <a:ext cx="0" cy="152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71" name="Text Box 75">
              <a:extLst>
                <a:ext uri="{FF2B5EF4-FFF2-40B4-BE49-F238E27FC236}">
                  <a16:creationId xmlns:a16="http://schemas.microsoft.com/office/drawing/2014/main" id="{60F5B8EE-DE4C-9443-ABF2-DEF2299E37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95400" y="6208050"/>
              <a:ext cx="609600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u="none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0</a:t>
              </a:r>
            </a:p>
          </p:txBody>
        </p:sp>
        <p:sp>
          <p:nvSpPr>
            <p:cNvPr id="72" name="Text Box 76">
              <a:extLst>
                <a:ext uri="{FF2B5EF4-FFF2-40B4-BE49-F238E27FC236}">
                  <a16:creationId xmlns:a16="http://schemas.microsoft.com/office/drawing/2014/main" id="{610616FE-304A-0B43-8308-EFB44F6829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0400" y="6212813"/>
              <a:ext cx="60960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u="none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5</a:t>
              </a:r>
            </a:p>
          </p:txBody>
        </p:sp>
        <p:sp>
          <p:nvSpPr>
            <p:cNvPr id="73" name="Text Box 77">
              <a:extLst>
                <a:ext uri="{FF2B5EF4-FFF2-40B4-BE49-F238E27FC236}">
                  <a16:creationId xmlns:a16="http://schemas.microsoft.com/office/drawing/2014/main" id="{D6675142-C84F-C945-92E6-51D3147654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29200" y="6212813"/>
              <a:ext cx="609600" cy="36671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u="none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10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48533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872015-EABB-D148-B263-62C0A9486E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76400"/>
            <a:ext cx="7886700" cy="4968875"/>
          </a:xfrm>
        </p:spPr>
        <p:txBody>
          <a:bodyPr/>
          <a:lstStyle/>
          <a:p>
            <a:r>
              <a:rPr lang="en-US" altLang="en-US" sz="1800" dirty="0"/>
              <a:t>LLF dynamically assigns priority to jobs based on their laxity (slack)</a:t>
            </a:r>
          </a:p>
          <a:p>
            <a:pPr lvl="1"/>
            <a:r>
              <a:rPr lang="en-US" altLang="en-US" sz="1600" dirty="0"/>
              <a:t>With absolute deadline</a:t>
            </a:r>
            <a:r>
              <a:rPr lang="en-US" altLang="en-US" sz="1600" i="1" dirty="0"/>
              <a:t> d </a:t>
            </a:r>
            <a:r>
              <a:rPr lang="en-US" altLang="en-US" sz="1600" dirty="0"/>
              <a:t>and remaining execution time </a:t>
            </a:r>
            <a:r>
              <a:rPr lang="en-US" altLang="en-US" sz="1600" i="1" dirty="0"/>
              <a:t>e</a:t>
            </a:r>
            <a:r>
              <a:rPr lang="en-US" altLang="en-US" sz="1600" dirty="0"/>
              <a:t>, laxity at time t is </a:t>
            </a:r>
            <a:r>
              <a:rPr lang="en-US" altLang="en-US" sz="1600" i="1" dirty="0"/>
              <a:t>l</a:t>
            </a:r>
            <a:r>
              <a:rPr lang="en-US" altLang="en-US" sz="1600" dirty="0"/>
              <a:t> </a:t>
            </a:r>
            <a:r>
              <a:rPr lang="en-US" altLang="en-US" sz="1600" dirty="0">
                <a:latin typeface="+mj-lt"/>
              </a:rPr>
              <a:t>=</a:t>
            </a:r>
            <a:r>
              <a:rPr lang="en-US" altLang="en-US" sz="1600" dirty="0"/>
              <a:t> </a:t>
            </a:r>
            <a:r>
              <a:rPr lang="en-US" altLang="en-US" sz="1600" i="1" dirty="0"/>
              <a:t>d</a:t>
            </a:r>
            <a:r>
              <a:rPr lang="en-US" altLang="en-US" sz="1600" dirty="0"/>
              <a:t> </a:t>
            </a:r>
            <a:r>
              <a:rPr lang="en-US" altLang="en-US" sz="1600" dirty="0">
                <a:latin typeface="+mj-lt"/>
              </a:rPr>
              <a:t>–</a:t>
            </a:r>
            <a:r>
              <a:rPr lang="en-US" altLang="en-US" sz="1600" dirty="0"/>
              <a:t> </a:t>
            </a:r>
            <a:r>
              <a:rPr lang="en-US" altLang="en-US" sz="1600" i="1" dirty="0"/>
              <a:t>t</a:t>
            </a:r>
            <a:r>
              <a:rPr lang="en-US" altLang="en-US" sz="1600" dirty="0"/>
              <a:t> </a:t>
            </a:r>
            <a:r>
              <a:rPr lang="en-US" altLang="en-US" sz="1600" dirty="0">
                <a:latin typeface="+mj-lt"/>
              </a:rPr>
              <a:t>–</a:t>
            </a:r>
            <a:r>
              <a:rPr lang="en-US" altLang="en-US" sz="1600" dirty="0"/>
              <a:t> </a:t>
            </a:r>
            <a:r>
              <a:rPr lang="en-US" altLang="en-US" sz="1600" i="1" dirty="0"/>
              <a:t>e</a:t>
            </a:r>
            <a:r>
              <a:rPr lang="en-US" altLang="en-US" sz="1600" dirty="0"/>
              <a:t> 	</a:t>
            </a:r>
          </a:p>
          <a:p>
            <a:pPr lvl="4"/>
            <a:endParaRPr lang="en-US" altLang="en-US" sz="1100" dirty="0"/>
          </a:p>
          <a:p>
            <a:pPr lvl="4"/>
            <a:endParaRPr lang="en-US" altLang="en-US" sz="1100" dirty="0"/>
          </a:p>
          <a:p>
            <a:pPr lvl="5"/>
            <a:endParaRPr lang="en-US" altLang="en-US" sz="1100" dirty="0"/>
          </a:p>
          <a:p>
            <a:pPr marL="1371600" lvl="3" indent="0">
              <a:buNone/>
            </a:pPr>
            <a:endParaRPr lang="en-US" altLang="en-US" sz="1100" dirty="0"/>
          </a:p>
          <a:p>
            <a:pPr lvl="1"/>
            <a:r>
              <a:rPr lang="en-US" altLang="en-US" sz="1600" dirty="0"/>
              <a:t>Job with the smallest laxity has the highest priority</a:t>
            </a:r>
          </a:p>
          <a:p>
            <a:pPr lvl="1"/>
            <a:r>
              <a:rPr lang="en-US" altLang="en-US" sz="1600" dirty="0"/>
              <a:t>LLF is also optimal </a:t>
            </a:r>
            <a:r>
              <a:rPr lang="en-US" altLang="en-US" sz="1600" dirty="0" err="1"/>
              <a:t>w.r.t.</a:t>
            </a:r>
            <a:r>
              <a:rPr lang="en-US" altLang="en-US" sz="1600" dirty="0"/>
              <a:t> all </a:t>
            </a:r>
            <a:r>
              <a:rPr lang="en-US" altLang="en-US" sz="1600" u="sng" dirty="0">
                <a:solidFill>
                  <a:srgbClr val="FF0000"/>
                </a:solidFill>
              </a:rPr>
              <a:t>online schedulers</a:t>
            </a:r>
          </a:p>
          <a:p>
            <a:pPr lvl="1"/>
            <a:r>
              <a:rPr lang="en-US" altLang="en-US" sz="1600" dirty="0"/>
              <a:t>LLF is impractical to implement because laxity tie results in frequent context switches</a:t>
            </a:r>
          </a:p>
          <a:p>
            <a:pPr lvl="1"/>
            <a:endParaRPr lang="en-US" altLang="en-US" sz="1600" u="sng" dirty="0">
              <a:solidFill>
                <a:srgbClr val="FF0000"/>
              </a:solidFill>
            </a:endParaRPr>
          </a:p>
        </p:txBody>
      </p:sp>
      <p:sp>
        <p:nvSpPr>
          <p:cNvPr id="50" name="Rectangle 88">
            <a:extLst>
              <a:ext uri="{FF2B5EF4-FFF2-40B4-BE49-F238E27FC236}">
                <a16:creationId xmlns:a16="http://schemas.microsoft.com/office/drawing/2014/main" id="{72FD5866-EA80-464D-974B-A9D1A765C6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75496" y="2800767"/>
            <a:ext cx="1297612" cy="23657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600" i="1" dirty="0"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65CD010-E37D-9A40-9E84-B850235E1C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/>
              <a:t>Least Laxity First (LLF)</a:t>
            </a:r>
            <a:endParaRPr lang="en-US" dirty="0"/>
          </a:p>
        </p:txBody>
      </p:sp>
      <p:grpSp>
        <p:nvGrpSpPr>
          <p:cNvPr id="196" name="Group 195">
            <a:extLst>
              <a:ext uri="{FF2B5EF4-FFF2-40B4-BE49-F238E27FC236}">
                <a16:creationId xmlns:a16="http://schemas.microsoft.com/office/drawing/2014/main" id="{FEB084B0-028E-8A43-9B8E-E0FC8D801D47}"/>
              </a:ext>
            </a:extLst>
          </p:cNvPr>
          <p:cNvGrpSpPr/>
          <p:nvPr/>
        </p:nvGrpSpPr>
        <p:grpSpPr>
          <a:xfrm>
            <a:off x="2213494" y="2975350"/>
            <a:ext cx="4343390" cy="341960"/>
            <a:chOff x="2170481" y="2778122"/>
            <a:chExt cx="4343390" cy="341960"/>
          </a:xfrm>
        </p:grpSpPr>
        <p:sp>
          <p:nvSpPr>
            <p:cNvPr id="33" name="Line 53">
              <a:extLst>
                <a:ext uri="{FF2B5EF4-FFF2-40B4-BE49-F238E27FC236}">
                  <a16:creationId xmlns:a16="http://schemas.microsoft.com/office/drawing/2014/main" id="{B139472A-5B75-4B47-914C-3406A05226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70481" y="2841097"/>
              <a:ext cx="434339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35" name="Line 56">
              <a:extLst>
                <a:ext uri="{FF2B5EF4-FFF2-40B4-BE49-F238E27FC236}">
                  <a16:creationId xmlns:a16="http://schemas.microsoft.com/office/drawing/2014/main" id="{C405CCF6-25F4-7C40-A113-0BA13CF4ED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32481" y="2778122"/>
              <a:ext cx="0" cy="1259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43" name="Line 64">
              <a:extLst>
                <a:ext uri="{FF2B5EF4-FFF2-40B4-BE49-F238E27FC236}">
                  <a16:creationId xmlns:a16="http://schemas.microsoft.com/office/drawing/2014/main" id="{DA52C924-7E76-5241-AB08-747E542CBD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80481" y="2778122"/>
              <a:ext cx="0" cy="12595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44" name="Text Box 75">
              <a:extLst>
                <a:ext uri="{FF2B5EF4-FFF2-40B4-BE49-F238E27FC236}">
                  <a16:creationId xmlns:a16="http://schemas.microsoft.com/office/drawing/2014/main" id="{BE1A9727-C006-E749-86E7-74F42160F21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05260" y="2840286"/>
              <a:ext cx="609600" cy="2797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600" i="1" u="none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t</a:t>
              </a:r>
            </a:p>
          </p:txBody>
        </p:sp>
        <p:sp>
          <p:nvSpPr>
            <p:cNvPr id="49" name="Text Box 75">
              <a:extLst>
                <a:ext uri="{FF2B5EF4-FFF2-40B4-BE49-F238E27FC236}">
                  <a16:creationId xmlns:a16="http://schemas.microsoft.com/office/drawing/2014/main" id="{C8CEA926-0026-A849-AD40-2125C6EC75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58561" y="2840286"/>
              <a:ext cx="609600" cy="27979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600" i="1" u="none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d</a:t>
              </a:r>
            </a:p>
          </p:txBody>
        </p:sp>
      </p:grp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170B6C4-5F19-734D-9C4F-E40116C0FB65}"/>
              </a:ext>
            </a:extLst>
          </p:cNvPr>
          <p:cNvCxnSpPr>
            <a:cxnSpLocks/>
          </p:cNvCxnSpPr>
          <p:nvPr/>
        </p:nvCxnSpPr>
        <p:spPr>
          <a:xfrm>
            <a:off x="4273108" y="2919052"/>
            <a:ext cx="1750386" cy="0"/>
          </a:xfrm>
          <a:prstGeom prst="straightConnector1">
            <a:avLst/>
          </a:prstGeom>
          <a:ln w="12700">
            <a:solidFill>
              <a:schemeClr val="tx1"/>
            </a:solidFill>
            <a:prstDash val="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 Box 75">
            <a:extLst>
              <a:ext uri="{FF2B5EF4-FFF2-40B4-BE49-F238E27FC236}">
                <a16:creationId xmlns:a16="http://schemas.microsoft.com/office/drawing/2014/main" id="{C229265D-11C8-AD4F-953D-367ACF72626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43501" y="2562111"/>
            <a:ext cx="60960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600" i="1" u="none" dirty="0"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l</a:t>
            </a:r>
          </a:p>
        </p:txBody>
      </p:sp>
      <p:grpSp>
        <p:nvGrpSpPr>
          <p:cNvPr id="187" name="Group 186">
            <a:extLst>
              <a:ext uri="{FF2B5EF4-FFF2-40B4-BE49-F238E27FC236}">
                <a16:creationId xmlns:a16="http://schemas.microsoft.com/office/drawing/2014/main" id="{54818EA4-1A8A-DA40-858F-83791E9AF5DA}"/>
              </a:ext>
            </a:extLst>
          </p:cNvPr>
          <p:cNvGrpSpPr/>
          <p:nvPr/>
        </p:nvGrpSpPr>
        <p:grpSpPr>
          <a:xfrm>
            <a:off x="2883384" y="5953117"/>
            <a:ext cx="242374" cy="692156"/>
            <a:chOff x="3300143" y="5505442"/>
            <a:chExt cx="242374" cy="692156"/>
          </a:xfrm>
        </p:grpSpPr>
        <p:cxnSp>
          <p:nvCxnSpPr>
            <p:cNvPr id="155" name="Straight Arrow Connector 154">
              <a:extLst>
                <a:ext uri="{FF2B5EF4-FFF2-40B4-BE49-F238E27FC236}">
                  <a16:creationId xmlns:a16="http://schemas.microsoft.com/office/drawing/2014/main" id="{E1FAC5E6-D030-F14A-8A6F-E2B4DA9F2F18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421331" y="5505442"/>
              <a:ext cx="1" cy="324000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prstDash val="das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964D577C-B21F-F34E-B3D9-FF1AE99B9DD9}"/>
                </a:ext>
              </a:extLst>
            </p:cNvPr>
            <p:cNvSpPr txBox="1"/>
            <p:nvPr/>
          </p:nvSpPr>
          <p:spPr>
            <a:xfrm>
              <a:off x="3300143" y="5828266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dirty="0">
                  <a:latin typeface="+mj-lt"/>
                </a:rPr>
                <a:t>3</a:t>
              </a:r>
              <a:br>
                <a:rPr lang="en-US" sz="900" dirty="0">
                  <a:latin typeface="+mj-lt"/>
                </a:rPr>
              </a:br>
              <a:r>
                <a:rPr lang="en-US" sz="900" dirty="0">
                  <a:latin typeface="+mj-lt"/>
                </a:rPr>
                <a:t>3</a:t>
              </a:r>
            </a:p>
          </p:txBody>
        </p:sp>
      </p:grpSp>
      <p:sp>
        <p:nvSpPr>
          <p:cNvPr id="165" name="TextBox 164">
            <a:extLst>
              <a:ext uri="{FF2B5EF4-FFF2-40B4-BE49-F238E27FC236}">
                <a16:creationId xmlns:a16="http://schemas.microsoft.com/office/drawing/2014/main" id="{C5046B21-4248-5345-9C41-5B0AA09BA7DE}"/>
              </a:ext>
            </a:extLst>
          </p:cNvPr>
          <p:cNvSpPr txBox="1"/>
          <p:nvPr/>
        </p:nvSpPr>
        <p:spPr>
          <a:xfrm>
            <a:off x="2625062" y="6275941"/>
            <a:ext cx="243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900" i="1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l</a:t>
            </a:r>
            <a:r>
              <a:rPr lang="en-US" sz="900" baseline="-25000" dirty="0">
                <a:latin typeface="+mj-lt"/>
              </a:rPr>
              <a:t>1</a:t>
            </a:r>
            <a:br>
              <a:rPr lang="en-US" sz="900" dirty="0">
                <a:latin typeface="+mj-lt"/>
              </a:rPr>
            </a:br>
            <a:r>
              <a:rPr lang="en-US" sz="900" i="1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l</a:t>
            </a:r>
            <a:r>
              <a:rPr lang="en-US" sz="900" baseline="-25000" dirty="0">
                <a:latin typeface="+mj-lt"/>
              </a:rPr>
              <a:t>2</a:t>
            </a:r>
            <a:endParaRPr lang="en-US" sz="900" dirty="0">
              <a:latin typeface="+mj-lt"/>
            </a:endParaRPr>
          </a:p>
        </p:txBody>
      </p:sp>
      <p:grpSp>
        <p:nvGrpSpPr>
          <p:cNvPr id="188" name="Group 187">
            <a:extLst>
              <a:ext uri="{FF2B5EF4-FFF2-40B4-BE49-F238E27FC236}">
                <a16:creationId xmlns:a16="http://schemas.microsoft.com/office/drawing/2014/main" id="{2216970E-264B-CF4E-A45E-5560162FA8B5}"/>
              </a:ext>
            </a:extLst>
          </p:cNvPr>
          <p:cNvGrpSpPr/>
          <p:nvPr/>
        </p:nvGrpSpPr>
        <p:grpSpPr>
          <a:xfrm>
            <a:off x="3250671" y="5953117"/>
            <a:ext cx="328936" cy="692156"/>
            <a:chOff x="3505892" y="5505442"/>
            <a:chExt cx="328936" cy="692156"/>
          </a:xfrm>
        </p:grpSpPr>
        <p:cxnSp>
          <p:nvCxnSpPr>
            <p:cNvPr id="166" name="Straight Arrow Connector 165">
              <a:extLst>
                <a:ext uri="{FF2B5EF4-FFF2-40B4-BE49-F238E27FC236}">
                  <a16:creationId xmlns:a16="http://schemas.microsoft.com/office/drawing/2014/main" id="{8F7DBDC5-956A-714B-8112-25F2A440AB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670360" y="5505442"/>
              <a:ext cx="1" cy="324000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prstDash val="das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7" name="TextBox 166">
              <a:extLst>
                <a:ext uri="{FF2B5EF4-FFF2-40B4-BE49-F238E27FC236}">
                  <a16:creationId xmlns:a16="http://schemas.microsoft.com/office/drawing/2014/main" id="{A22CBDDB-B537-7F4F-A12A-BBD275FAFEB7}"/>
                </a:ext>
              </a:extLst>
            </p:cNvPr>
            <p:cNvSpPr txBox="1"/>
            <p:nvPr/>
          </p:nvSpPr>
          <p:spPr>
            <a:xfrm>
              <a:off x="3505892" y="5828266"/>
              <a:ext cx="3289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dirty="0">
                  <a:latin typeface="+mj-lt"/>
                </a:rPr>
                <a:t>2.5</a:t>
              </a:r>
              <a:br>
                <a:rPr lang="en-US" sz="900" dirty="0">
                  <a:latin typeface="+mj-lt"/>
                </a:rPr>
              </a:br>
              <a:r>
                <a:rPr lang="en-US" sz="900" dirty="0">
                  <a:latin typeface="+mj-lt"/>
                </a:rPr>
                <a:t>2.5</a:t>
              </a:r>
            </a:p>
          </p:txBody>
        </p:sp>
      </p:grpSp>
      <p:grpSp>
        <p:nvGrpSpPr>
          <p:cNvPr id="191" name="Group 190">
            <a:extLst>
              <a:ext uri="{FF2B5EF4-FFF2-40B4-BE49-F238E27FC236}">
                <a16:creationId xmlns:a16="http://schemas.microsoft.com/office/drawing/2014/main" id="{99BD24D0-C53D-DA45-9D78-FD633C16B40D}"/>
              </a:ext>
            </a:extLst>
          </p:cNvPr>
          <p:cNvGrpSpPr/>
          <p:nvPr/>
        </p:nvGrpSpPr>
        <p:grpSpPr>
          <a:xfrm>
            <a:off x="3718732" y="5953117"/>
            <a:ext cx="242374" cy="692156"/>
            <a:chOff x="3923153" y="5513791"/>
            <a:chExt cx="242374" cy="692156"/>
          </a:xfrm>
        </p:grpSpPr>
        <p:cxnSp>
          <p:nvCxnSpPr>
            <p:cNvPr id="168" name="Straight Arrow Connector 167">
              <a:extLst>
                <a:ext uri="{FF2B5EF4-FFF2-40B4-BE49-F238E27FC236}">
                  <a16:creationId xmlns:a16="http://schemas.microsoft.com/office/drawing/2014/main" id="{81FD6131-CEBF-C34F-BC52-CD328F191E7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44341" y="5513791"/>
              <a:ext cx="1" cy="324000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prstDash val="das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9" name="TextBox 168">
              <a:extLst>
                <a:ext uri="{FF2B5EF4-FFF2-40B4-BE49-F238E27FC236}">
                  <a16:creationId xmlns:a16="http://schemas.microsoft.com/office/drawing/2014/main" id="{158D7933-6550-0845-B92E-9DEE6701D8B5}"/>
                </a:ext>
              </a:extLst>
            </p:cNvPr>
            <p:cNvSpPr txBox="1"/>
            <p:nvPr/>
          </p:nvSpPr>
          <p:spPr>
            <a:xfrm>
              <a:off x="3923153" y="5836615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dirty="0">
                  <a:latin typeface="+mj-lt"/>
                </a:rPr>
                <a:t>2</a:t>
              </a:r>
              <a:br>
                <a:rPr lang="en-US" sz="900" dirty="0">
                  <a:latin typeface="+mj-lt"/>
                </a:rPr>
              </a:br>
              <a:r>
                <a:rPr lang="en-US" sz="900" dirty="0">
                  <a:latin typeface="+mj-lt"/>
                </a:rPr>
                <a:t>2</a:t>
              </a:r>
            </a:p>
          </p:txBody>
        </p:sp>
      </p:grpSp>
      <p:grpSp>
        <p:nvGrpSpPr>
          <p:cNvPr id="193" name="Group 192">
            <a:extLst>
              <a:ext uri="{FF2B5EF4-FFF2-40B4-BE49-F238E27FC236}">
                <a16:creationId xmlns:a16="http://schemas.microsoft.com/office/drawing/2014/main" id="{8FF3EB87-E55B-2D4F-99AC-F56DD4131E8E}"/>
              </a:ext>
            </a:extLst>
          </p:cNvPr>
          <p:cNvGrpSpPr/>
          <p:nvPr/>
        </p:nvGrpSpPr>
        <p:grpSpPr>
          <a:xfrm>
            <a:off x="4100231" y="5953117"/>
            <a:ext cx="328936" cy="692156"/>
            <a:chOff x="4198828" y="5521115"/>
            <a:chExt cx="328936" cy="692156"/>
          </a:xfrm>
        </p:grpSpPr>
        <p:cxnSp>
          <p:nvCxnSpPr>
            <p:cNvPr id="170" name="Straight Arrow Connector 169">
              <a:extLst>
                <a:ext uri="{FF2B5EF4-FFF2-40B4-BE49-F238E27FC236}">
                  <a16:creationId xmlns:a16="http://schemas.microsoft.com/office/drawing/2014/main" id="{452A8FC3-6369-354C-A79B-08C6A8F8458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363297" y="5521115"/>
              <a:ext cx="1" cy="324000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prstDash val="das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1" name="TextBox 170">
              <a:extLst>
                <a:ext uri="{FF2B5EF4-FFF2-40B4-BE49-F238E27FC236}">
                  <a16:creationId xmlns:a16="http://schemas.microsoft.com/office/drawing/2014/main" id="{E5F64280-E0D3-4B4E-A5D4-932E0940DF1D}"/>
                </a:ext>
              </a:extLst>
            </p:cNvPr>
            <p:cNvSpPr txBox="1"/>
            <p:nvPr/>
          </p:nvSpPr>
          <p:spPr>
            <a:xfrm>
              <a:off x="4198828" y="5843939"/>
              <a:ext cx="32893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dirty="0">
                  <a:latin typeface="+mj-lt"/>
                </a:rPr>
                <a:t>1.5</a:t>
              </a:r>
              <a:br>
                <a:rPr lang="en-US" sz="900" dirty="0">
                  <a:latin typeface="+mj-lt"/>
                </a:rPr>
              </a:br>
              <a:r>
                <a:rPr lang="en-US" sz="900" dirty="0">
                  <a:latin typeface="+mj-lt"/>
                </a:rPr>
                <a:t>1.5</a:t>
              </a:r>
            </a:p>
          </p:txBody>
        </p:sp>
      </p:grpSp>
      <p:sp>
        <p:nvSpPr>
          <p:cNvPr id="148" name="Rectangle 6">
            <a:extLst>
              <a:ext uri="{FF2B5EF4-FFF2-40B4-BE49-F238E27FC236}">
                <a16:creationId xmlns:a16="http://schemas.microsoft.com/office/drawing/2014/main" id="{0D4859D0-655F-AF4A-A666-CEE2C7247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8421" y="4781025"/>
            <a:ext cx="104400" cy="2545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51" name="Rectangle 88">
            <a:extLst>
              <a:ext uri="{FF2B5EF4-FFF2-40B4-BE49-F238E27FC236}">
                <a16:creationId xmlns:a16="http://schemas.microsoft.com/office/drawing/2014/main" id="{3D7E8250-8A11-7647-A70A-AC31EDBEFA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6484" y="5344392"/>
            <a:ext cx="104400" cy="2545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53" name="Rectangle 103">
            <a:extLst>
              <a:ext uri="{FF2B5EF4-FFF2-40B4-BE49-F238E27FC236}">
                <a16:creationId xmlns:a16="http://schemas.microsoft.com/office/drawing/2014/main" id="{62CC3E68-1199-344A-818E-C33EAC6AD8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41481" y="4781025"/>
            <a:ext cx="104400" cy="2545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74" name="Rectangle 88">
            <a:extLst>
              <a:ext uri="{FF2B5EF4-FFF2-40B4-BE49-F238E27FC236}">
                <a16:creationId xmlns:a16="http://schemas.microsoft.com/office/drawing/2014/main" id="{9F566A11-BD81-E742-8112-3EC5D57D9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5323" y="5344392"/>
            <a:ext cx="104400" cy="2545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75" name="Rectangle 6">
            <a:extLst>
              <a:ext uri="{FF2B5EF4-FFF2-40B4-BE49-F238E27FC236}">
                <a16:creationId xmlns:a16="http://schemas.microsoft.com/office/drawing/2014/main" id="{BC27D77C-2398-CC4C-A9BC-9A45BF33D7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19649" y="4781025"/>
            <a:ext cx="104400" cy="2545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76" name="Rectangle 88">
            <a:extLst>
              <a:ext uri="{FF2B5EF4-FFF2-40B4-BE49-F238E27FC236}">
                <a16:creationId xmlns:a16="http://schemas.microsoft.com/office/drawing/2014/main" id="{E706C68F-B901-014C-98B0-1D838002A4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9592" y="5344392"/>
            <a:ext cx="104400" cy="2545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77" name="Rectangle 103">
            <a:extLst>
              <a:ext uri="{FF2B5EF4-FFF2-40B4-BE49-F238E27FC236}">
                <a16:creationId xmlns:a16="http://schemas.microsoft.com/office/drawing/2014/main" id="{CD27B0F9-A4B9-8041-B304-E0DDAC0D7D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62906" y="4781025"/>
            <a:ext cx="104400" cy="2545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78" name="Rectangle 88">
            <a:extLst>
              <a:ext uri="{FF2B5EF4-FFF2-40B4-BE49-F238E27FC236}">
                <a16:creationId xmlns:a16="http://schemas.microsoft.com/office/drawing/2014/main" id="{A548A9FB-F507-C54F-B0C2-BBE26B1E38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80990" y="5344392"/>
            <a:ext cx="104400" cy="2545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94A8F633-9234-7840-8F24-05D0BFC979BC}"/>
              </a:ext>
            </a:extLst>
          </p:cNvPr>
          <p:cNvGrpSpPr/>
          <p:nvPr/>
        </p:nvGrpSpPr>
        <p:grpSpPr>
          <a:xfrm>
            <a:off x="4564931" y="5953117"/>
            <a:ext cx="242374" cy="692156"/>
            <a:chOff x="4398431" y="5513791"/>
            <a:chExt cx="242374" cy="692156"/>
          </a:xfrm>
        </p:grpSpPr>
        <p:cxnSp>
          <p:nvCxnSpPr>
            <p:cNvPr id="185" name="Straight Arrow Connector 184">
              <a:extLst>
                <a:ext uri="{FF2B5EF4-FFF2-40B4-BE49-F238E27FC236}">
                  <a16:creationId xmlns:a16="http://schemas.microsoft.com/office/drawing/2014/main" id="{396E95E5-2623-2046-9ADE-4DA70C1998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519619" y="5513791"/>
              <a:ext cx="1" cy="324000"/>
            </a:xfrm>
            <a:prstGeom prst="straightConnector1">
              <a:avLst/>
            </a:prstGeom>
            <a:ln w="12700" cap="rnd">
              <a:solidFill>
                <a:schemeClr val="tx1"/>
              </a:solidFill>
              <a:prstDash val="das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6" name="TextBox 185">
              <a:extLst>
                <a:ext uri="{FF2B5EF4-FFF2-40B4-BE49-F238E27FC236}">
                  <a16:creationId xmlns:a16="http://schemas.microsoft.com/office/drawing/2014/main" id="{A1AA57C6-67BF-574F-9E81-8F7030609B53}"/>
                </a:ext>
              </a:extLst>
            </p:cNvPr>
            <p:cNvSpPr txBox="1"/>
            <p:nvPr/>
          </p:nvSpPr>
          <p:spPr>
            <a:xfrm>
              <a:off x="4398431" y="5836615"/>
              <a:ext cx="24237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br>
                <a:rPr lang="en-US" sz="900" dirty="0">
                  <a:latin typeface="+mj-lt"/>
                </a:rPr>
              </a:br>
              <a:r>
                <a:rPr lang="en-US" sz="900" dirty="0">
                  <a:latin typeface="+mj-lt"/>
                </a:rPr>
                <a:t>1</a:t>
              </a:r>
            </a:p>
          </p:txBody>
        </p:sp>
      </p:grpSp>
      <p:sp>
        <p:nvSpPr>
          <p:cNvPr id="199" name="Rectangle 6">
            <a:extLst>
              <a:ext uri="{FF2B5EF4-FFF2-40B4-BE49-F238E27FC236}">
                <a16:creationId xmlns:a16="http://schemas.microsoft.com/office/drawing/2014/main" id="{A5C7A478-DDBE-E24C-9940-7CB62E0ECA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15037" y="4781025"/>
            <a:ext cx="104400" cy="2545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200" name="Rectangle 103">
            <a:extLst>
              <a:ext uri="{FF2B5EF4-FFF2-40B4-BE49-F238E27FC236}">
                <a16:creationId xmlns:a16="http://schemas.microsoft.com/office/drawing/2014/main" id="{91DA786F-D3D1-2240-B1D9-37654D83B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58706" y="4781025"/>
            <a:ext cx="104400" cy="2545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201" name="Rectangle 6">
            <a:extLst>
              <a:ext uri="{FF2B5EF4-FFF2-40B4-BE49-F238E27FC236}">
                <a16:creationId xmlns:a16="http://schemas.microsoft.com/office/drawing/2014/main" id="{027BB912-DCBF-854F-8F07-C1CEF82DCC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27682" y="4781025"/>
            <a:ext cx="104400" cy="2545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202" name="Rectangle 103">
            <a:extLst>
              <a:ext uri="{FF2B5EF4-FFF2-40B4-BE49-F238E27FC236}">
                <a16:creationId xmlns:a16="http://schemas.microsoft.com/office/drawing/2014/main" id="{CF315738-FEF8-CF44-9CAC-7DE380DE4F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78073" y="4781025"/>
            <a:ext cx="104400" cy="2545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203" name="Rectangle 88">
            <a:extLst>
              <a:ext uri="{FF2B5EF4-FFF2-40B4-BE49-F238E27FC236}">
                <a16:creationId xmlns:a16="http://schemas.microsoft.com/office/drawing/2014/main" id="{B78FA6A9-2B06-FB49-957D-FE05DC7895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8775" y="5344392"/>
            <a:ext cx="104400" cy="2545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204" name="Rectangle 88">
            <a:extLst>
              <a:ext uri="{FF2B5EF4-FFF2-40B4-BE49-F238E27FC236}">
                <a16:creationId xmlns:a16="http://schemas.microsoft.com/office/drawing/2014/main" id="{427C75D2-4C87-1D4E-A898-EAB5C1FEA60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07289" y="5341184"/>
            <a:ext cx="104400" cy="2545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205" name="Rectangle 88">
            <a:extLst>
              <a:ext uri="{FF2B5EF4-FFF2-40B4-BE49-F238E27FC236}">
                <a16:creationId xmlns:a16="http://schemas.microsoft.com/office/drawing/2014/main" id="{8AC05212-3910-8D4B-BF68-70D9D0F77C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8358" y="5344392"/>
            <a:ext cx="104400" cy="2545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206" name="Rectangle 88">
            <a:extLst>
              <a:ext uri="{FF2B5EF4-FFF2-40B4-BE49-F238E27FC236}">
                <a16:creationId xmlns:a16="http://schemas.microsoft.com/office/drawing/2014/main" id="{9FFD795E-2AF7-E947-9A5C-A9E9731F50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70379" y="5344392"/>
            <a:ext cx="104400" cy="2545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208" name="Rectangle 88">
            <a:extLst>
              <a:ext uri="{FF2B5EF4-FFF2-40B4-BE49-F238E27FC236}">
                <a16:creationId xmlns:a16="http://schemas.microsoft.com/office/drawing/2014/main" id="{56F05930-EC37-F54A-8A84-B0A4028E2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5263" y="5344392"/>
            <a:ext cx="421526" cy="2545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grpSp>
        <p:nvGrpSpPr>
          <p:cNvPr id="207" name="Group 206">
            <a:extLst>
              <a:ext uri="{FF2B5EF4-FFF2-40B4-BE49-F238E27FC236}">
                <a16:creationId xmlns:a16="http://schemas.microsoft.com/office/drawing/2014/main" id="{E5B89780-5E3A-4849-8157-4EBB1A7B824A}"/>
              </a:ext>
            </a:extLst>
          </p:cNvPr>
          <p:cNvGrpSpPr/>
          <p:nvPr/>
        </p:nvGrpSpPr>
        <p:grpSpPr>
          <a:xfrm>
            <a:off x="1621473" y="4718627"/>
            <a:ext cx="4519045" cy="1188117"/>
            <a:chOff x="1621473" y="4718627"/>
            <a:chExt cx="4519045" cy="1188117"/>
          </a:xfrm>
        </p:grpSpPr>
        <p:sp>
          <p:nvSpPr>
            <p:cNvPr id="139" name="TextBox 138">
              <a:extLst>
                <a:ext uri="{FF2B5EF4-FFF2-40B4-BE49-F238E27FC236}">
                  <a16:creationId xmlns:a16="http://schemas.microsoft.com/office/drawing/2014/main" id="{3E227301-D7C3-B543-BEED-F4C1A338368B}"/>
                </a:ext>
              </a:extLst>
            </p:cNvPr>
            <p:cNvSpPr txBox="1"/>
            <p:nvPr/>
          </p:nvSpPr>
          <p:spPr>
            <a:xfrm>
              <a:off x="1621473" y="4758051"/>
              <a:ext cx="103752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T</a:t>
              </a:r>
              <a:r>
                <a:rPr lang="en-US" sz="1400" baseline="-250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2</a:t>
              </a:r>
              <a:r>
                <a:rPr lang="en-US" sz="14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: (5, 2)</a:t>
              </a:r>
            </a:p>
          </p:txBody>
        </p:sp>
        <p:sp>
          <p:nvSpPr>
            <p:cNvPr id="94" name="Line 33">
              <a:extLst>
                <a:ext uri="{FF2B5EF4-FFF2-40B4-BE49-F238E27FC236}">
                  <a16:creationId xmlns:a16="http://schemas.microsoft.com/office/drawing/2014/main" id="{4B754F80-4B7A-3744-BEC0-9AA2A55C3F0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20451" y="4972206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95" name="Line 34">
              <a:extLst>
                <a:ext uri="{FF2B5EF4-FFF2-40B4-BE49-F238E27FC236}">
                  <a16:creationId xmlns:a16="http://schemas.microsoft.com/office/drawing/2014/main" id="{49E01AE9-6AF1-664F-BD10-6D8520A3313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2340" y="4972206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96" name="Line 35">
              <a:extLst>
                <a:ext uri="{FF2B5EF4-FFF2-40B4-BE49-F238E27FC236}">
                  <a16:creationId xmlns:a16="http://schemas.microsoft.com/office/drawing/2014/main" id="{FBE6BB7D-E42E-E440-B83C-5F016BECC6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4228" y="4972206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97" name="Line 36">
              <a:extLst>
                <a:ext uri="{FF2B5EF4-FFF2-40B4-BE49-F238E27FC236}">
                  <a16:creationId xmlns:a16="http://schemas.microsoft.com/office/drawing/2014/main" id="{A9D91171-C3AA-E941-A661-39BA53A808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6118" y="4972206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98" name="Line 37">
              <a:extLst>
                <a:ext uri="{FF2B5EF4-FFF2-40B4-BE49-F238E27FC236}">
                  <a16:creationId xmlns:a16="http://schemas.microsoft.com/office/drawing/2014/main" id="{9D0A83F4-E1D5-644F-913A-C0FD9CAE80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8007" y="4972206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99" name="Line 38">
              <a:extLst>
                <a:ext uri="{FF2B5EF4-FFF2-40B4-BE49-F238E27FC236}">
                  <a16:creationId xmlns:a16="http://schemas.microsoft.com/office/drawing/2014/main" id="{D15F77A5-63B4-5C4D-BD41-3F497AEA11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29896" y="4972206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64" name="Line 86">
              <a:extLst>
                <a:ext uri="{FF2B5EF4-FFF2-40B4-BE49-F238E27FC236}">
                  <a16:creationId xmlns:a16="http://schemas.microsoft.com/office/drawing/2014/main" id="{7E81194E-5EC0-5545-AB13-92D902FE662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108007" y="4718627"/>
              <a:ext cx="0" cy="3169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70" name="Line 83">
              <a:extLst>
                <a:ext uri="{FF2B5EF4-FFF2-40B4-BE49-F238E27FC236}">
                  <a16:creationId xmlns:a16="http://schemas.microsoft.com/office/drawing/2014/main" id="{FDFB0660-ADEF-8343-8771-5EB9298F91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13192" y="4718627"/>
              <a:ext cx="0" cy="3169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34" name="Text Box 75">
              <a:extLst>
                <a:ext uri="{FF2B5EF4-FFF2-40B4-BE49-F238E27FC236}">
                  <a16:creationId xmlns:a16="http://schemas.microsoft.com/office/drawing/2014/main" id="{A32ADA2E-2339-E24E-A272-F52E0C0D74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76374" y="5594108"/>
              <a:ext cx="50715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400" u="none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0</a:t>
              </a:r>
            </a:p>
          </p:txBody>
        </p:sp>
        <p:sp>
          <p:nvSpPr>
            <p:cNvPr id="135" name="Text Box 76">
              <a:extLst>
                <a:ext uri="{FF2B5EF4-FFF2-40B4-BE49-F238E27FC236}">
                  <a16:creationId xmlns:a16="http://schemas.microsoft.com/office/drawing/2014/main" id="{F63A337B-0CC9-4B4E-9C61-4D7B262FAB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981899" y="5598967"/>
              <a:ext cx="507154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sz="1400" u="none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5</a:t>
              </a:r>
            </a:p>
          </p:txBody>
        </p:sp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8590976D-FFC7-2A4E-93A4-D95238D991D1}"/>
                </a:ext>
              </a:extLst>
            </p:cNvPr>
            <p:cNvSpPr txBox="1"/>
            <p:nvPr/>
          </p:nvSpPr>
          <p:spPr>
            <a:xfrm>
              <a:off x="1621473" y="5314584"/>
              <a:ext cx="103752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T</a:t>
              </a:r>
              <a:r>
                <a:rPr lang="en-US" sz="1400" baseline="-250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3</a:t>
              </a:r>
              <a:r>
                <a:rPr lang="en-US" sz="14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: (6, 3)</a:t>
              </a:r>
            </a:p>
          </p:txBody>
        </p:sp>
        <p:sp>
          <p:nvSpPr>
            <p:cNvPr id="114" name="Line 55">
              <a:extLst>
                <a:ext uri="{FF2B5EF4-FFF2-40B4-BE49-F238E27FC236}">
                  <a16:creationId xmlns:a16="http://schemas.microsoft.com/office/drawing/2014/main" id="{51EE3495-975D-D24C-93F6-7D9E60C274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19110" y="5535573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15" name="Line 56">
              <a:extLst>
                <a:ext uri="{FF2B5EF4-FFF2-40B4-BE49-F238E27FC236}">
                  <a16:creationId xmlns:a16="http://schemas.microsoft.com/office/drawing/2014/main" id="{2D9A9267-6CA5-B84E-A44E-0F6A759C1F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2340" y="5535573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16" name="Line 57">
              <a:extLst>
                <a:ext uri="{FF2B5EF4-FFF2-40B4-BE49-F238E27FC236}">
                  <a16:creationId xmlns:a16="http://schemas.microsoft.com/office/drawing/2014/main" id="{7F7A23BC-2A2C-AC42-A9D9-4EECDF42F4C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4228" y="5535573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17" name="Line 58">
              <a:extLst>
                <a:ext uri="{FF2B5EF4-FFF2-40B4-BE49-F238E27FC236}">
                  <a16:creationId xmlns:a16="http://schemas.microsoft.com/office/drawing/2014/main" id="{D3738C51-9948-A94E-88D6-C0F8BA45AE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86118" y="5535573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18" name="Line 59">
              <a:extLst>
                <a:ext uri="{FF2B5EF4-FFF2-40B4-BE49-F238E27FC236}">
                  <a16:creationId xmlns:a16="http://schemas.microsoft.com/office/drawing/2014/main" id="{0EAF0378-017B-5A42-A8CD-06A1C74C39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08007" y="5535573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19" name="Line 60">
              <a:extLst>
                <a:ext uri="{FF2B5EF4-FFF2-40B4-BE49-F238E27FC236}">
                  <a16:creationId xmlns:a16="http://schemas.microsoft.com/office/drawing/2014/main" id="{6E2925C4-E0A0-2C48-809A-2FCD7E0BFE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529896" y="5535573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65" name="Line 87">
              <a:extLst>
                <a:ext uri="{FF2B5EF4-FFF2-40B4-BE49-F238E27FC236}">
                  <a16:creationId xmlns:a16="http://schemas.microsoft.com/office/drawing/2014/main" id="{8FB6B7C4-7B02-8043-BEBF-A7549664767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529896" y="5281994"/>
              <a:ext cx="0" cy="3169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71" name="Line 84">
              <a:extLst>
                <a:ext uri="{FF2B5EF4-FFF2-40B4-BE49-F238E27FC236}">
                  <a16:creationId xmlns:a16="http://schemas.microsoft.com/office/drawing/2014/main" id="{83C485C7-CB86-8C49-941A-60802F69E9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013192" y="5281994"/>
              <a:ext cx="0" cy="3169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93" name="Line 31">
              <a:extLst>
                <a:ext uri="{FF2B5EF4-FFF2-40B4-BE49-F238E27FC236}">
                  <a16:creationId xmlns:a16="http://schemas.microsoft.com/office/drawing/2014/main" id="{F4951E01-6992-2747-9515-94E78F6AC7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8562" y="5035600"/>
              <a:ext cx="314195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13" name="Line 53">
              <a:extLst>
                <a:ext uri="{FF2B5EF4-FFF2-40B4-BE49-F238E27FC236}">
                  <a16:creationId xmlns:a16="http://schemas.microsoft.com/office/drawing/2014/main" id="{1A301D30-802C-BA4B-B049-37BA971E81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98562" y="5598967"/>
              <a:ext cx="314195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600" b="0"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738394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5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0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1500"/>
                            </p:stCondLst>
                            <p:childTnLst>
                              <p:par>
                                <p:cTn id="8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2000"/>
                            </p:stCondLst>
                            <p:childTnLst>
                              <p:par>
                                <p:cTn id="8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0" dur="500"/>
                                        <p:tgtEl>
                                          <p:spTgt spid="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2500"/>
                            </p:stCondLst>
                            <p:childTnLst>
                              <p:par>
                                <p:cTn id="9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>
                            <p:stCondLst>
                              <p:cond delay="30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2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3500"/>
                            </p:stCondLst>
                            <p:childTnLst>
                              <p:par>
                                <p:cTn id="10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4000"/>
                            </p:stCondLst>
                            <p:childTnLst>
                              <p:par>
                                <p:cTn id="10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4500"/>
                            </p:stCondLst>
                            <p:childTnLst>
                              <p:par>
                                <p:cTn id="10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1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5000"/>
                            </p:stCondLst>
                            <p:childTnLst>
                              <p:par>
                                <p:cTn id="11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4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500"/>
                            </p:stCondLst>
                            <p:childTnLst>
                              <p:par>
                                <p:cTn id="1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>
                            <p:stCondLst>
                              <p:cond delay="6000"/>
                            </p:stCondLst>
                            <p:childTnLst>
                              <p:par>
                                <p:cTn id="1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>
                            <p:stCondLst>
                              <p:cond delay="6500"/>
                            </p:stCondLst>
                            <p:childTnLst>
                              <p:par>
                                <p:cTn id="124" presetID="22" presetClass="entr" presetSubtype="8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>
                            <p:stCondLst>
                              <p:cond delay="7000"/>
                            </p:stCondLst>
                            <p:childTnLst>
                              <p:par>
                                <p:cTn id="1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0" dur="500"/>
                                        <p:tgtEl>
                                          <p:spTgt spid="1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>
                            <p:stCondLst>
                              <p:cond delay="7500"/>
                            </p:stCondLst>
                            <p:childTnLst>
                              <p:par>
                                <p:cTn id="1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4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  <p:bldP spid="50" grpId="0" animBg="1"/>
      <p:bldP spid="54" grpId="0"/>
      <p:bldP spid="165" grpId="0"/>
      <p:bldP spid="148" grpId="0" animBg="1"/>
      <p:bldP spid="151" grpId="0" animBg="1"/>
      <p:bldP spid="153" grpId="0" animBg="1"/>
      <p:bldP spid="174" grpId="0" animBg="1"/>
      <p:bldP spid="175" grpId="0" animBg="1"/>
      <p:bldP spid="176" grpId="0" animBg="1"/>
      <p:bldP spid="177" grpId="0" animBg="1"/>
      <p:bldP spid="178" grpId="1" animBg="1"/>
      <p:bldP spid="199" grpId="0" animBg="1"/>
      <p:bldP spid="200" grpId="0" animBg="1"/>
      <p:bldP spid="201" grpId="0" animBg="1"/>
      <p:bldP spid="202" grpId="0" animBg="1"/>
      <p:bldP spid="203" grpId="0" animBg="1"/>
      <p:bldP spid="204" grpId="0" animBg="1"/>
      <p:bldP spid="205" grpId="0" animBg="1"/>
      <p:bldP spid="206" grpId="0" animBg="1"/>
      <p:bldP spid="20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9E9AFC-88D7-5749-B401-387FDF7ED6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RM vs. EDF vs. LLF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8538DD-769C-A64A-9768-EEFCCEFBDC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2400" dirty="0">
                <a:solidFill>
                  <a:srgbClr val="FF0000"/>
                </a:solidFill>
              </a:rPr>
              <a:t>Rate monotonic (RM)</a:t>
            </a:r>
          </a:p>
          <a:p>
            <a:pPr lvl="1"/>
            <a:r>
              <a:rPr lang="en-CA" sz="2000" dirty="0"/>
              <a:t>Simpler implementation, even in systems without explicit support for timing constraints (periods, deadlines)</a:t>
            </a:r>
          </a:p>
          <a:p>
            <a:pPr lvl="1"/>
            <a:r>
              <a:rPr lang="en-CA" sz="2000" dirty="0"/>
              <a:t>Predictability for highest priority tasks</a:t>
            </a:r>
          </a:p>
          <a:p>
            <a:pPr lvl="2"/>
            <a:endParaRPr lang="en-CA" sz="1800" dirty="0"/>
          </a:p>
          <a:p>
            <a:r>
              <a:rPr lang="en-CA" sz="2400" dirty="0">
                <a:solidFill>
                  <a:srgbClr val="FF0000"/>
                </a:solidFill>
              </a:rPr>
              <a:t>Earliest deadline first (EDF)</a:t>
            </a:r>
          </a:p>
          <a:p>
            <a:pPr lvl="1"/>
            <a:r>
              <a:rPr lang="en-CA" sz="2000" dirty="0"/>
              <a:t>Full processor utilization</a:t>
            </a:r>
          </a:p>
          <a:p>
            <a:pPr lvl="1"/>
            <a:r>
              <a:rPr lang="en-CA" sz="2000" dirty="0"/>
              <a:t>Misbehavior during overload conditions</a:t>
            </a:r>
          </a:p>
          <a:p>
            <a:pPr lvl="2"/>
            <a:endParaRPr lang="en-CA" sz="1800" dirty="0"/>
          </a:p>
          <a:p>
            <a:r>
              <a:rPr lang="en-CA" sz="2400" dirty="0">
                <a:solidFill>
                  <a:srgbClr val="FF0000"/>
                </a:solidFill>
              </a:rPr>
              <a:t>Least laxity first (LLF)</a:t>
            </a:r>
          </a:p>
          <a:p>
            <a:pPr lvl="1"/>
            <a:r>
              <a:rPr lang="en-CA" sz="2000" dirty="0"/>
              <a:t>Full processor utilization</a:t>
            </a:r>
          </a:p>
          <a:p>
            <a:pPr lvl="1"/>
            <a:r>
              <a:rPr lang="en-CA" sz="2000" dirty="0"/>
              <a:t>Misbehavior when there are jobs with equal laxity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8970248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872279-BE79-D74B-8468-FCA637650C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Scheduling Mixed Periodic and Aperiodic Tasks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593C41-AD9B-3B4E-A80B-0B5D4A7FD8D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CA" sz="1800" dirty="0"/>
              <a:t>One idea: run aperiodic tasks as soon as they arrive</a:t>
            </a:r>
          </a:p>
          <a:p>
            <a:pPr lvl="1"/>
            <a:r>
              <a:rPr lang="en-CA" sz="1400" dirty="0"/>
              <a:t>Response time for aperiodic tasks is minimized, but it’s unbounded for periodic tasks</a:t>
            </a:r>
          </a:p>
          <a:p>
            <a:r>
              <a:rPr lang="en-CA" sz="1800" dirty="0"/>
              <a:t>Another idea: assign aperiodic tasks lowest priority (run if no periodic task runs)</a:t>
            </a:r>
          </a:p>
          <a:p>
            <a:pPr lvl="1"/>
            <a:r>
              <a:rPr lang="en-CA" sz="1400" dirty="0"/>
              <a:t>Simple, bad response time for aperiodic tasks (applicable if they have no strict timing requirement)</a:t>
            </a:r>
          </a:p>
          <a:p>
            <a:r>
              <a:rPr lang="en-CA" sz="1800" dirty="0"/>
              <a:t>Better idea: aperiodic tasks can be served by periodically invoked </a:t>
            </a:r>
            <a:r>
              <a:rPr lang="en-CA" sz="1800" i="1" dirty="0">
                <a:solidFill>
                  <a:srgbClr val="FF0000"/>
                </a:solidFill>
              </a:rPr>
              <a:t>server</a:t>
            </a:r>
          </a:p>
          <a:p>
            <a:pPr lvl="1"/>
            <a:r>
              <a:rPr lang="en-CA" sz="1400" dirty="0"/>
              <a:t>Server can be accounted for in periodic task schedulability analysis </a:t>
            </a:r>
          </a:p>
          <a:p>
            <a:pPr lvl="1"/>
            <a:r>
              <a:rPr lang="en-CA" sz="1400" dirty="0"/>
              <a:t>Server has period </a:t>
            </a:r>
            <a:r>
              <a:rPr lang="en-CA" sz="1400" i="1" dirty="0" err="1"/>
              <a:t>p</a:t>
            </a:r>
            <a:r>
              <a:rPr lang="en-CA" sz="1400" i="1" baseline="-25000" dirty="0" err="1"/>
              <a:t>s</a:t>
            </a:r>
            <a:r>
              <a:rPr lang="en-CA" sz="1400" dirty="0"/>
              <a:t> and budget </a:t>
            </a:r>
            <a:r>
              <a:rPr lang="en-CA" sz="1400" i="1" dirty="0"/>
              <a:t>B</a:t>
            </a:r>
            <a:r>
              <a:rPr lang="en-CA" sz="1400" i="1" baseline="-25000" dirty="0"/>
              <a:t>s</a:t>
            </a:r>
            <a:r>
              <a:rPr lang="en-CA" sz="1400" dirty="0"/>
              <a:t> </a:t>
            </a:r>
          </a:p>
          <a:p>
            <a:pPr lvl="1"/>
            <a:r>
              <a:rPr lang="en-CA" sz="1400" dirty="0"/>
              <a:t>Server can serve aperiodic tasks until budget expires </a:t>
            </a:r>
          </a:p>
          <a:p>
            <a:pPr lvl="1"/>
            <a:r>
              <a:rPr lang="en-CA" sz="1400" dirty="0"/>
              <a:t>Servers have different flavors depending on details of when they are invoked, what priority they have, and how budgets are replenished</a:t>
            </a:r>
          </a:p>
          <a:p>
            <a:endParaRPr lang="en-US" sz="180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B1EAC55-FB68-7549-97C6-065B64D9ED5D}"/>
              </a:ext>
            </a:extLst>
          </p:cNvPr>
          <p:cNvGrpSpPr/>
          <p:nvPr/>
        </p:nvGrpSpPr>
        <p:grpSpPr>
          <a:xfrm>
            <a:off x="1286456" y="5181600"/>
            <a:ext cx="4405735" cy="1384124"/>
            <a:chOff x="759331" y="5158959"/>
            <a:chExt cx="4405735" cy="1384124"/>
          </a:xfrm>
        </p:grpSpPr>
        <p:cxnSp>
          <p:nvCxnSpPr>
            <p:cNvPr id="15" name="Straight Arrow Connector 14">
              <a:extLst>
                <a:ext uri="{FF2B5EF4-FFF2-40B4-BE49-F238E27FC236}">
                  <a16:creationId xmlns:a16="http://schemas.microsoft.com/office/drawing/2014/main" id="{4813CB41-A96B-7D43-A556-421170E7CBE8}"/>
                </a:ext>
              </a:extLst>
            </p:cNvPr>
            <p:cNvCxnSpPr>
              <a:stCxn id="95" idx="3"/>
              <a:endCxn id="9" idx="1"/>
            </p:cNvCxnSpPr>
            <p:nvPr/>
          </p:nvCxnSpPr>
          <p:spPr>
            <a:xfrm>
              <a:off x="3618657" y="5302083"/>
              <a:ext cx="249192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7" name="Straight Arrow Connector 126">
              <a:extLst>
                <a:ext uri="{FF2B5EF4-FFF2-40B4-BE49-F238E27FC236}">
                  <a16:creationId xmlns:a16="http://schemas.microsoft.com/office/drawing/2014/main" id="{C0C9801A-AE66-6444-B510-37EFF86FC2FA}"/>
                </a:ext>
              </a:extLst>
            </p:cNvPr>
            <p:cNvCxnSpPr>
              <a:cxnSpLocks/>
              <a:stCxn id="9" idx="2"/>
              <a:endCxn id="122" idx="0"/>
            </p:cNvCxnSpPr>
            <p:nvPr/>
          </p:nvCxnSpPr>
          <p:spPr>
            <a:xfrm>
              <a:off x="4137849" y="5440582"/>
              <a:ext cx="0" cy="43706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3E403DD4-2E85-AB46-8E64-115540ED90EE}"/>
                </a:ext>
              </a:extLst>
            </p:cNvPr>
            <p:cNvCxnSpPr>
              <a:stCxn id="121" idx="3"/>
              <a:endCxn id="12" idx="1"/>
            </p:cNvCxnSpPr>
            <p:nvPr/>
          </p:nvCxnSpPr>
          <p:spPr>
            <a:xfrm>
              <a:off x="4407849" y="6020769"/>
              <a:ext cx="282407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04C870B6-0BA3-9247-B813-4A005206411D}"/>
                </a:ext>
              </a:extLst>
            </p:cNvPr>
            <p:cNvGrpSpPr/>
            <p:nvPr/>
          </p:nvGrpSpPr>
          <p:grpSpPr>
            <a:xfrm>
              <a:off x="2178657" y="5158959"/>
              <a:ext cx="1440000" cy="286247"/>
              <a:chOff x="2178657" y="5152440"/>
              <a:chExt cx="1440000" cy="286247"/>
            </a:xfrm>
          </p:grpSpPr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FBA1412E-BA50-6D40-810A-A7587ECE7930}"/>
                  </a:ext>
                </a:extLst>
              </p:cNvPr>
              <p:cNvSpPr/>
              <p:nvPr/>
            </p:nvSpPr>
            <p:spPr>
              <a:xfrm>
                <a:off x="2178657" y="5152440"/>
                <a:ext cx="1440000" cy="286247"/>
              </a:xfrm>
              <a:prstGeom prst="rect">
                <a:avLst/>
              </a:prstGeom>
              <a:solidFill>
                <a:schemeClr val="bg1">
                  <a:lumMod val="85000"/>
                </a:schemeClr>
              </a:solidFill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5" name="Rectangle 94">
                <a:extLst>
                  <a:ext uri="{FF2B5EF4-FFF2-40B4-BE49-F238E27FC236}">
                    <a16:creationId xmlns:a16="http://schemas.microsoft.com/office/drawing/2014/main" id="{1297060A-A6A2-9C4F-8A60-F273BA1DB6C3}"/>
                  </a:ext>
                </a:extLst>
              </p:cNvPr>
              <p:cNvSpPr/>
              <p:nvPr/>
            </p:nvSpPr>
            <p:spPr>
              <a:xfrm>
                <a:off x="3438657" y="5152440"/>
                <a:ext cx="180000" cy="28624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DDF17679-9756-F040-B25E-CA3ADE274CB0}"/>
                  </a:ext>
                </a:extLst>
              </p:cNvPr>
              <p:cNvSpPr/>
              <p:nvPr/>
            </p:nvSpPr>
            <p:spPr>
              <a:xfrm>
                <a:off x="3258657" y="5152440"/>
                <a:ext cx="180000" cy="28624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97" name="Rectangle 96">
                <a:extLst>
                  <a:ext uri="{FF2B5EF4-FFF2-40B4-BE49-F238E27FC236}">
                    <a16:creationId xmlns:a16="http://schemas.microsoft.com/office/drawing/2014/main" id="{8E85B8EE-3C65-CE49-AE77-311B5FF0900D}"/>
                  </a:ext>
                </a:extLst>
              </p:cNvPr>
              <p:cNvSpPr/>
              <p:nvPr/>
            </p:nvSpPr>
            <p:spPr>
              <a:xfrm>
                <a:off x="3078657" y="5152440"/>
                <a:ext cx="180000" cy="28624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1" name="Rectangle 100">
                <a:extLst>
                  <a:ext uri="{FF2B5EF4-FFF2-40B4-BE49-F238E27FC236}">
                    <a16:creationId xmlns:a16="http://schemas.microsoft.com/office/drawing/2014/main" id="{CFFA2396-0DDF-C441-A5A8-8FF12995850C}"/>
                  </a:ext>
                </a:extLst>
              </p:cNvPr>
              <p:cNvSpPr/>
              <p:nvPr/>
            </p:nvSpPr>
            <p:spPr>
              <a:xfrm>
                <a:off x="2898657" y="5152440"/>
                <a:ext cx="180000" cy="28624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F943A4C6-903E-B64D-A228-B4F446D04789}"/>
                  </a:ext>
                </a:extLst>
              </p:cNvPr>
              <p:cNvSpPr/>
              <p:nvPr/>
            </p:nvSpPr>
            <p:spPr>
              <a:xfrm>
                <a:off x="2718657" y="5152440"/>
                <a:ext cx="180000" cy="28624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9" name="Rectangle 108">
                <a:extLst>
                  <a:ext uri="{FF2B5EF4-FFF2-40B4-BE49-F238E27FC236}">
                    <a16:creationId xmlns:a16="http://schemas.microsoft.com/office/drawing/2014/main" id="{BC59C2BB-1478-9A43-B06D-6784C5A3D22A}"/>
                  </a:ext>
                </a:extLst>
              </p:cNvPr>
              <p:cNvSpPr/>
              <p:nvPr/>
            </p:nvSpPr>
            <p:spPr>
              <a:xfrm>
                <a:off x="2538657" y="5152440"/>
                <a:ext cx="180000" cy="286247"/>
              </a:xfrm>
              <a:prstGeom prst="rect">
                <a:avLst/>
              </a:prstGeom>
              <a:no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EB3FB09-28B7-844C-B45F-34BEFDD66598}"/>
                </a:ext>
              </a:extLst>
            </p:cNvPr>
            <p:cNvSpPr txBox="1"/>
            <p:nvPr/>
          </p:nvSpPr>
          <p:spPr>
            <a:xfrm>
              <a:off x="759331" y="5163583"/>
              <a:ext cx="110876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Aperiodic Tasks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1E63C73-8D0A-BF45-A430-7934B0F8999C}"/>
                </a:ext>
              </a:extLst>
            </p:cNvPr>
            <p:cNvSpPr txBox="1"/>
            <p:nvPr/>
          </p:nvSpPr>
          <p:spPr>
            <a:xfrm>
              <a:off x="1659011" y="5882269"/>
              <a:ext cx="99847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Periodic Tasks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3205DA09-CE84-FE4F-9E69-384A2AD1EE92}"/>
                </a:ext>
              </a:extLst>
            </p:cNvPr>
            <p:cNvSpPr txBox="1"/>
            <p:nvPr/>
          </p:nvSpPr>
          <p:spPr>
            <a:xfrm>
              <a:off x="3867849" y="5163583"/>
              <a:ext cx="540000" cy="276999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>
              <a:solidFill>
                <a:schemeClr val="bg2">
                  <a:lumMod val="25000"/>
                </a:schemeClr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Server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2ADAC5A6-2A93-7045-A593-7CFF276BBB11}"/>
                </a:ext>
              </a:extLst>
            </p:cNvPr>
            <p:cNvSpPr txBox="1"/>
            <p:nvPr/>
          </p:nvSpPr>
          <p:spPr>
            <a:xfrm>
              <a:off x="3120225" y="6266084"/>
              <a:ext cx="1023037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en-US" sz="12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Ready Queue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E736736-F9F4-2A4C-908B-5151EDBE26FD}"/>
                </a:ext>
              </a:extLst>
            </p:cNvPr>
            <p:cNvSpPr txBox="1"/>
            <p:nvPr/>
          </p:nvSpPr>
          <p:spPr>
            <a:xfrm>
              <a:off x="4690256" y="5882269"/>
              <a:ext cx="474810" cy="276999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>
              <a:solidFill>
                <a:srgbClr val="00B050"/>
              </a:solidFill>
            </a:ln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2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CPU</a:t>
              </a:r>
            </a:p>
          </p:txBody>
        </p: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AF2D55B5-6BF0-8D4D-9F80-93986FE33218}"/>
                </a:ext>
              </a:extLst>
            </p:cNvPr>
            <p:cNvGrpSpPr/>
            <p:nvPr/>
          </p:nvGrpSpPr>
          <p:grpSpPr>
            <a:xfrm>
              <a:off x="2967849" y="5877645"/>
              <a:ext cx="1440000" cy="286247"/>
              <a:chOff x="2967849" y="5877645"/>
              <a:chExt cx="1440000" cy="286247"/>
            </a:xfrm>
            <a:solidFill>
              <a:schemeClr val="accent5">
                <a:lumMod val="20000"/>
                <a:lumOff val="80000"/>
              </a:schemeClr>
            </a:solidFill>
          </p:grpSpPr>
          <p:sp>
            <p:nvSpPr>
              <p:cNvPr id="120" name="Rectangle 119">
                <a:extLst>
                  <a:ext uri="{FF2B5EF4-FFF2-40B4-BE49-F238E27FC236}">
                    <a16:creationId xmlns:a16="http://schemas.microsoft.com/office/drawing/2014/main" id="{9D70CDA2-3D35-7246-AA43-86C83B673F9B}"/>
                  </a:ext>
                </a:extLst>
              </p:cNvPr>
              <p:cNvSpPr/>
              <p:nvPr/>
            </p:nvSpPr>
            <p:spPr>
              <a:xfrm>
                <a:off x="2967849" y="5877645"/>
                <a:ext cx="1440000" cy="286247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1" name="Rectangle 120">
                <a:extLst>
                  <a:ext uri="{FF2B5EF4-FFF2-40B4-BE49-F238E27FC236}">
                    <a16:creationId xmlns:a16="http://schemas.microsoft.com/office/drawing/2014/main" id="{872C84EB-0294-044E-B850-F2D6D4A609FE}"/>
                  </a:ext>
                </a:extLst>
              </p:cNvPr>
              <p:cNvSpPr/>
              <p:nvPr/>
            </p:nvSpPr>
            <p:spPr>
              <a:xfrm>
                <a:off x="4227849" y="5877645"/>
                <a:ext cx="180000" cy="286247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2" name="Rectangle 121">
                <a:extLst>
                  <a:ext uri="{FF2B5EF4-FFF2-40B4-BE49-F238E27FC236}">
                    <a16:creationId xmlns:a16="http://schemas.microsoft.com/office/drawing/2014/main" id="{0DE25053-EC12-4149-ADDF-7ABD2337D899}"/>
                  </a:ext>
                </a:extLst>
              </p:cNvPr>
              <p:cNvSpPr/>
              <p:nvPr/>
            </p:nvSpPr>
            <p:spPr>
              <a:xfrm>
                <a:off x="4047849" y="5877645"/>
                <a:ext cx="180000" cy="286247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3" name="Rectangle 122">
                <a:extLst>
                  <a:ext uri="{FF2B5EF4-FFF2-40B4-BE49-F238E27FC236}">
                    <a16:creationId xmlns:a16="http://schemas.microsoft.com/office/drawing/2014/main" id="{63E6E595-9F08-A249-9ADE-0825BC761E9D}"/>
                  </a:ext>
                </a:extLst>
              </p:cNvPr>
              <p:cNvSpPr/>
              <p:nvPr/>
            </p:nvSpPr>
            <p:spPr>
              <a:xfrm>
                <a:off x="3867849" y="5877645"/>
                <a:ext cx="180000" cy="286247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4" name="Rectangle 123">
                <a:extLst>
                  <a:ext uri="{FF2B5EF4-FFF2-40B4-BE49-F238E27FC236}">
                    <a16:creationId xmlns:a16="http://schemas.microsoft.com/office/drawing/2014/main" id="{C1BE4447-86F9-E84E-A5EF-252B5200EEFD}"/>
                  </a:ext>
                </a:extLst>
              </p:cNvPr>
              <p:cNvSpPr/>
              <p:nvPr/>
            </p:nvSpPr>
            <p:spPr>
              <a:xfrm>
                <a:off x="3687849" y="5877645"/>
                <a:ext cx="180000" cy="286247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5" name="Rectangle 124">
                <a:extLst>
                  <a:ext uri="{FF2B5EF4-FFF2-40B4-BE49-F238E27FC236}">
                    <a16:creationId xmlns:a16="http://schemas.microsoft.com/office/drawing/2014/main" id="{DFDDDAA8-B604-2943-A24F-0F82CD6CD46C}"/>
                  </a:ext>
                </a:extLst>
              </p:cNvPr>
              <p:cNvSpPr/>
              <p:nvPr/>
            </p:nvSpPr>
            <p:spPr>
              <a:xfrm>
                <a:off x="3507849" y="5877645"/>
                <a:ext cx="180000" cy="286247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6" name="Rectangle 125">
                <a:extLst>
                  <a:ext uri="{FF2B5EF4-FFF2-40B4-BE49-F238E27FC236}">
                    <a16:creationId xmlns:a16="http://schemas.microsoft.com/office/drawing/2014/main" id="{DB39FE8C-932F-5046-A95E-595B2CECE222}"/>
                  </a:ext>
                </a:extLst>
              </p:cNvPr>
              <p:cNvSpPr/>
              <p:nvPr/>
            </p:nvSpPr>
            <p:spPr>
              <a:xfrm>
                <a:off x="3327849" y="5877645"/>
                <a:ext cx="180000" cy="286247"/>
              </a:xfrm>
              <a:prstGeom prst="rect">
                <a:avLst/>
              </a:prstGeom>
              <a:grpFill/>
              <a:ln w="190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cxnSp>
          <p:nvCxnSpPr>
            <p:cNvPr id="128" name="Straight Arrow Connector 127">
              <a:extLst>
                <a:ext uri="{FF2B5EF4-FFF2-40B4-BE49-F238E27FC236}">
                  <a16:creationId xmlns:a16="http://schemas.microsoft.com/office/drawing/2014/main" id="{99F7B6B1-8DA2-BF4B-BCF0-11D446C8DE04}"/>
                </a:ext>
              </a:extLst>
            </p:cNvPr>
            <p:cNvCxnSpPr>
              <a:cxnSpLocks/>
              <a:stCxn id="7" idx="3"/>
              <a:endCxn id="4" idx="1"/>
            </p:cNvCxnSpPr>
            <p:nvPr/>
          </p:nvCxnSpPr>
          <p:spPr>
            <a:xfrm>
              <a:off x="1868097" y="5302083"/>
              <a:ext cx="31056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9" name="Straight Arrow Connector 128">
              <a:extLst>
                <a:ext uri="{FF2B5EF4-FFF2-40B4-BE49-F238E27FC236}">
                  <a16:creationId xmlns:a16="http://schemas.microsoft.com/office/drawing/2014/main" id="{835690D5-6884-874F-B060-53A858377AD0}"/>
                </a:ext>
              </a:extLst>
            </p:cNvPr>
            <p:cNvCxnSpPr>
              <a:cxnSpLocks/>
              <a:stCxn id="8" idx="3"/>
              <a:endCxn id="120" idx="1"/>
            </p:cNvCxnSpPr>
            <p:nvPr/>
          </p:nvCxnSpPr>
          <p:spPr>
            <a:xfrm>
              <a:off x="2657489" y="6020769"/>
              <a:ext cx="310360" cy="0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6601050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1" uiExpand="1" build="p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55E2C2-0874-B844-A08D-051B3EE71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 dirty="0"/>
              <a:t>Polling Server (PS)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0A9B05-C162-D344-9111-790E1C5EBE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76400"/>
            <a:ext cx="7886700" cy="4968875"/>
          </a:xfrm>
        </p:spPr>
        <p:txBody>
          <a:bodyPr/>
          <a:lstStyle/>
          <a:p>
            <a:r>
              <a:rPr lang="en-CA" sz="2000" dirty="0"/>
              <a:t>Periodic tasks and PS are scheduled based on RM</a:t>
            </a:r>
          </a:p>
          <a:p>
            <a:r>
              <a:rPr lang="en-CA" sz="2000" dirty="0"/>
              <a:t>Aperiodic arrivals are queued until PS is invoked </a:t>
            </a:r>
          </a:p>
          <a:p>
            <a:r>
              <a:rPr lang="en-CA" sz="2000" dirty="0"/>
              <a:t>At the beginning of its period, PS serves queued aperiodic tasks</a:t>
            </a:r>
          </a:p>
          <a:p>
            <a:r>
              <a:rPr lang="en-CA" sz="2000" dirty="0"/>
              <a:t>PS suspends itself when queue becomes empty or budget expires</a:t>
            </a:r>
          </a:p>
          <a:p>
            <a:r>
              <a:rPr lang="en-CA" sz="2000" dirty="0"/>
              <a:t>PS is treated as regular periodic task in schedulability analysis</a:t>
            </a:r>
          </a:p>
        </p:txBody>
      </p:sp>
      <p:sp>
        <p:nvSpPr>
          <p:cNvPr id="8" name="Rectangle 103">
            <a:extLst>
              <a:ext uri="{FF2B5EF4-FFF2-40B4-BE49-F238E27FC236}">
                <a16:creationId xmlns:a16="http://schemas.microsoft.com/office/drawing/2014/main" id="{8F2DC625-4D7C-5944-9BC3-BBDEBA5B15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1452" y="5076731"/>
            <a:ext cx="382774" cy="254575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6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r" defTabSz="457200" rt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EAE66114-F77C-AC42-8E33-488C5CA11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2830" y="5076731"/>
            <a:ext cx="371518" cy="254575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6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r" defTabSz="457200" rt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34" name="Rectangle 88">
            <a:extLst>
              <a:ext uri="{FF2B5EF4-FFF2-40B4-BE49-F238E27FC236}">
                <a16:creationId xmlns:a16="http://schemas.microsoft.com/office/drawing/2014/main" id="{A4925AF1-BC72-8E46-BA46-CCC85472B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5117" y="5166038"/>
            <a:ext cx="158400" cy="9611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rgbClr val="00206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35" name="Rectangle 88">
            <a:extLst>
              <a:ext uri="{FF2B5EF4-FFF2-40B4-BE49-F238E27FC236}">
                <a16:creationId xmlns:a16="http://schemas.microsoft.com/office/drawing/2014/main" id="{D9B7F22F-2F3B-6343-872C-A26E749FCA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3517" y="5166038"/>
            <a:ext cx="210830" cy="9611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rgbClr val="00206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AF2433ED-3CE0-A34B-962F-D02E2A6D31EB}"/>
              </a:ext>
            </a:extLst>
          </p:cNvPr>
          <p:cNvGrpSpPr/>
          <p:nvPr/>
        </p:nvGrpSpPr>
        <p:grpSpPr>
          <a:xfrm>
            <a:off x="385853" y="5672410"/>
            <a:ext cx="7506971" cy="318811"/>
            <a:chOff x="385853" y="5672410"/>
            <a:chExt cx="7506971" cy="318811"/>
          </a:xfrm>
        </p:grpSpPr>
        <p:sp>
          <p:nvSpPr>
            <p:cNvPr id="38" name="Rectangle 88">
              <a:extLst>
                <a:ext uri="{FF2B5EF4-FFF2-40B4-BE49-F238E27FC236}">
                  <a16:creationId xmlns:a16="http://schemas.microsoft.com/office/drawing/2014/main" id="{1B03F676-3D1F-1741-919C-97B898DB60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5804" y="5672410"/>
              <a:ext cx="158400" cy="25457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39" name="Line 55">
              <a:extLst>
                <a:ext uri="{FF2B5EF4-FFF2-40B4-BE49-F238E27FC236}">
                  <a16:creationId xmlns:a16="http://schemas.microsoft.com/office/drawing/2014/main" id="{26AED32F-9E75-4045-A8AA-9FC8D486E9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0916" y="586443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40" name="Line 56">
              <a:extLst>
                <a:ext uri="{FF2B5EF4-FFF2-40B4-BE49-F238E27FC236}">
                  <a16:creationId xmlns:a16="http://schemas.microsoft.com/office/drawing/2014/main" id="{90C3D04E-4857-284F-A3E9-736F62D838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7887" y="586443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41" name="Line 57">
              <a:extLst>
                <a:ext uri="{FF2B5EF4-FFF2-40B4-BE49-F238E27FC236}">
                  <a16:creationId xmlns:a16="http://schemas.microsoft.com/office/drawing/2014/main" id="{8A0581F2-97E8-4F4A-B378-3D0EEAD0AA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4858" y="586443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42" name="Line 58">
              <a:extLst>
                <a:ext uri="{FF2B5EF4-FFF2-40B4-BE49-F238E27FC236}">
                  <a16:creationId xmlns:a16="http://schemas.microsoft.com/office/drawing/2014/main" id="{8DB13B1A-7BED-014D-9F94-9DF7EC5E0C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1830" y="586443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43" name="Line 59">
              <a:extLst>
                <a:ext uri="{FF2B5EF4-FFF2-40B4-BE49-F238E27FC236}">
                  <a16:creationId xmlns:a16="http://schemas.microsoft.com/office/drawing/2014/main" id="{9BE425E4-3B1C-D645-938F-3DCEE05417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801" y="586443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44" name="Line 60">
              <a:extLst>
                <a:ext uri="{FF2B5EF4-FFF2-40B4-BE49-F238E27FC236}">
                  <a16:creationId xmlns:a16="http://schemas.microsoft.com/office/drawing/2014/main" id="{68227FCA-856D-DC4B-8C9D-3D87459417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773" y="586443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45" name="Line 61">
              <a:extLst>
                <a:ext uri="{FF2B5EF4-FFF2-40B4-BE49-F238E27FC236}">
                  <a16:creationId xmlns:a16="http://schemas.microsoft.com/office/drawing/2014/main" id="{983ED9EA-8CE4-3449-A42B-F8592685C7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2744" y="586443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46" name="Line 62">
              <a:extLst>
                <a:ext uri="{FF2B5EF4-FFF2-40B4-BE49-F238E27FC236}">
                  <a16:creationId xmlns:a16="http://schemas.microsoft.com/office/drawing/2014/main" id="{3E45AFC9-55AD-FE44-B482-52477DCE03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9716" y="586443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47" name="Line 63">
              <a:extLst>
                <a:ext uri="{FF2B5EF4-FFF2-40B4-BE49-F238E27FC236}">
                  <a16:creationId xmlns:a16="http://schemas.microsoft.com/office/drawing/2014/main" id="{E5080176-8B4B-D042-B40E-4B90F548EA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76687" y="586443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48" name="Line 64">
              <a:extLst>
                <a:ext uri="{FF2B5EF4-FFF2-40B4-BE49-F238E27FC236}">
                  <a16:creationId xmlns:a16="http://schemas.microsoft.com/office/drawing/2014/main" id="{E8893A35-4C6A-5246-AC0C-C26E6AAF0D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93658" y="586443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49" name="Line 65">
              <a:extLst>
                <a:ext uri="{FF2B5EF4-FFF2-40B4-BE49-F238E27FC236}">
                  <a16:creationId xmlns:a16="http://schemas.microsoft.com/office/drawing/2014/main" id="{DF716C1D-C645-9B4F-8C76-AEB3E3EDC0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10630" y="586443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50" name="Line 66">
              <a:extLst>
                <a:ext uri="{FF2B5EF4-FFF2-40B4-BE49-F238E27FC236}">
                  <a16:creationId xmlns:a16="http://schemas.microsoft.com/office/drawing/2014/main" id="{0D1958E6-580A-A340-B855-281F81A882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27601" y="586443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51" name="Line 67">
              <a:extLst>
                <a:ext uri="{FF2B5EF4-FFF2-40B4-BE49-F238E27FC236}">
                  <a16:creationId xmlns:a16="http://schemas.microsoft.com/office/drawing/2014/main" id="{AD5A0513-CECA-3B4D-845B-04BE5D32A12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4573" y="586443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52" name="Line 68">
              <a:extLst>
                <a:ext uri="{FF2B5EF4-FFF2-40B4-BE49-F238E27FC236}">
                  <a16:creationId xmlns:a16="http://schemas.microsoft.com/office/drawing/2014/main" id="{487DE5B7-A682-4140-B72E-D13855480F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61544" y="586443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53" name="Line 69">
              <a:extLst>
                <a:ext uri="{FF2B5EF4-FFF2-40B4-BE49-F238E27FC236}">
                  <a16:creationId xmlns:a16="http://schemas.microsoft.com/office/drawing/2014/main" id="{65538AE3-CC3E-5042-B5DE-B66915C08D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78515" y="586443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54" name="Line 70">
              <a:extLst>
                <a:ext uri="{FF2B5EF4-FFF2-40B4-BE49-F238E27FC236}">
                  <a16:creationId xmlns:a16="http://schemas.microsoft.com/office/drawing/2014/main" id="{4696FE4A-3A27-234F-BE95-DA69BC2A57C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5487" y="586443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55" name="Line 71">
              <a:extLst>
                <a:ext uri="{FF2B5EF4-FFF2-40B4-BE49-F238E27FC236}">
                  <a16:creationId xmlns:a16="http://schemas.microsoft.com/office/drawing/2014/main" id="{69D61BF4-23D8-AA4D-81B8-BA42DD3A38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61544" y="586443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56" name="Line 72">
              <a:extLst>
                <a:ext uri="{FF2B5EF4-FFF2-40B4-BE49-F238E27FC236}">
                  <a16:creationId xmlns:a16="http://schemas.microsoft.com/office/drawing/2014/main" id="{499B85F9-41A3-3744-B5D5-D32871AC91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78515" y="586443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57" name="Line 73">
              <a:extLst>
                <a:ext uri="{FF2B5EF4-FFF2-40B4-BE49-F238E27FC236}">
                  <a16:creationId xmlns:a16="http://schemas.microsoft.com/office/drawing/2014/main" id="{D89A327A-C535-8447-9CFC-6A5C926A55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5487" y="586443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58" name="Line 74">
              <a:extLst>
                <a:ext uri="{FF2B5EF4-FFF2-40B4-BE49-F238E27FC236}">
                  <a16:creationId xmlns:a16="http://schemas.microsoft.com/office/drawing/2014/main" id="{51EE39E3-38FE-C24C-ABE3-DE445D00FEC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12458" y="586443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7039A624-3708-5F49-8BC2-66443D45AA30}"/>
                </a:ext>
              </a:extLst>
            </p:cNvPr>
            <p:cNvSpPr txBox="1"/>
            <p:nvPr/>
          </p:nvSpPr>
          <p:spPr>
            <a:xfrm>
              <a:off x="385853" y="5683123"/>
              <a:ext cx="126438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Aperiodic Tasks</a:t>
              </a:r>
            </a:p>
          </p:txBody>
        </p:sp>
        <p:sp>
          <p:nvSpPr>
            <p:cNvPr id="60" name="Rectangle 88">
              <a:extLst>
                <a:ext uri="{FF2B5EF4-FFF2-40B4-BE49-F238E27FC236}">
                  <a16:creationId xmlns:a16="http://schemas.microsoft.com/office/drawing/2014/main" id="{0F6A2C26-3E4C-944C-B410-E92EB78893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3455" y="5672410"/>
              <a:ext cx="210830" cy="25457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62" name="Rectangle 88">
              <a:extLst>
                <a:ext uri="{FF2B5EF4-FFF2-40B4-BE49-F238E27FC236}">
                  <a16:creationId xmlns:a16="http://schemas.microsoft.com/office/drawing/2014/main" id="{17318CBB-3E02-384F-8709-151E2D4F55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2612" y="5672410"/>
              <a:ext cx="210830" cy="25457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63" name="Rectangle 88">
              <a:extLst>
                <a:ext uri="{FF2B5EF4-FFF2-40B4-BE49-F238E27FC236}">
                  <a16:creationId xmlns:a16="http://schemas.microsoft.com/office/drawing/2014/main" id="{AFB90160-8DF8-EB41-A935-2385F0DC27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8793" y="5672410"/>
              <a:ext cx="89413" cy="25457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64" name="Rectangle 88">
              <a:extLst>
                <a:ext uri="{FF2B5EF4-FFF2-40B4-BE49-F238E27FC236}">
                  <a16:creationId xmlns:a16="http://schemas.microsoft.com/office/drawing/2014/main" id="{C403F3B2-DB92-0A41-918A-080BF11668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0597" y="5672410"/>
              <a:ext cx="81285" cy="25457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65" name="Rectangle 88">
              <a:extLst>
                <a:ext uri="{FF2B5EF4-FFF2-40B4-BE49-F238E27FC236}">
                  <a16:creationId xmlns:a16="http://schemas.microsoft.com/office/drawing/2014/main" id="{D5695432-6DF7-4346-9ED9-F36D9A859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83977" y="5672410"/>
              <a:ext cx="158400" cy="25457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r" defTabSz="457200" rtl="1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66" name="Line 53">
              <a:extLst>
                <a:ext uri="{FF2B5EF4-FFF2-40B4-BE49-F238E27FC236}">
                  <a16:creationId xmlns:a16="http://schemas.microsoft.com/office/drawing/2014/main" id="{E5A36BFC-B464-2C48-AB6B-B8E897609B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3944" y="5927826"/>
              <a:ext cx="57688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sp>
        <p:nvSpPr>
          <p:cNvPr id="67" name="Rectangle 88">
            <a:extLst>
              <a:ext uri="{FF2B5EF4-FFF2-40B4-BE49-F238E27FC236}">
                <a16:creationId xmlns:a16="http://schemas.microsoft.com/office/drawing/2014/main" id="{C15921F2-433B-8F4F-BDD2-0509064259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6589" y="5167673"/>
            <a:ext cx="210830" cy="9611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rgbClr val="00206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68" name="Rectangle 88">
            <a:extLst>
              <a:ext uri="{FF2B5EF4-FFF2-40B4-BE49-F238E27FC236}">
                <a16:creationId xmlns:a16="http://schemas.microsoft.com/office/drawing/2014/main" id="{13ACC7DD-7F69-A043-ABB9-723BDFA6B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23530" y="5167673"/>
            <a:ext cx="89413" cy="9611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rgbClr val="00206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69" name="Rectangle 88">
            <a:extLst>
              <a:ext uri="{FF2B5EF4-FFF2-40B4-BE49-F238E27FC236}">
                <a16:creationId xmlns:a16="http://schemas.microsoft.com/office/drawing/2014/main" id="{40A28F7D-0A68-B84F-B053-00E2C3F5B7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12943" y="5167673"/>
            <a:ext cx="81285" cy="9611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rgbClr val="00206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72" name="Rectangle 103">
            <a:extLst>
              <a:ext uri="{FF2B5EF4-FFF2-40B4-BE49-F238E27FC236}">
                <a16:creationId xmlns:a16="http://schemas.microsoft.com/office/drawing/2014/main" id="{50C3D4C1-F9E1-1E42-B48D-D4152755F5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7562" y="4446639"/>
            <a:ext cx="630200" cy="2545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00B05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r" defTabSz="457200" rt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73" name="Rectangle 6">
            <a:extLst>
              <a:ext uri="{FF2B5EF4-FFF2-40B4-BE49-F238E27FC236}">
                <a16:creationId xmlns:a16="http://schemas.microsoft.com/office/drawing/2014/main" id="{1A075A63-70AD-8A42-AB16-6C04DC61A1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6701" y="4446639"/>
            <a:ext cx="633931" cy="2545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00B05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defTabSz="45720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00" name="Rectangle 103">
            <a:extLst>
              <a:ext uri="{FF2B5EF4-FFF2-40B4-BE49-F238E27FC236}">
                <a16:creationId xmlns:a16="http://schemas.microsoft.com/office/drawing/2014/main" id="{56C55D77-A1B5-A742-8AB9-15A0BF7A9E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3678" y="4446639"/>
            <a:ext cx="630200" cy="2545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00B05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r" defTabSz="457200" rt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02" name="Rectangle 103">
            <a:extLst>
              <a:ext uri="{FF2B5EF4-FFF2-40B4-BE49-F238E27FC236}">
                <a16:creationId xmlns:a16="http://schemas.microsoft.com/office/drawing/2014/main" id="{0C877FE0-FF99-DF42-BB48-436FA7AD97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315" y="4446639"/>
            <a:ext cx="630200" cy="2545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00B05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defTabSz="45720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grpSp>
        <p:nvGrpSpPr>
          <p:cNvPr id="122" name="Group 121">
            <a:extLst>
              <a:ext uri="{FF2B5EF4-FFF2-40B4-BE49-F238E27FC236}">
                <a16:creationId xmlns:a16="http://schemas.microsoft.com/office/drawing/2014/main" id="{164CD8F0-2E6B-7B4B-9F37-D5EB765CAE32}"/>
              </a:ext>
            </a:extLst>
          </p:cNvPr>
          <p:cNvGrpSpPr/>
          <p:nvPr/>
        </p:nvGrpSpPr>
        <p:grpSpPr>
          <a:xfrm>
            <a:off x="513218" y="5017699"/>
            <a:ext cx="7379606" cy="382348"/>
            <a:chOff x="513218" y="5017699"/>
            <a:chExt cx="7379606" cy="382348"/>
          </a:xfrm>
        </p:grpSpPr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36960427-C05F-2F41-9C87-C59691A9A0DF}"/>
                </a:ext>
              </a:extLst>
            </p:cNvPr>
            <p:cNvSpPr txBox="1"/>
            <p:nvPr/>
          </p:nvSpPr>
          <p:spPr>
            <a:xfrm>
              <a:off x="513218" y="5088660"/>
              <a:ext cx="758606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PS: (5,2)</a:t>
              </a:r>
            </a:p>
          </p:txBody>
        </p:sp>
        <p:sp>
          <p:nvSpPr>
            <p:cNvPr id="10" name="Line 31">
              <a:extLst>
                <a:ext uri="{FF2B5EF4-FFF2-40B4-BE49-F238E27FC236}">
                  <a16:creationId xmlns:a16="http://schemas.microsoft.com/office/drawing/2014/main" id="{86775D90-C1B1-0D45-8F60-A6F025540B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3944" y="5336652"/>
              <a:ext cx="57688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1" name="Line 33">
              <a:extLst>
                <a:ext uri="{FF2B5EF4-FFF2-40B4-BE49-F238E27FC236}">
                  <a16:creationId xmlns:a16="http://schemas.microsoft.com/office/drawing/2014/main" id="{E73A2619-88C4-B945-ACB8-BDD387B038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0916" y="5273258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2" name="Line 34">
              <a:extLst>
                <a:ext uri="{FF2B5EF4-FFF2-40B4-BE49-F238E27FC236}">
                  <a16:creationId xmlns:a16="http://schemas.microsoft.com/office/drawing/2014/main" id="{2A3A0622-754D-1847-830C-D07EE034CD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7887" y="5273258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3" name="Line 35">
              <a:extLst>
                <a:ext uri="{FF2B5EF4-FFF2-40B4-BE49-F238E27FC236}">
                  <a16:creationId xmlns:a16="http://schemas.microsoft.com/office/drawing/2014/main" id="{52C30CDF-12FC-F047-BDE3-A9D25C060C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4858" y="5273258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4" name="Line 36">
              <a:extLst>
                <a:ext uri="{FF2B5EF4-FFF2-40B4-BE49-F238E27FC236}">
                  <a16:creationId xmlns:a16="http://schemas.microsoft.com/office/drawing/2014/main" id="{E670F082-28CD-F740-A05A-A79D0FE47A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1830" y="5273258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5" name="Line 37">
              <a:extLst>
                <a:ext uri="{FF2B5EF4-FFF2-40B4-BE49-F238E27FC236}">
                  <a16:creationId xmlns:a16="http://schemas.microsoft.com/office/drawing/2014/main" id="{3C58B8E7-6495-0941-95C8-D304D1426B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801" y="5273258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6" name="Line 38">
              <a:extLst>
                <a:ext uri="{FF2B5EF4-FFF2-40B4-BE49-F238E27FC236}">
                  <a16:creationId xmlns:a16="http://schemas.microsoft.com/office/drawing/2014/main" id="{1D19EB9D-AA40-C643-8C7E-D57C0252BA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773" y="5273258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7" name="Line 39">
              <a:extLst>
                <a:ext uri="{FF2B5EF4-FFF2-40B4-BE49-F238E27FC236}">
                  <a16:creationId xmlns:a16="http://schemas.microsoft.com/office/drawing/2014/main" id="{A6CB874D-DD0C-8441-B5E9-DA437B7ED3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2744" y="5273258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8" name="Line 40">
              <a:extLst>
                <a:ext uri="{FF2B5EF4-FFF2-40B4-BE49-F238E27FC236}">
                  <a16:creationId xmlns:a16="http://schemas.microsoft.com/office/drawing/2014/main" id="{A93FFA42-8EB4-6447-ABB3-AED7A02108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9716" y="5273258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9" name="Line 41">
              <a:extLst>
                <a:ext uri="{FF2B5EF4-FFF2-40B4-BE49-F238E27FC236}">
                  <a16:creationId xmlns:a16="http://schemas.microsoft.com/office/drawing/2014/main" id="{BE6DEAAE-F0CE-1E43-B7CD-87CDA16D25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76687" y="5273258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0" name="Line 42">
              <a:extLst>
                <a:ext uri="{FF2B5EF4-FFF2-40B4-BE49-F238E27FC236}">
                  <a16:creationId xmlns:a16="http://schemas.microsoft.com/office/drawing/2014/main" id="{E9C455FA-7BB4-0045-9A1C-E6D31B4DF4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93658" y="5273258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1" name="Line 43">
              <a:extLst>
                <a:ext uri="{FF2B5EF4-FFF2-40B4-BE49-F238E27FC236}">
                  <a16:creationId xmlns:a16="http://schemas.microsoft.com/office/drawing/2014/main" id="{69891CCF-5CE4-7B4B-A7FF-95F5AD09A6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10630" y="5273258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2" name="Line 44">
              <a:extLst>
                <a:ext uri="{FF2B5EF4-FFF2-40B4-BE49-F238E27FC236}">
                  <a16:creationId xmlns:a16="http://schemas.microsoft.com/office/drawing/2014/main" id="{ECF71974-7285-674D-ACDB-5E1E47453A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27601" y="5273258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3" name="Line 45">
              <a:extLst>
                <a:ext uri="{FF2B5EF4-FFF2-40B4-BE49-F238E27FC236}">
                  <a16:creationId xmlns:a16="http://schemas.microsoft.com/office/drawing/2014/main" id="{A6FFB3AF-71F3-3F46-B725-0D0434DFB1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4573" y="5273258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4" name="Line 46">
              <a:extLst>
                <a:ext uri="{FF2B5EF4-FFF2-40B4-BE49-F238E27FC236}">
                  <a16:creationId xmlns:a16="http://schemas.microsoft.com/office/drawing/2014/main" id="{2E05A529-8C81-CF46-8476-653B2241D0C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61544" y="5273258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5" name="Line 47">
              <a:extLst>
                <a:ext uri="{FF2B5EF4-FFF2-40B4-BE49-F238E27FC236}">
                  <a16:creationId xmlns:a16="http://schemas.microsoft.com/office/drawing/2014/main" id="{F701B9FA-7BA0-9A4F-9D59-E894E118D8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78515" y="5273258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6" name="Line 48">
              <a:extLst>
                <a:ext uri="{FF2B5EF4-FFF2-40B4-BE49-F238E27FC236}">
                  <a16:creationId xmlns:a16="http://schemas.microsoft.com/office/drawing/2014/main" id="{953DA0F2-8CC8-B640-8CB8-BB1AE32F3D0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5487" y="5273258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7" name="Line 49">
              <a:extLst>
                <a:ext uri="{FF2B5EF4-FFF2-40B4-BE49-F238E27FC236}">
                  <a16:creationId xmlns:a16="http://schemas.microsoft.com/office/drawing/2014/main" id="{05BC933C-F407-3947-B880-627B017239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61544" y="5273258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8" name="Line 50">
              <a:extLst>
                <a:ext uri="{FF2B5EF4-FFF2-40B4-BE49-F238E27FC236}">
                  <a16:creationId xmlns:a16="http://schemas.microsoft.com/office/drawing/2014/main" id="{00D8C393-F64B-064A-9B48-DEB7370E73C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78515" y="5273258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9" name="Line 51">
              <a:extLst>
                <a:ext uri="{FF2B5EF4-FFF2-40B4-BE49-F238E27FC236}">
                  <a16:creationId xmlns:a16="http://schemas.microsoft.com/office/drawing/2014/main" id="{4248AA21-D6E1-494F-849C-CB19F46C262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5487" y="5273258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30" name="Line 52">
              <a:extLst>
                <a:ext uri="{FF2B5EF4-FFF2-40B4-BE49-F238E27FC236}">
                  <a16:creationId xmlns:a16="http://schemas.microsoft.com/office/drawing/2014/main" id="{EE0C2CC8-8482-3D4F-85E9-010141532A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12458" y="5273258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r" defTabSz="457200" rtl="1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31" name="Line 86">
              <a:extLst>
                <a:ext uri="{FF2B5EF4-FFF2-40B4-BE49-F238E27FC236}">
                  <a16:creationId xmlns:a16="http://schemas.microsoft.com/office/drawing/2014/main" id="{F55BCDAF-9725-A447-B714-F05EA19D4E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25773" y="5017699"/>
              <a:ext cx="0" cy="3169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r" defTabSz="457200" rtl="1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33" name="Line 86">
              <a:extLst>
                <a:ext uri="{FF2B5EF4-FFF2-40B4-BE49-F238E27FC236}">
                  <a16:creationId xmlns:a16="http://schemas.microsoft.com/office/drawing/2014/main" id="{4BCDADD0-B8DD-5A45-9A22-7AF2DEA1B94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37253" y="5017699"/>
              <a:ext cx="0" cy="3169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05" name="Line 98">
              <a:extLst>
                <a:ext uri="{FF2B5EF4-FFF2-40B4-BE49-F238E27FC236}">
                  <a16:creationId xmlns:a16="http://schemas.microsoft.com/office/drawing/2014/main" id="{0BC779CC-B5B8-124C-B6D9-3CAEEEACC06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09475" y="5017699"/>
              <a:ext cx="0" cy="3169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r" defTabSz="457200" rtl="1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06" name="Line 98">
              <a:extLst>
                <a:ext uri="{FF2B5EF4-FFF2-40B4-BE49-F238E27FC236}">
                  <a16:creationId xmlns:a16="http://schemas.microsoft.com/office/drawing/2014/main" id="{B0E3E8B2-A9A9-1645-8893-601684D0ED9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00150" y="5017699"/>
              <a:ext cx="0" cy="3169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r" defTabSz="457200" rtl="1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A1F3F87F-8A05-D34F-8EE0-205A0805A9CD}"/>
              </a:ext>
            </a:extLst>
          </p:cNvPr>
          <p:cNvGrpSpPr/>
          <p:nvPr/>
        </p:nvGrpSpPr>
        <p:grpSpPr>
          <a:xfrm>
            <a:off x="507658" y="4387607"/>
            <a:ext cx="7385166" cy="385476"/>
            <a:chOff x="507658" y="4387607"/>
            <a:chExt cx="7385166" cy="385476"/>
          </a:xfrm>
        </p:grpSpPr>
        <p:sp>
          <p:nvSpPr>
            <p:cNvPr id="71" name="TextBox 70">
              <a:extLst>
                <a:ext uri="{FF2B5EF4-FFF2-40B4-BE49-F238E27FC236}">
                  <a16:creationId xmlns:a16="http://schemas.microsoft.com/office/drawing/2014/main" id="{31549BC0-2BF8-B945-880B-81D0BE03896E}"/>
                </a:ext>
              </a:extLst>
            </p:cNvPr>
            <p:cNvSpPr txBox="1"/>
            <p:nvPr/>
          </p:nvSpPr>
          <p:spPr>
            <a:xfrm>
              <a:off x="507658" y="4465306"/>
              <a:ext cx="7441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T</a:t>
              </a:r>
              <a:r>
                <a:rPr lang="en-US" sz="1400" baseline="-250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1</a:t>
              </a:r>
              <a:r>
                <a:rPr lang="en-US" sz="14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: (4,2)</a:t>
              </a:r>
            </a:p>
          </p:txBody>
        </p:sp>
        <p:sp>
          <p:nvSpPr>
            <p:cNvPr id="75" name="Line 33">
              <a:extLst>
                <a:ext uri="{FF2B5EF4-FFF2-40B4-BE49-F238E27FC236}">
                  <a16:creationId xmlns:a16="http://schemas.microsoft.com/office/drawing/2014/main" id="{D82FEC07-E3E7-DB4C-84CE-AC7DBB33B11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0916" y="4643166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76" name="Line 34">
              <a:extLst>
                <a:ext uri="{FF2B5EF4-FFF2-40B4-BE49-F238E27FC236}">
                  <a16:creationId xmlns:a16="http://schemas.microsoft.com/office/drawing/2014/main" id="{168BE27E-9884-E64A-8597-47C5C603B7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7887" y="4643166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77" name="Line 35">
              <a:extLst>
                <a:ext uri="{FF2B5EF4-FFF2-40B4-BE49-F238E27FC236}">
                  <a16:creationId xmlns:a16="http://schemas.microsoft.com/office/drawing/2014/main" id="{70C3B07F-145C-504E-B91D-D80D0F696C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4858" y="4643166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78" name="Line 36">
              <a:extLst>
                <a:ext uri="{FF2B5EF4-FFF2-40B4-BE49-F238E27FC236}">
                  <a16:creationId xmlns:a16="http://schemas.microsoft.com/office/drawing/2014/main" id="{7AB8E901-B29C-7B4B-8A38-F1ED3FE65C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1830" y="4643166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79" name="Line 37">
              <a:extLst>
                <a:ext uri="{FF2B5EF4-FFF2-40B4-BE49-F238E27FC236}">
                  <a16:creationId xmlns:a16="http://schemas.microsoft.com/office/drawing/2014/main" id="{0F5B0E27-DE6C-D84B-9B35-6157CDBCD9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801" y="4643166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80" name="Line 38">
              <a:extLst>
                <a:ext uri="{FF2B5EF4-FFF2-40B4-BE49-F238E27FC236}">
                  <a16:creationId xmlns:a16="http://schemas.microsoft.com/office/drawing/2014/main" id="{01FC0603-63B7-CA4D-B82A-8F15E0713C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773" y="4643166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81" name="Line 39">
              <a:extLst>
                <a:ext uri="{FF2B5EF4-FFF2-40B4-BE49-F238E27FC236}">
                  <a16:creationId xmlns:a16="http://schemas.microsoft.com/office/drawing/2014/main" id="{EF832593-7BAE-2244-89DD-19E1F2445B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2744" y="4643166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r" defTabSz="457200" rtl="1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82" name="Line 40">
              <a:extLst>
                <a:ext uri="{FF2B5EF4-FFF2-40B4-BE49-F238E27FC236}">
                  <a16:creationId xmlns:a16="http://schemas.microsoft.com/office/drawing/2014/main" id="{B29B7C78-CDBB-934D-8A8D-DADA2B834B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9716" y="4643166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83" name="Line 41">
              <a:extLst>
                <a:ext uri="{FF2B5EF4-FFF2-40B4-BE49-F238E27FC236}">
                  <a16:creationId xmlns:a16="http://schemas.microsoft.com/office/drawing/2014/main" id="{2C017E20-617B-1E4A-8BAF-0598CD157F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76687" y="4643166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84" name="Line 42">
              <a:extLst>
                <a:ext uri="{FF2B5EF4-FFF2-40B4-BE49-F238E27FC236}">
                  <a16:creationId xmlns:a16="http://schemas.microsoft.com/office/drawing/2014/main" id="{40B23E77-4B57-3D45-A355-3B9A48DAB5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93658" y="4643166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85" name="Line 43">
              <a:extLst>
                <a:ext uri="{FF2B5EF4-FFF2-40B4-BE49-F238E27FC236}">
                  <a16:creationId xmlns:a16="http://schemas.microsoft.com/office/drawing/2014/main" id="{4318D9C8-916E-F34F-973C-6CFA870FF1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10630" y="4643166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86" name="Line 44">
              <a:extLst>
                <a:ext uri="{FF2B5EF4-FFF2-40B4-BE49-F238E27FC236}">
                  <a16:creationId xmlns:a16="http://schemas.microsoft.com/office/drawing/2014/main" id="{C94F1DB0-7FA9-8B41-BCF2-32BC5AF15A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27601" y="4643166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87" name="Line 45">
              <a:extLst>
                <a:ext uri="{FF2B5EF4-FFF2-40B4-BE49-F238E27FC236}">
                  <a16:creationId xmlns:a16="http://schemas.microsoft.com/office/drawing/2014/main" id="{D4898624-2772-4549-B355-723E3FCB96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4573" y="4643166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88" name="Line 46">
              <a:extLst>
                <a:ext uri="{FF2B5EF4-FFF2-40B4-BE49-F238E27FC236}">
                  <a16:creationId xmlns:a16="http://schemas.microsoft.com/office/drawing/2014/main" id="{B5525E7D-937E-4E4F-B1AD-ED2D1F1FE9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61544" y="4643166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89" name="Line 47">
              <a:extLst>
                <a:ext uri="{FF2B5EF4-FFF2-40B4-BE49-F238E27FC236}">
                  <a16:creationId xmlns:a16="http://schemas.microsoft.com/office/drawing/2014/main" id="{E83DE26D-2C32-3848-BFA5-9476CB5F39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78515" y="4643166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90" name="Line 48">
              <a:extLst>
                <a:ext uri="{FF2B5EF4-FFF2-40B4-BE49-F238E27FC236}">
                  <a16:creationId xmlns:a16="http://schemas.microsoft.com/office/drawing/2014/main" id="{8A8D6C7B-17D7-824A-80B0-702BF6F989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5487" y="4643166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91" name="Line 49">
              <a:extLst>
                <a:ext uri="{FF2B5EF4-FFF2-40B4-BE49-F238E27FC236}">
                  <a16:creationId xmlns:a16="http://schemas.microsoft.com/office/drawing/2014/main" id="{CA83CE21-424C-5F4D-9AAC-6871C7B794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61544" y="4643166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92" name="Line 50">
              <a:extLst>
                <a:ext uri="{FF2B5EF4-FFF2-40B4-BE49-F238E27FC236}">
                  <a16:creationId xmlns:a16="http://schemas.microsoft.com/office/drawing/2014/main" id="{C06ABEFA-C80F-7444-B277-313511F502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78515" y="4643166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93" name="Line 51">
              <a:extLst>
                <a:ext uri="{FF2B5EF4-FFF2-40B4-BE49-F238E27FC236}">
                  <a16:creationId xmlns:a16="http://schemas.microsoft.com/office/drawing/2014/main" id="{583ED1A4-CA10-A749-8FAE-5000BB1D215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5487" y="4643166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94" name="Line 52">
              <a:extLst>
                <a:ext uri="{FF2B5EF4-FFF2-40B4-BE49-F238E27FC236}">
                  <a16:creationId xmlns:a16="http://schemas.microsoft.com/office/drawing/2014/main" id="{5B8FF535-8515-374B-A589-A22BEAA62B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12458" y="4643166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95" name="Line 86">
              <a:extLst>
                <a:ext uri="{FF2B5EF4-FFF2-40B4-BE49-F238E27FC236}">
                  <a16:creationId xmlns:a16="http://schemas.microsoft.com/office/drawing/2014/main" id="{FF865606-C1B7-6944-A28B-BCCF3EE783D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10899" y="4387607"/>
              <a:ext cx="0" cy="3169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r" defTabSz="457200" rtl="1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97" name="Line 86">
              <a:extLst>
                <a:ext uri="{FF2B5EF4-FFF2-40B4-BE49-F238E27FC236}">
                  <a16:creationId xmlns:a16="http://schemas.microsoft.com/office/drawing/2014/main" id="{5B965EA5-433B-904C-9555-CEA77A456D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37253" y="4387607"/>
              <a:ext cx="0" cy="3169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01" name="Line 86">
              <a:extLst>
                <a:ext uri="{FF2B5EF4-FFF2-40B4-BE49-F238E27FC236}">
                  <a16:creationId xmlns:a16="http://schemas.microsoft.com/office/drawing/2014/main" id="{242BD55A-A5D4-584A-A92C-62DB9B0AE1A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67015" y="4387607"/>
              <a:ext cx="0" cy="3169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r" defTabSz="457200" rtl="1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03" name="Line 86">
              <a:extLst>
                <a:ext uri="{FF2B5EF4-FFF2-40B4-BE49-F238E27FC236}">
                  <a16:creationId xmlns:a16="http://schemas.microsoft.com/office/drawing/2014/main" id="{C203F671-12EC-E047-A890-F3955931B1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41652" y="4387607"/>
              <a:ext cx="0" cy="3169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r" defTabSz="457200" rtl="1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04" name="Line 86">
              <a:extLst>
                <a:ext uri="{FF2B5EF4-FFF2-40B4-BE49-F238E27FC236}">
                  <a16:creationId xmlns:a16="http://schemas.microsoft.com/office/drawing/2014/main" id="{3D73F262-E8D3-4B4D-B9F1-189A3AC303F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12458" y="4387607"/>
              <a:ext cx="0" cy="3169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r" defTabSz="457200" rtl="1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74" name="Line 31">
              <a:extLst>
                <a:ext uri="{FF2B5EF4-FFF2-40B4-BE49-F238E27FC236}">
                  <a16:creationId xmlns:a16="http://schemas.microsoft.com/office/drawing/2014/main" id="{F2E7C0FE-AD27-D444-8374-E215796BE4E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3944" y="4706560"/>
              <a:ext cx="57688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EC80B66A-0252-8B4B-8B85-A36D51DA7118}"/>
              </a:ext>
            </a:extLst>
          </p:cNvPr>
          <p:cNvCxnSpPr>
            <a:stCxn id="115" idx="0"/>
          </p:cNvCxnSpPr>
          <p:nvPr/>
        </p:nvCxnSpPr>
        <p:spPr>
          <a:xfrm flipV="1">
            <a:off x="5440654" y="5927827"/>
            <a:ext cx="722523" cy="377244"/>
          </a:xfrm>
          <a:prstGeom prst="straightConnector1">
            <a:avLst/>
          </a:prstGeom>
          <a:ln w="38100" cap="rnd">
            <a:solidFill>
              <a:schemeClr val="accent6">
                <a:lumMod val="75000"/>
              </a:schemeClr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Arrow Connector 117">
            <a:extLst>
              <a:ext uri="{FF2B5EF4-FFF2-40B4-BE49-F238E27FC236}">
                <a16:creationId xmlns:a16="http://schemas.microsoft.com/office/drawing/2014/main" id="{D2F606AC-E586-0544-9966-E9461D242936}"/>
              </a:ext>
            </a:extLst>
          </p:cNvPr>
          <p:cNvCxnSpPr>
            <a:cxnSpLocks/>
            <a:stCxn id="115" idx="0"/>
          </p:cNvCxnSpPr>
          <p:nvPr/>
        </p:nvCxnSpPr>
        <p:spPr>
          <a:xfrm flipH="1" flipV="1">
            <a:off x="4568027" y="5903351"/>
            <a:ext cx="872627" cy="401720"/>
          </a:xfrm>
          <a:prstGeom prst="straightConnector1">
            <a:avLst/>
          </a:prstGeom>
          <a:ln w="38100" cap="rnd">
            <a:solidFill>
              <a:schemeClr val="accent6">
                <a:lumMod val="75000"/>
              </a:schemeClr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5" name="TextBox 114">
            <a:extLst>
              <a:ext uri="{FF2B5EF4-FFF2-40B4-BE49-F238E27FC236}">
                <a16:creationId xmlns:a16="http://schemas.microsoft.com/office/drawing/2014/main" id="{BB2AE185-8CDB-7C4C-8165-D863FE3852EC}"/>
              </a:ext>
            </a:extLst>
          </p:cNvPr>
          <p:cNvSpPr txBox="1"/>
          <p:nvPr/>
        </p:nvSpPr>
        <p:spPr>
          <a:xfrm>
            <a:off x="3909177" y="6305071"/>
            <a:ext cx="3062954" cy="3077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r" defTabSz="45720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Why aren’t we running these right away?</a:t>
            </a:r>
          </a:p>
        </p:txBody>
      </p: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CF2A662D-B5A2-7847-B61F-58CAE14A4FE3}"/>
              </a:ext>
            </a:extLst>
          </p:cNvPr>
          <p:cNvGrpSpPr/>
          <p:nvPr/>
        </p:nvGrpSpPr>
        <p:grpSpPr>
          <a:xfrm>
            <a:off x="750015" y="4788569"/>
            <a:ext cx="6445915" cy="550164"/>
            <a:chOff x="750015" y="4788569"/>
            <a:chExt cx="6445915" cy="550164"/>
          </a:xfrm>
        </p:grpSpPr>
        <p:sp>
          <p:nvSpPr>
            <p:cNvPr id="130" name="Freeform 129">
              <a:extLst>
                <a:ext uri="{FF2B5EF4-FFF2-40B4-BE49-F238E27FC236}">
                  <a16:creationId xmlns:a16="http://schemas.microsoft.com/office/drawing/2014/main" id="{341097D4-E0FE-B44B-810E-8373AA07B966}"/>
                </a:ext>
              </a:extLst>
            </p:cNvPr>
            <p:cNvSpPr/>
            <p:nvPr/>
          </p:nvSpPr>
          <p:spPr>
            <a:xfrm>
              <a:off x="2442186" y="4895732"/>
              <a:ext cx="4753744" cy="443001"/>
            </a:xfrm>
            <a:custGeom>
              <a:avLst/>
              <a:gdLst>
                <a:gd name="connsiteX0" fmla="*/ 0 w 4753744"/>
                <a:gd name="connsiteY0" fmla="*/ 431642 h 443001"/>
                <a:gd name="connsiteX1" fmla="*/ 0 w 4753744"/>
                <a:gd name="connsiteY1" fmla="*/ 17038 h 443001"/>
                <a:gd name="connsiteX2" fmla="*/ 630425 w 4753744"/>
                <a:gd name="connsiteY2" fmla="*/ 17038 h 443001"/>
                <a:gd name="connsiteX3" fmla="*/ 999593 w 4753744"/>
                <a:gd name="connsiteY3" fmla="*/ 272616 h 443001"/>
                <a:gd name="connsiteX4" fmla="*/ 999593 w 4753744"/>
                <a:gd name="connsiteY4" fmla="*/ 437321 h 443001"/>
                <a:gd name="connsiteX5" fmla="*/ 1584582 w 4753744"/>
                <a:gd name="connsiteY5" fmla="*/ 437321 h 443001"/>
                <a:gd name="connsiteX6" fmla="*/ 1584582 w 4753744"/>
                <a:gd name="connsiteY6" fmla="*/ 11359 h 443001"/>
                <a:gd name="connsiteX7" fmla="*/ 1908313 w 4753744"/>
                <a:gd name="connsiteY7" fmla="*/ 11359 h 443001"/>
                <a:gd name="connsiteX8" fmla="*/ 1908313 w 4753744"/>
                <a:gd name="connsiteY8" fmla="*/ 443001 h 443001"/>
                <a:gd name="connsiteX9" fmla="*/ 3169163 w 4753744"/>
                <a:gd name="connsiteY9" fmla="*/ 443001 h 443001"/>
                <a:gd name="connsiteX10" fmla="*/ 3169163 w 4753744"/>
                <a:gd name="connsiteY10" fmla="*/ 0 h 443001"/>
                <a:gd name="connsiteX11" fmla="*/ 3561049 w 4753744"/>
                <a:gd name="connsiteY11" fmla="*/ 283975 h 443001"/>
                <a:gd name="connsiteX12" fmla="*/ 3561049 w 4753744"/>
                <a:gd name="connsiteY12" fmla="*/ 443001 h 443001"/>
                <a:gd name="connsiteX13" fmla="*/ 4753744 w 4753744"/>
                <a:gd name="connsiteY13" fmla="*/ 443001 h 443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4753744" h="443001">
                  <a:moveTo>
                    <a:pt x="0" y="431642"/>
                  </a:moveTo>
                  <a:lnTo>
                    <a:pt x="0" y="17038"/>
                  </a:lnTo>
                  <a:lnTo>
                    <a:pt x="630425" y="17038"/>
                  </a:lnTo>
                  <a:lnTo>
                    <a:pt x="999593" y="272616"/>
                  </a:lnTo>
                  <a:lnTo>
                    <a:pt x="999593" y="437321"/>
                  </a:lnTo>
                  <a:lnTo>
                    <a:pt x="1584582" y="437321"/>
                  </a:lnTo>
                  <a:lnTo>
                    <a:pt x="1584582" y="11359"/>
                  </a:lnTo>
                  <a:lnTo>
                    <a:pt x="1908313" y="11359"/>
                  </a:lnTo>
                  <a:lnTo>
                    <a:pt x="1908313" y="443001"/>
                  </a:lnTo>
                  <a:lnTo>
                    <a:pt x="3169163" y="443001"/>
                  </a:lnTo>
                  <a:lnTo>
                    <a:pt x="3169163" y="0"/>
                  </a:lnTo>
                  <a:lnTo>
                    <a:pt x="3561049" y="283975"/>
                  </a:lnTo>
                  <a:lnTo>
                    <a:pt x="3561049" y="443001"/>
                  </a:lnTo>
                  <a:lnTo>
                    <a:pt x="4753744" y="443001"/>
                  </a:lnTo>
                </a:path>
              </a:pathLst>
            </a:custGeom>
            <a:noFill/>
            <a:ln w="19050" cap="rnd">
              <a:solidFill>
                <a:schemeClr val="accent6"/>
              </a:solidFill>
              <a:prstDash val="soli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1" name="Rectangular Callout 130">
              <a:extLst>
                <a:ext uri="{FF2B5EF4-FFF2-40B4-BE49-F238E27FC236}">
                  <a16:creationId xmlns:a16="http://schemas.microsoft.com/office/drawing/2014/main" id="{51B49704-9432-B441-BC58-53B2A9594882}"/>
                </a:ext>
              </a:extLst>
            </p:cNvPr>
            <p:cNvSpPr/>
            <p:nvPr/>
          </p:nvSpPr>
          <p:spPr>
            <a:xfrm>
              <a:off x="750015" y="4788569"/>
              <a:ext cx="1472650" cy="285805"/>
            </a:xfrm>
            <a:prstGeom prst="wedgeRectCallout">
              <a:avLst>
                <a:gd name="adj1" fmla="val 62377"/>
                <a:gd name="adj2" fmla="val 20389"/>
              </a:avLst>
            </a:prstGeom>
            <a:solidFill>
              <a:schemeClr val="accent1">
                <a:lumMod val="40000"/>
                <a:lumOff val="60000"/>
              </a:schemeClr>
            </a:solidFill>
            <a:ln cap="rnd">
              <a:prstDash val="soli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Budget over time</a:t>
              </a:r>
            </a:p>
          </p:txBody>
        </p:sp>
      </p:grp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AAD0845-BD98-8A42-B728-BE62FBB89982}"/>
              </a:ext>
            </a:extLst>
          </p:cNvPr>
          <p:cNvCxnSpPr>
            <a:stCxn id="38" idx="0"/>
            <a:endCxn id="34" idx="2"/>
          </p:cNvCxnSpPr>
          <p:nvPr/>
        </p:nvCxnSpPr>
        <p:spPr>
          <a:xfrm flipV="1">
            <a:off x="2605004" y="5262157"/>
            <a:ext cx="549313" cy="410253"/>
          </a:xfrm>
          <a:prstGeom prst="straightConnector1">
            <a:avLst/>
          </a:prstGeom>
          <a:ln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5EC06550-884D-A84E-8585-BC5383CF392E}"/>
              </a:ext>
            </a:extLst>
          </p:cNvPr>
          <p:cNvCxnSpPr>
            <a:cxnSpLocks/>
            <a:stCxn id="60" idx="0"/>
            <a:endCxn id="35" idx="2"/>
          </p:cNvCxnSpPr>
          <p:nvPr/>
        </p:nvCxnSpPr>
        <p:spPr>
          <a:xfrm flipV="1">
            <a:off x="2868870" y="5262157"/>
            <a:ext cx="470062" cy="410253"/>
          </a:xfrm>
          <a:prstGeom prst="straightConnector1">
            <a:avLst/>
          </a:prstGeom>
          <a:ln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Arrow Connector 109">
            <a:extLst>
              <a:ext uri="{FF2B5EF4-FFF2-40B4-BE49-F238E27FC236}">
                <a16:creationId xmlns:a16="http://schemas.microsoft.com/office/drawing/2014/main" id="{8339FB84-9420-AC4F-BE29-269E5DB2DB07}"/>
              </a:ext>
            </a:extLst>
          </p:cNvPr>
          <p:cNvCxnSpPr>
            <a:cxnSpLocks/>
            <a:stCxn id="62" idx="0"/>
            <a:endCxn id="67" idx="2"/>
          </p:cNvCxnSpPr>
          <p:nvPr/>
        </p:nvCxnSpPr>
        <p:spPr>
          <a:xfrm flipV="1">
            <a:off x="4568027" y="5263792"/>
            <a:ext cx="1153977" cy="408618"/>
          </a:xfrm>
          <a:prstGeom prst="straightConnector1">
            <a:avLst/>
          </a:prstGeom>
          <a:ln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Arrow Connector 110">
            <a:extLst>
              <a:ext uri="{FF2B5EF4-FFF2-40B4-BE49-F238E27FC236}">
                <a16:creationId xmlns:a16="http://schemas.microsoft.com/office/drawing/2014/main" id="{084998D8-FD56-904A-ACE9-8B71D7314864}"/>
              </a:ext>
            </a:extLst>
          </p:cNvPr>
          <p:cNvCxnSpPr>
            <a:cxnSpLocks/>
            <a:stCxn id="63" idx="0"/>
            <a:endCxn id="68" idx="2"/>
          </p:cNvCxnSpPr>
          <p:nvPr/>
        </p:nvCxnSpPr>
        <p:spPr>
          <a:xfrm flipV="1">
            <a:off x="5053500" y="5263792"/>
            <a:ext cx="814737" cy="408618"/>
          </a:xfrm>
          <a:prstGeom prst="straightConnector1">
            <a:avLst/>
          </a:prstGeom>
          <a:ln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Arrow Connector 118">
            <a:extLst>
              <a:ext uri="{FF2B5EF4-FFF2-40B4-BE49-F238E27FC236}">
                <a16:creationId xmlns:a16="http://schemas.microsoft.com/office/drawing/2014/main" id="{B16ADB9D-86D7-2A43-87A8-AE1473B34717}"/>
              </a:ext>
            </a:extLst>
          </p:cNvPr>
          <p:cNvCxnSpPr>
            <a:cxnSpLocks/>
            <a:stCxn id="64" idx="0"/>
            <a:endCxn id="69" idx="2"/>
          </p:cNvCxnSpPr>
          <p:nvPr/>
        </p:nvCxnSpPr>
        <p:spPr>
          <a:xfrm flipV="1">
            <a:off x="5271240" y="5263792"/>
            <a:ext cx="682346" cy="408618"/>
          </a:xfrm>
          <a:prstGeom prst="straightConnector1">
            <a:avLst/>
          </a:prstGeom>
          <a:ln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385724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34" grpId="0" animBg="1"/>
      <p:bldP spid="35" grpId="0" animBg="1"/>
      <p:bldP spid="67" grpId="0" animBg="1"/>
      <p:bldP spid="68" grpId="0" animBg="1"/>
      <p:bldP spid="69" grpId="0" animBg="1"/>
      <p:bldP spid="72" grpId="0" animBg="1"/>
      <p:bldP spid="73" grpId="0" animBg="1"/>
      <p:bldP spid="100" grpId="0" animBg="1"/>
      <p:bldP spid="102" grpId="0" animBg="1"/>
      <p:bldP spid="115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Rectangle 103">
            <a:extLst>
              <a:ext uri="{FF2B5EF4-FFF2-40B4-BE49-F238E27FC236}">
                <a16:creationId xmlns:a16="http://schemas.microsoft.com/office/drawing/2014/main" id="{0DE806D1-8EDE-D445-86B8-E87C734128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690" y="5049458"/>
            <a:ext cx="158400" cy="254575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6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defTabSz="45720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C791A6-A303-614B-BC7D-CCDEF69F70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 dirty="0"/>
              <a:t>Deferrable Server (DS)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3BE63C-A2BD-AB42-B254-8C1AFB7D84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76400"/>
            <a:ext cx="7886700" cy="4968875"/>
          </a:xfrm>
        </p:spPr>
        <p:txBody>
          <a:bodyPr/>
          <a:lstStyle/>
          <a:p>
            <a:r>
              <a:rPr lang="en-US" sz="2000" dirty="0"/>
              <a:t>Basic approach is like polling server</a:t>
            </a:r>
          </a:p>
          <a:p>
            <a:r>
              <a:rPr lang="en-US" altLang="en-US" sz="2000" dirty="0"/>
              <a:t>DS </a:t>
            </a:r>
            <a:r>
              <a:rPr lang="en-US" altLang="en-US" sz="2000" dirty="0">
                <a:solidFill>
                  <a:srgbClr val="FF0000"/>
                </a:solidFill>
              </a:rPr>
              <a:t>preserves its budget </a:t>
            </a:r>
            <a:r>
              <a:rPr lang="en-US" altLang="en-US" sz="2000" dirty="0"/>
              <a:t>when queue becomes empty</a:t>
            </a:r>
          </a:p>
          <a:p>
            <a:pPr lvl="1"/>
            <a:r>
              <a:rPr lang="en-US" altLang="en-US" sz="1600" dirty="0"/>
              <a:t>But no cumulation: at the beginning of period, budget is reset to its full value</a:t>
            </a:r>
          </a:p>
          <a:p>
            <a:r>
              <a:rPr lang="en-US" altLang="en-US" sz="2000" dirty="0"/>
              <a:t>DS is demand driven</a:t>
            </a:r>
          </a:p>
          <a:p>
            <a:pPr lvl="1"/>
            <a:r>
              <a:rPr lang="en-US" altLang="en-US" sz="1600" dirty="0"/>
              <a:t>Periodic tasks are ready to run at the beginning of their periods</a:t>
            </a:r>
          </a:p>
          <a:p>
            <a:pPr lvl="1"/>
            <a:r>
              <a:rPr lang="en-US" altLang="en-US" sz="1600" dirty="0"/>
              <a:t>DS can run during its period only in response to aperiodic-task arrivals</a:t>
            </a:r>
          </a:p>
        </p:txBody>
      </p:sp>
      <p:sp>
        <p:nvSpPr>
          <p:cNvPr id="8" name="Rectangle 103">
            <a:extLst>
              <a:ext uri="{FF2B5EF4-FFF2-40B4-BE49-F238E27FC236}">
                <a16:creationId xmlns:a16="http://schemas.microsoft.com/office/drawing/2014/main" id="{DEB93A18-4BDA-5E4D-8A6E-D840F3FF4B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1452" y="5049458"/>
            <a:ext cx="177980" cy="254575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6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defTabSz="45720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DED2254-8BEA-414C-8717-43AC165646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2830" y="5049458"/>
            <a:ext cx="371518" cy="254575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6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defTabSz="45720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0" name="Rectangle 88">
            <a:extLst>
              <a:ext uri="{FF2B5EF4-FFF2-40B4-BE49-F238E27FC236}">
                <a16:creationId xmlns:a16="http://schemas.microsoft.com/office/drawing/2014/main" id="{B68B4E3D-08E2-8E45-B23D-14F1F30462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5117" y="5138765"/>
            <a:ext cx="158400" cy="9611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rgbClr val="00206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1" name="Rectangle 88">
            <a:extLst>
              <a:ext uri="{FF2B5EF4-FFF2-40B4-BE49-F238E27FC236}">
                <a16:creationId xmlns:a16="http://schemas.microsoft.com/office/drawing/2014/main" id="{56618E20-0BA0-A742-AAD9-1469D8DC3E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3517" y="5138765"/>
            <a:ext cx="210830" cy="9611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rgbClr val="00206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567C397-B618-CA47-8328-684A5D1FE5B8}"/>
              </a:ext>
            </a:extLst>
          </p:cNvPr>
          <p:cNvGrpSpPr/>
          <p:nvPr/>
        </p:nvGrpSpPr>
        <p:grpSpPr>
          <a:xfrm>
            <a:off x="385853" y="5645137"/>
            <a:ext cx="7506971" cy="318811"/>
            <a:chOff x="385853" y="5672410"/>
            <a:chExt cx="7506971" cy="318811"/>
          </a:xfrm>
        </p:grpSpPr>
        <p:sp>
          <p:nvSpPr>
            <p:cNvPr id="13" name="Rectangle 88">
              <a:extLst>
                <a:ext uri="{FF2B5EF4-FFF2-40B4-BE49-F238E27FC236}">
                  <a16:creationId xmlns:a16="http://schemas.microsoft.com/office/drawing/2014/main" id="{572AE232-A40D-7D48-B50A-26DE845FA8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525804" y="5672410"/>
              <a:ext cx="158400" cy="25457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4" name="Line 55">
              <a:extLst>
                <a:ext uri="{FF2B5EF4-FFF2-40B4-BE49-F238E27FC236}">
                  <a16:creationId xmlns:a16="http://schemas.microsoft.com/office/drawing/2014/main" id="{1DBB0D79-EF0B-3C49-A86D-A8C1C20521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0916" y="586443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5" name="Line 56">
              <a:extLst>
                <a:ext uri="{FF2B5EF4-FFF2-40B4-BE49-F238E27FC236}">
                  <a16:creationId xmlns:a16="http://schemas.microsoft.com/office/drawing/2014/main" id="{226DBC0C-E047-1C43-9F4C-9E653A7AA1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7887" y="586443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6" name="Line 57">
              <a:extLst>
                <a:ext uri="{FF2B5EF4-FFF2-40B4-BE49-F238E27FC236}">
                  <a16:creationId xmlns:a16="http://schemas.microsoft.com/office/drawing/2014/main" id="{34793AE9-26EB-584A-BB9B-308BEDAFA5D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4858" y="586443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7" name="Line 58">
              <a:extLst>
                <a:ext uri="{FF2B5EF4-FFF2-40B4-BE49-F238E27FC236}">
                  <a16:creationId xmlns:a16="http://schemas.microsoft.com/office/drawing/2014/main" id="{8061D1B7-63C4-9F48-8270-CF5DA5F7C54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1830" y="586443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8" name="Line 59">
              <a:extLst>
                <a:ext uri="{FF2B5EF4-FFF2-40B4-BE49-F238E27FC236}">
                  <a16:creationId xmlns:a16="http://schemas.microsoft.com/office/drawing/2014/main" id="{E5D380BB-EB08-1140-A848-3B7767E9877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801" y="586443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9" name="Line 60">
              <a:extLst>
                <a:ext uri="{FF2B5EF4-FFF2-40B4-BE49-F238E27FC236}">
                  <a16:creationId xmlns:a16="http://schemas.microsoft.com/office/drawing/2014/main" id="{9469A28D-EC58-A84E-B2EF-AE87C596D8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773" y="586443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0" name="Line 61">
              <a:extLst>
                <a:ext uri="{FF2B5EF4-FFF2-40B4-BE49-F238E27FC236}">
                  <a16:creationId xmlns:a16="http://schemas.microsoft.com/office/drawing/2014/main" id="{12EA3233-0C4B-9F45-A303-14A1912CA6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2744" y="586443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1" name="Line 62">
              <a:extLst>
                <a:ext uri="{FF2B5EF4-FFF2-40B4-BE49-F238E27FC236}">
                  <a16:creationId xmlns:a16="http://schemas.microsoft.com/office/drawing/2014/main" id="{69D2D610-066A-4341-BCA1-7048A36131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9716" y="586443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2" name="Line 63">
              <a:extLst>
                <a:ext uri="{FF2B5EF4-FFF2-40B4-BE49-F238E27FC236}">
                  <a16:creationId xmlns:a16="http://schemas.microsoft.com/office/drawing/2014/main" id="{15E7E48F-F913-D443-A825-E9D5CF3889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76687" y="586443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3" name="Line 64">
              <a:extLst>
                <a:ext uri="{FF2B5EF4-FFF2-40B4-BE49-F238E27FC236}">
                  <a16:creationId xmlns:a16="http://schemas.microsoft.com/office/drawing/2014/main" id="{D3762B33-0C2B-B147-9C6E-8D162C54CDE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93658" y="586443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4" name="Line 65">
              <a:extLst>
                <a:ext uri="{FF2B5EF4-FFF2-40B4-BE49-F238E27FC236}">
                  <a16:creationId xmlns:a16="http://schemas.microsoft.com/office/drawing/2014/main" id="{09326DF6-0B62-FC42-AC38-3217F28640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10630" y="586443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5" name="Line 66">
              <a:extLst>
                <a:ext uri="{FF2B5EF4-FFF2-40B4-BE49-F238E27FC236}">
                  <a16:creationId xmlns:a16="http://schemas.microsoft.com/office/drawing/2014/main" id="{D51CE537-94B5-1E48-933C-99DBF8CE703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27601" y="586443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6" name="Line 67">
              <a:extLst>
                <a:ext uri="{FF2B5EF4-FFF2-40B4-BE49-F238E27FC236}">
                  <a16:creationId xmlns:a16="http://schemas.microsoft.com/office/drawing/2014/main" id="{A333D1DB-244C-E646-8008-D5AF985AAF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4573" y="586443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7" name="Line 68">
              <a:extLst>
                <a:ext uri="{FF2B5EF4-FFF2-40B4-BE49-F238E27FC236}">
                  <a16:creationId xmlns:a16="http://schemas.microsoft.com/office/drawing/2014/main" id="{8A217A25-2B3F-AB42-BA1A-A22453A573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61544" y="586443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8" name="Line 69">
              <a:extLst>
                <a:ext uri="{FF2B5EF4-FFF2-40B4-BE49-F238E27FC236}">
                  <a16:creationId xmlns:a16="http://schemas.microsoft.com/office/drawing/2014/main" id="{F2A5C7F8-CAE9-D145-9B7B-64526ED69FD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78515" y="586443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9" name="Line 70">
              <a:extLst>
                <a:ext uri="{FF2B5EF4-FFF2-40B4-BE49-F238E27FC236}">
                  <a16:creationId xmlns:a16="http://schemas.microsoft.com/office/drawing/2014/main" id="{B2B94665-EF69-7F4C-A161-69D69F38EAD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5487" y="586443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30" name="Line 71">
              <a:extLst>
                <a:ext uri="{FF2B5EF4-FFF2-40B4-BE49-F238E27FC236}">
                  <a16:creationId xmlns:a16="http://schemas.microsoft.com/office/drawing/2014/main" id="{FA177F9F-94D1-C347-B6D7-C0D7C19BCB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61544" y="586443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31" name="Line 72">
              <a:extLst>
                <a:ext uri="{FF2B5EF4-FFF2-40B4-BE49-F238E27FC236}">
                  <a16:creationId xmlns:a16="http://schemas.microsoft.com/office/drawing/2014/main" id="{DB90B6D5-BACB-4A47-8BA4-1575D4B0F0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78515" y="586443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32" name="Line 73">
              <a:extLst>
                <a:ext uri="{FF2B5EF4-FFF2-40B4-BE49-F238E27FC236}">
                  <a16:creationId xmlns:a16="http://schemas.microsoft.com/office/drawing/2014/main" id="{CEBD6E73-85C1-3548-AC88-27EA0683C8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5487" y="586443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33" name="Line 74">
              <a:extLst>
                <a:ext uri="{FF2B5EF4-FFF2-40B4-BE49-F238E27FC236}">
                  <a16:creationId xmlns:a16="http://schemas.microsoft.com/office/drawing/2014/main" id="{B2945536-43A0-3B4F-85A3-C818114973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12458" y="586443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6139408-6948-EF46-9799-A9C7B9F35554}"/>
                </a:ext>
              </a:extLst>
            </p:cNvPr>
            <p:cNvSpPr txBox="1"/>
            <p:nvPr/>
          </p:nvSpPr>
          <p:spPr>
            <a:xfrm>
              <a:off x="385853" y="5683123"/>
              <a:ext cx="126438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Aperiodic Tasks</a:t>
              </a:r>
            </a:p>
          </p:txBody>
        </p:sp>
        <p:sp>
          <p:nvSpPr>
            <p:cNvPr id="35" name="Rectangle 88">
              <a:extLst>
                <a:ext uri="{FF2B5EF4-FFF2-40B4-BE49-F238E27FC236}">
                  <a16:creationId xmlns:a16="http://schemas.microsoft.com/office/drawing/2014/main" id="{3B4CA7A0-60F7-044C-A604-7514BC95FA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3455" y="5672410"/>
              <a:ext cx="210830" cy="25457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36" name="Rectangle 88">
              <a:extLst>
                <a:ext uri="{FF2B5EF4-FFF2-40B4-BE49-F238E27FC236}">
                  <a16:creationId xmlns:a16="http://schemas.microsoft.com/office/drawing/2014/main" id="{A5FD2BC6-02A3-994C-990D-49918966CD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2612" y="5672410"/>
              <a:ext cx="210830" cy="25457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37" name="Rectangle 88">
              <a:extLst>
                <a:ext uri="{FF2B5EF4-FFF2-40B4-BE49-F238E27FC236}">
                  <a16:creationId xmlns:a16="http://schemas.microsoft.com/office/drawing/2014/main" id="{78BE9BB7-90E2-3F41-8232-18395F8680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08793" y="5672410"/>
              <a:ext cx="89413" cy="25457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38" name="Rectangle 88">
              <a:extLst>
                <a:ext uri="{FF2B5EF4-FFF2-40B4-BE49-F238E27FC236}">
                  <a16:creationId xmlns:a16="http://schemas.microsoft.com/office/drawing/2014/main" id="{F60258BA-C8F3-CF48-9897-EF96CF968F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30597" y="5672410"/>
              <a:ext cx="81285" cy="25457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39" name="Rectangle 88">
              <a:extLst>
                <a:ext uri="{FF2B5EF4-FFF2-40B4-BE49-F238E27FC236}">
                  <a16:creationId xmlns:a16="http://schemas.microsoft.com/office/drawing/2014/main" id="{769880E0-E92B-2A4A-8D7B-5E5764BEFB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83977" y="5672410"/>
              <a:ext cx="158400" cy="254575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9525">
              <a:solidFill>
                <a:srgbClr val="00206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40" name="Line 53">
              <a:extLst>
                <a:ext uri="{FF2B5EF4-FFF2-40B4-BE49-F238E27FC236}">
                  <a16:creationId xmlns:a16="http://schemas.microsoft.com/office/drawing/2014/main" id="{0D4D2B11-041F-0343-A3E5-709012A0C2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3944" y="5927826"/>
              <a:ext cx="57688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sp>
        <p:nvSpPr>
          <p:cNvPr id="42" name="Rectangle 88">
            <a:extLst>
              <a:ext uri="{FF2B5EF4-FFF2-40B4-BE49-F238E27FC236}">
                <a16:creationId xmlns:a16="http://schemas.microsoft.com/office/drawing/2014/main" id="{7BA38B2F-5B51-AC47-AC33-6A8C430F63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18734" y="5140400"/>
            <a:ext cx="89413" cy="9611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rgbClr val="00206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43" name="Rectangle 88">
            <a:extLst>
              <a:ext uri="{FF2B5EF4-FFF2-40B4-BE49-F238E27FC236}">
                <a16:creationId xmlns:a16="http://schemas.microsoft.com/office/drawing/2014/main" id="{BE3D8716-9780-7544-AA3C-EBA7F9AEF2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8147" y="5140400"/>
            <a:ext cx="81285" cy="9611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rgbClr val="00206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44" name="Rectangle 103">
            <a:extLst>
              <a:ext uri="{FF2B5EF4-FFF2-40B4-BE49-F238E27FC236}">
                <a16:creationId xmlns:a16="http://schemas.microsoft.com/office/drawing/2014/main" id="{CD59A7CF-8F22-4548-8415-7E732ED0D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17562" y="4419366"/>
            <a:ext cx="630200" cy="2545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00B05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r" defTabSz="457200" rt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45" name="Rectangle 6">
            <a:extLst>
              <a:ext uri="{FF2B5EF4-FFF2-40B4-BE49-F238E27FC236}">
                <a16:creationId xmlns:a16="http://schemas.microsoft.com/office/drawing/2014/main" id="{2EECABE7-BC1F-0142-808F-EA4522A1D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6701" y="4419366"/>
            <a:ext cx="633931" cy="2545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00B05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defTabSz="45720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46" name="Rectangle 103">
            <a:extLst>
              <a:ext uri="{FF2B5EF4-FFF2-40B4-BE49-F238E27FC236}">
                <a16:creationId xmlns:a16="http://schemas.microsoft.com/office/drawing/2014/main" id="{60CFE85C-69B0-AD46-8A98-61450C782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3678" y="4419366"/>
            <a:ext cx="630200" cy="2545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00B05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r" defTabSz="457200" rtl="1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47" name="Rectangle 103">
            <a:extLst>
              <a:ext uri="{FF2B5EF4-FFF2-40B4-BE49-F238E27FC236}">
                <a16:creationId xmlns:a16="http://schemas.microsoft.com/office/drawing/2014/main" id="{DAFBACD7-8FC8-FD47-8737-AEE025F10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8315" y="4419366"/>
            <a:ext cx="630200" cy="2545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00B05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defTabSz="45720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grpSp>
        <p:nvGrpSpPr>
          <p:cNvPr id="120" name="Group 119">
            <a:extLst>
              <a:ext uri="{FF2B5EF4-FFF2-40B4-BE49-F238E27FC236}">
                <a16:creationId xmlns:a16="http://schemas.microsoft.com/office/drawing/2014/main" id="{717B2D5D-067C-F541-905F-20C996D2ABF6}"/>
              </a:ext>
            </a:extLst>
          </p:cNvPr>
          <p:cNvGrpSpPr/>
          <p:nvPr/>
        </p:nvGrpSpPr>
        <p:grpSpPr>
          <a:xfrm>
            <a:off x="513218" y="4990426"/>
            <a:ext cx="7379606" cy="382348"/>
            <a:chOff x="513218" y="5454579"/>
            <a:chExt cx="7379606" cy="382348"/>
          </a:xfrm>
        </p:grpSpPr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04161690-2777-474B-8B0B-AEACCC5DBB99}"/>
                </a:ext>
              </a:extLst>
            </p:cNvPr>
            <p:cNvSpPr txBox="1"/>
            <p:nvPr/>
          </p:nvSpPr>
          <p:spPr>
            <a:xfrm>
              <a:off x="513218" y="5525540"/>
              <a:ext cx="800284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DS: (5,2)</a:t>
              </a:r>
            </a:p>
          </p:txBody>
        </p:sp>
        <p:sp>
          <p:nvSpPr>
            <p:cNvPr id="50" name="Line 31">
              <a:extLst>
                <a:ext uri="{FF2B5EF4-FFF2-40B4-BE49-F238E27FC236}">
                  <a16:creationId xmlns:a16="http://schemas.microsoft.com/office/drawing/2014/main" id="{A3CE839C-40F4-8A4C-ACBE-5D238112A4F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3944" y="5773532"/>
              <a:ext cx="57688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51" name="Line 33">
              <a:extLst>
                <a:ext uri="{FF2B5EF4-FFF2-40B4-BE49-F238E27FC236}">
                  <a16:creationId xmlns:a16="http://schemas.microsoft.com/office/drawing/2014/main" id="{C77EAF30-98A5-084C-8854-67E2C6E2943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0916" y="5710138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52" name="Line 34">
              <a:extLst>
                <a:ext uri="{FF2B5EF4-FFF2-40B4-BE49-F238E27FC236}">
                  <a16:creationId xmlns:a16="http://schemas.microsoft.com/office/drawing/2014/main" id="{72E6261A-E639-9143-A34D-9CF1A33514D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7887" y="5710138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53" name="Line 35">
              <a:extLst>
                <a:ext uri="{FF2B5EF4-FFF2-40B4-BE49-F238E27FC236}">
                  <a16:creationId xmlns:a16="http://schemas.microsoft.com/office/drawing/2014/main" id="{65316983-ADCC-C049-9806-2EB47FCDDED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4858" y="5710138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54" name="Line 36">
              <a:extLst>
                <a:ext uri="{FF2B5EF4-FFF2-40B4-BE49-F238E27FC236}">
                  <a16:creationId xmlns:a16="http://schemas.microsoft.com/office/drawing/2014/main" id="{1848341C-A3DE-FC4B-8E74-E466FDA7A3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1830" y="5710138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55" name="Line 37">
              <a:extLst>
                <a:ext uri="{FF2B5EF4-FFF2-40B4-BE49-F238E27FC236}">
                  <a16:creationId xmlns:a16="http://schemas.microsoft.com/office/drawing/2014/main" id="{8EE38B6A-08D4-364C-93ED-BFEE70AFCDF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801" y="5710138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56" name="Line 38">
              <a:extLst>
                <a:ext uri="{FF2B5EF4-FFF2-40B4-BE49-F238E27FC236}">
                  <a16:creationId xmlns:a16="http://schemas.microsoft.com/office/drawing/2014/main" id="{F1EE774C-CD08-2942-9952-93D73AB0937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773" y="5710138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57" name="Line 39">
              <a:extLst>
                <a:ext uri="{FF2B5EF4-FFF2-40B4-BE49-F238E27FC236}">
                  <a16:creationId xmlns:a16="http://schemas.microsoft.com/office/drawing/2014/main" id="{68571F29-0180-0748-908B-7E6FD3F261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2744" y="5710138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58" name="Line 40">
              <a:extLst>
                <a:ext uri="{FF2B5EF4-FFF2-40B4-BE49-F238E27FC236}">
                  <a16:creationId xmlns:a16="http://schemas.microsoft.com/office/drawing/2014/main" id="{A8A6FD9E-CB30-AA46-898A-8659649E3E6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9716" y="5710138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59" name="Line 41">
              <a:extLst>
                <a:ext uri="{FF2B5EF4-FFF2-40B4-BE49-F238E27FC236}">
                  <a16:creationId xmlns:a16="http://schemas.microsoft.com/office/drawing/2014/main" id="{E50E8307-9361-7743-B48B-3A789229A1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76687" y="5710138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60" name="Line 42">
              <a:extLst>
                <a:ext uri="{FF2B5EF4-FFF2-40B4-BE49-F238E27FC236}">
                  <a16:creationId xmlns:a16="http://schemas.microsoft.com/office/drawing/2014/main" id="{D2CCE8B0-D5FA-9B4A-BFB4-DBBDD320993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93658" y="5710138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61" name="Line 43">
              <a:extLst>
                <a:ext uri="{FF2B5EF4-FFF2-40B4-BE49-F238E27FC236}">
                  <a16:creationId xmlns:a16="http://schemas.microsoft.com/office/drawing/2014/main" id="{B726EFFA-CBF4-AC41-A03C-4774D81787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10630" y="5710138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62" name="Line 44">
              <a:extLst>
                <a:ext uri="{FF2B5EF4-FFF2-40B4-BE49-F238E27FC236}">
                  <a16:creationId xmlns:a16="http://schemas.microsoft.com/office/drawing/2014/main" id="{02AA2A0B-A8D8-8D4D-B254-4A84356CB7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27601" y="5710138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63" name="Line 45">
              <a:extLst>
                <a:ext uri="{FF2B5EF4-FFF2-40B4-BE49-F238E27FC236}">
                  <a16:creationId xmlns:a16="http://schemas.microsoft.com/office/drawing/2014/main" id="{6CB02A78-D519-044E-9F96-6DBC99297D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4573" y="5710138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64" name="Line 46">
              <a:extLst>
                <a:ext uri="{FF2B5EF4-FFF2-40B4-BE49-F238E27FC236}">
                  <a16:creationId xmlns:a16="http://schemas.microsoft.com/office/drawing/2014/main" id="{01CD91C7-63B9-B146-9A4B-FA1C41B04B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61544" y="5710138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65" name="Line 47">
              <a:extLst>
                <a:ext uri="{FF2B5EF4-FFF2-40B4-BE49-F238E27FC236}">
                  <a16:creationId xmlns:a16="http://schemas.microsoft.com/office/drawing/2014/main" id="{00FF7A9D-C682-8A43-A559-F98943E9D3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78515" y="5710138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66" name="Line 48">
              <a:extLst>
                <a:ext uri="{FF2B5EF4-FFF2-40B4-BE49-F238E27FC236}">
                  <a16:creationId xmlns:a16="http://schemas.microsoft.com/office/drawing/2014/main" id="{7BDDB03C-0BA1-8B4B-944D-746206140D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5487" y="5710138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67" name="Line 49">
              <a:extLst>
                <a:ext uri="{FF2B5EF4-FFF2-40B4-BE49-F238E27FC236}">
                  <a16:creationId xmlns:a16="http://schemas.microsoft.com/office/drawing/2014/main" id="{01836DF2-4730-CF43-9032-1DDB21CB4A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61544" y="5710138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68" name="Line 50">
              <a:extLst>
                <a:ext uri="{FF2B5EF4-FFF2-40B4-BE49-F238E27FC236}">
                  <a16:creationId xmlns:a16="http://schemas.microsoft.com/office/drawing/2014/main" id="{F4F2B608-E3E3-EB44-AE6E-79E980A1D8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78515" y="5710138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69" name="Line 51">
              <a:extLst>
                <a:ext uri="{FF2B5EF4-FFF2-40B4-BE49-F238E27FC236}">
                  <a16:creationId xmlns:a16="http://schemas.microsoft.com/office/drawing/2014/main" id="{6334EF33-AFCA-A544-9DB7-D78C970E6C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5487" y="5710138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70" name="Line 52">
              <a:extLst>
                <a:ext uri="{FF2B5EF4-FFF2-40B4-BE49-F238E27FC236}">
                  <a16:creationId xmlns:a16="http://schemas.microsoft.com/office/drawing/2014/main" id="{8E84F3E2-D26A-6049-9CA9-70E37B55644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12458" y="5710138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r" defTabSz="457200" rtl="1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71" name="Line 86">
              <a:extLst>
                <a:ext uri="{FF2B5EF4-FFF2-40B4-BE49-F238E27FC236}">
                  <a16:creationId xmlns:a16="http://schemas.microsoft.com/office/drawing/2014/main" id="{D46719E0-86C9-0148-9293-F81BF3E35774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25773" y="5454579"/>
              <a:ext cx="0" cy="3169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r" defTabSz="457200" rtl="1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72" name="Line 86">
              <a:extLst>
                <a:ext uri="{FF2B5EF4-FFF2-40B4-BE49-F238E27FC236}">
                  <a16:creationId xmlns:a16="http://schemas.microsoft.com/office/drawing/2014/main" id="{1A670C15-2607-1549-B311-768D76C4DB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37253" y="5454579"/>
              <a:ext cx="0" cy="3169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73" name="Line 98">
              <a:extLst>
                <a:ext uri="{FF2B5EF4-FFF2-40B4-BE49-F238E27FC236}">
                  <a16:creationId xmlns:a16="http://schemas.microsoft.com/office/drawing/2014/main" id="{22BC3FA4-220F-0341-B877-291064ADFC6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609475" y="5454579"/>
              <a:ext cx="0" cy="3169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74" name="Line 98">
              <a:extLst>
                <a:ext uri="{FF2B5EF4-FFF2-40B4-BE49-F238E27FC236}">
                  <a16:creationId xmlns:a16="http://schemas.microsoft.com/office/drawing/2014/main" id="{A1348B4E-DE41-064E-888A-449444E6633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200150" y="5454579"/>
              <a:ext cx="0" cy="3169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7D1EA073-3B3B-5E44-A228-68740C3A6019}"/>
              </a:ext>
            </a:extLst>
          </p:cNvPr>
          <p:cNvGrpSpPr/>
          <p:nvPr/>
        </p:nvGrpSpPr>
        <p:grpSpPr>
          <a:xfrm>
            <a:off x="507658" y="4360334"/>
            <a:ext cx="7385166" cy="385476"/>
            <a:chOff x="507658" y="4387607"/>
            <a:chExt cx="7385166" cy="385476"/>
          </a:xfrm>
        </p:grpSpPr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81514024-B739-004D-A33B-9A21A48D12D8}"/>
                </a:ext>
              </a:extLst>
            </p:cNvPr>
            <p:cNvSpPr txBox="1"/>
            <p:nvPr/>
          </p:nvSpPr>
          <p:spPr>
            <a:xfrm>
              <a:off x="507658" y="4465306"/>
              <a:ext cx="7441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T</a:t>
              </a:r>
              <a:r>
                <a:rPr lang="en-US" sz="1400" baseline="-250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1</a:t>
              </a:r>
              <a:r>
                <a:rPr lang="en-US" sz="14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: (4,2)</a:t>
              </a:r>
            </a:p>
          </p:txBody>
        </p:sp>
        <p:sp>
          <p:nvSpPr>
            <p:cNvPr id="77" name="Line 33">
              <a:extLst>
                <a:ext uri="{FF2B5EF4-FFF2-40B4-BE49-F238E27FC236}">
                  <a16:creationId xmlns:a16="http://schemas.microsoft.com/office/drawing/2014/main" id="{0C176B08-0087-8A4E-BEAA-FC2445DB60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0916" y="4643166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78" name="Line 34">
              <a:extLst>
                <a:ext uri="{FF2B5EF4-FFF2-40B4-BE49-F238E27FC236}">
                  <a16:creationId xmlns:a16="http://schemas.microsoft.com/office/drawing/2014/main" id="{CA0FE173-322C-7247-8FF6-D5A009F382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7887" y="4643166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79" name="Line 35">
              <a:extLst>
                <a:ext uri="{FF2B5EF4-FFF2-40B4-BE49-F238E27FC236}">
                  <a16:creationId xmlns:a16="http://schemas.microsoft.com/office/drawing/2014/main" id="{2A30C696-7E02-6740-B8A9-BB61223DB9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4858" y="4643166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80" name="Line 36">
              <a:extLst>
                <a:ext uri="{FF2B5EF4-FFF2-40B4-BE49-F238E27FC236}">
                  <a16:creationId xmlns:a16="http://schemas.microsoft.com/office/drawing/2014/main" id="{0CFF5733-62FA-D64A-9463-BE5AB72BA3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1830" y="4643166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81" name="Line 37">
              <a:extLst>
                <a:ext uri="{FF2B5EF4-FFF2-40B4-BE49-F238E27FC236}">
                  <a16:creationId xmlns:a16="http://schemas.microsoft.com/office/drawing/2014/main" id="{3C028918-F127-6F40-94B8-1B26E561335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801" y="4643166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82" name="Line 38">
              <a:extLst>
                <a:ext uri="{FF2B5EF4-FFF2-40B4-BE49-F238E27FC236}">
                  <a16:creationId xmlns:a16="http://schemas.microsoft.com/office/drawing/2014/main" id="{9272B991-310F-A643-9465-EE8DC7BB27C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773" y="4643166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83" name="Line 39">
              <a:extLst>
                <a:ext uri="{FF2B5EF4-FFF2-40B4-BE49-F238E27FC236}">
                  <a16:creationId xmlns:a16="http://schemas.microsoft.com/office/drawing/2014/main" id="{E6CBB03B-F8F0-084C-B31D-403FB4EB87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2744" y="4643166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r" defTabSz="457200" rtl="1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84" name="Line 40">
              <a:extLst>
                <a:ext uri="{FF2B5EF4-FFF2-40B4-BE49-F238E27FC236}">
                  <a16:creationId xmlns:a16="http://schemas.microsoft.com/office/drawing/2014/main" id="{615A6E7F-E4E1-B74E-9B13-F7527D1E58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9716" y="4643166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85" name="Line 41">
              <a:extLst>
                <a:ext uri="{FF2B5EF4-FFF2-40B4-BE49-F238E27FC236}">
                  <a16:creationId xmlns:a16="http://schemas.microsoft.com/office/drawing/2014/main" id="{7B92FA69-08DE-C24A-BCAB-348FB4E822E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76687" y="4643166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86" name="Line 42">
              <a:extLst>
                <a:ext uri="{FF2B5EF4-FFF2-40B4-BE49-F238E27FC236}">
                  <a16:creationId xmlns:a16="http://schemas.microsoft.com/office/drawing/2014/main" id="{366BDEAB-0D10-B549-B898-9967AB79D3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93658" y="4643166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87" name="Line 43">
              <a:extLst>
                <a:ext uri="{FF2B5EF4-FFF2-40B4-BE49-F238E27FC236}">
                  <a16:creationId xmlns:a16="http://schemas.microsoft.com/office/drawing/2014/main" id="{4A34FE66-0BC1-B342-8C82-C8463F3703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10630" y="4643166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88" name="Line 44">
              <a:extLst>
                <a:ext uri="{FF2B5EF4-FFF2-40B4-BE49-F238E27FC236}">
                  <a16:creationId xmlns:a16="http://schemas.microsoft.com/office/drawing/2014/main" id="{C137CF22-B8A5-6A40-A3DF-0083E35052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27601" y="4643166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89" name="Line 45">
              <a:extLst>
                <a:ext uri="{FF2B5EF4-FFF2-40B4-BE49-F238E27FC236}">
                  <a16:creationId xmlns:a16="http://schemas.microsoft.com/office/drawing/2014/main" id="{F0822304-C2A1-494D-A1B1-536319BE29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4573" y="4643166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90" name="Line 46">
              <a:extLst>
                <a:ext uri="{FF2B5EF4-FFF2-40B4-BE49-F238E27FC236}">
                  <a16:creationId xmlns:a16="http://schemas.microsoft.com/office/drawing/2014/main" id="{D71C2C5F-AA2F-4C48-A897-BB591ACC929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61544" y="4643166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91" name="Line 47">
              <a:extLst>
                <a:ext uri="{FF2B5EF4-FFF2-40B4-BE49-F238E27FC236}">
                  <a16:creationId xmlns:a16="http://schemas.microsoft.com/office/drawing/2014/main" id="{D47BC8D1-CBAC-2845-B344-BB5902B858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78515" y="4643166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92" name="Line 48">
              <a:extLst>
                <a:ext uri="{FF2B5EF4-FFF2-40B4-BE49-F238E27FC236}">
                  <a16:creationId xmlns:a16="http://schemas.microsoft.com/office/drawing/2014/main" id="{80B4BC73-2319-D14B-9E2A-409C34D8180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5487" y="4643166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93" name="Line 49">
              <a:extLst>
                <a:ext uri="{FF2B5EF4-FFF2-40B4-BE49-F238E27FC236}">
                  <a16:creationId xmlns:a16="http://schemas.microsoft.com/office/drawing/2014/main" id="{7FF68519-92FB-2A43-8FC2-E23A8BA797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61544" y="4643166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94" name="Line 50">
              <a:extLst>
                <a:ext uri="{FF2B5EF4-FFF2-40B4-BE49-F238E27FC236}">
                  <a16:creationId xmlns:a16="http://schemas.microsoft.com/office/drawing/2014/main" id="{E016DC23-DD96-7F44-AE19-4E5F27812D0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78515" y="4643166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95" name="Line 51">
              <a:extLst>
                <a:ext uri="{FF2B5EF4-FFF2-40B4-BE49-F238E27FC236}">
                  <a16:creationId xmlns:a16="http://schemas.microsoft.com/office/drawing/2014/main" id="{554268E1-8420-EE41-88F8-2981C10CF2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5487" y="4643166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96" name="Line 52">
              <a:extLst>
                <a:ext uri="{FF2B5EF4-FFF2-40B4-BE49-F238E27FC236}">
                  <a16:creationId xmlns:a16="http://schemas.microsoft.com/office/drawing/2014/main" id="{8DBDF132-C45F-EC46-A697-21EEC7CFE4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12458" y="4643166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97" name="Line 86">
              <a:extLst>
                <a:ext uri="{FF2B5EF4-FFF2-40B4-BE49-F238E27FC236}">
                  <a16:creationId xmlns:a16="http://schemas.microsoft.com/office/drawing/2014/main" id="{A075588C-6EF7-B449-BABF-497D4C6628E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710899" y="4387607"/>
              <a:ext cx="0" cy="3169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r" defTabSz="457200" rtl="1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98" name="Line 86">
              <a:extLst>
                <a:ext uri="{FF2B5EF4-FFF2-40B4-BE49-F238E27FC236}">
                  <a16:creationId xmlns:a16="http://schemas.microsoft.com/office/drawing/2014/main" id="{B51286D3-D617-D14E-BF11-205E849DA4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37253" y="4387607"/>
              <a:ext cx="0" cy="3169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99" name="Line 86">
              <a:extLst>
                <a:ext uri="{FF2B5EF4-FFF2-40B4-BE49-F238E27FC236}">
                  <a16:creationId xmlns:a16="http://schemas.microsoft.com/office/drawing/2014/main" id="{845924B3-4A66-5849-B963-8F24391A9A1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67015" y="4387607"/>
              <a:ext cx="0" cy="3169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r" defTabSz="457200" rtl="1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00" name="Line 86">
              <a:extLst>
                <a:ext uri="{FF2B5EF4-FFF2-40B4-BE49-F238E27FC236}">
                  <a16:creationId xmlns:a16="http://schemas.microsoft.com/office/drawing/2014/main" id="{E3D2ABDF-42BA-2E4F-A4D1-B3C329F08A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41652" y="4387607"/>
              <a:ext cx="0" cy="3169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r" defTabSz="457200" rtl="1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01" name="Line 86">
              <a:extLst>
                <a:ext uri="{FF2B5EF4-FFF2-40B4-BE49-F238E27FC236}">
                  <a16:creationId xmlns:a16="http://schemas.microsoft.com/office/drawing/2014/main" id="{74D1C53A-9B20-D246-B28D-4C0E0DFE71A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512458" y="4387607"/>
              <a:ext cx="0" cy="3169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r" defTabSz="457200" rtl="1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02" name="Line 31">
              <a:extLst>
                <a:ext uri="{FF2B5EF4-FFF2-40B4-BE49-F238E27FC236}">
                  <a16:creationId xmlns:a16="http://schemas.microsoft.com/office/drawing/2014/main" id="{D7E5C7C4-DF97-804F-AA9E-F1FBA303D86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3944" y="4706560"/>
              <a:ext cx="57688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sp>
        <p:nvSpPr>
          <p:cNvPr id="109" name="Rectangle 6">
            <a:extLst>
              <a:ext uri="{FF2B5EF4-FFF2-40B4-BE49-F238E27FC236}">
                <a16:creationId xmlns:a16="http://schemas.microsoft.com/office/drawing/2014/main" id="{0D7C5CA5-77A8-AA47-9DCD-9CDBA113FB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8177" y="5053445"/>
            <a:ext cx="212615" cy="254575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6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defTabSz="45720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41" name="Rectangle 88">
            <a:extLst>
              <a:ext uri="{FF2B5EF4-FFF2-40B4-BE49-F238E27FC236}">
                <a16:creationId xmlns:a16="http://schemas.microsoft.com/office/drawing/2014/main" id="{E34F7871-F5A0-4144-918C-F4C4675696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9142" y="5140400"/>
            <a:ext cx="210830" cy="9611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rgbClr val="00206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12" name="Rectangle 88">
            <a:extLst>
              <a:ext uri="{FF2B5EF4-FFF2-40B4-BE49-F238E27FC236}">
                <a16:creationId xmlns:a16="http://schemas.microsoft.com/office/drawing/2014/main" id="{F724CA24-A95E-0E4C-A6CE-A530F63805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84690" y="5140400"/>
            <a:ext cx="158400" cy="96119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9525">
            <a:solidFill>
              <a:srgbClr val="00206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62C653CC-0A0E-7249-9862-FCA44301AC58}"/>
              </a:ext>
            </a:extLst>
          </p:cNvPr>
          <p:cNvGrpSpPr/>
          <p:nvPr/>
        </p:nvGrpSpPr>
        <p:grpSpPr>
          <a:xfrm>
            <a:off x="750015" y="4761296"/>
            <a:ext cx="6453503" cy="543526"/>
            <a:chOff x="750015" y="5225449"/>
            <a:chExt cx="6453503" cy="543526"/>
          </a:xfrm>
        </p:grpSpPr>
        <p:sp>
          <p:nvSpPr>
            <p:cNvPr id="108" name="Rectangular Callout 107">
              <a:extLst>
                <a:ext uri="{FF2B5EF4-FFF2-40B4-BE49-F238E27FC236}">
                  <a16:creationId xmlns:a16="http://schemas.microsoft.com/office/drawing/2014/main" id="{8792A955-23A4-1E47-9354-3587D05B5275}"/>
                </a:ext>
              </a:extLst>
            </p:cNvPr>
            <p:cNvSpPr/>
            <p:nvPr/>
          </p:nvSpPr>
          <p:spPr>
            <a:xfrm>
              <a:off x="750015" y="5225449"/>
              <a:ext cx="1472650" cy="285805"/>
            </a:xfrm>
            <a:prstGeom prst="wedgeRectCallout">
              <a:avLst>
                <a:gd name="adj1" fmla="val 62377"/>
                <a:gd name="adj2" fmla="val 20389"/>
              </a:avLst>
            </a:prstGeom>
            <a:solidFill>
              <a:schemeClr val="accent1">
                <a:lumMod val="40000"/>
                <a:lumOff val="60000"/>
              </a:schemeClr>
            </a:solidFill>
            <a:ln cap="rnd">
              <a:prstDash val="solid"/>
            </a:ln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14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Budget over time</a:t>
              </a:r>
            </a:p>
          </p:txBody>
        </p:sp>
        <p:sp>
          <p:nvSpPr>
            <p:cNvPr id="119" name="Freeform 118">
              <a:extLst>
                <a:ext uri="{FF2B5EF4-FFF2-40B4-BE49-F238E27FC236}">
                  <a16:creationId xmlns:a16="http://schemas.microsoft.com/office/drawing/2014/main" id="{C04B2575-0FCA-8044-9E0B-87A1C04D55D1}"/>
                </a:ext>
              </a:extLst>
            </p:cNvPr>
            <p:cNvSpPr/>
            <p:nvPr/>
          </p:nvSpPr>
          <p:spPr>
            <a:xfrm>
              <a:off x="2438400" y="5333149"/>
              <a:ext cx="4765118" cy="435826"/>
            </a:xfrm>
            <a:custGeom>
              <a:avLst/>
              <a:gdLst>
                <a:gd name="connsiteX0" fmla="*/ 0 w 4765118"/>
                <a:gd name="connsiteY0" fmla="*/ 435826 h 435826"/>
                <a:gd name="connsiteX1" fmla="*/ 0 w 4765118"/>
                <a:gd name="connsiteY1" fmla="*/ 13551 h 435826"/>
                <a:gd name="connsiteX2" fmla="*/ 631825 w 4765118"/>
                <a:gd name="connsiteY2" fmla="*/ 13551 h 435826"/>
                <a:gd name="connsiteX3" fmla="*/ 1009650 w 4765118"/>
                <a:gd name="connsiteY3" fmla="*/ 267551 h 435826"/>
                <a:gd name="connsiteX4" fmla="*/ 1590675 w 4765118"/>
                <a:gd name="connsiteY4" fmla="*/ 267551 h 435826"/>
                <a:gd name="connsiteX5" fmla="*/ 1590675 w 4765118"/>
                <a:gd name="connsiteY5" fmla="*/ 13551 h 435826"/>
                <a:gd name="connsiteX6" fmla="*/ 1920875 w 4765118"/>
                <a:gd name="connsiteY6" fmla="*/ 13551 h 435826"/>
                <a:gd name="connsiteX7" fmla="*/ 2235768 w 4765118"/>
                <a:gd name="connsiteY7" fmla="*/ 229877 h 435826"/>
                <a:gd name="connsiteX8" fmla="*/ 3175709 w 4765118"/>
                <a:gd name="connsiteY8" fmla="*/ 229877 h 435826"/>
                <a:gd name="connsiteX9" fmla="*/ 3175709 w 4765118"/>
                <a:gd name="connsiteY9" fmla="*/ 194118 h 435826"/>
                <a:gd name="connsiteX10" fmla="*/ 3175709 w 4765118"/>
                <a:gd name="connsiteY10" fmla="*/ 0 h 435826"/>
                <a:gd name="connsiteX11" fmla="*/ 3349394 w 4765118"/>
                <a:gd name="connsiteY11" fmla="*/ 122601 h 435826"/>
                <a:gd name="connsiteX12" fmla="*/ 3645680 w 4765118"/>
                <a:gd name="connsiteY12" fmla="*/ 122601 h 435826"/>
                <a:gd name="connsiteX13" fmla="*/ 3804040 w 4765118"/>
                <a:gd name="connsiteY13" fmla="*/ 250310 h 435826"/>
                <a:gd name="connsiteX14" fmla="*/ 4765118 w 4765118"/>
                <a:gd name="connsiteY14" fmla="*/ 250310 h 435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4765118" h="435826">
                  <a:moveTo>
                    <a:pt x="0" y="435826"/>
                  </a:moveTo>
                  <a:lnTo>
                    <a:pt x="0" y="13551"/>
                  </a:lnTo>
                  <a:lnTo>
                    <a:pt x="631825" y="13551"/>
                  </a:lnTo>
                  <a:lnTo>
                    <a:pt x="1009650" y="267551"/>
                  </a:lnTo>
                  <a:lnTo>
                    <a:pt x="1590675" y="267551"/>
                  </a:lnTo>
                  <a:lnTo>
                    <a:pt x="1590675" y="13551"/>
                  </a:lnTo>
                  <a:lnTo>
                    <a:pt x="1920875" y="13551"/>
                  </a:lnTo>
                  <a:lnTo>
                    <a:pt x="2235768" y="229877"/>
                  </a:lnTo>
                  <a:lnTo>
                    <a:pt x="3175709" y="229877"/>
                  </a:lnTo>
                  <a:lnTo>
                    <a:pt x="3175709" y="194118"/>
                  </a:lnTo>
                  <a:lnTo>
                    <a:pt x="3175709" y="0"/>
                  </a:lnTo>
                  <a:lnTo>
                    <a:pt x="3349394" y="122601"/>
                  </a:lnTo>
                  <a:lnTo>
                    <a:pt x="3645680" y="122601"/>
                  </a:lnTo>
                  <a:lnTo>
                    <a:pt x="3804040" y="250310"/>
                  </a:lnTo>
                  <a:lnTo>
                    <a:pt x="4765118" y="250310"/>
                  </a:lnTo>
                </a:path>
              </a:pathLst>
            </a:custGeom>
            <a:noFill/>
            <a:ln w="19050"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64987771-F300-A448-9001-1C647722B06E}"/>
              </a:ext>
            </a:extLst>
          </p:cNvPr>
          <p:cNvCxnSpPr>
            <a:cxnSpLocks/>
            <a:stCxn id="124" idx="0"/>
            <a:endCxn id="38" idx="2"/>
          </p:cNvCxnSpPr>
          <p:nvPr/>
        </p:nvCxnSpPr>
        <p:spPr>
          <a:xfrm flipV="1">
            <a:off x="5230608" y="5899712"/>
            <a:ext cx="40632" cy="405359"/>
          </a:xfrm>
          <a:prstGeom prst="straightConnector1">
            <a:avLst/>
          </a:prstGeom>
          <a:ln w="38100" cap="rnd">
            <a:solidFill>
              <a:schemeClr val="accent6">
                <a:lumMod val="75000"/>
              </a:schemeClr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Arrow Connector 122">
            <a:extLst>
              <a:ext uri="{FF2B5EF4-FFF2-40B4-BE49-F238E27FC236}">
                <a16:creationId xmlns:a16="http://schemas.microsoft.com/office/drawing/2014/main" id="{3F8FAEDC-A0DE-E042-9CC2-F6272F29AC76}"/>
              </a:ext>
            </a:extLst>
          </p:cNvPr>
          <p:cNvCxnSpPr>
            <a:cxnSpLocks/>
            <a:stCxn id="124" idx="0"/>
            <a:endCxn id="37" idx="2"/>
          </p:cNvCxnSpPr>
          <p:nvPr/>
        </p:nvCxnSpPr>
        <p:spPr>
          <a:xfrm flipH="1" flipV="1">
            <a:off x="5053500" y="5899712"/>
            <a:ext cx="177108" cy="405359"/>
          </a:xfrm>
          <a:prstGeom prst="straightConnector1">
            <a:avLst/>
          </a:prstGeom>
          <a:ln w="38100" cap="rnd">
            <a:solidFill>
              <a:schemeClr val="accent6">
                <a:lumMod val="75000"/>
              </a:schemeClr>
            </a:solidFill>
            <a:round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4" name="TextBox 123">
            <a:extLst>
              <a:ext uri="{FF2B5EF4-FFF2-40B4-BE49-F238E27FC236}">
                <a16:creationId xmlns:a16="http://schemas.microsoft.com/office/drawing/2014/main" id="{A6F64937-B050-D341-8EE4-B23ED4FBFFAC}"/>
              </a:ext>
            </a:extLst>
          </p:cNvPr>
          <p:cNvSpPr txBox="1"/>
          <p:nvPr/>
        </p:nvSpPr>
        <p:spPr>
          <a:xfrm>
            <a:off x="3311236" y="6305071"/>
            <a:ext cx="3838743" cy="307777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txBody>
          <a:bodyPr wrap="none" rtlCol="0">
            <a:spAutoFit/>
          </a:bodyPr>
          <a:lstStyle/>
          <a:p>
            <a:pPr algn="ctr" defTabSz="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14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Although DS has budget, its priority is lower than T</a:t>
            </a:r>
            <a:r>
              <a:rPr lang="en-US" sz="1400" baseline="-250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1</a:t>
            </a:r>
          </a:p>
        </p:txBody>
      </p: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5DA58322-E880-EF41-BD8D-C0540A9C1C04}"/>
              </a:ext>
            </a:extLst>
          </p:cNvPr>
          <p:cNvCxnSpPr>
            <a:stCxn id="13" idx="0"/>
            <a:endCxn id="10" idx="2"/>
          </p:cNvCxnSpPr>
          <p:nvPr/>
        </p:nvCxnSpPr>
        <p:spPr>
          <a:xfrm flipV="1">
            <a:off x="2605004" y="5234884"/>
            <a:ext cx="549313" cy="410253"/>
          </a:xfrm>
          <a:prstGeom prst="straightConnector1">
            <a:avLst/>
          </a:prstGeom>
          <a:ln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2" name="Straight Arrow Connector 131">
            <a:extLst>
              <a:ext uri="{FF2B5EF4-FFF2-40B4-BE49-F238E27FC236}">
                <a16:creationId xmlns:a16="http://schemas.microsoft.com/office/drawing/2014/main" id="{2C0DA6A3-A639-874F-B4C2-3D4EF7F37550}"/>
              </a:ext>
            </a:extLst>
          </p:cNvPr>
          <p:cNvCxnSpPr>
            <a:cxnSpLocks/>
            <a:stCxn id="35" idx="0"/>
            <a:endCxn id="11" idx="2"/>
          </p:cNvCxnSpPr>
          <p:nvPr/>
        </p:nvCxnSpPr>
        <p:spPr>
          <a:xfrm flipV="1">
            <a:off x="2868870" y="5234884"/>
            <a:ext cx="470062" cy="410253"/>
          </a:xfrm>
          <a:prstGeom prst="straightConnector1">
            <a:avLst/>
          </a:prstGeom>
          <a:ln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75A1485C-23E1-844F-A959-468581FCBB23}"/>
              </a:ext>
            </a:extLst>
          </p:cNvPr>
          <p:cNvCxnSpPr>
            <a:cxnSpLocks/>
            <a:stCxn id="36" idx="0"/>
            <a:endCxn id="41" idx="2"/>
          </p:cNvCxnSpPr>
          <p:nvPr/>
        </p:nvCxnSpPr>
        <p:spPr>
          <a:xfrm flipH="1" flipV="1">
            <a:off x="4564557" y="5236519"/>
            <a:ext cx="3470" cy="408618"/>
          </a:xfrm>
          <a:prstGeom prst="straightConnector1">
            <a:avLst/>
          </a:prstGeom>
          <a:ln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Arrow Connector 137">
            <a:extLst>
              <a:ext uri="{FF2B5EF4-FFF2-40B4-BE49-F238E27FC236}">
                <a16:creationId xmlns:a16="http://schemas.microsoft.com/office/drawing/2014/main" id="{4BC00C87-AD3F-9E41-ACD1-183DA9B05C7C}"/>
              </a:ext>
            </a:extLst>
          </p:cNvPr>
          <p:cNvCxnSpPr>
            <a:cxnSpLocks/>
            <a:stCxn id="39" idx="0"/>
            <a:endCxn id="112" idx="2"/>
          </p:cNvCxnSpPr>
          <p:nvPr/>
        </p:nvCxnSpPr>
        <p:spPr>
          <a:xfrm flipV="1">
            <a:off x="6163177" y="5236519"/>
            <a:ext cx="713" cy="408618"/>
          </a:xfrm>
          <a:prstGeom prst="straightConnector1">
            <a:avLst/>
          </a:prstGeom>
          <a:ln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B4474CE5-FD23-EA47-91F1-063C2EB2780D}"/>
              </a:ext>
            </a:extLst>
          </p:cNvPr>
          <p:cNvCxnSpPr>
            <a:cxnSpLocks/>
            <a:stCxn id="38" idx="0"/>
            <a:endCxn id="43" idx="2"/>
          </p:cNvCxnSpPr>
          <p:nvPr/>
        </p:nvCxnSpPr>
        <p:spPr>
          <a:xfrm flipV="1">
            <a:off x="5271240" y="5236519"/>
            <a:ext cx="477550" cy="408618"/>
          </a:xfrm>
          <a:prstGeom prst="straightConnector1">
            <a:avLst/>
          </a:prstGeom>
          <a:ln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Arrow Connector 143">
            <a:extLst>
              <a:ext uri="{FF2B5EF4-FFF2-40B4-BE49-F238E27FC236}">
                <a16:creationId xmlns:a16="http://schemas.microsoft.com/office/drawing/2014/main" id="{E7D62249-07B6-2540-A90B-969FD296293E}"/>
              </a:ext>
            </a:extLst>
          </p:cNvPr>
          <p:cNvCxnSpPr>
            <a:cxnSpLocks/>
            <a:stCxn id="37" idx="0"/>
            <a:endCxn id="42" idx="2"/>
          </p:cNvCxnSpPr>
          <p:nvPr/>
        </p:nvCxnSpPr>
        <p:spPr>
          <a:xfrm flipV="1">
            <a:off x="5053500" y="5236519"/>
            <a:ext cx="609941" cy="408618"/>
          </a:xfrm>
          <a:prstGeom prst="straightConnector1">
            <a:avLst/>
          </a:prstGeom>
          <a:ln>
            <a:prstDash val="dash"/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41724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" grpId="0" animBg="1"/>
      <p:bldP spid="8" grpId="0" animBg="1"/>
      <p:bldP spid="9" grpId="0" animBg="1"/>
      <p:bldP spid="10" grpId="0" animBg="1"/>
      <p:bldP spid="11" grpId="0" animBg="1"/>
      <p:bldP spid="42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109" grpId="0" animBg="1"/>
      <p:bldP spid="41" grpId="0" animBg="1"/>
      <p:bldP spid="112" grpId="0" animBg="1"/>
      <p:bldP spid="124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6">
            <a:extLst>
              <a:ext uri="{FF2B5EF4-FFF2-40B4-BE49-F238E27FC236}">
                <a16:creationId xmlns:a16="http://schemas.microsoft.com/office/drawing/2014/main" id="{C1EAC710-9E53-314E-B1B0-5491A3E115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50287" y="5064553"/>
            <a:ext cx="316800" cy="254575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6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defTabSz="45720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01" name="Rectangle 6">
            <a:extLst>
              <a:ext uri="{FF2B5EF4-FFF2-40B4-BE49-F238E27FC236}">
                <a16:creationId xmlns:a16="http://schemas.microsoft.com/office/drawing/2014/main" id="{CC4F6E4C-48B5-C042-9BEB-5E7A4CE7EE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8523" y="5064553"/>
            <a:ext cx="316800" cy="254575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6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defTabSz="45720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40" name="Rectangle 6">
            <a:extLst>
              <a:ext uri="{FF2B5EF4-FFF2-40B4-BE49-F238E27FC236}">
                <a16:creationId xmlns:a16="http://schemas.microsoft.com/office/drawing/2014/main" id="{4E405871-8EE5-8F4B-854C-49887F9E7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77174" y="5064553"/>
            <a:ext cx="316800" cy="254575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6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defTabSz="45720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37" name="Rectangle 88">
            <a:extLst>
              <a:ext uri="{FF2B5EF4-FFF2-40B4-BE49-F238E27FC236}">
                <a16:creationId xmlns:a16="http://schemas.microsoft.com/office/drawing/2014/main" id="{A47C2DA6-AC0C-894D-8D01-D7ED83F9A2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2907" y="5479055"/>
            <a:ext cx="158825" cy="25457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solidFill>
              <a:srgbClr val="00206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36" name="Rectangle 103">
            <a:extLst>
              <a:ext uri="{FF2B5EF4-FFF2-40B4-BE49-F238E27FC236}">
                <a16:creationId xmlns:a16="http://schemas.microsoft.com/office/drawing/2014/main" id="{D744A9C9-D4CA-3B43-88C4-75FD04C994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47240" y="4633925"/>
            <a:ext cx="313200" cy="2545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00B05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defTabSz="45720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CA532B9-FDBC-C24A-947A-8023A062AF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 dirty="0"/>
              <a:t>Total-bandwidth Server (TBS)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D4F7439-582B-E544-B5FE-5B3704E46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76400"/>
            <a:ext cx="7886700" cy="4968875"/>
          </a:xfrm>
        </p:spPr>
        <p:txBody>
          <a:bodyPr/>
          <a:lstStyle/>
          <a:p>
            <a:r>
              <a:rPr lang="en-CA" sz="2000" dirty="0"/>
              <a:t>Periodic tasks and TBS are scheduled based on EDF</a:t>
            </a:r>
          </a:p>
          <a:p>
            <a:pPr lvl="1"/>
            <a:r>
              <a:rPr lang="en-US" altLang="en-US" sz="1800" dirty="0"/>
              <a:t>Aperiodic and periodic tasks are both inserted in the same ready queue</a:t>
            </a:r>
          </a:p>
          <a:p>
            <a:pPr lvl="1"/>
            <a:r>
              <a:rPr lang="en-US" altLang="en-US" sz="1800" dirty="0"/>
              <a:t>Aperiodic tasks are artificially assigned deadline such that TBS’s utilization does not exceed its given bandwidth </a:t>
            </a:r>
            <a:r>
              <a:rPr lang="en-US" altLang="en-US" sz="1800" i="1" dirty="0">
                <a:latin typeface="+mj-lt"/>
              </a:rPr>
              <a:t>U</a:t>
            </a:r>
            <a:r>
              <a:rPr lang="en-US" altLang="en-US" sz="1800" i="1" baseline="-25000" dirty="0">
                <a:latin typeface="+mj-lt"/>
              </a:rPr>
              <a:t>TBS</a:t>
            </a:r>
          </a:p>
          <a:p>
            <a:pPr lvl="1"/>
            <a:r>
              <a:rPr lang="en-US" altLang="en-US" sz="1800" dirty="0"/>
              <a:t>Aperiodic task </a:t>
            </a:r>
            <a:r>
              <a:rPr lang="en-US" altLang="en-US" sz="1800" dirty="0" err="1"/>
              <a:t>T</a:t>
            </a:r>
            <a:r>
              <a:rPr lang="en-US" altLang="en-US" sz="1800" baseline="-25000" dirty="0" err="1"/>
              <a:t>i</a:t>
            </a:r>
            <a:r>
              <a:rPr lang="en-US" altLang="en-US" sz="1800" dirty="0"/>
              <a:t> with computation time </a:t>
            </a:r>
            <a:r>
              <a:rPr lang="en-US" altLang="en-US" sz="1800" i="1" dirty="0">
                <a:latin typeface="+mj-lt"/>
              </a:rPr>
              <a:t>C</a:t>
            </a:r>
            <a:r>
              <a:rPr lang="en-US" altLang="en-US" sz="1800" i="1" baseline="-25000" dirty="0">
                <a:latin typeface="+mj-lt"/>
              </a:rPr>
              <a:t>i</a:t>
            </a:r>
            <a:r>
              <a:rPr lang="en-US" altLang="en-US" sz="1800" dirty="0"/>
              <a:t> arriving at time </a:t>
            </a:r>
            <a:r>
              <a:rPr lang="en-US" altLang="en-US" sz="1800" i="1" dirty="0">
                <a:latin typeface="+mj-lt"/>
              </a:rPr>
              <a:t>a</a:t>
            </a:r>
            <a:r>
              <a:rPr lang="en-US" altLang="en-US" sz="1800" i="1" baseline="-25000" dirty="0">
                <a:latin typeface="+mj-lt"/>
              </a:rPr>
              <a:t>i</a:t>
            </a:r>
            <a:r>
              <a:rPr lang="en-US" altLang="en-US" sz="1800" dirty="0"/>
              <a:t> is assigned deadline </a:t>
            </a:r>
            <a:r>
              <a:rPr lang="en-US" altLang="en-US" sz="1800" i="1" dirty="0">
                <a:latin typeface="+mj-lt"/>
              </a:rPr>
              <a:t>d</a:t>
            </a:r>
            <a:r>
              <a:rPr lang="en-US" altLang="en-US" sz="1800" i="1" baseline="-25000" dirty="0">
                <a:latin typeface="+mj-lt"/>
              </a:rPr>
              <a:t>i</a:t>
            </a:r>
            <a:r>
              <a:rPr lang="en-US" altLang="en-US" sz="1800" dirty="0">
                <a:latin typeface="+mj-lt"/>
              </a:rPr>
              <a:t> = max(</a:t>
            </a:r>
            <a:r>
              <a:rPr lang="en-US" altLang="en-US" sz="1800" i="1" dirty="0">
                <a:latin typeface="+mj-lt"/>
              </a:rPr>
              <a:t>d</a:t>
            </a:r>
            <a:r>
              <a:rPr lang="en-US" altLang="en-US" sz="1800" i="1" baseline="-25000" dirty="0">
                <a:latin typeface="+mj-lt"/>
              </a:rPr>
              <a:t>i-1</a:t>
            </a:r>
            <a:r>
              <a:rPr lang="en-US" altLang="en-US" sz="1800" dirty="0">
                <a:latin typeface="+mj-lt"/>
              </a:rPr>
              <a:t>, </a:t>
            </a:r>
            <a:r>
              <a:rPr lang="en-US" altLang="en-US" sz="1800" i="1" dirty="0">
                <a:latin typeface="+mj-lt"/>
              </a:rPr>
              <a:t>a</a:t>
            </a:r>
            <a:r>
              <a:rPr lang="en-US" altLang="en-US" sz="1800" i="1" baseline="-25000" dirty="0">
                <a:latin typeface="+mj-lt"/>
              </a:rPr>
              <a:t>i</a:t>
            </a:r>
            <a:r>
              <a:rPr lang="en-US" altLang="en-US" sz="1800" dirty="0">
                <a:latin typeface="+mj-lt"/>
              </a:rPr>
              <a:t>) + </a:t>
            </a:r>
            <a:r>
              <a:rPr lang="en-US" altLang="en-US" sz="1800" i="1" dirty="0">
                <a:latin typeface="+mj-lt"/>
              </a:rPr>
              <a:t>C</a:t>
            </a:r>
            <a:r>
              <a:rPr lang="en-US" altLang="en-US" sz="1800" i="1" baseline="-25000" dirty="0">
                <a:latin typeface="+mj-lt"/>
              </a:rPr>
              <a:t>i</a:t>
            </a:r>
            <a:r>
              <a:rPr lang="en-US" altLang="en-US" sz="1800" i="1" dirty="0">
                <a:latin typeface="+mj-lt"/>
              </a:rPr>
              <a:t> </a:t>
            </a:r>
            <a:r>
              <a:rPr lang="en-US" altLang="en-US" sz="1800" dirty="0">
                <a:latin typeface="+mj-lt"/>
              </a:rPr>
              <a:t>/</a:t>
            </a:r>
            <a:r>
              <a:rPr lang="en-US" altLang="en-US" sz="1800" i="1" dirty="0">
                <a:latin typeface="+mj-lt"/>
              </a:rPr>
              <a:t> U</a:t>
            </a:r>
            <a:r>
              <a:rPr lang="en-US" altLang="en-US" sz="1800" i="1" baseline="-25000" dirty="0">
                <a:latin typeface="+mj-lt"/>
              </a:rPr>
              <a:t>TBS</a:t>
            </a:r>
          </a:p>
          <a:p>
            <a:pPr lvl="1"/>
            <a:r>
              <a:rPr lang="en-US" altLang="en-US" sz="1800" dirty="0"/>
              <a:t>Example: T</a:t>
            </a:r>
            <a:r>
              <a:rPr lang="en-US" altLang="en-US" sz="1800" baseline="-25000" dirty="0"/>
              <a:t>1</a:t>
            </a:r>
            <a:r>
              <a:rPr lang="en-US" altLang="en-US" sz="1800" dirty="0"/>
              <a:t>(3,1) and T</a:t>
            </a:r>
            <a:r>
              <a:rPr lang="en-US" altLang="en-US" sz="1800" baseline="-25000" dirty="0"/>
              <a:t>2</a:t>
            </a:r>
            <a:r>
              <a:rPr lang="en-US" altLang="en-US" sz="1800" dirty="0"/>
              <a:t>(6,2), </a:t>
            </a:r>
          </a:p>
          <a:p>
            <a:pPr lvl="2"/>
            <a:r>
              <a:rPr lang="en-US" altLang="en-US" sz="1400" dirty="0"/>
              <a:t>T</a:t>
            </a:r>
            <a:r>
              <a:rPr lang="en-US" altLang="en-US" sz="1400" baseline="-25000" dirty="0"/>
              <a:t>1</a:t>
            </a:r>
            <a:r>
              <a:rPr lang="en-US" altLang="en-US" sz="1400" dirty="0"/>
              <a:t> and T</a:t>
            </a:r>
            <a:r>
              <a:rPr lang="en-US" altLang="en-US" sz="1400" baseline="-25000" dirty="0"/>
              <a:t>2</a:t>
            </a:r>
            <a:r>
              <a:rPr lang="en-US" altLang="en-US" sz="1400" dirty="0"/>
              <a:t> are schedulable if </a:t>
            </a:r>
            <a:r>
              <a:rPr lang="en-US" altLang="en-US" sz="1400" i="1" dirty="0">
                <a:latin typeface="+mj-lt"/>
              </a:rPr>
              <a:t>U</a:t>
            </a:r>
            <a:r>
              <a:rPr lang="en-US" altLang="en-US" sz="1400" i="1" baseline="-25000" dirty="0">
                <a:latin typeface="+mj-lt"/>
              </a:rPr>
              <a:t>TBS</a:t>
            </a:r>
            <a:r>
              <a:rPr lang="en-US" altLang="en-US" sz="1400" dirty="0">
                <a:latin typeface="+mj-lt"/>
              </a:rPr>
              <a:t> ≤ </a:t>
            </a:r>
            <a:r>
              <a:rPr lang="en-US" altLang="en-US" sz="1400" i="1" dirty="0">
                <a:latin typeface="+mj-lt"/>
              </a:rPr>
              <a:t>1</a:t>
            </a:r>
            <a:r>
              <a:rPr lang="en-US" altLang="en-US" sz="1400" dirty="0">
                <a:latin typeface="+mj-lt"/>
              </a:rPr>
              <a:t> – </a:t>
            </a:r>
            <a:r>
              <a:rPr lang="en-US" altLang="en-US" sz="1400" i="1" dirty="0">
                <a:latin typeface="+mj-lt"/>
              </a:rPr>
              <a:t>2/3</a:t>
            </a:r>
            <a:r>
              <a:rPr lang="en-US" altLang="en-US" sz="1400" dirty="0">
                <a:latin typeface="+mj-lt"/>
              </a:rPr>
              <a:t> = </a:t>
            </a:r>
            <a:r>
              <a:rPr lang="en-US" altLang="en-US" sz="1400" i="1" dirty="0">
                <a:latin typeface="+mj-lt"/>
              </a:rPr>
              <a:t>1/3</a:t>
            </a:r>
          </a:p>
        </p:txBody>
      </p:sp>
      <p:sp>
        <p:nvSpPr>
          <p:cNvPr id="6" name="Rectangle 103">
            <a:extLst>
              <a:ext uri="{FF2B5EF4-FFF2-40B4-BE49-F238E27FC236}">
                <a16:creationId xmlns:a16="http://schemas.microsoft.com/office/drawing/2014/main" id="{BB78E118-949E-174A-B145-479A6A9B58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2214" y="5064553"/>
            <a:ext cx="630000" cy="254575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6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defTabSz="45720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E7D82CE9-51A7-9240-A698-2B437150DC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72829" y="5064553"/>
            <a:ext cx="316800" cy="254575"/>
          </a:xfrm>
          <a:prstGeom prst="rect">
            <a:avLst/>
          </a:prstGeom>
          <a:solidFill>
            <a:srgbClr val="FFFF00"/>
          </a:solidFill>
          <a:ln w="9525">
            <a:solidFill>
              <a:schemeClr val="accent6">
                <a:lumMod val="50000"/>
              </a:schemeClr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defTabSz="45720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2" name="Rectangle 88">
            <a:extLst>
              <a:ext uri="{FF2B5EF4-FFF2-40B4-BE49-F238E27FC236}">
                <a16:creationId xmlns:a16="http://schemas.microsoft.com/office/drawing/2014/main" id="{E7DF534D-D083-774E-A44A-1234986EB2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2318" y="5479055"/>
            <a:ext cx="313200" cy="2545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>
            <a:solidFill>
              <a:srgbClr val="00206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34" name="Rectangle 88">
            <a:extLst>
              <a:ext uri="{FF2B5EF4-FFF2-40B4-BE49-F238E27FC236}">
                <a16:creationId xmlns:a16="http://schemas.microsoft.com/office/drawing/2014/main" id="{8B5830EB-4E01-E149-9065-58BBFC822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93274" y="5479055"/>
            <a:ext cx="158825" cy="25457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rgbClr val="00206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35" name="Rectangle 88">
            <a:extLst>
              <a:ext uri="{FF2B5EF4-FFF2-40B4-BE49-F238E27FC236}">
                <a16:creationId xmlns:a16="http://schemas.microsoft.com/office/drawing/2014/main" id="{D83DA31E-B600-054D-B0B6-7FB4263F71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9274" y="5479055"/>
            <a:ext cx="636016" cy="254575"/>
          </a:xfrm>
          <a:prstGeom prst="rect">
            <a:avLst/>
          </a:prstGeom>
          <a:solidFill>
            <a:schemeClr val="bg2"/>
          </a:solidFill>
          <a:ln w="9525">
            <a:solidFill>
              <a:srgbClr val="002060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42" name="Rectangle 103">
            <a:extLst>
              <a:ext uri="{FF2B5EF4-FFF2-40B4-BE49-F238E27FC236}">
                <a16:creationId xmlns:a16="http://schemas.microsoft.com/office/drawing/2014/main" id="{F4EB248B-F618-E549-BFAF-87E640E881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62527" y="4633925"/>
            <a:ext cx="313200" cy="2545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00B05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defTabSz="45720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43" name="Rectangle 6">
            <a:extLst>
              <a:ext uri="{FF2B5EF4-FFF2-40B4-BE49-F238E27FC236}">
                <a16:creationId xmlns:a16="http://schemas.microsoft.com/office/drawing/2014/main" id="{C7004B4D-DFE1-444C-971E-B9152659D3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46701" y="4633925"/>
            <a:ext cx="313200" cy="2545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00B05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defTabSz="45720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44" name="Rectangle 103">
            <a:extLst>
              <a:ext uri="{FF2B5EF4-FFF2-40B4-BE49-F238E27FC236}">
                <a16:creationId xmlns:a16="http://schemas.microsoft.com/office/drawing/2014/main" id="{681828FE-3B32-3240-98D8-9D90D4F905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47259" y="4633925"/>
            <a:ext cx="313200" cy="2545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00B05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defTabSz="45720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45" name="Rectangle 103">
            <a:extLst>
              <a:ext uri="{FF2B5EF4-FFF2-40B4-BE49-F238E27FC236}">
                <a16:creationId xmlns:a16="http://schemas.microsoft.com/office/drawing/2014/main" id="{2E30123B-898C-4C40-A090-69FE6A7931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4633" y="4633925"/>
            <a:ext cx="313200" cy="25457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 w="9525">
            <a:solidFill>
              <a:srgbClr val="00B050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l" defTabSz="457200" rtl="0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grpSp>
        <p:nvGrpSpPr>
          <p:cNvPr id="138" name="Group 137">
            <a:extLst>
              <a:ext uri="{FF2B5EF4-FFF2-40B4-BE49-F238E27FC236}">
                <a16:creationId xmlns:a16="http://schemas.microsoft.com/office/drawing/2014/main" id="{0AD035A4-4EDF-DF44-A1F2-0C56DE217A50}"/>
              </a:ext>
            </a:extLst>
          </p:cNvPr>
          <p:cNvGrpSpPr/>
          <p:nvPr/>
        </p:nvGrpSpPr>
        <p:grpSpPr>
          <a:xfrm>
            <a:off x="513218" y="5000174"/>
            <a:ext cx="7379606" cy="382348"/>
            <a:chOff x="513218" y="5000174"/>
            <a:chExt cx="7379606" cy="382348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57A8B08B-B0B3-AF49-A641-F158D3EB8488}"/>
                </a:ext>
              </a:extLst>
            </p:cNvPr>
            <p:cNvSpPr txBox="1"/>
            <p:nvPr/>
          </p:nvSpPr>
          <p:spPr>
            <a:xfrm>
              <a:off x="513218" y="5071135"/>
              <a:ext cx="7441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T</a:t>
              </a:r>
              <a:r>
                <a:rPr lang="en-US" sz="1400" baseline="-250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2</a:t>
              </a:r>
              <a:r>
                <a:rPr lang="en-US" sz="14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: (6,2)</a:t>
              </a:r>
            </a:p>
          </p:txBody>
        </p:sp>
        <p:sp>
          <p:nvSpPr>
            <p:cNvPr id="49" name="Line 33">
              <a:extLst>
                <a:ext uri="{FF2B5EF4-FFF2-40B4-BE49-F238E27FC236}">
                  <a16:creationId xmlns:a16="http://schemas.microsoft.com/office/drawing/2014/main" id="{63849EF6-814F-3148-B996-7C6D8F0F7D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0916" y="5255733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50" name="Line 34">
              <a:extLst>
                <a:ext uri="{FF2B5EF4-FFF2-40B4-BE49-F238E27FC236}">
                  <a16:creationId xmlns:a16="http://schemas.microsoft.com/office/drawing/2014/main" id="{8EE05C6F-8D48-9640-8266-B42391595FB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7887" y="5255733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51" name="Line 35">
              <a:extLst>
                <a:ext uri="{FF2B5EF4-FFF2-40B4-BE49-F238E27FC236}">
                  <a16:creationId xmlns:a16="http://schemas.microsoft.com/office/drawing/2014/main" id="{216824D5-EE72-9F4A-B522-D5D75862AA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4858" y="5255733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52" name="Line 36">
              <a:extLst>
                <a:ext uri="{FF2B5EF4-FFF2-40B4-BE49-F238E27FC236}">
                  <a16:creationId xmlns:a16="http://schemas.microsoft.com/office/drawing/2014/main" id="{AD24D792-D468-064D-9449-B3EB1C6DD45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1830" y="5255733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53" name="Line 37">
              <a:extLst>
                <a:ext uri="{FF2B5EF4-FFF2-40B4-BE49-F238E27FC236}">
                  <a16:creationId xmlns:a16="http://schemas.microsoft.com/office/drawing/2014/main" id="{38E3F237-718F-FE46-9558-905086616D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801" y="5255733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54" name="Line 38">
              <a:extLst>
                <a:ext uri="{FF2B5EF4-FFF2-40B4-BE49-F238E27FC236}">
                  <a16:creationId xmlns:a16="http://schemas.microsoft.com/office/drawing/2014/main" id="{A2A808DA-C918-5940-A2A6-B6B1D03C3C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773" y="5255733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55" name="Line 39">
              <a:extLst>
                <a:ext uri="{FF2B5EF4-FFF2-40B4-BE49-F238E27FC236}">
                  <a16:creationId xmlns:a16="http://schemas.microsoft.com/office/drawing/2014/main" id="{21A074D8-A3F7-7946-842B-7CE20F09C2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2744" y="5255733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56" name="Line 40">
              <a:extLst>
                <a:ext uri="{FF2B5EF4-FFF2-40B4-BE49-F238E27FC236}">
                  <a16:creationId xmlns:a16="http://schemas.microsoft.com/office/drawing/2014/main" id="{5AB312C0-3C57-9940-BD33-687EFAD1CFE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9716" y="5255733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57" name="Line 41">
              <a:extLst>
                <a:ext uri="{FF2B5EF4-FFF2-40B4-BE49-F238E27FC236}">
                  <a16:creationId xmlns:a16="http://schemas.microsoft.com/office/drawing/2014/main" id="{E5A41E78-56A4-F142-917F-971A8087FC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76687" y="5255733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58" name="Line 42">
              <a:extLst>
                <a:ext uri="{FF2B5EF4-FFF2-40B4-BE49-F238E27FC236}">
                  <a16:creationId xmlns:a16="http://schemas.microsoft.com/office/drawing/2014/main" id="{48678719-F696-B440-8D25-0C9BA68DB1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93658" y="5255733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59" name="Line 43">
              <a:extLst>
                <a:ext uri="{FF2B5EF4-FFF2-40B4-BE49-F238E27FC236}">
                  <a16:creationId xmlns:a16="http://schemas.microsoft.com/office/drawing/2014/main" id="{15E4224C-98BD-404E-9777-27F4933489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10630" y="5255733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60" name="Line 44">
              <a:extLst>
                <a:ext uri="{FF2B5EF4-FFF2-40B4-BE49-F238E27FC236}">
                  <a16:creationId xmlns:a16="http://schemas.microsoft.com/office/drawing/2014/main" id="{2A74EBD7-00B8-CD49-BDBB-D603698E2FD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27601" y="5255733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61" name="Line 45">
              <a:extLst>
                <a:ext uri="{FF2B5EF4-FFF2-40B4-BE49-F238E27FC236}">
                  <a16:creationId xmlns:a16="http://schemas.microsoft.com/office/drawing/2014/main" id="{AB4EF636-29A6-B34D-AD7D-0B80AA61F8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4573" y="5255733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62" name="Line 46">
              <a:extLst>
                <a:ext uri="{FF2B5EF4-FFF2-40B4-BE49-F238E27FC236}">
                  <a16:creationId xmlns:a16="http://schemas.microsoft.com/office/drawing/2014/main" id="{6D27919B-2BF7-1D49-BFB9-F44F7999AFA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61544" y="5255733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63" name="Line 47">
              <a:extLst>
                <a:ext uri="{FF2B5EF4-FFF2-40B4-BE49-F238E27FC236}">
                  <a16:creationId xmlns:a16="http://schemas.microsoft.com/office/drawing/2014/main" id="{80F47B08-D994-C145-AA63-DF1688DB695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78515" y="5255733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64" name="Line 48">
              <a:extLst>
                <a:ext uri="{FF2B5EF4-FFF2-40B4-BE49-F238E27FC236}">
                  <a16:creationId xmlns:a16="http://schemas.microsoft.com/office/drawing/2014/main" id="{E5BABF62-E4DF-FD44-BA93-8EE32172FFF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5487" y="5255733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65" name="Line 49">
              <a:extLst>
                <a:ext uri="{FF2B5EF4-FFF2-40B4-BE49-F238E27FC236}">
                  <a16:creationId xmlns:a16="http://schemas.microsoft.com/office/drawing/2014/main" id="{5BF47F15-6D76-F842-AC4E-3797BF5E106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61544" y="5255733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66" name="Line 50">
              <a:extLst>
                <a:ext uri="{FF2B5EF4-FFF2-40B4-BE49-F238E27FC236}">
                  <a16:creationId xmlns:a16="http://schemas.microsoft.com/office/drawing/2014/main" id="{D27448B5-5F41-E441-A58F-7F599E22D59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78515" y="5255733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67" name="Line 51">
              <a:extLst>
                <a:ext uri="{FF2B5EF4-FFF2-40B4-BE49-F238E27FC236}">
                  <a16:creationId xmlns:a16="http://schemas.microsoft.com/office/drawing/2014/main" id="{F0FBB5C1-2658-E348-9D09-03CCA773EFB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5487" y="5255733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68" name="Line 52">
              <a:extLst>
                <a:ext uri="{FF2B5EF4-FFF2-40B4-BE49-F238E27FC236}">
                  <a16:creationId xmlns:a16="http://schemas.microsoft.com/office/drawing/2014/main" id="{22A8AAAB-FD90-654B-93D8-14F01D7AEC7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12458" y="5255733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r" defTabSz="457200" rtl="1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69" name="Line 86">
              <a:extLst>
                <a:ext uri="{FF2B5EF4-FFF2-40B4-BE49-F238E27FC236}">
                  <a16:creationId xmlns:a16="http://schemas.microsoft.com/office/drawing/2014/main" id="{B95C5D86-25AE-1246-A56B-7A5B0318D4A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42744" y="5000174"/>
              <a:ext cx="0" cy="3169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70" name="Line 86">
              <a:extLst>
                <a:ext uri="{FF2B5EF4-FFF2-40B4-BE49-F238E27FC236}">
                  <a16:creationId xmlns:a16="http://schemas.microsoft.com/office/drawing/2014/main" id="{63BED15B-F346-7D40-80A2-46428F3924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37253" y="5000174"/>
              <a:ext cx="0" cy="3169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71" name="Line 98">
              <a:extLst>
                <a:ext uri="{FF2B5EF4-FFF2-40B4-BE49-F238E27FC236}">
                  <a16:creationId xmlns:a16="http://schemas.microsoft.com/office/drawing/2014/main" id="{7A261C8F-B2AE-5E43-BFE4-8B6258137B3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44825" y="5000174"/>
              <a:ext cx="0" cy="3169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48" name="Line 31">
              <a:extLst>
                <a:ext uri="{FF2B5EF4-FFF2-40B4-BE49-F238E27FC236}">
                  <a16:creationId xmlns:a16="http://schemas.microsoft.com/office/drawing/2014/main" id="{A29CD09B-F393-454C-9338-0B4A6F1BB0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3944" y="5319127"/>
              <a:ext cx="57688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sp>
        <p:nvSpPr>
          <p:cNvPr id="119" name="TextBox 118">
            <a:extLst>
              <a:ext uri="{FF2B5EF4-FFF2-40B4-BE49-F238E27FC236}">
                <a16:creationId xmlns:a16="http://schemas.microsoft.com/office/drawing/2014/main" id="{6F05D673-97E4-3B45-84A2-29CF2DCAF3D9}"/>
              </a:ext>
            </a:extLst>
          </p:cNvPr>
          <p:cNvSpPr txBox="1"/>
          <p:nvPr/>
        </p:nvSpPr>
        <p:spPr>
          <a:xfrm>
            <a:off x="2395448" y="5989064"/>
            <a:ext cx="72487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i="1" dirty="0">
                <a:latin typeface="+mj-lt"/>
              </a:rPr>
              <a:t>a</a:t>
            </a:r>
            <a:r>
              <a:rPr lang="en-US" sz="1000" i="1" baseline="-25000" dirty="0">
                <a:latin typeface="+mj-lt"/>
              </a:rPr>
              <a:t>1</a:t>
            </a:r>
            <a:r>
              <a:rPr lang="en-US" sz="1000" dirty="0">
                <a:latin typeface="+mj-lt"/>
              </a:rPr>
              <a:t>=1, </a:t>
            </a:r>
            <a:r>
              <a:rPr lang="en-US" sz="1000" i="1" dirty="0">
                <a:latin typeface="+mj-lt"/>
              </a:rPr>
              <a:t>C</a:t>
            </a:r>
            <a:r>
              <a:rPr lang="en-US" sz="1000" i="1" baseline="-25000" dirty="0">
                <a:latin typeface="+mj-lt"/>
              </a:rPr>
              <a:t>1</a:t>
            </a:r>
            <a:r>
              <a:rPr lang="en-US" sz="1000" dirty="0">
                <a:latin typeface="+mj-lt"/>
              </a:rPr>
              <a:t>=1</a:t>
            </a:r>
          </a:p>
        </p:txBody>
      </p:sp>
      <p:sp>
        <p:nvSpPr>
          <p:cNvPr id="122" name="TextBox 121">
            <a:extLst>
              <a:ext uri="{FF2B5EF4-FFF2-40B4-BE49-F238E27FC236}">
                <a16:creationId xmlns:a16="http://schemas.microsoft.com/office/drawing/2014/main" id="{B048D498-84E9-514F-9F1A-D3E96AEE3D30}"/>
              </a:ext>
            </a:extLst>
          </p:cNvPr>
          <p:cNvSpPr txBox="1"/>
          <p:nvPr/>
        </p:nvSpPr>
        <p:spPr>
          <a:xfrm>
            <a:off x="3217157" y="5989064"/>
            <a:ext cx="984565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i="1" dirty="0">
                <a:latin typeface="+mj-lt"/>
              </a:rPr>
              <a:t>d</a:t>
            </a:r>
            <a:r>
              <a:rPr lang="en-US" sz="1000" i="1" baseline="-25000" dirty="0">
                <a:latin typeface="+mj-lt"/>
              </a:rPr>
              <a:t>1</a:t>
            </a:r>
            <a:r>
              <a:rPr lang="en-US" sz="1000" dirty="0">
                <a:latin typeface="+mj-lt"/>
              </a:rPr>
              <a:t>=1+1/(1/3)=4</a:t>
            </a:r>
          </a:p>
        </p:txBody>
      </p:sp>
      <p:sp>
        <p:nvSpPr>
          <p:cNvPr id="124" name="TextBox 123">
            <a:extLst>
              <a:ext uri="{FF2B5EF4-FFF2-40B4-BE49-F238E27FC236}">
                <a16:creationId xmlns:a16="http://schemas.microsoft.com/office/drawing/2014/main" id="{DFF2387E-03E5-DE45-ADFA-204644EBA1DB}"/>
              </a:ext>
            </a:extLst>
          </p:cNvPr>
          <p:cNvSpPr txBox="1"/>
          <p:nvPr/>
        </p:nvSpPr>
        <p:spPr>
          <a:xfrm>
            <a:off x="2982749" y="6269466"/>
            <a:ext cx="82266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i="1" dirty="0">
                <a:latin typeface="+mj-lt"/>
              </a:rPr>
              <a:t>a</a:t>
            </a:r>
            <a:r>
              <a:rPr lang="en-US" sz="1000" i="1" baseline="-25000" dirty="0">
                <a:latin typeface="+mj-lt"/>
              </a:rPr>
              <a:t>2</a:t>
            </a:r>
            <a:r>
              <a:rPr lang="en-US" sz="1000" dirty="0">
                <a:latin typeface="+mj-lt"/>
              </a:rPr>
              <a:t>=3, </a:t>
            </a:r>
            <a:r>
              <a:rPr lang="en-US" sz="1000" i="1" dirty="0">
                <a:latin typeface="+mj-lt"/>
              </a:rPr>
              <a:t>C</a:t>
            </a:r>
            <a:r>
              <a:rPr lang="en-US" sz="1000" i="1" baseline="-25000" dirty="0">
                <a:latin typeface="+mj-lt"/>
              </a:rPr>
              <a:t>2</a:t>
            </a:r>
            <a:r>
              <a:rPr lang="en-US" sz="1000" dirty="0">
                <a:latin typeface="+mj-lt"/>
              </a:rPr>
              <a:t>=0.5</a:t>
            </a:r>
          </a:p>
        </p:txBody>
      </p:sp>
      <p:sp>
        <p:nvSpPr>
          <p:cNvPr id="125" name="TextBox 124">
            <a:extLst>
              <a:ext uri="{FF2B5EF4-FFF2-40B4-BE49-F238E27FC236}">
                <a16:creationId xmlns:a16="http://schemas.microsoft.com/office/drawing/2014/main" id="{BA04BDD5-6074-6A40-AFAE-227BAB6FF71F}"/>
              </a:ext>
            </a:extLst>
          </p:cNvPr>
          <p:cNvSpPr txBox="1"/>
          <p:nvPr/>
        </p:nvSpPr>
        <p:spPr>
          <a:xfrm>
            <a:off x="3751011" y="6269466"/>
            <a:ext cx="8771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i="1" dirty="0">
                <a:latin typeface="+mj-lt"/>
              </a:rPr>
              <a:t>d</a:t>
            </a:r>
            <a:r>
              <a:rPr lang="en-US" sz="1000" i="1" baseline="-25000" dirty="0">
                <a:latin typeface="+mj-lt"/>
              </a:rPr>
              <a:t>2</a:t>
            </a:r>
            <a:r>
              <a:rPr lang="en-US" sz="1000" dirty="0">
                <a:latin typeface="+mj-lt"/>
              </a:rPr>
              <a:t>=max(3,4)+</a:t>
            </a:r>
            <a:br>
              <a:rPr lang="en-US" sz="1000" dirty="0">
                <a:latin typeface="+mj-lt"/>
              </a:rPr>
            </a:br>
            <a:r>
              <a:rPr lang="en-US" sz="1000" dirty="0">
                <a:latin typeface="+mj-lt"/>
              </a:rPr>
              <a:t>0.5/(1/3)=5.5</a:t>
            </a:r>
          </a:p>
        </p:txBody>
      </p:sp>
      <p:sp>
        <p:nvSpPr>
          <p:cNvPr id="128" name="TextBox 127">
            <a:extLst>
              <a:ext uri="{FF2B5EF4-FFF2-40B4-BE49-F238E27FC236}">
                <a16:creationId xmlns:a16="http://schemas.microsoft.com/office/drawing/2014/main" id="{6F4CA1DA-ACD9-AC4A-9942-50F13E7B417E}"/>
              </a:ext>
            </a:extLst>
          </p:cNvPr>
          <p:cNvSpPr txBox="1"/>
          <p:nvPr/>
        </p:nvSpPr>
        <p:spPr>
          <a:xfrm>
            <a:off x="4637832" y="5989064"/>
            <a:ext cx="72487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i="1" dirty="0">
                <a:latin typeface="+mj-lt"/>
              </a:rPr>
              <a:t>a</a:t>
            </a:r>
            <a:r>
              <a:rPr lang="en-US" sz="1000" i="1" baseline="-25000" dirty="0">
                <a:latin typeface="+mj-lt"/>
              </a:rPr>
              <a:t>3</a:t>
            </a:r>
            <a:r>
              <a:rPr lang="en-US" sz="1000" dirty="0">
                <a:latin typeface="+mj-lt"/>
              </a:rPr>
              <a:t>=8, </a:t>
            </a:r>
            <a:r>
              <a:rPr lang="en-US" sz="1000" i="1" dirty="0">
                <a:latin typeface="+mj-lt"/>
              </a:rPr>
              <a:t>C</a:t>
            </a:r>
            <a:r>
              <a:rPr lang="en-US" sz="1000" i="1" baseline="-25000" dirty="0">
                <a:latin typeface="+mj-lt"/>
              </a:rPr>
              <a:t>3</a:t>
            </a:r>
            <a:r>
              <a:rPr lang="en-US" sz="1000" dirty="0">
                <a:latin typeface="+mj-lt"/>
              </a:rPr>
              <a:t>=2</a:t>
            </a:r>
          </a:p>
        </p:txBody>
      </p:sp>
      <p:sp>
        <p:nvSpPr>
          <p:cNvPr id="129" name="TextBox 128">
            <a:extLst>
              <a:ext uri="{FF2B5EF4-FFF2-40B4-BE49-F238E27FC236}">
                <a16:creationId xmlns:a16="http://schemas.microsoft.com/office/drawing/2014/main" id="{1213CF57-7B32-A245-8AF2-C3BA6F44A3D9}"/>
              </a:ext>
            </a:extLst>
          </p:cNvPr>
          <p:cNvSpPr txBox="1"/>
          <p:nvPr/>
        </p:nvSpPr>
        <p:spPr>
          <a:xfrm>
            <a:off x="6353371" y="5989064"/>
            <a:ext cx="10502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i="1" dirty="0">
                <a:latin typeface="+mj-lt"/>
              </a:rPr>
              <a:t>d</a:t>
            </a:r>
            <a:r>
              <a:rPr lang="en-US" sz="1000" i="1" baseline="-25000" dirty="0">
                <a:latin typeface="+mj-lt"/>
              </a:rPr>
              <a:t>3</a:t>
            </a:r>
            <a:r>
              <a:rPr lang="en-US" sz="1000" dirty="0">
                <a:latin typeface="+mj-lt"/>
              </a:rPr>
              <a:t>=8+2/(1/3)=14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BBA4870B-8200-824D-979D-B0448D9FDE86}"/>
              </a:ext>
            </a:extLst>
          </p:cNvPr>
          <p:cNvSpPr txBox="1"/>
          <p:nvPr/>
        </p:nvSpPr>
        <p:spPr>
          <a:xfrm>
            <a:off x="4882327" y="6269466"/>
            <a:ext cx="82266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i="1" dirty="0">
                <a:latin typeface="+mj-lt"/>
              </a:rPr>
              <a:t>a</a:t>
            </a:r>
            <a:r>
              <a:rPr lang="en-US" sz="1000" i="1" baseline="-25000" dirty="0">
                <a:latin typeface="+mj-lt"/>
              </a:rPr>
              <a:t>4</a:t>
            </a:r>
            <a:r>
              <a:rPr lang="en-US" sz="1000" dirty="0">
                <a:latin typeface="+mj-lt"/>
              </a:rPr>
              <a:t>=9, </a:t>
            </a:r>
            <a:r>
              <a:rPr lang="en-US" sz="1000" i="1" dirty="0">
                <a:latin typeface="+mj-lt"/>
              </a:rPr>
              <a:t>C</a:t>
            </a:r>
            <a:r>
              <a:rPr lang="en-US" sz="1000" i="1" baseline="-25000" dirty="0">
                <a:latin typeface="+mj-lt"/>
              </a:rPr>
              <a:t>4</a:t>
            </a:r>
            <a:r>
              <a:rPr lang="en-US" sz="1000" dirty="0">
                <a:latin typeface="+mj-lt"/>
              </a:rPr>
              <a:t>=0.5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3509532C-7F23-1A49-9B8F-F79116A720E9}"/>
              </a:ext>
            </a:extLst>
          </p:cNvPr>
          <p:cNvSpPr txBox="1"/>
          <p:nvPr/>
        </p:nvSpPr>
        <p:spPr>
          <a:xfrm>
            <a:off x="6880771" y="6269466"/>
            <a:ext cx="9428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i="1" dirty="0">
                <a:latin typeface="+mj-lt"/>
              </a:rPr>
              <a:t>d</a:t>
            </a:r>
            <a:r>
              <a:rPr lang="en-US" sz="1000" i="1" baseline="-25000" dirty="0">
                <a:latin typeface="+mj-lt"/>
              </a:rPr>
              <a:t>4</a:t>
            </a:r>
            <a:r>
              <a:rPr lang="en-US" sz="1000" dirty="0">
                <a:latin typeface="+mj-lt"/>
              </a:rPr>
              <a:t>=max(9,14)+</a:t>
            </a:r>
            <a:br>
              <a:rPr lang="en-US" sz="1000" dirty="0">
                <a:latin typeface="+mj-lt"/>
              </a:rPr>
            </a:br>
            <a:r>
              <a:rPr lang="en-US" sz="1000" dirty="0">
                <a:latin typeface="+mj-lt"/>
              </a:rPr>
              <a:t>0.5/(1/3)=15.5</a:t>
            </a:r>
          </a:p>
        </p:txBody>
      </p:sp>
      <p:grpSp>
        <p:nvGrpSpPr>
          <p:cNvPr id="141" name="Group 140">
            <a:extLst>
              <a:ext uri="{FF2B5EF4-FFF2-40B4-BE49-F238E27FC236}">
                <a16:creationId xmlns:a16="http://schemas.microsoft.com/office/drawing/2014/main" id="{4F679949-15E1-5B4B-82DF-DEAE979BAF82}"/>
              </a:ext>
            </a:extLst>
          </p:cNvPr>
          <p:cNvGrpSpPr/>
          <p:nvPr/>
        </p:nvGrpSpPr>
        <p:grpSpPr>
          <a:xfrm>
            <a:off x="507658" y="4574893"/>
            <a:ext cx="7385166" cy="385476"/>
            <a:chOff x="507658" y="4574893"/>
            <a:chExt cx="7385166" cy="385476"/>
          </a:xfrm>
        </p:grpSpPr>
        <p:sp>
          <p:nvSpPr>
            <p:cNvPr id="74" name="TextBox 73">
              <a:extLst>
                <a:ext uri="{FF2B5EF4-FFF2-40B4-BE49-F238E27FC236}">
                  <a16:creationId xmlns:a16="http://schemas.microsoft.com/office/drawing/2014/main" id="{4630CC7F-BDE8-B045-8466-5142136884C0}"/>
                </a:ext>
              </a:extLst>
            </p:cNvPr>
            <p:cNvSpPr txBox="1"/>
            <p:nvPr/>
          </p:nvSpPr>
          <p:spPr>
            <a:xfrm>
              <a:off x="507658" y="4652592"/>
              <a:ext cx="744178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T</a:t>
              </a:r>
              <a:r>
                <a:rPr lang="en-US" sz="1400" baseline="-250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1</a:t>
              </a:r>
              <a:r>
                <a:rPr lang="en-US" sz="14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: (3,1)</a:t>
              </a:r>
            </a:p>
          </p:txBody>
        </p:sp>
        <p:sp>
          <p:nvSpPr>
            <p:cNvPr id="75" name="Line 33">
              <a:extLst>
                <a:ext uri="{FF2B5EF4-FFF2-40B4-BE49-F238E27FC236}">
                  <a16:creationId xmlns:a16="http://schemas.microsoft.com/office/drawing/2014/main" id="{AD9AE9F4-31CF-BB4A-A9A1-2B4C184F9B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0916" y="483045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76" name="Line 34">
              <a:extLst>
                <a:ext uri="{FF2B5EF4-FFF2-40B4-BE49-F238E27FC236}">
                  <a16:creationId xmlns:a16="http://schemas.microsoft.com/office/drawing/2014/main" id="{89134C99-EAA8-A246-9714-2E19870F9E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7887" y="483045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77" name="Line 35">
              <a:extLst>
                <a:ext uri="{FF2B5EF4-FFF2-40B4-BE49-F238E27FC236}">
                  <a16:creationId xmlns:a16="http://schemas.microsoft.com/office/drawing/2014/main" id="{4EBCA240-93B3-6E40-9FC5-4EF6E3CE81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4858" y="483045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78" name="Line 36">
              <a:extLst>
                <a:ext uri="{FF2B5EF4-FFF2-40B4-BE49-F238E27FC236}">
                  <a16:creationId xmlns:a16="http://schemas.microsoft.com/office/drawing/2014/main" id="{9FF781D1-A54C-FC4D-94AE-58AF21FB0E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1830" y="483045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79" name="Line 37">
              <a:extLst>
                <a:ext uri="{FF2B5EF4-FFF2-40B4-BE49-F238E27FC236}">
                  <a16:creationId xmlns:a16="http://schemas.microsoft.com/office/drawing/2014/main" id="{203CEF85-2806-6440-97B8-6DF9584A3C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801" y="483045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80" name="Line 38">
              <a:extLst>
                <a:ext uri="{FF2B5EF4-FFF2-40B4-BE49-F238E27FC236}">
                  <a16:creationId xmlns:a16="http://schemas.microsoft.com/office/drawing/2014/main" id="{59C23238-EAC9-8D41-B2AF-44067AF5886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773" y="483045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81" name="Line 39">
              <a:extLst>
                <a:ext uri="{FF2B5EF4-FFF2-40B4-BE49-F238E27FC236}">
                  <a16:creationId xmlns:a16="http://schemas.microsoft.com/office/drawing/2014/main" id="{7CB785B5-27D7-E64A-A4F8-9FBF67A6CF3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2744" y="483045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r" defTabSz="457200" rtl="1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82" name="Line 40">
              <a:extLst>
                <a:ext uri="{FF2B5EF4-FFF2-40B4-BE49-F238E27FC236}">
                  <a16:creationId xmlns:a16="http://schemas.microsoft.com/office/drawing/2014/main" id="{96631528-7A16-C344-A51D-0E89A928D2C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9716" y="483045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83" name="Line 41">
              <a:extLst>
                <a:ext uri="{FF2B5EF4-FFF2-40B4-BE49-F238E27FC236}">
                  <a16:creationId xmlns:a16="http://schemas.microsoft.com/office/drawing/2014/main" id="{6F1AAD18-2ADD-3C42-8939-637B8C963C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76687" y="483045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84" name="Line 42">
              <a:extLst>
                <a:ext uri="{FF2B5EF4-FFF2-40B4-BE49-F238E27FC236}">
                  <a16:creationId xmlns:a16="http://schemas.microsoft.com/office/drawing/2014/main" id="{C8F9F353-9D3D-304D-BB96-2AA404F2428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93658" y="483045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85" name="Line 43">
              <a:extLst>
                <a:ext uri="{FF2B5EF4-FFF2-40B4-BE49-F238E27FC236}">
                  <a16:creationId xmlns:a16="http://schemas.microsoft.com/office/drawing/2014/main" id="{2098D50B-602D-664C-ABC7-F8D45D6E28B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10630" y="483045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86" name="Line 44">
              <a:extLst>
                <a:ext uri="{FF2B5EF4-FFF2-40B4-BE49-F238E27FC236}">
                  <a16:creationId xmlns:a16="http://schemas.microsoft.com/office/drawing/2014/main" id="{7CB044B9-DC60-8145-9335-98879434C57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27601" y="483045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87" name="Line 45">
              <a:extLst>
                <a:ext uri="{FF2B5EF4-FFF2-40B4-BE49-F238E27FC236}">
                  <a16:creationId xmlns:a16="http://schemas.microsoft.com/office/drawing/2014/main" id="{11DE1B6A-8A7E-3D49-9C8E-BCAE1D0C866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4573" y="483045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88" name="Line 46">
              <a:extLst>
                <a:ext uri="{FF2B5EF4-FFF2-40B4-BE49-F238E27FC236}">
                  <a16:creationId xmlns:a16="http://schemas.microsoft.com/office/drawing/2014/main" id="{36E7A31C-7072-D64A-ABA7-7EF8D37C47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61544" y="483045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89" name="Line 47">
              <a:extLst>
                <a:ext uri="{FF2B5EF4-FFF2-40B4-BE49-F238E27FC236}">
                  <a16:creationId xmlns:a16="http://schemas.microsoft.com/office/drawing/2014/main" id="{2BB837BC-4A19-7948-8F64-E0AE8F7D63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78515" y="483045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90" name="Line 48">
              <a:extLst>
                <a:ext uri="{FF2B5EF4-FFF2-40B4-BE49-F238E27FC236}">
                  <a16:creationId xmlns:a16="http://schemas.microsoft.com/office/drawing/2014/main" id="{6C33F264-4205-D548-B638-9B4C94B65E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5487" y="483045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91" name="Line 49">
              <a:extLst>
                <a:ext uri="{FF2B5EF4-FFF2-40B4-BE49-F238E27FC236}">
                  <a16:creationId xmlns:a16="http://schemas.microsoft.com/office/drawing/2014/main" id="{E6DE80FF-86B8-E548-ACA9-C49544D95C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61544" y="483045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92" name="Line 50">
              <a:extLst>
                <a:ext uri="{FF2B5EF4-FFF2-40B4-BE49-F238E27FC236}">
                  <a16:creationId xmlns:a16="http://schemas.microsoft.com/office/drawing/2014/main" id="{10554D67-CF78-DE40-9304-D282D90F56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78515" y="483045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93" name="Line 51">
              <a:extLst>
                <a:ext uri="{FF2B5EF4-FFF2-40B4-BE49-F238E27FC236}">
                  <a16:creationId xmlns:a16="http://schemas.microsoft.com/office/drawing/2014/main" id="{6DA3C88A-6E48-B341-A357-F36B84035CD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5487" y="483045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94" name="Line 52">
              <a:extLst>
                <a:ext uri="{FF2B5EF4-FFF2-40B4-BE49-F238E27FC236}">
                  <a16:creationId xmlns:a16="http://schemas.microsoft.com/office/drawing/2014/main" id="{F72FB69F-6D45-1243-88D5-5A2BC4C03F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12458" y="483045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95" name="Line 86">
              <a:extLst>
                <a:ext uri="{FF2B5EF4-FFF2-40B4-BE49-F238E27FC236}">
                  <a16:creationId xmlns:a16="http://schemas.microsoft.com/office/drawing/2014/main" id="{875EF920-41B6-F04B-9A11-8DE79549F39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94046" y="4574893"/>
              <a:ext cx="0" cy="3169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96" name="Line 86">
              <a:extLst>
                <a:ext uri="{FF2B5EF4-FFF2-40B4-BE49-F238E27FC236}">
                  <a16:creationId xmlns:a16="http://schemas.microsoft.com/office/drawing/2014/main" id="{0C0B029C-2394-B746-AF16-23F0DF2EF9ED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437253" y="4574893"/>
              <a:ext cx="0" cy="3169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97" name="Line 86">
              <a:extLst>
                <a:ext uri="{FF2B5EF4-FFF2-40B4-BE49-F238E27FC236}">
                  <a16:creationId xmlns:a16="http://schemas.microsoft.com/office/drawing/2014/main" id="{DB7DDCAE-169F-7544-A088-BA24AEFA4F0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343708" y="4574893"/>
              <a:ext cx="0" cy="3169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98" name="Line 86">
              <a:extLst>
                <a:ext uri="{FF2B5EF4-FFF2-40B4-BE49-F238E27FC236}">
                  <a16:creationId xmlns:a16="http://schemas.microsoft.com/office/drawing/2014/main" id="{90D3E558-D173-8543-B1AE-E6E4BA13844A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5293658" y="4574893"/>
              <a:ext cx="0" cy="3169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99" name="Line 86">
              <a:extLst>
                <a:ext uri="{FF2B5EF4-FFF2-40B4-BE49-F238E27FC236}">
                  <a16:creationId xmlns:a16="http://schemas.microsoft.com/office/drawing/2014/main" id="{3D3DDA55-9BAB-A14C-B32C-04F5AD66C197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243496" y="4574893"/>
              <a:ext cx="0" cy="3169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18" name="Line 86">
              <a:extLst>
                <a:ext uri="{FF2B5EF4-FFF2-40B4-BE49-F238E27FC236}">
                  <a16:creationId xmlns:a16="http://schemas.microsoft.com/office/drawing/2014/main" id="{D77DB1FC-C2BC-6D44-976D-B8636731379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198048" y="4574893"/>
              <a:ext cx="0" cy="316971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b="0" dirty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00" name="Line 31">
              <a:extLst>
                <a:ext uri="{FF2B5EF4-FFF2-40B4-BE49-F238E27FC236}">
                  <a16:creationId xmlns:a16="http://schemas.microsoft.com/office/drawing/2014/main" id="{E9D3892C-C29C-7447-9106-607F40838FB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3944" y="4893846"/>
              <a:ext cx="57688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l" defTabSz="457200" rtl="0" eaLnBrk="0" fontAlgn="base" hangingPunct="0">
                <a:spcBef>
                  <a:spcPct val="0"/>
                </a:spcBef>
                <a:spcAft>
                  <a:spcPct val="0"/>
                </a:spcAft>
              </a:pPr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</p:grp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0C5A2933-C823-A34E-94D4-33700DC47EE9}"/>
              </a:ext>
            </a:extLst>
          </p:cNvPr>
          <p:cNvGrpSpPr/>
          <p:nvPr/>
        </p:nvGrpSpPr>
        <p:grpSpPr>
          <a:xfrm>
            <a:off x="385853" y="5489768"/>
            <a:ext cx="7506971" cy="556791"/>
            <a:chOff x="385853" y="5480243"/>
            <a:chExt cx="7506971" cy="556791"/>
          </a:xfrm>
        </p:grpSpPr>
        <p:sp>
          <p:nvSpPr>
            <p:cNvPr id="13" name="Line 55">
              <a:extLst>
                <a:ext uri="{FF2B5EF4-FFF2-40B4-BE49-F238E27FC236}">
                  <a16:creationId xmlns:a16="http://schemas.microsoft.com/office/drawing/2014/main" id="{6C07027B-3DB5-7D47-9B53-9940281EF54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40916" y="566155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4" name="Line 56">
              <a:extLst>
                <a:ext uri="{FF2B5EF4-FFF2-40B4-BE49-F238E27FC236}">
                  <a16:creationId xmlns:a16="http://schemas.microsoft.com/office/drawing/2014/main" id="{7E22A31B-53AC-E04F-886F-F9DD13A2DE1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57887" y="566155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5" name="Line 57">
              <a:extLst>
                <a:ext uri="{FF2B5EF4-FFF2-40B4-BE49-F238E27FC236}">
                  <a16:creationId xmlns:a16="http://schemas.microsoft.com/office/drawing/2014/main" id="{A41ECF7F-2925-0245-8856-9AD6ECFE0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74858" y="566155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6" name="Line 58">
              <a:extLst>
                <a:ext uri="{FF2B5EF4-FFF2-40B4-BE49-F238E27FC236}">
                  <a16:creationId xmlns:a16="http://schemas.microsoft.com/office/drawing/2014/main" id="{3182785F-840F-BD49-8598-0967B00957A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91830" y="566155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7" name="Line 59">
              <a:extLst>
                <a:ext uri="{FF2B5EF4-FFF2-40B4-BE49-F238E27FC236}">
                  <a16:creationId xmlns:a16="http://schemas.microsoft.com/office/drawing/2014/main" id="{2BB511CC-5E3F-224F-8297-118576BD22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08801" y="566155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8" name="Line 60">
              <a:extLst>
                <a:ext uri="{FF2B5EF4-FFF2-40B4-BE49-F238E27FC236}">
                  <a16:creationId xmlns:a16="http://schemas.microsoft.com/office/drawing/2014/main" id="{4A83F46F-6420-1944-B45E-356E9FC91D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25773" y="566155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9" name="Line 61">
              <a:extLst>
                <a:ext uri="{FF2B5EF4-FFF2-40B4-BE49-F238E27FC236}">
                  <a16:creationId xmlns:a16="http://schemas.microsoft.com/office/drawing/2014/main" id="{A9789515-9C3A-714C-AF52-F52BCC3C6D2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42744" y="566155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0" name="Line 62">
              <a:extLst>
                <a:ext uri="{FF2B5EF4-FFF2-40B4-BE49-F238E27FC236}">
                  <a16:creationId xmlns:a16="http://schemas.microsoft.com/office/drawing/2014/main" id="{D95C11D0-77BC-884C-9A26-28A80DE859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9716" y="566155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1" name="Line 63">
              <a:extLst>
                <a:ext uri="{FF2B5EF4-FFF2-40B4-BE49-F238E27FC236}">
                  <a16:creationId xmlns:a16="http://schemas.microsoft.com/office/drawing/2014/main" id="{A89365FF-C051-D040-8B75-833C4753F0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76687" y="566155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2" name="Line 64">
              <a:extLst>
                <a:ext uri="{FF2B5EF4-FFF2-40B4-BE49-F238E27FC236}">
                  <a16:creationId xmlns:a16="http://schemas.microsoft.com/office/drawing/2014/main" id="{D07095EA-BCC9-2E4D-B248-070C926143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93658" y="566155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3" name="Line 65">
              <a:extLst>
                <a:ext uri="{FF2B5EF4-FFF2-40B4-BE49-F238E27FC236}">
                  <a16:creationId xmlns:a16="http://schemas.microsoft.com/office/drawing/2014/main" id="{E0B5656B-7B19-5F42-AA68-6BF6E2E5A0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610630" y="566155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4" name="Line 66">
              <a:extLst>
                <a:ext uri="{FF2B5EF4-FFF2-40B4-BE49-F238E27FC236}">
                  <a16:creationId xmlns:a16="http://schemas.microsoft.com/office/drawing/2014/main" id="{817125A2-5E4F-B440-A8F8-A80AD0AEF1B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927601" y="566155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5" name="Line 67">
              <a:extLst>
                <a:ext uri="{FF2B5EF4-FFF2-40B4-BE49-F238E27FC236}">
                  <a16:creationId xmlns:a16="http://schemas.microsoft.com/office/drawing/2014/main" id="{FD13D786-2B97-B647-B7D5-0618828BB34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4573" y="566155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6" name="Line 68">
              <a:extLst>
                <a:ext uri="{FF2B5EF4-FFF2-40B4-BE49-F238E27FC236}">
                  <a16:creationId xmlns:a16="http://schemas.microsoft.com/office/drawing/2014/main" id="{1187CB9C-7034-E349-B0F4-E8590BC612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61544" y="566155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7" name="Line 69">
              <a:extLst>
                <a:ext uri="{FF2B5EF4-FFF2-40B4-BE49-F238E27FC236}">
                  <a16:creationId xmlns:a16="http://schemas.microsoft.com/office/drawing/2014/main" id="{F18E27C5-9989-064F-8748-0C3974DAED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78515" y="566155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8" name="Line 70">
              <a:extLst>
                <a:ext uri="{FF2B5EF4-FFF2-40B4-BE49-F238E27FC236}">
                  <a16:creationId xmlns:a16="http://schemas.microsoft.com/office/drawing/2014/main" id="{5C1F2925-0127-3643-9BF1-DAA287E8FF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5487" y="566155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9" name="Line 71">
              <a:extLst>
                <a:ext uri="{FF2B5EF4-FFF2-40B4-BE49-F238E27FC236}">
                  <a16:creationId xmlns:a16="http://schemas.microsoft.com/office/drawing/2014/main" id="{8182299B-B6BB-304A-B7E1-0ABA552846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561544" y="566155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30" name="Line 72">
              <a:extLst>
                <a:ext uri="{FF2B5EF4-FFF2-40B4-BE49-F238E27FC236}">
                  <a16:creationId xmlns:a16="http://schemas.microsoft.com/office/drawing/2014/main" id="{EB63F55E-1F90-9440-8883-2874ADC93C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78515" y="566155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31" name="Line 73">
              <a:extLst>
                <a:ext uri="{FF2B5EF4-FFF2-40B4-BE49-F238E27FC236}">
                  <a16:creationId xmlns:a16="http://schemas.microsoft.com/office/drawing/2014/main" id="{85F82EB9-C471-234C-94CB-ABE1C2D000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5487" y="566155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32" name="Line 74">
              <a:extLst>
                <a:ext uri="{FF2B5EF4-FFF2-40B4-BE49-F238E27FC236}">
                  <a16:creationId xmlns:a16="http://schemas.microsoft.com/office/drawing/2014/main" id="{6A1B23EA-D703-0940-82DD-77866AB0EB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12458" y="5661552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88871EF1-F56A-7442-A490-349BF79C3C61}"/>
                </a:ext>
              </a:extLst>
            </p:cNvPr>
            <p:cNvSpPr txBox="1"/>
            <p:nvPr/>
          </p:nvSpPr>
          <p:spPr>
            <a:xfrm>
              <a:off x="385853" y="5480243"/>
              <a:ext cx="126438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Aperiodic Tasks</a:t>
              </a:r>
            </a:p>
          </p:txBody>
        </p:sp>
        <p:sp>
          <p:nvSpPr>
            <p:cNvPr id="121" name="TextBox 120">
              <a:extLst>
                <a:ext uri="{FF2B5EF4-FFF2-40B4-BE49-F238E27FC236}">
                  <a16:creationId xmlns:a16="http://schemas.microsoft.com/office/drawing/2014/main" id="{B27F9BC7-D88B-C54F-9CF8-5271464861DD}"/>
                </a:ext>
              </a:extLst>
            </p:cNvPr>
            <p:cNvSpPr txBox="1"/>
            <p:nvPr/>
          </p:nvSpPr>
          <p:spPr>
            <a:xfrm>
              <a:off x="2304976" y="5760035"/>
              <a:ext cx="26161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2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0</a:t>
              </a:r>
            </a:p>
          </p:txBody>
        </p:sp>
        <p:sp>
          <p:nvSpPr>
            <p:cNvPr id="39" name="Line 53">
              <a:extLst>
                <a:ext uri="{FF2B5EF4-FFF2-40B4-BE49-F238E27FC236}">
                  <a16:creationId xmlns:a16="http://schemas.microsoft.com/office/drawing/2014/main" id="{B1F2CBE3-A5B6-0F43-9181-DA4B723674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23944" y="5724946"/>
              <a:ext cx="576888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85621E47-DF9E-B64B-9985-FECB35B4D999}"/>
                </a:ext>
              </a:extLst>
            </p:cNvPr>
            <p:cNvSpPr txBox="1"/>
            <p:nvPr/>
          </p:nvSpPr>
          <p:spPr>
            <a:xfrm>
              <a:off x="3889833" y="5760035"/>
              <a:ext cx="26161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5</a:t>
              </a:r>
            </a:p>
          </p:txBody>
        </p:sp>
        <p:sp>
          <p:nvSpPr>
            <p:cNvPr id="143" name="TextBox 142">
              <a:extLst>
                <a:ext uri="{FF2B5EF4-FFF2-40B4-BE49-F238E27FC236}">
                  <a16:creationId xmlns:a16="http://schemas.microsoft.com/office/drawing/2014/main" id="{9ACC7E59-F49E-EF49-8E7D-5E38965BDBE3}"/>
                </a:ext>
              </a:extLst>
            </p:cNvPr>
            <p:cNvSpPr txBox="1"/>
            <p:nvPr/>
          </p:nvSpPr>
          <p:spPr>
            <a:xfrm>
              <a:off x="5432186" y="5760035"/>
              <a:ext cx="34820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10</a:t>
              </a:r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E3FFA820-4D6C-5D42-AED4-9F2255405F6E}"/>
                </a:ext>
              </a:extLst>
            </p:cNvPr>
            <p:cNvSpPr txBox="1"/>
            <p:nvPr/>
          </p:nvSpPr>
          <p:spPr>
            <a:xfrm>
              <a:off x="7016251" y="5760035"/>
              <a:ext cx="34820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15</a:t>
              </a:r>
            </a:p>
          </p:txBody>
        </p:sp>
      </p:grpSp>
      <p:sp>
        <p:nvSpPr>
          <p:cNvPr id="117" name="Line 86">
            <a:extLst>
              <a:ext uri="{FF2B5EF4-FFF2-40B4-BE49-F238E27FC236}">
                <a16:creationId xmlns:a16="http://schemas.microsoft.com/office/drawing/2014/main" id="{C9516DFE-A7DD-F249-A5B5-C8EAF51D53C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09439" y="5406925"/>
            <a:ext cx="0" cy="316971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20" name="Line 86">
            <a:extLst>
              <a:ext uri="{FF2B5EF4-FFF2-40B4-BE49-F238E27FC236}">
                <a16:creationId xmlns:a16="http://schemas.microsoft.com/office/drawing/2014/main" id="{BBE2710F-6864-C340-A57E-F5A39377FC3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757887" y="5406925"/>
            <a:ext cx="0" cy="316971"/>
          </a:xfrm>
          <a:prstGeom prst="line">
            <a:avLst/>
          </a:prstGeom>
          <a:noFill/>
          <a:ln w="38100">
            <a:solidFill>
              <a:srgbClr val="FF000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23" name="Line 86">
            <a:extLst>
              <a:ext uri="{FF2B5EF4-FFF2-40B4-BE49-F238E27FC236}">
                <a16:creationId xmlns:a16="http://schemas.microsoft.com/office/drawing/2014/main" id="{13C921C1-620A-8E4A-A43D-5FFC42F3FF1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394079" y="5406925"/>
            <a:ext cx="0" cy="316971"/>
          </a:xfrm>
          <a:prstGeom prst="line">
            <a:avLst/>
          </a:prstGeom>
          <a:noFill/>
          <a:ln w="38100">
            <a:solidFill>
              <a:srgbClr val="7030A0"/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26" name="Line 86">
            <a:extLst>
              <a:ext uri="{FF2B5EF4-FFF2-40B4-BE49-F238E27FC236}">
                <a16:creationId xmlns:a16="http://schemas.microsoft.com/office/drawing/2014/main" id="{696C2110-02D1-704F-8199-A54587DB558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79871" y="5406925"/>
            <a:ext cx="0" cy="316971"/>
          </a:xfrm>
          <a:prstGeom prst="line">
            <a:avLst/>
          </a:prstGeom>
          <a:noFill/>
          <a:ln w="38100">
            <a:solidFill>
              <a:schemeClr val="bg2">
                <a:lumMod val="50000"/>
              </a:schemeClr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27" name="Line 86">
            <a:extLst>
              <a:ext uri="{FF2B5EF4-FFF2-40B4-BE49-F238E27FC236}">
                <a16:creationId xmlns:a16="http://schemas.microsoft.com/office/drawing/2014/main" id="{7D59CA23-7B9E-814A-B9C2-8C8D4A97E0F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80925" y="5406925"/>
            <a:ext cx="0" cy="316971"/>
          </a:xfrm>
          <a:prstGeom prst="line">
            <a:avLst/>
          </a:prstGeom>
          <a:noFill/>
          <a:ln w="38100">
            <a:solidFill>
              <a:schemeClr val="bg2">
                <a:lumMod val="50000"/>
              </a:schemeClr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30" name="Line 86">
            <a:extLst>
              <a:ext uri="{FF2B5EF4-FFF2-40B4-BE49-F238E27FC236}">
                <a16:creationId xmlns:a16="http://schemas.microsoft.com/office/drawing/2014/main" id="{5259F330-B6D8-9C44-8730-E40585A0859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93658" y="5406925"/>
            <a:ext cx="0" cy="316971"/>
          </a:xfrm>
          <a:prstGeom prst="line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 type="none" w="med" len="med"/>
            <a:tailEnd type="triangl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algn="l" rtl="0"/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33" name="Line 86">
            <a:extLst>
              <a:ext uri="{FF2B5EF4-FFF2-40B4-BE49-F238E27FC236}">
                <a16:creationId xmlns:a16="http://schemas.microsoft.com/office/drawing/2014/main" id="{00A0E358-3B7B-3C4E-9ACF-D881E96EB77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52214" y="5406925"/>
            <a:ext cx="0" cy="316971"/>
          </a:xfrm>
          <a:prstGeom prst="line">
            <a:avLst/>
          </a:prstGeom>
          <a:noFill/>
          <a:ln w="38100">
            <a:solidFill>
              <a:schemeClr val="tx1">
                <a:lumMod val="65000"/>
                <a:lumOff val="35000"/>
              </a:schemeClr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134" name="Line 86">
            <a:extLst>
              <a:ext uri="{FF2B5EF4-FFF2-40B4-BE49-F238E27FC236}">
                <a16:creationId xmlns:a16="http://schemas.microsoft.com/office/drawing/2014/main" id="{1645F098-8B98-BB41-8F2F-1046D0A4357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89592" y="5406925"/>
            <a:ext cx="0" cy="316971"/>
          </a:xfrm>
          <a:prstGeom prst="line">
            <a:avLst/>
          </a:prstGeom>
          <a:noFill/>
          <a:ln w="38100">
            <a:solidFill>
              <a:srgbClr val="7030A0"/>
            </a:solidFill>
            <a:round/>
            <a:headEnd type="triangl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68331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2" dur="500"/>
                                        <p:tgtEl>
                                          <p:spTgt spid="1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5" dur="500"/>
                                        <p:tgtEl>
                                          <p:spTgt spid="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3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7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5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500"/>
                            </p:stCondLst>
                            <p:childTnLst>
                              <p:par>
                                <p:cTn id="10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7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5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6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9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>
                      <p:stCondLst>
                        <p:cond delay="indefinite"/>
                      </p:stCondLst>
                      <p:childTnLst>
                        <p:par>
                          <p:cTn id="151" fill="hold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4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>
                      <p:stCondLst>
                        <p:cond delay="indefinite"/>
                      </p:stCondLst>
                      <p:childTnLst>
                        <p:par>
                          <p:cTn id="156" fill="hold">
                            <p:stCondLst>
                              <p:cond delay="0"/>
                            </p:stCondLst>
                            <p:childTnLst>
                              <p:par>
                                <p:cTn id="1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9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" grpId="0" animBg="1"/>
      <p:bldP spid="101" grpId="0" animBg="1"/>
      <p:bldP spid="140" grpId="0" animBg="1"/>
      <p:bldP spid="137" grpId="0" animBg="1"/>
      <p:bldP spid="136" grpId="0" animBg="1"/>
      <p:bldP spid="3" grpId="0" build="p" bldLvl="2"/>
      <p:bldP spid="6" grpId="0" animBg="1"/>
      <p:bldP spid="8" grpId="0" animBg="1"/>
      <p:bldP spid="12" grpId="0" animBg="1"/>
      <p:bldP spid="34" grpId="0" animBg="1"/>
      <p:bldP spid="35" grpId="0" animBg="1"/>
      <p:bldP spid="42" grpId="0" animBg="1"/>
      <p:bldP spid="43" grpId="0" animBg="1"/>
      <p:bldP spid="44" grpId="0" animBg="1"/>
      <p:bldP spid="45" grpId="0" animBg="1"/>
      <p:bldP spid="119" grpId="0"/>
      <p:bldP spid="122" grpId="0"/>
      <p:bldP spid="124" grpId="0"/>
      <p:bldP spid="125" grpId="0"/>
      <p:bldP spid="128" grpId="0"/>
      <p:bldP spid="129" grpId="0"/>
      <p:bldP spid="131" grpId="0"/>
      <p:bldP spid="132" grpId="0"/>
      <p:bldP spid="117" grpId="0" animBg="1"/>
      <p:bldP spid="120" grpId="0" animBg="1"/>
      <p:bldP spid="123" grpId="0" animBg="1"/>
      <p:bldP spid="126" grpId="0" animBg="1"/>
      <p:bldP spid="127" grpId="0" animBg="1"/>
      <p:bldP spid="130" grpId="0" animBg="1"/>
      <p:bldP spid="133" grpId="0" animBg="1"/>
      <p:bldP spid="134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4" name="Rectangle 2">
            <a:extLst>
              <a:ext uri="{FF2B5EF4-FFF2-40B4-BE49-F238E27FC236}">
                <a16:creationId xmlns:a16="http://schemas.microsoft.com/office/drawing/2014/main" id="{FB700291-1B38-BD4E-82BD-C562DF8217B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 altLang="en-US" dirty="0"/>
              <a:t>Scheduling Interdependent Tasks: Synchronization</a:t>
            </a:r>
          </a:p>
        </p:txBody>
      </p:sp>
      <p:sp>
        <p:nvSpPr>
          <p:cNvPr id="76805" name="Rectangle 3">
            <a:extLst>
              <a:ext uri="{FF2B5EF4-FFF2-40B4-BE49-F238E27FC236}">
                <a16:creationId xmlns:a16="http://schemas.microsoft.com/office/drawing/2014/main" id="{D2392FD4-3C9D-0143-B958-7ECC11C785F2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676400"/>
            <a:ext cx="7886700" cy="4968875"/>
          </a:xfrm>
        </p:spPr>
        <p:txBody>
          <a:bodyPr/>
          <a:lstStyle/>
          <a:p>
            <a:r>
              <a:rPr lang="en-US" altLang="en-US" sz="1800" dirty="0"/>
              <a:t>Problem of deciding whether it is possible to schedule set of periodic tasks, that use semaphores to enforce mutual exclusion is </a:t>
            </a:r>
            <a:r>
              <a:rPr lang="en-US" altLang="en-US" sz="1800" dirty="0">
                <a:solidFill>
                  <a:srgbClr val="FF0000"/>
                </a:solidFill>
              </a:rPr>
              <a:t>NP-hard</a:t>
            </a:r>
            <a:r>
              <a:rPr lang="en-US" altLang="en-US" sz="1600" dirty="0"/>
              <a:t> </a:t>
            </a:r>
            <a:r>
              <a:rPr lang="en-US" altLang="en-US" sz="1600" baseline="30000" dirty="0"/>
              <a:t>[1]</a:t>
            </a:r>
          </a:p>
          <a:p>
            <a:r>
              <a:rPr lang="en-US" altLang="en-US" sz="1800" dirty="0"/>
              <a:t>General-purpose synchronization primitives allow </a:t>
            </a:r>
            <a:r>
              <a:rPr lang="en-US" altLang="en-US" sz="1800" i="1" dirty="0">
                <a:solidFill>
                  <a:srgbClr val="FF0000"/>
                </a:solidFill>
              </a:rPr>
              <a:t>priority inversion</a:t>
            </a:r>
          </a:p>
          <a:p>
            <a:pPr lvl="1"/>
            <a:r>
              <a:rPr lang="en-US" altLang="en-US" sz="1600" dirty="0"/>
              <a:t>High-priority task is </a:t>
            </a:r>
            <a:r>
              <a:rPr lang="en-US" altLang="en-US" sz="1600" dirty="0">
                <a:solidFill>
                  <a:srgbClr val="FF0000"/>
                </a:solidFill>
              </a:rPr>
              <a:t>indirectly</a:t>
            </a:r>
            <a:r>
              <a:rPr lang="en-US" altLang="en-US" sz="1600" dirty="0"/>
              <a:t> preempted by lower-priority task</a:t>
            </a:r>
          </a:p>
        </p:txBody>
      </p:sp>
      <p:sp>
        <p:nvSpPr>
          <p:cNvPr id="4" name="Rectangle 108">
            <a:extLst>
              <a:ext uri="{FF2B5EF4-FFF2-40B4-BE49-F238E27FC236}">
                <a16:creationId xmlns:a16="http://schemas.microsoft.com/office/drawing/2014/main" id="{5B405943-6976-7841-B178-79B8309EFE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8310" y="4177301"/>
            <a:ext cx="206654" cy="25357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5" name="Rectangle 100">
            <a:extLst>
              <a:ext uri="{FF2B5EF4-FFF2-40B4-BE49-F238E27FC236}">
                <a16:creationId xmlns:a16="http://schemas.microsoft.com/office/drawing/2014/main" id="{0E792E9F-91CC-AC45-A199-A1310CAD10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4966" y="4176802"/>
            <a:ext cx="662065" cy="2545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100" dirty="0"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Lock R</a:t>
            </a:r>
            <a:r>
              <a:rPr lang="en-US" sz="1100" baseline="-25000" dirty="0"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1</a:t>
            </a:r>
          </a:p>
        </p:txBody>
      </p:sp>
      <p:sp>
        <p:nvSpPr>
          <p:cNvPr id="6" name="Rectangle 100">
            <a:extLst>
              <a:ext uri="{FF2B5EF4-FFF2-40B4-BE49-F238E27FC236}">
                <a16:creationId xmlns:a16="http://schemas.microsoft.com/office/drawing/2014/main" id="{BB407677-8E84-9747-82B5-682AF754B8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4716" y="5071216"/>
            <a:ext cx="241358" cy="2545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82B61A7-058A-7540-99FE-F54E9BED63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06366" y="4611237"/>
            <a:ext cx="1265372" cy="2545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 b="0">
              <a:latin typeface="Gill Sans" charset="0"/>
              <a:ea typeface="Gill Sans" charset="0"/>
              <a:cs typeface="Gill Sans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92D7278-BF01-2E49-9066-3D39307B9A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56905" y="4167988"/>
            <a:ext cx="316971" cy="25357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ECB2FB2F-0719-B84F-9362-961505A3E2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81923" y="5068310"/>
            <a:ext cx="202020" cy="25357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Rectangle 88">
            <a:extLst>
              <a:ext uri="{FF2B5EF4-FFF2-40B4-BE49-F238E27FC236}">
                <a16:creationId xmlns:a16="http://schemas.microsoft.com/office/drawing/2014/main" id="{0FBD278C-D9CC-8D48-B109-EA1766E832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72168" y="5071216"/>
            <a:ext cx="633702" cy="2545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100" dirty="0"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Lock R</a:t>
            </a:r>
            <a:r>
              <a:rPr lang="en-US" sz="1100" baseline="-25000" dirty="0"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1</a:t>
            </a:r>
          </a:p>
        </p:txBody>
      </p:sp>
      <p:sp>
        <p:nvSpPr>
          <p:cNvPr id="11" name="Rectangle 100">
            <a:extLst>
              <a:ext uri="{FF2B5EF4-FFF2-40B4-BE49-F238E27FC236}">
                <a16:creationId xmlns:a16="http://schemas.microsoft.com/office/drawing/2014/main" id="{F5D02E52-D920-9A4A-BF5D-98EAF8A446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70898" y="5071216"/>
            <a:ext cx="801177" cy="25457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100" dirty="0"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Lock R</a:t>
            </a:r>
            <a:r>
              <a:rPr lang="en-US" sz="1100" baseline="-25000" dirty="0"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1</a:t>
            </a: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7C01FC2B-D3C8-C94D-B945-A103ED3724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83942" y="5068310"/>
            <a:ext cx="671373" cy="2535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1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Lock R</a:t>
            </a:r>
            <a:r>
              <a:rPr lang="en-US" sz="1100" baseline="-250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1</a:t>
            </a:r>
          </a:p>
        </p:txBody>
      </p:sp>
      <p:sp>
        <p:nvSpPr>
          <p:cNvPr id="44" name="Text Box 78">
            <a:extLst>
              <a:ext uri="{FF2B5EF4-FFF2-40B4-BE49-F238E27FC236}">
                <a16:creationId xmlns:a16="http://schemas.microsoft.com/office/drawing/2014/main" id="{7C4EF62E-E924-9F43-B12E-FC56458CAF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34089" y="3791436"/>
            <a:ext cx="1573990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u="sng"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 u="sng"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 u="sng"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 u="sng"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 u="sng"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u="sng">
                <a:solidFill>
                  <a:schemeClr val="tx1"/>
                </a:solidFill>
                <a:latin typeface="Arial" charset="0"/>
              </a:defRPr>
            </a:lvl9pPr>
          </a:lstStyle>
          <a:p>
            <a:pPr algn="ctr" eaLnBrk="1" hangingPunct="1">
              <a:spcBef>
                <a:spcPct val="50000"/>
              </a:spcBef>
            </a:pPr>
            <a:r>
              <a:rPr lang="en-US" sz="1600" u="none" dirty="0"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H blocked</a:t>
            </a:r>
          </a:p>
        </p:txBody>
      </p:sp>
      <p:sp>
        <p:nvSpPr>
          <p:cNvPr id="46" name="Line 85">
            <a:extLst>
              <a:ext uri="{FF2B5EF4-FFF2-40B4-BE49-F238E27FC236}">
                <a16:creationId xmlns:a16="http://schemas.microsoft.com/office/drawing/2014/main" id="{0308A2BD-63FB-C24C-8532-52BD512E0A1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962209" y="4115621"/>
            <a:ext cx="0" cy="1193908"/>
          </a:xfrm>
          <a:prstGeom prst="line">
            <a:avLst/>
          </a:prstGeom>
          <a:noFill/>
          <a:ln w="25400" cap="rnd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7" name="Line 85">
            <a:extLst>
              <a:ext uri="{FF2B5EF4-FFF2-40B4-BE49-F238E27FC236}">
                <a16:creationId xmlns:a16="http://schemas.microsoft.com/office/drawing/2014/main" id="{F4870A84-056F-BE47-9EB3-8804221ED7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272168" y="4115621"/>
            <a:ext cx="0" cy="1193908"/>
          </a:xfrm>
          <a:prstGeom prst="line">
            <a:avLst/>
          </a:prstGeom>
          <a:noFill/>
          <a:ln w="25400" cap="rnd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8" name="Line 85">
            <a:extLst>
              <a:ext uri="{FF2B5EF4-FFF2-40B4-BE49-F238E27FC236}">
                <a16:creationId xmlns:a16="http://schemas.microsoft.com/office/drawing/2014/main" id="{5AA2784F-CE5A-D544-A0CC-81827170ACB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907936" y="4620755"/>
            <a:ext cx="0" cy="688774"/>
          </a:xfrm>
          <a:prstGeom prst="line">
            <a:avLst/>
          </a:prstGeom>
          <a:noFill/>
          <a:ln w="25400" cap="rnd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49" name="Line 85">
            <a:extLst>
              <a:ext uri="{FF2B5EF4-FFF2-40B4-BE49-F238E27FC236}">
                <a16:creationId xmlns:a16="http://schemas.microsoft.com/office/drawing/2014/main" id="{9D81A899-710E-4F41-A12A-60B08C50962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76807" y="4620755"/>
            <a:ext cx="0" cy="688774"/>
          </a:xfrm>
          <a:prstGeom prst="line">
            <a:avLst/>
          </a:prstGeom>
          <a:noFill/>
          <a:ln w="25400" cap="rnd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0" name="Line 85">
            <a:extLst>
              <a:ext uri="{FF2B5EF4-FFF2-40B4-BE49-F238E27FC236}">
                <a16:creationId xmlns:a16="http://schemas.microsoft.com/office/drawing/2014/main" id="{7D9F2E10-3619-204A-A069-B63D4E1AB78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972075" y="4115621"/>
            <a:ext cx="0" cy="1193908"/>
          </a:xfrm>
          <a:prstGeom prst="line">
            <a:avLst/>
          </a:prstGeom>
          <a:noFill/>
          <a:ln w="25400" cap="rnd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1" name="Line 85">
            <a:extLst>
              <a:ext uri="{FF2B5EF4-FFF2-40B4-BE49-F238E27FC236}">
                <a16:creationId xmlns:a16="http://schemas.microsoft.com/office/drawing/2014/main" id="{00846051-0889-EF4E-9AB6-38DF492A746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836239" y="4115621"/>
            <a:ext cx="0" cy="1193908"/>
          </a:xfrm>
          <a:prstGeom prst="line">
            <a:avLst/>
          </a:prstGeom>
          <a:noFill/>
          <a:ln w="25400" cap="rnd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C4669B13-85BB-8A4F-979F-3AF7BB450133}"/>
              </a:ext>
            </a:extLst>
          </p:cNvPr>
          <p:cNvCxnSpPr>
            <a:cxnSpLocks/>
          </p:cNvCxnSpPr>
          <p:nvPr/>
        </p:nvCxnSpPr>
        <p:spPr>
          <a:xfrm>
            <a:off x="3315041" y="4110110"/>
            <a:ext cx="2649925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37D5683B-464E-934A-8795-ABDF36811887}"/>
              </a:ext>
            </a:extLst>
          </p:cNvPr>
          <p:cNvGrpSpPr/>
          <p:nvPr/>
        </p:nvGrpSpPr>
        <p:grpSpPr>
          <a:xfrm>
            <a:off x="1283624" y="3849646"/>
            <a:ext cx="6806760" cy="2204951"/>
            <a:chOff x="1283624" y="3901318"/>
            <a:chExt cx="6806760" cy="2204951"/>
          </a:xfrm>
        </p:grpSpPr>
        <p:sp>
          <p:nvSpPr>
            <p:cNvPr id="13" name="Line 9">
              <a:extLst>
                <a:ext uri="{FF2B5EF4-FFF2-40B4-BE49-F238E27FC236}">
                  <a16:creationId xmlns:a16="http://schemas.microsoft.com/office/drawing/2014/main" id="{AA476BFF-516B-5C4E-8A9A-0141B0C68E0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4532" y="4484265"/>
              <a:ext cx="538851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Line 31">
              <a:extLst>
                <a:ext uri="{FF2B5EF4-FFF2-40B4-BE49-F238E27FC236}">
                  <a16:creationId xmlns:a16="http://schemas.microsoft.com/office/drawing/2014/main" id="{93823E6F-E1AD-7E42-B7E6-F9ECE24C840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4532" y="4921522"/>
              <a:ext cx="538851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15" name="Line 53">
              <a:extLst>
                <a:ext uri="{FF2B5EF4-FFF2-40B4-BE49-F238E27FC236}">
                  <a16:creationId xmlns:a16="http://schemas.microsoft.com/office/drawing/2014/main" id="{3BB86510-525B-7D4F-BA20-15036D5C78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4532" y="5375635"/>
              <a:ext cx="538851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/>
              <a:endParaRPr lang="en-US" sz="1100"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endParaRP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A163861C-C4D8-BC48-8BB1-9D223232183E}"/>
                </a:ext>
              </a:extLst>
            </p:cNvPr>
            <p:cNvSpPr txBox="1"/>
            <p:nvPr/>
          </p:nvSpPr>
          <p:spPr>
            <a:xfrm>
              <a:off x="1684475" y="4212582"/>
              <a:ext cx="33214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H</a:t>
              </a:r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89BA617B-EF81-094B-B332-36ACFCAD7E82}"/>
                </a:ext>
              </a:extLst>
            </p:cNvPr>
            <p:cNvSpPr txBox="1"/>
            <p:nvPr/>
          </p:nvSpPr>
          <p:spPr>
            <a:xfrm>
              <a:off x="1678063" y="4678205"/>
              <a:ext cx="34496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M</a:t>
              </a:r>
            </a:p>
          </p:txBody>
        </p: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49576D71-0998-984B-A716-379439AC81DA}"/>
                </a:ext>
              </a:extLst>
            </p:cNvPr>
            <p:cNvSpPr txBox="1"/>
            <p:nvPr/>
          </p:nvSpPr>
          <p:spPr>
            <a:xfrm>
              <a:off x="1710123" y="5116309"/>
              <a:ext cx="28084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L</a:t>
              </a:r>
            </a:p>
          </p:txBody>
        </p:sp>
        <p:sp>
          <p:nvSpPr>
            <p:cNvPr id="19" name="Line 53">
              <a:extLst>
                <a:ext uri="{FF2B5EF4-FFF2-40B4-BE49-F238E27FC236}">
                  <a16:creationId xmlns:a16="http://schemas.microsoft.com/office/drawing/2014/main" id="{D4CFDC05-C660-5141-8FF8-D8EE913E0A8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687560" y="5721515"/>
              <a:ext cx="5768880" cy="0"/>
            </a:xfrm>
            <a:prstGeom prst="line">
              <a:avLst/>
            </a:prstGeom>
            <a:noFill/>
            <a:ln w="19050" cap="rnd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0" name="Line 55">
              <a:extLst>
                <a:ext uri="{FF2B5EF4-FFF2-40B4-BE49-F238E27FC236}">
                  <a16:creationId xmlns:a16="http://schemas.microsoft.com/office/drawing/2014/main" id="{347B3397-5ACF-F449-B04A-10484D35F6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4532" y="5658121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1" name="Line 56">
              <a:extLst>
                <a:ext uri="{FF2B5EF4-FFF2-40B4-BE49-F238E27FC236}">
                  <a16:creationId xmlns:a16="http://schemas.microsoft.com/office/drawing/2014/main" id="{1C1C4662-99A8-7F4B-AD28-379E042D08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21503" y="5658121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2" name="Line 57">
              <a:extLst>
                <a:ext uri="{FF2B5EF4-FFF2-40B4-BE49-F238E27FC236}">
                  <a16:creationId xmlns:a16="http://schemas.microsoft.com/office/drawing/2014/main" id="{2C102F99-9D99-F049-9697-D12F33FE2AD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38474" y="5658121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3" name="Line 58">
              <a:extLst>
                <a:ext uri="{FF2B5EF4-FFF2-40B4-BE49-F238E27FC236}">
                  <a16:creationId xmlns:a16="http://schemas.microsoft.com/office/drawing/2014/main" id="{53C84928-C7D1-8744-AEA3-297ECD410D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55446" y="5658121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4" name="Line 59">
              <a:extLst>
                <a:ext uri="{FF2B5EF4-FFF2-40B4-BE49-F238E27FC236}">
                  <a16:creationId xmlns:a16="http://schemas.microsoft.com/office/drawing/2014/main" id="{43DB25A2-64FA-E842-B2F0-31A26E910B4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72417" y="5658121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5" name="Line 60">
              <a:extLst>
                <a:ext uri="{FF2B5EF4-FFF2-40B4-BE49-F238E27FC236}">
                  <a16:creationId xmlns:a16="http://schemas.microsoft.com/office/drawing/2014/main" id="{A1727E5F-A402-3D40-B891-14A3C2D941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89389" y="5658121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6" name="Line 61">
              <a:extLst>
                <a:ext uri="{FF2B5EF4-FFF2-40B4-BE49-F238E27FC236}">
                  <a16:creationId xmlns:a16="http://schemas.microsoft.com/office/drawing/2014/main" id="{29397D93-26C5-E049-9570-FED9B0D3C1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06360" y="5658121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7" name="Line 62">
              <a:extLst>
                <a:ext uri="{FF2B5EF4-FFF2-40B4-BE49-F238E27FC236}">
                  <a16:creationId xmlns:a16="http://schemas.microsoft.com/office/drawing/2014/main" id="{AF1D9DD7-3CD9-2847-87A2-5B6CC5136CB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23332" y="5658121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8" name="Line 63">
              <a:extLst>
                <a:ext uri="{FF2B5EF4-FFF2-40B4-BE49-F238E27FC236}">
                  <a16:creationId xmlns:a16="http://schemas.microsoft.com/office/drawing/2014/main" id="{AAD4E9BA-0CCA-AF4E-8D6A-1BE58B7456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40303" y="5658121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29" name="Line 64">
              <a:extLst>
                <a:ext uri="{FF2B5EF4-FFF2-40B4-BE49-F238E27FC236}">
                  <a16:creationId xmlns:a16="http://schemas.microsoft.com/office/drawing/2014/main" id="{6F1A99F6-B148-B940-929E-F80C18E8E9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857274" y="5658121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30" name="Line 65">
              <a:extLst>
                <a:ext uri="{FF2B5EF4-FFF2-40B4-BE49-F238E27FC236}">
                  <a16:creationId xmlns:a16="http://schemas.microsoft.com/office/drawing/2014/main" id="{10F6445B-4569-6941-92F5-614D831B55A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74246" y="5658121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31" name="Line 66">
              <a:extLst>
                <a:ext uri="{FF2B5EF4-FFF2-40B4-BE49-F238E27FC236}">
                  <a16:creationId xmlns:a16="http://schemas.microsoft.com/office/drawing/2014/main" id="{724D43B3-F2A8-8F4F-AF2A-9929FACD06B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491217" y="5658121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32" name="Line 67">
              <a:extLst>
                <a:ext uri="{FF2B5EF4-FFF2-40B4-BE49-F238E27FC236}">
                  <a16:creationId xmlns:a16="http://schemas.microsoft.com/office/drawing/2014/main" id="{F2FF84A9-2C86-664A-A7CE-58B4B1FF488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808189" y="5658121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33" name="Line 68">
              <a:extLst>
                <a:ext uri="{FF2B5EF4-FFF2-40B4-BE49-F238E27FC236}">
                  <a16:creationId xmlns:a16="http://schemas.microsoft.com/office/drawing/2014/main" id="{09938F5E-94DC-AE40-A02B-6383ADC148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25160" y="5658121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34" name="Line 69">
              <a:extLst>
                <a:ext uri="{FF2B5EF4-FFF2-40B4-BE49-F238E27FC236}">
                  <a16:creationId xmlns:a16="http://schemas.microsoft.com/office/drawing/2014/main" id="{0964286E-772D-E74C-85A8-978754DE73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42131" y="5658121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35" name="Line 70">
              <a:extLst>
                <a:ext uri="{FF2B5EF4-FFF2-40B4-BE49-F238E27FC236}">
                  <a16:creationId xmlns:a16="http://schemas.microsoft.com/office/drawing/2014/main" id="{04173A35-3439-0A47-BBD3-4099C76294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59103" y="5658121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36" name="Line 71">
              <a:extLst>
                <a:ext uri="{FF2B5EF4-FFF2-40B4-BE49-F238E27FC236}">
                  <a16:creationId xmlns:a16="http://schemas.microsoft.com/office/drawing/2014/main" id="{086A2251-0276-0C44-98D1-36BA0F8886E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25160" y="5658121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37" name="Line 72">
              <a:extLst>
                <a:ext uri="{FF2B5EF4-FFF2-40B4-BE49-F238E27FC236}">
                  <a16:creationId xmlns:a16="http://schemas.microsoft.com/office/drawing/2014/main" id="{47B7447A-51F4-7D42-9135-371D1CCEF2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442131" y="5658121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38" name="Line 73">
              <a:extLst>
                <a:ext uri="{FF2B5EF4-FFF2-40B4-BE49-F238E27FC236}">
                  <a16:creationId xmlns:a16="http://schemas.microsoft.com/office/drawing/2014/main" id="{E6FDBB85-EE05-F443-89E9-8CABC66EF82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59103" y="5658121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39" name="Line 74">
              <a:extLst>
                <a:ext uri="{FF2B5EF4-FFF2-40B4-BE49-F238E27FC236}">
                  <a16:creationId xmlns:a16="http://schemas.microsoft.com/office/drawing/2014/main" id="{B60EE1A0-3A15-D84F-9AE8-3D2AC8A614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076074" y="5658121"/>
              <a:ext cx="0" cy="12678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40" name="Text Box 76">
              <a:extLst>
                <a:ext uri="{FF2B5EF4-FFF2-40B4-BE49-F238E27FC236}">
                  <a16:creationId xmlns:a16="http://schemas.microsoft.com/office/drawing/2014/main" id="{6A806125-993D-394B-90D6-935DAC6CB1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45629" y="5769061"/>
              <a:ext cx="507154" cy="305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u="none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5</a:t>
              </a:r>
            </a:p>
          </p:txBody>
        </p:sp>
        <p:sp>
          <p:nvSpPr>
            <p:cNvPr id="41" name="Text Box 77">
              <a:extLst>
                <a:ext uri="{FF2B5EF4-FFF2-40B4-BE49-F238E27FC236}">
                  <a16:creationId xmlns:a16="http://schemas.microsoft.com/office/drawing/2014/main" id="{DBA03DF4-63A5-0C4E-9965-FFDF0CC05D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67092" y="5769061"/>
              <a:ext cx="507154" cy="305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u="none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10</a:t>
              </a:r>
            </a:p>
          </p:txBody>
        </p:sp>
        <p:sp>
          <p:nvSpPr>
            <p:cNvPr id="42" name="Text Box 78">
              <a:extLst>
                <a:ext uri="{FF2B5EF4-FFF2-40B4-BE49-F238E27FC236}">
                  <a16:creationId xmlns:a16="http://schemas.microsoft.com/office/drawing/2014/main" id="{5CB4BF4D-29CF-9549-8EB3-5EBECDC361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51949" y="5780947"/>
              <a:ext cx="507154" cy="305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u="none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15</a:t>
              </a:r>
            </a:p>
          </p:txBody>
        </p:sp>
        <p:sp>
          <p:nvSpPr>
            <p:cNvPr id="43" name="Line 53">
              <a:extLst>
                <a:ext uri="{FF2B5EF4-FFF2-40B4-BE49-F238E27FC236}">
                  <a16:creationId xmlns:a16="http://schemas.microsoft.com/office/drawing/2014/main" id="{1859EFC0-4436-9E46-8571-51047D9E8FA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679255" y="3901318"/>
              <a:ext cx="0" cy="1820196"/>
            </a:xfrm>
            <a:prstGeom prst="line">
              <a:avLst/>
            </a:prstGeom>
            <a:noFill/>
            <a:ln w="19050" cap="rnd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b="0" dirty="0">
                <a:latin typeface="Gill Sans" charset="0"/>
                <a:ea typeface="Gill Sans" charset="0"/>
                <a:cs typeface="Gill Sans" charset="0"/>
              </a:endParaRPr>
            </a:p>
          </p:txBody>
        </p:sp>
        <p:sp>
          <p:nvSpPr>
            <p:cNvPr id="45" name="Text Box 78">
              <a:extLst>
                <a:ext uri="{FF2B5EF4-FFF2-40B4-BE49-F238E27FC236}">
                  <a16:creationId xmlns:a16="http://schemas.microsoft.com/office/drawing/2014/main" id="{E78F4C19-C59F-9E4C-B7A9-6C0B8CE4671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1002045" y="4577072"/>
              <a:ext cx="93249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u="none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Priority</a:t>
              </a:r>
            </a:p>
          </p:txBody>
        </p:sp>
        <p:sp>
          <p:nvSpPr>
            <p:cNvPr id="53" name="Text Box 78">
              <a:extLst>
                <a:ext uri="{FF2B5EF4-FFF2-40B4-BE49-F238E27FC236}">
                  <a16:creationId xmlns:a16="http://schemas.microsoft.com/office/drawing/2014/main" id="{27A2ACE8-2B7A-C747-91BB-9EA749CCCE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56107" y="5736937"/>
              <a:ext cx="73427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u="none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Time</a:t>
              </a:r>
            </a:p>
          </p:txBody>
        </p:sp>
      </p:grpSp>
      <p:sp>
        <p:nvSpPr>
          <p:cNvPr id="54" name="Rectangular Callout 53">
            <a:extLst>
              <a:ext uri="{FF2B5EF4-FFF2-40B4-BE49-F238E27FC236}">
                <a16:creationId xmlns:a16="http://schemas.microsoft.com/office/drawing/2014/main" id="{2B3309A0-05AD-F846-846A-FAFA5492475E}"/>
              </a:ext>
            </a:extLst>
          </p:cNvPr>
          <p:cNvSpPr/>
          <p:nvPr/>
        </p:nvSpPr>
        <p:spPr>
          <a:xfrm>
            <a:off x="4978959" y="3430204"/>
            <a:ext cx="2371719" cy="360000"/>
          </a:xfrm>
          <a:prstGeom prst="wedgeRectCallout">
            <a:avLst>
              <a:gd name="adj1" fmla="val -52008"/>
              <a:gd name="adj2" fmla="val 269499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How long does this take?</a:t>
            </a:r>
          </a:p>
        </p:txBody>
      </p:sp>
      <p:sp>
        <p:nvSpPr>
          <p:cNvPr id="55" name="Rectangular Callout 54">
            <a:extLst>
              <a:ext uri="{FF2B5EF4-FFF2-40B4-BE49-F238E27FC236}">
                <a16:creationId xmlns:a16="http://schemas.microsoft.com/office/drawing/2014/main" id="{F9C44DEF-4973-F143-B6D3-A5F4301533A6}"/>
              </a:ext>
            </a:extLst>
          </p:cNvPr>
          <p:cNvSpPr/>
          <p:nvPr/>
        </p:nvSpPr>
        <p:spPr>
          <a:xfrm>
            <a:off x="2215925" y="3452622"/>
            <a:ext cx="1338773" cy="360000"/>
          </a:xfrm>
          <a:prstGeom prst="wedgeRectCallout">
            <a:avLst>
              <a:gd name="adj1" fmla="val 28985"/>
              <a:gd name="adj2" fmla="val 14529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Try R</a:t>
            </a:r>
            <a:r>
              <a:rPr lang="en-US" sz="1600" baseline="-25000" dirty="0">
                <a:solidFill>
                  <a:schemeClr val="bg2">
                    <a:lumMod val="25000"/>
                  </a:schemeClr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1</a:t>
            </a:r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, block</a:t>
            </a:r>
          </a:p>
        </p:txBody>
      </p:sp>
      <p:sp>
        <p:nvSpPr>
          <p:cNvPr id="56" name="Rectangular Callout 55">
            <a:extLst>
              <a:ext uri="{FF2B5EF4-FFF2-40B4-BE49-F238E27FC236}">
                <a16:creationId xmlns:a16="http://schemas.microsoft.com/office/drawing/2014/main" id="{A51E3D42-8B47-774D-9EF1-EAB46BDC75B4}"/>
              </a:ext>
            </a:extLst>
          </p:cNvPr>
          <p:cNvSpPr/>
          <p:nvPr/>
        </p:nvSpPr>
        <p:spPr>
          <a:xfrm>
            <a:off x="5631037" y="6056770"/>
            <a:ext cx="1114508" cy="360000"/>
          </a:xfrm>
          <a:prstGeom prst="wedgeRectCallout">
            <a:avLst>
              <a:gd name="adj1" fmla="val -19385"/>
              <a:gd name="adj2" fmla="val -252199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bg2">
                    <a:lumMod val="25000"/>
                  </a:schemeClr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Release R</a:t>
            </a:r>
            <a:r>
              <a:rPr lang="en-US" sz="1600" baseline="-25000" dirty="0">
                <a:solidFill>
                  <a:schemeClr val="bg2">
                    <a:lumMod val="25000"/>
                  </a:schemeClr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1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086E88B-FC12-8946-8C22-DE3180397557}"/>
              </a:ext>
            </a:extLst>
          </p:cNvPr>
          <p:cNvSpPr/>
          <p:nvPr/>
        </p:nvSpPr>
        <p:spPr>
          <a:xfrm>
            <a:off x="628650" y="6442162"/>
            <a:ext cx="7886700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7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[1] A.K. </a:t>
            </a:r>
            <a:r>
              <a:rPr lang="en-CA" sz="700" dirty="0" err="1">
                <a:latin typeface="Gill Sans Light" panose="020B0302020104020203" pitchFamily="34" charset="-79"/>
                <a:cs typeface="Gill Sans Light" panose="020B0302020104020203" pitchFamily="34" charset="-79"/>
              </a:rPr>
              <a:t>Mok</a:t>
            </a:r>
            <a:r>
              <a:rPr lang="en-CA" sz="7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, ‘‘Fundamental Design Problems of Distributed Systems for Hard Real Time Environments’’, PhD Thesis, Laboratory for Computer Science (MIT), MIT/LCS/TR-297. (1983). </a:t>
            </a:r>
            <a:endParaRPr lang="en-CA" sz="700" dirty="0">
              <a:effectLst/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246366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80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9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500"/>
                            </p:stCondLst>
                            <p:childTnLst>
                              <p:par>
                                <p:cTn id="6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500"/>
                            </p:stCondLst>
                            <p:childTnLst>
                              <p:par>
                                <p:cTn id="7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5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805" grpId="0" uiExpand="1" build="p"/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44" grpId="0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4" grpId="0" animBg="1"/>
      <p:bldP spid="55" grpId="0" animBg="1"/>
      <p:bldP spid="56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452BD25F-030B-9A4D-BC1B-3E989134A9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2725"/>
            <a:ext cx="7886700" cy="985838"/>
          </a:xfrm>
        </p:spPr>
        <p:txBody>
          <a:bodyPr wrap="square" anchor="ctr">
            <a:normAutofit/>
          </a:bodyPr>
          <a:lstStyle/>
          <a:p>
            <a:r>
              <a:rPr lang="en-CA"/>
              <a:t>Priority Inversion and MARS Pathfinder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592E78-9958-2C4E-A92D-DE3B1047B21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49" y="1615445"/>
            <a:ext cx="4966941" cy="5029828"/>
          </a:xfrm>
        </p:spPr>
        <p:txBody>
          <a:bodyPr wrap="square" anchor="t">
            <a:normAutofit/>
          </a:bodyPr>
          <a:lstStyle/>
          <a:p>
            <a:r>
              <a:rPr lang="en-CA" sz="1600" dirty="0"/>
              <a:t>Landed on Martian surface on July 4th, 1997</a:t>
            </a:r>
            <a:endParaRPr lang="en-CA" sz="1000" dirty="0"/>
          </a:p>
          <a:p>
            <a:r>
              <a:rPr lang="en-CA" sz="1600" dirty="0"/>
              <a:t>After it started gathering data, it began experiencing total system resets, each resulting in losses of data</a:t>
            </a:r>
          </a:p>
          <a:p>
            <a:pPr lvl="1"/>
            <a:r>
              <a:rPr lang="en-CA" sz="1400" dirty="0"/>
              <a:t>Pathfinder had single shared information bus used by </a:t>
            </a:r>
            <a:br>
              <a:rPr lang="en-CA" sz="1400" dirty="0"/>
            </a:br>
            <a:r>
              <a:rPr lang="en-CA" sz="1400" dirty="0"/>
              <a:t>low and high-priority tasks</a:t>
            </a:r>
          </a:p>
          <a:p>
            <a:pPr lvl="1"/>
            <a:r>
              <a:rPr lang="en-CA" sz="1400" dirty="0"/>
              <a:t>Low-priority task ran infrequently and used bus to </a:t>
            </a:r>
            <a:br>
              <a:rPr lang="en-CA" sz="1400" dirty="0"/>
            </a:br>
            <a:r>
              <a:rPr lang="en-CA" sz="1400" dirty="0"/>
              <a:t>publish its data, while holding mutex on bus</a:t>
            </a:r>
          </a:p>
          <a:p>
            <a:pPr lvl="1"/>
            <a:r>
              <a:rPr lang="en-CA" sz="1400" dirty="0"/>
              <a:t>Every system reset started by low-priority task </a:t>
            </a:r>
            <a:br>
              <a:rPr lang="en-CA" sz="1400" dirty="0"/>
            </a:br>
            <a:r>
              <a:rPr lang="en-CA" sz="1400" dirty="0"/>
              <a:t>getting interrupted while holding mutex </a:t>
            </a:r>
          </a:p>
          <a:p>
            <a:pPr lvl="1"/>
            <a:r>
              <a:rPr lang="en-CA" sz="1400" dirty="0"/>
              <a:t>Interrupt handler scheduled medium-priority task</a:t>
            </a:r>
          </a:p>
          <a:p>
            <a:pPr lvl="1"/>
            <a:r>
              <a:rPr lang="en-CA" sz="1400" dirty="0"/>
              <a:t>High-priority task was blocked waiting for low-priority task </a:t>
            </a:r>
            <a:br>
              <a:rPr lang="en-CA" sz="1400" dirty="0"/>
            </a:br>
            <a:r>
              <a:rPr lang="en-CA" sz="1400" dirty="0"/>
              <a:t>which was waiting for medium-priority task to finish</a:t>
            </a:r>
          </a:p>
          <a:p>
            <a:pPr lvl="1"/>
            <a:r>
              <a:rPr lang="en-CA" sz="1400" dirty="0"/>
              <a:t>After some time, watchdog timer went off, </a:t>
            </a:r>
            <a:br>
              <a:rPr lang="en-CA" sz="1400" dirty="0"/>
            </a:br>
            <a:r>
              <a:rPr lang="en-CA" sz="1400" dirty="0"/>
              <a:t>noticing that bus has not been executed for some time, </a:t>
            </a:r>
            <a:br>
              <a:rPr lang="en-CA" sz="1400" dirty="0"/>
            </a:br>
            <a:r>
              <a:rPr lang="en-CA" sz="1400" dirty="0"/>
              <a:t>it concluded that something had gone bad, </a:t>
            </a:r>
            <a:br>
              <a:rPr lang="en-CA" sz="1400" dirty="0"/>
            </a:br>
            <a:r>
              <a:rPr lang="en-CA" sz="1400" dirty="0"/>
              <a:t>and initiated total system reset</a:t>
            </a:r>
            <a:endParaRPr lang="en-US" sz="1400" dirty="0"/>
          </a:p>
        </p:txBody>
      </p:sp>
      <p:pic>
        <p:nvPicPr>
          <p:cNvPr id="8" name="Picture 2" descr="The Digital Teacher: Schools : Wall-E ! A green resource for Earth Day !">
            <a:extLst>
              <a:ext uri="{FF2B5EF4-FFF2-40B4-BE49-F238E27FC236}">
                <a16:creationId xmlns:a16="http://schemas.microsoft.com/office/drawing/2014/main" id="{2E178761-6293-F447-B521-C80E79FDA5D5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auto">
          <a:xfrm>
            <a:off x="5861024" y="2006898"/>
            <a:ext cx="2654326" cy="2123461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4434482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DE1336AD-3AFF-B24F-B7FE-73C37007DC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76400"/>
            <a:ext cx="7886700" cy="4968875"/>
          </a:xfrm>
        </p:spPr>
        <p:txBody>
          <a:bodyPr/>
          <a:lstStyle/>
          <a:p>
            <a:r>
              <a:rPr lang="en-US" altLang="en-US" sz="2000" dirty="0"/>
              <a:t>PIP increases priority of task to </a:t>
            </a:r>
            <a:r>
              <a:rPr lang="en-US" altLang="en-US" sz="2000" dirty="0">
                <a:solidFill>
                  <a:srgbClr val="FF0000"/>
                </a:solidFill>
              </a:rPr>
              <a:t>maximum priority</a:t>
            </a:r>
            <a:r>
              <a:rPr lang="en-US" altLang="en-US" sz="2000" dirty="0"/>
              <a:t> of any task waiting for any resource locked by the task</a:t>
            </a:r>
          </a:p>
          <a:p>
            <a:pPr lvl="1"/>
            <a:r>
              <a:rPr lang="en-US" altLang="en-US" sz="1800" dirty="0"/>
              <a:t>If lower-priority task L has locked any resources required by higher-priority task H, then priority of L is increased to priority of H</a:t>
            </a:r>
          </a:p>
          <a:p>
            <a:pPr lvl="1"/>
            <a:r>
              <a:rPr lang="en-US" altLang="en-US" sz="1800" dirty="0"/>
              <a:t>Once task unlocks resources, it runs with its original priority</a:t>
            </a:r>
          </a:p>
          <a:p>
            <a:r>
              <a:rPr lang="en-US" altLang="en-US" sz="2000" dirty="0"/>
              <a:t>P</a:t>
            </a:r>
            <a:r>
              <a:rPr lang="en-US" altLang="en-US" sz="2000"/>
              <a:t>IP </a:t>
            </a:r>
            <a:r>
              <a:rPr lang="en-US" altLang="en-US" sz="2000" dirty="0"/>
              <a:t>does not prevent </a:t>
            </a:r>
            <a:r>
              <a:rPr lang="en-US" altLang="en-US" sz="2000" i="1" dirty="0">
                <a:solidFill>
                  <a:srgbClr val="FF0000"/>
                </a:solidFill>
              </a:rPr>
              <a:t>deadlock</a:t>
            </a:r>
          </a:p>
        </p:txBody>
      </p:sp>
      <p:sp>
        <p:nvSpPr>
          <p:cNvPr id="57" name="Rectangle 8">
            <a:extLst>
              <a:ext uri="{FF2B5EF4-FFF2-40B4-BE49-F238E27FC236}">
                <a16:creationId xmlns:a16="http://schemas.microsoft.com/office/drawing/2014/main" id="{86FA9173-2732-E54F-9BC4-B0E6D08898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5096894"/>
            <a:ext cx="528704" cy="2535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1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Lock R</a:t>
            </a:r>
            <a:r>
              <a:rPr lang="en-US" sz="1100" baseline="-250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1</a:t>
            </a:r>
          </a:p>
        </p:txBody>
      </p:sp>
      <p:sp>
        <p:nvSpPr>
          <p:cNvPr id="15362" name="Title 1">
            <a:extLst>
              <a:ext uri="{FF2B5EF4-FFF2-40B4-BE49-F238E27FC236}">
                <a16:creationId xmlns:a16="http://schemas.microsoft.com/office/drawing/2014/main" id="{353E2055-7F6A-5B4B-A8BA-C96352CA9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 altLang="en-US" dirty="0"/>
              <a:t>Priority-inheritance Protocol (PIP)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51E5E6C-A998-164F-A3C5-5B2FCE220A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5513" y="4533946"/>
            <a:ext cx="316971" cy="25357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Rectangle 88">
            <a:extLst>
              <a:ext uri="{FF2B5EF4-FFF2-40B4-BE49-F238E27FC236}">
                <a16:creationId xmlns:a16="http://schemas.microsoft.com/office/drawing/2014/main" id="{C229D1C6-1EA8-664C-85B7-73FB326428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30776" y="4532948"/>
            <a:ext cx="633702" cy="254575"/>
          </a:xfrm>
          <a:prstGeom prst="rect">
            <a:avLst/>
          </a:prstGeom>
          <a:ln w="9525">
            <a:solidFill>
              <a:schemeClr val="tx1"/>
            </a:solidFill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1100" dirty="0"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Lock R</a:t>
            </a:r>
            <a:r>
              <a:rPr lang="en-US" sz="1100" baseline="-25000" dirty="0"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2</a:t>
            </a:r>
          </a:p>
        </p:txBody>
      </p:sp>
      <p:sp>
        <p:nvSpPr>
          <p:cNvPr id="12" name="Rectangle 8">
            <a:extLst>
              <a:ext uri="{FF2B5EF4-FFF2-40B4-BE49-F238E27FC236}">
                <a16:creationId xmlns:a16="http://schemas.microsoft.com/office/drawing/2014/main" id="{6B341EDF-E8D4-7143-8FDF-E1B00DC23C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6806" y="5096894"/>
            <a:ext cx="528704" cy="2535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1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Lock R</a:t>
            </a:r>
            <a:r>
              <a:rPr lang="en-US" sz="1100" baseline="-250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1</a:t>
            </a:r>
          </a:p>
        </p:txBody>
      </p:sp>
      <p:sp>
        <p:nvSpPr>
          <p:cNvPr id="13" name="Line 85">
            <a:extLst>
              <a:ext uri="{FF2B5EF4-FFF2-40B4-BE49-F238E27FC236}">
                <a16:creationId xmlns:a16="http://schemas.microsoft.com/office/drawing/2014/main" id="{46C912F3-C291-FF4A-9214-68F2E3888D6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20817" y="4480581"/>
            <a:ext cx="0" cy="864000"/>
          </a:xfrm>
          <a:prstGeom prst="line">
            <a:avLst/>
          </a:prstGeom>
          <a:noFill/>
          <a:ln w="25400" cap="rnd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D9540CF-6FB1-C64E-A14F-33308616C22C}"/>
              </a:ext>
            </a:extLst>
          </p:cNvPr>
          <p:cNvGrpSpPr/>
          <p:nvPr/>
        </p:nvGrpSpPr>
        <p:grpSpPr>
          <a:xfrm>
            <a:off x="2081555" y="4525870"/>
            <a:ext cx="4349573" cy="903829"/>
            <a:chOff x="2081555" y="4525870"/>
            <a:chExt cx="4349573" cy="903829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D1E8ED71-CB2C-EA43-BFC2-D2FAE46908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69842" y="5096894"/>
              <a:ext cx="316971" cy="253577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1" name="Line 9">
              <a:extLst>
                <a:ext uri="{FF2B5EF4-FFF2-40B4-BE49-F238E27FC236}">
                  <a16:creationId xmlns:a16="http://schemas.microsoft.com/office/drawing/2014/main" id="{E9C4179D-149E-044E-9AC3-3420647F70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52993" y="4787523"/>
              <a:ext cx="39781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Line 53">
              <a:extLst>
                <a:ext uri="{FF2B5EF4-FFF2-40B4-BE49-F238E27FC236}">
                  <a16:creationId xmlns:a16="http://schemas.microsoft.com/office/drawing/2014/main" id="{CE2FD3A6-25D9-D946-BAC8-A5CE00387C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52993" y="5350471"/>
              <a:ext cx="397813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none" w="med" len="med"/>
            </a:ln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</a:extLst>
          </p:spPr>
          <p:txBody>
            <a:bodyPr/>
            <a:lstStyle/>
            <a:p>
              <a:pPr algn="ctr"/>
              <a:endParaRPr lang="en-US" sz="1100"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endParaRPr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1FCFD54E-A8B9-C84D-9046-5A0BD050D6E9}"/>
                </a:ext>
              </a:extLst>
            </p:cNvPr>
            <p:cNvSpPr txBox="1"/>
            <p:nvPr/>
          </p:nvSpPr>
          <p:spPr>
            <a:xfrm>
              <a:off x="2081555" y="4525870"/>
              <a:ext cx="33214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H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02BEAEB5-3192-AF41-A19C-9F0FDF2E550D}"/>
                </a:ext>
              </a:extLst>
            </p:cNvPr>
            <p:cNvSpPr txBox="1"/>
            <p:nvPr/>
          </p:nvSpPr>
          <p:spPr>
            <a:xfrm>
              <a:off x="2107203" y="5091145"/>
              <a:ext cx="28084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L</a:t>
              </a:r>
            </a:p>
          </p:txBody>
        </p:sp>
      </p:grpSp>
      <p:sp>
        <p:nvSpPr>
          <p:cNvPr id="56" name="Line 85">
            <a:extLst>
              <a:ext uri="{FF2B5EF4-FFF2-40B4-BE49-F238E27FC236}">
                <a16:creationId xmlns:a16="http://schemas.microsoft.com/office/drawing/2014/main" id="{95941841-107D-524D-9740-E9866FBDE46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72091" y="4480581"/>
            <a:ext cx="0" cy="864000"/>
          </a:xfrm>
          <a:prstGeom prst="line">
            <a:avLst/>
          </a:prstGeom>
          <a:noFill/>
          <a:ln w="25400" cap="rnd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4" name="Rectangular Callout 53">
            <a:extLst>
              <a:ext uri="{FF2B5EF4-FFF2-40B4-BE49-F238E27FC236}">
                <a16:creationId xmlns:a16="http://schemas.microsoft.com/office/drawing/2014/main" id="{D265F1E8-1F83-4147-AC71-ABF14A64D6D8}"/>
              </a:ext>
            </a:extLst>
          </p:cNvPr>
          <p:cNvSpPr/>
          <p:nvPr/>
        </p:nvSpPr>
        <p:spPr>
          <a:xfrm>
            <a:off x="4504110" y="4111910"/>
            <a:ext cx="959872" cy="252000"/>
          </a:xfrm>
          <a:prstGeom prst="wedgeRectCallout">
            <a:avLst>
              <a:gd name="adj1" fmla="val -41739"/>
              <a:gd name="adj2" fmla="val 101416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bg2">
                    <a:lumMod val="25000"/>
                  </a:schemeClr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Try R</a:t>
            </a:r>
            <a:r>
              <a:rPr lang="en-US" sz="1100" baseline="-25000" dirty="0">
                <a:solidFill>
                  <a:schemeClr val="bg2">
                    <a:lumMod val="25000"/>
                  </a:schemeClr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1</a:t>
            </a:r>
            <a:r>
              <a:rPr lang="en-US" sz="1100" dirty="0">
                <a:solidFill>
                  <a:schemeClr val="bg2">
                    <a:lumMod val="25000"/>
                  </a:schemeClr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, block</a:t>
            </a:r>
          </a:p>
        </p:txBody>
      </p:sp>
      <p:sp>
        <p:nvSpPr>
          <p:cNvPr id="62" name="Rectangular Callout 61">
            <a:extLst>
              <a:ext uri="{FF2B5EF4-FFF2-40B4-BE49-F238E27FC236}">
                <a16:creationId xmlns:a16="http://schemas.microsoft.com/office/drawing/2014/main" id="{12ADFA71-7483-B445-8BD2-BA7831F33133}"/>
              </a:ext>
            </a:extLst>
          </p:cNvPr>
          <p:cNvSpPr/>
          <p:nvPr/>
        </p:nvSpPr>
        <p:spPr>
          <a:xfrm>
            <a:off x="4982591" y="5701990"/>
            <a:ext cx="1189084" cy="252000"/>
          </a:xfrm>
          <a:prstGeom prst="wedgeRectCallout">
            <a:avLst>
              <a:gd name="adj1" fmla="val -39551"/>
              <a:gd name="adj2" fmla="val -171740"/>
            </a:avLst>
          </a:prstGeom>
          <a:solidFill>
            <a:schemeClr val="accent5">
              <a:lumMod val="60000"/>
              <a:lumOff val="4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bg2">
                    <a:lumMod val="25000"/>
                  </a:schemeClr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Try R</a:t>
            </a:r>
            <a:r>
              <a:rPr lang="en-US" sz="1100" baseline="-25000" dirty="0">
                <a:solidFill>
                  <a:schemeClr val="bg2">
                    <a:lumMod val="25000"/>
                  </a:schemeClr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2</a:t>
            </a:r>
            <a:r>
              <a:rPr lang="en-US" sz="1100" dirty="0">
                <a:solidFill>
                  <a:schemeClr val="bg2">
                    <a:lumMod val="25000"/>
                  </a:schemeClr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, deadlock</a:t>
            </a:r>
          </a:p>
        </p:txBody>
      </p:sp>
    </p:spTree>
    <p:extLst>
      <p:ext uri="{BB962C8B-B14F-4D97-AF65-F5344CB8AC3E}">
        <p14:creationId xmlns:p14="http://schemas.microsoft.com/office/powerpoint/2010/main" val="2140314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uiExpand="1" build="p"/>
      <p:bldP spid="57" grpId="0" animBg="1"/>
      <p:bldP spid="8" grpId="0" animBg="1"/>
      <p:bldP spid="10" grpId="0" animBg="1"/>
      <p:bldP spid="12" grpId="0" animBg="1"/>
      <p:bldP spid="13" grpId="0" animBg="1"/>
      <p:bldP spid="56" grpId="0" animBg="1"/>
      <p:bldP spid="54" grpId="0" animBg="1"/>
      <p:bldP spid="6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3" name="Content Placeholder 2">
            <a:extLst>
              <a:ext uri="{FF2B5EF4-FFF2-40B4-BE49-F238E27FC236}">
                <a16:creationId xmlns:a16="http://schemas.microsoft.com/office/drawing/2014/main" id="{DE1336AD-3AFF-B24F-B7FE-73C37007DC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76400"/>
            <a:ext cx="7886700" cy="4968875"/>
          </a:xfrm>
        </p:spPr>
        <p:txBody>
          <a:bodyPr/>
          <a:lstStyle/>
          <a:p>
            <a:r>
              <a:rPr lang="en-US" altLang="en-US" sz="2000" dirty="0"/>
              <a:t>PIP does not prevent </a:t>
            </a:r>
            <a:r>
              <a:rPr lang="en-US" altLang="en-US" sz="2000" i="1" dirty="0">
                <a:solidFill>
                  <a:srgbClr val="FF0000"/>
                </a:solidFill>
              </a:rPr>
              <a:t>chained blocking</a:t>
            </a:r>
          </a:p>
          <a:p>
            <a:pPr lvl="3"/>
            <a:endParaRPr lang="en-US" altLang="en-US" sz="1050" dirty="0"/>
          </a:p>
          <a:p>
            <a:pPr lvl="3"/>
            <a:endParaRPr lang="en-US" altLang="en-US" sz="1050" dirty="0"/>
          </a:p>
          <a:p>
            <a:pPr lvl="3"/>
            <a:endParaRPr lang="en-US" altLang="en-US" sz="1050" dirty="0"/>
          </a:p>
          <a:p>
            <a:pPr lvl="3"/>
            <a:endParaRPr lang="en-US" altLang="en-US" sz="1050" dirty="0"/>
          </a:p>
          <a:p>
            <a:pPr lvl="3"/>
            <a:endParaRPr lang="en-US" altLang="en-US" sz="1050" dirty="0"/>
          </a:p>
          <a:p>
            <a:pPr lvl="3"/>
            <a:endParaRPr lang="en-US" altLang="en-US" sz="1050" dirty="0"/>
          </a:p>
          <a:p>
            <a:pPr lvl="3"/>
            <a:endParaRPr lang="en-US" altLang="en-US" sz="1050" dirty="0"/>
          </a:p>
          <a:p>
            <a:pPr lvl="3"/>
            <a:endParaRPr lang="en-US" altLang="en-US" sz="1050" dirty="0"/>
          </a:p>
          <a:p>
            <a:pPr lvl="3"/>
            <a:endParaRPr lang="en-US" altLang="en-US" sz="1050" dirty="0"/>
          </a:p>
          <a:p>
            <a:pPr lvl="3"/>
            <a:endParaRPr lang="en-US" altLang="en-US" sz="1050" dirty="0"/>
          </a:p>
          <a:p>
            <a:pPr lvl="3"/>
            <a:endParaRPr lang="en-US" altLang="en-US" sz="1050" dirty="0"/>
          </a:p>
          <a:p>
            <a:pPr lvl="3"/>
            <a:endParaRPr lang="en-US" altLang="en-US" sz="1050" dirty="0"/>
          </a:p>
          <a:p>
            <a:pPr lvl="3"/>
            <a:endParaRPr lang="en-US" altLang="en-US" sz="1050" dirty="0"/>
          </a:p>
          <a:p>
            <a:pPr lvl="3"/>
            <a:endParaRPr lang="en-US" altLang="en-US" sz="1050" dirty="0"/>
          </a:p>
          <a:p>
            <a:pPr lvl="3"/>
            <a:endParaRPr lang="en-US" altLang="en-US" sz="1050" dirty="0"/>
          </a:p>
          <a:p>
            <a:pPr lvl="1"/>
            <a:r>
              <a:rPr lang="en-US" altLang="en-US" sz="1800" dirty="0"/>
              <a:t>H must wait for L and M</a:t>
            </a:r>
            <a:endParaRPr lang="en-US" altLang="en-US" sz="1800" baseline="-25000" dirty="0"/>
          </a:p>
        </p:txBody>
      </p:sp>
      <p:sp>
        <p:nvSpPr>
          <p:cNvPr id="15362" name="Title 1">
            <a:extLst>
              <a:ext uri="{FF2B5EF4-FFF2-40B4-BE49-F238E27FC236}">
                <a16:creationId xmlns:a16="http://schemas.microsoft.com/office/drawing/2014/main" id="{353E2055-7F6A-5B4B-A8BA-C96352CA92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 altLang="en-US" dirty="0"/>
              <a:t>PIP and Chained Blocking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FC1573EA-0E13-9347-85BB-56921CD2DC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3919" y="3598757"/>
            <a:ext cx="316971" cy="25357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2" name="Rectangle 88">
            <a:extLst>
              <a:ext uri="{FF2B5EF4-FFF2-40B4-BE49-F238E27FC236}">
                <a16:creationId xmlns:a16="http://schemas.microsoft.com/office/drawing/2014/main" id="{1C2A5AC2-207D-8A42-90AB-71ECDE579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69182" y="3597759"/>
            <a:ext cx="440856" cy="2545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tx1"/>
            </a:solidFill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1100" dirty="0"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Lock R</a:t>
            </a:r>
            <a:r>
              <a:rPr lang="en-US" sz="1100" baseline="-25000" dirty="0"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2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3B54727B-C139-144D-AAE5-9787EFD96F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5653" y="3204680"/>
            <a:ext cx="316971" cy="25357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4" name="Rectangle 8">
            <a:extLst>
              <a:ext uri="{FF2B5EF4-FFF2-40B4-BE49-F238E27FC236}">
                <a16:creationId xmlns:a16="http://schemas.microsoft.com/office/drawing/2014/main" id="{2ED629F7-9A2A-FF4E-8DED-FD69D185A3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14589" y="3996530"/>
            <a:ext cx="716999" cy="2535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1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Lock R</a:t>
            </a:r>
            <a:r>
              <a:rPr lang="en-US" sz="1100" baseline="-250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1</a:t>
            </a:r>
          </a:p>
        </p:txBody>
      </p:sp>
      <p:sp>
        <p:nvSpPr>
          <p:cNvPr id="125" name="Rectangle 8">
            <a:extLst>
              <a:ext uri="{FF2B5EF4-FFF2-40B4-BE49-F238E27FC236}">
                <a16:creationId xmlns:a16="http://schemas.microsoft.com/office/drawing/2014/main" id="{AEBC60AE-58C6-654C-B5B1-81D81916D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5212" y="3996530"/>
            <a:ext cx="528704" cy="2535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1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Lock R</a:t>
            </a:r>
            <a:r>
              <a:rPr lang="en-US" sz="1100" baseline="-250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1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6A496253-9675-D243-B599-0F85B55933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8248" y="3996530"/>
            <a:ext cx="316971" cy="25357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7" name="Line 85">
            <a:extLst>
              <a:ext uri="{FF2B5EF4-FFF2-40B4-BE49-F238E27FC236}">
                <a16:creationId xmlns:a16="http://schemas.microsoft.com/office/drawing/2014/main" id="{0D035D48-EBED-5C4A-A5A4-FB034D4B456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54696" y="3547999"/>
            <a:ext cx="0" cy="684000"/>
          </a:xfrm>
          <a:prstGeom prst="line">
            <a:avLst/>
          </a:prstGeom>
          <a:noFill/>
          <a:ln w="25400" cap="rnd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8" name="Line 85">
            <a:extLst>
              <a:ext uri="{FF2B5EF4-FFF2-40B4-BE49-F238E27FC236}">
                <a16:creationId xmlns:a16="http://schemas.microsoft.com/office/drawing/2014/main" id="{7441E08C-F689-3047-8821-3E00800B8638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612313" y="3547999"/>
            <a:ext cx="0" cy="684000"/>
          </a:xfrm>
          <a:prstGeom prst="line">
            <a:avLst/>
          </a:prstGeom>
          <a:noFill/>
          <a:ln w="25400" cap="rnd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29" name="Rectangular Callout 128">
            <a:extLst>
              <a:ext uri="{FF2B5EF4-FFF2-40B4-BE49-F238E27FC236}">
                <a16:creationId xmlns:a16="http://schemas.microsoft.com/office/drawing/2014/main" id="{22CD45A0-038C-4C4B-8FB0-27F953413A8F}"/>
              </a:ext>
            </a:extLst>
          </p:cNvPr>
          <p:cNvSpPr/>
          <p:nvPr/>
        </p:nvSpPr>
        <p:spPr>
          <a:xfrm>
            <a:off x="2974919" y="4647879"/>
            <a:ext cx="1438791" cy="252000"/>
          </a:xfrm>
          <a:prstGeom prst="wedgeRectCallout">
            <a:avLst>
              <a:gd name="adj1" fmla="val -5918"/>
              <a:gd name="adj2" fmla="val -200323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bg2">
                    <a:lumMod val="25000"/>
                  </a:schemeClr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L inherits M’s priority</a:t>
            </a:r>
          </a:p>
        </p:txBody>
      </p:sp>
      <p:sp>
        <p:nvSpPr>
          <p:cNvPr id="131" name="Line 85">
            <a:extLst>
              <a:ext uri="{FF2B5EF4-FFF2-40B4-BE49-F238E27FC236}">
                <a16:creationId xmlns:a16="http://schemas.microsoft.com/office/drawing/2014/main" id="{8A1C3A1D-9F35-4F44-8C3D-ABC4CF452E1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32603" y="3204680"/>
            <a:ext cx="0" cy="1027319"/>
          </a:xfrm>
          <a:prstGeom prst="line">
            <a:avLst/>
          </a:prstGeom>
          <a:noFill/>
          <a:ln w="25400" cap="rnd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" name="Rectangular Callout 131">
            <a:extLst>
              <a:ext uri="{FF2B5EF4-FFF2-40B4-BE49-F238E27FC236}">
                <a16:creationId xmlns:a16="http://schemas.microsoft.com/office/drawing/2014/main" id="{C27F1649-F461-1D4E-A48E-91D3E8068EDB}"/>
              </a:ext>
            </a:extLst>
          </p:cNvPr>
          <p:cNvSpPr/>
          <p:nvPr/>
        </p:nvSpPr>
        <p:spPr>
          <a:xfrm>
            <a:off x="4983066" y="4647879"/>
            <a:ext cx="893376" cy="252000"/>
          </a:xfrm>
          <a:prstGeom prst="wedgeRectCallout">
            <a:avLst>
              <a:gd name="adj1" fmla="val -26644"/>
              <a:gd name="adj2" fmla="val -192199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bg2">
                    <a:lumMod val="25000"/>
                  </a:schemeClr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Release R</a:t>
            </a:r>
            <a:r>
              <a:rPr lang="en-US" sz="1100" baseline="-25000" dirty="0">
                <a:solidFill>
                  <a:schemeClr val="bg2">
                    <a:lumMod val="25000"/>
                  </a:schemeClr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1</a:t>
            </a:r>
          </a:p>
        </p:txBody>
      </p:sp>
      <p:sp>
        <p:nvSpPr>
          <p:cNvPr id="133" name="Rectangle 8">
            <a:extLst>
              <a:ext uri="{FF2B5EF4-FFF2-40B4-BE49-F238E27FC236}">
                <a16:creationId xmlns:a16="http://schemas.microsoft.com/office/drawing/2014/main" id="{F0464550-BC94-EB4A-82C7-72FD2E9AF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3910" y="3996530"/>
            <a:ext cx="528704" cy="2535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1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Lock R</a:t>
            </a:r>
            <a:r>
              <a:rPr lang="en-US" sz="1100" baseline="-250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1</a:t>
            </a:r>
          </a:p>
        </p:txBody>
      </p:sp>
      <p:sp>
        <p:nvSpPr>
          <p:cNvPr id="134" name="Line 85">
            <a:extLst>
              <a:ext uri="{FF2B5EF4-FFF2-40B4-BE49-F238E27FC236}">
                <a16:creationId xmlns:a16="http://schemas.microsoft.com/office/drawing/2014/main" id="{0CF70D3C-20E4-DC40-B506-4E3AF66A4DE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649474" y="3204680"/>
            <a:ext cx="0" cy="1027319"/>
          </a:xfrm>
          <a:prstGeom prst="line">
            <a:avLst/>
          </a:prstGeom>
          <a:noFill/>
          <a:ln w="25400" cap="rnd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5" name="Rectangle 88">
            <a:extLst>
              <a:ext uri="{FF2B5EF4-FFF2-40B4-BE49-F238E27FC236}">
                <a16:creationId xmlns:a16="http://schemas.microsoft.com/office/drawing/2014/main" id="{74D2DA83-0D3F-7448-ADD4-4B79B0026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182613" y="3597759"/>
            <a:ext cx="931729" cy="25457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1100" dirty="0"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Lock R</a:t>
            </a:r>
            <a:r>
              <a:rPr lang="en-US" sz="1100" baseline="-25000" dirty="0"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1</a:t>
            </a:r>
            <a:r>
              <a:rPr lang="en-US" sz="1100" dirty="0"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 and R</a:t>
            </a:r>
            <a:r>
              <a:rPr lang="en-US" sz="1100" baseline="-25000" dirty="0"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2</a:t>
            </a:r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D5D27090-095E-4A4B-88B2-A22835E8E4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4931" y="3204680"/>
            <a:ext cx="551824" cy="25357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tx1"/>
            </a:solidFill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1100" dirty="0">
                <a:solidFill>
                  <a:schemeClr val="dk1"/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Lock R</a:t>
            </a:r>
            <a:r>
              <a:rPr lang="en-US" sz="1100" baseline="-25000" dirty="0">
                <a:solidFill>
                  <a:schemeClr val="dk1"/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2</a:t>
            </a:r>
          </a:p>
        </p:txBody>
      </p:sp>
      <p:sp>
        <p:nvSpPr>
          <p:cNvPr id="137" name="Line 85">
            <a:extLst>
              <a:ext uri="{FF2B5EF4-FFF2-40B4-BE49-F238E27FC236}">
                <a16:creationId xmlns:a16="http://schemas.microsoft.com/office/drawing/2014/main" id="{F9DF8B1D-AEF0-2446-AD02-61B1F4A55FE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182614" y="3547999"/>
            <a:ext cx="0" cy="684000"/>
          </a:xfrm>
          <a:prstGeom prst="line">
            <a:avLst/>
          </a:prstGeom>
          <a:noFill/>
          <a:ln w="25400" cap="rnd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8" name="Line 85">
            <a:extLst>
              <a:ext uri="{FF2B5EF4-FFF2-40B4-BE49-F238E27FC236}">
                <a16:creationId xmlns:a16="http://schemas.microsoft.com/office/drawing/2014/main" id="{5B596759-1396-ED47-ADE6-0CC2D4A031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114342" y="3204680"/>
            <a:ext cx="0" cy="647654"/>
          </a:xfrm>
          <a:prstGeom prst="line">
            <a:avLst/>
          </a:prstGeom>
          <a:noFill/>
          <a:ln w="25400" cap="rnd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5368" name="Group 15367">
            <a:extLst>
              <a:ext uri="{FF2B5EF4-FFF2-40B4-BE49-F238E27FC236}">
                <a16:creationId xmlns:a16="http://schemas.microsoft.com/office/drawing/2014/main" id="{5F1AB086-AF40-9A48-BF3E-1819C0DDD8DE}"/>
              </a:ext>
            </a:extLst>
          </p:cNvPr>
          <p:cNvGrpSpPr/>
          <p:nvPr/>
        </p:nvGrpSpPr>
        <p:grpSpPr>
          <a:xfrm>
            <a:off x="1313549" y="3196604"/>
            <a:ext cx="5523354" cy="1132731"/>
            <a:chOff x="2991993" y="4863176"/>
            <a:chExt cx="5523354" cy="1132731"/>
          </a:xfrm>
        </p:grpSpPr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D366BF6A-E1CD-7F41-8DD9-87BDC9453FE0}"/>
                </a:ext>
              </a:extLst>
            </p:cNvPr>
            <p:cNvSpPr txBox="1"/>
            <p:nvPr/>
          </p:nvSpPr>
          <p:spPr>
            <a:xfrm>
              <a:off x="2998405" y="4863176"/>
              <a:ext cx="33214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H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B61AA693-3578-ED49-8A72-41A185DBBC92}"/>
                </a:ext>
              </a:extLst>
            </p:cNvPr>
            <p:cNvSpPr txBox="1"/>
            <p:nvPr/>
          </p:nvSpPr>
          <p:spPr>
            <a:xfrm>
              <a:off x="2991993" y="5259580"/>
              <a:ext cx="34496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M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C9680711-C0DC-494B-B73D-C1482B2C5669}"/>
                </a:ext>
              </a:extLst>
            </p:cNvPr>
            <p:cNvSpPr txBox="1"/>
            <p:nvPr/>
          </p:nvSpPr>
          <p:spPr>
            <a:xfrm>
              <a:off x="3024053" y="5657353"/>
              <a:ext cx="28084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L</a:t>
              </a:r>
            </a:p>
          </p:txBody>
        </p:sp>
        <p:grpSp>
          <p:nvGrpSpPr>
            <p:cNvPr id="15367" name="Group 15366">
              <a:extLst>
                <a:ext uri="{FF2B5EF4-FFF2-40B4-BE49-F238E27FC236}">
                  <a16:creationId xmlns:a16="http://schemas.microsoft.com/office/drawing/2014/main" id="{3AF40D13-B007-0E4A-BA01-8BEA1B5DDDE5}"/>
                </a:ext>
              </a:extLst>
            </p:cNvPr>
            <p:cNvGrpSpPr/>
            <p:nvPr/>
          </p:nvGrpSpPr>
          <p:grpSpPr>
            <a:xfrm>
              <a:off x="3369844" y="5124829"/>
              <a:ext cx="5145503" cy="791850"/>
              <a:chOff x="3369844" y="5172954"/>
              <a:chExt cx="5352976" cy="791850"/>
            </a:xfrm>
          </p:grpSpPr>
          <p:sp>
            <p:nvSpPr>
              <p:cNvPr id="143" name="Line 9">
                <a:extLst>
                  <a:ext uri="{FF2B5EF4-FFF2-40B4-BE49-F238E27FC236}">
                    <a16:creationId xmlns:a16="http://schemas.microsoft.com/office/drawing/2014/main" id="{D5B8B8CD-3EEA-1548-B0C4-A2378F329E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9844" y="5172954"/>
                <a:ext cx="535297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" name="Line 53">
                <a:extLst>
                  <a:ext uri="{FF2B5EF4-FFF2-40B4-BE49-F238E27FC236}">
                    <a16:creationId xmlns:a16="http://schemas.microsoft.com/office/drawing/2014/main" id="{B6F06EBF-C147-0048-8790-4408FD33A7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9844" y="5567031"/>
                <a:ext cx="535297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en-US" sz="110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45" name="Line 53">
                <a:extLst>
                  <a:ext uri="{FF2B5EF4-FFF2-40B4-BE49-F238E27FC236}">
                    <a16:creationId xmlns:a16="http://schemas.microsoft.com/office/drawing/2014/main" id="{8AB9BBC5-BC08-8F4A-8B1E-8FBA108F38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9844" y="5964804"/>
                <a:ext cx="535297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en-US" sz="110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endParaRPr>
              </a:p>
            </p:txBody>
          </p:sp>
        </p:grpSp>
      </p:grpSp>
      <p:sp>
        <p:nvSpPr>
          <p:cNvPr id="146" name="Rectangular Callout 145">
            <a:extLst>
              <a:ext uri="{FF2B5EF4-FFF2-40B4-BE49-F238E27FC236}">
                <a16:creationId xmlns:a16="http://schemas.microsoft.com/office/drawing/2014/main" id="{C945842B-3815-704B-8126-94D670456CA6}"/>
              </a:ext>
            </a:extLst>
          </p:cNvPr>
          <p:cNvSpPr/>
          <p:nvPr/>
        </p:nvSpPr>
        <p:spPr>
          <a:xfrm>
            <a:off x="2650166" y="2921094"/>
            <a:ext cx="959872" cy="252000"/>
          </a:xfrm>
          <a:prstGeom prst="wedgeRectCallout">
            <a:avLst>
              <a:gd name="adj1" fmla="val 50344"/>
              <a:gd name="adj2" fmla="val 20770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bg2">
                    <a:lumMod val="25000"/>
                  </a:schemeClr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Try R</a:t>
            </a:r>
            <a:r>
              <a:rPr lang="en-US" sz="1100" baseline="-25000" dirty="0">
                <a:solidFill>
                  <a:schemeClr val="bg2">
                    <a:lumMod val="25000"/>
                  </a:schemeClr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1</a:t>
            </a:r>
            <a:r>
              <a:rPr lang="en-US" sz="1100" dirty="0">
                <a:solidFill>
                  <a:schemeClr val="bg2">
                    <a:lumMod val="25000"/>
                  </a:schemeClr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, block</a:t>
            </a:r>
          </a:p>
        </p:txBody>
      </p:sp>
      <p:sp>
        <p:nvSpPr>
          <p:cNvPr id="148" name="Rectangular Callout 147">
            <a:extLst>
              <a:ext uri="{FF2B5EF4-FFF2-40B4-BE49-F238E27FC236}">
                <a16:creationId xmlns:a16="http://schemas.microsoft.com/office/drawing/2014/main" id="{E1E6F7D8-6DEF-2E48-A9CD-1C06BF2ACAFC}"/>
              </a:ext>
            </a:extLst>
          </p:cNvPr>
          <p:cNvSpPr/>
          <p:nvPr/>
        </p:nvSpPr>
        <p:spPr>
          <a:xfrm>
            <a:off x="5943527" y="4391691"/>
            <a:ext cx="893376" cy="252000"/>
          </a:xfrm>
          <a:prstGeom prst="wedgeRectCallout">
            <a:avLst>
              <a:gd name="adj1" fmla="val -31261"/>
              <a:gd name="adj2" fmla="val -240421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bg2">
                    <a:lumMod val="25000"/>
                  </a:schemeClr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Release R</a:t>
            </a:r>
            <a:r>
              <a:rPr lang="en-US" sz="1100" baseline="-25000" dirty="0">
                <a:solidFill>
                  <a:schemeClr val="bg2">
                    <a:lumMod val="25000"/>
                  </a:schemeClr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1</a:t>
            </a:r>
          </a:p>
        </p:txBody>
      </p:sp>
      <p:sp>
        <p:nvSpPr>
          <p:cNvPr id="151" name="Rectangular Callout 150">
            <a:extLst>
              <a:ext uri="{FF2B5EF4-FFF2-40B4-BE49-F238E27FC236}">
                <a16:creationId xmlns:a16="http://schemas.microsoft.com/office/drawing/2014/main" id="{4295491A-F9B1-1349-8C81-4E5257516C68}"/>
              </a:ext>
            </a:extLst>
          </p:cNvPr>
          <p:cNvSpPr/>
          <p:nvPr/>
        </p:nvSpPr>
        <p:spPr>
          <a:xfrm>
            <a:off x="3860248" y="2666900"/>
            <a:ext cx="959872" cy="252000"/>
          </a:xfrm>
          <a:prstGeom prst="wedgeRectCallout">
            <a:avLst>
              <a:gd name="adj1" fmla="val 31239"/>
              <a:gd name="adj2" fmla="val 15804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bg2">
                    <a:lumMod val="25000"/>
                  </a:schemeClr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Try R</a:t>
            </a:r>
            <a:r>
              <a:rPr lang="en-US" sz="1100" baseline="-25000" dirty="0">
                <a:solidFill>
                  <a:schemeClr val="bg2">
                    <a:lumMod val="25000"/>
                  </a:schemeClr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2</a:t>
            </a:r>
            <a:r>
              <a:rPr lang="en-US" sz="1100" dirty="0">
                <a:solidFill>
                  <a:schemeClr val="bg2">
                    <a:lumMod val="25000"/>
                  </a:schemeClr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, block</a:t>
            </a:r>
          </a:p>
        </p:txBody>
      </p:sp>
      <p:sp>
        <p:nvSpPr>
          <p:cNvPr id="152" name="Rectangular Callout 151">
            <a:extLst>
              <a:ext uri="{FF2B5EF4-FFF2-40B4-BE49-F238E27FC236}">
                <a16:creationId xmlns:a16="http://schemas.microsoft.com/office/drawing/2014/main" id="{734EFC66-DA54-384B-8349-DA0351D0149B}"/>
              </a:ext>
            </a:extLst>
          </p:cNvPr>
          <p:cNvSpPr/>
          <p:nvPr/>
        </p:nvSpPr>
        <p:spPr>
          <a:xfrm>
            <a:off x="4899943" y="2665754"/>
            <a:ext cx="1431378" cy="252000"/>
          </a:xfrm>
          <a:prstGeom prst="wedgeRectCallout">
            <a:avLst>
              <a:gd name="adj1" fmla="val -63954"/>
              <a:gd name="adj2" fmla="val 406939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bg2">
                    <a:lumMod val="25000"/>
                  </a:schemeClr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M inherits H’s priority</a:t>
            </a:r>
          </a:p>
        </p:txBody>
      </p:sp>
    </p:spTree>
    <p:extLst>
      <p:ext uri="{BB962C8B-B14F-4D97-AF65-F5344CB8AC3E}">
        <p14:creationId xmlns:p14="http://schemas.microsoft.com/office/powerpoint/2010/main" val="613860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500"/>
                            </p:stCondLst>
                            <p:childTnLst>
                              <p:par>
                                <p:cTn id="4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1000"/>
                            </p:stCondLst>
                            <p:childTnLst>
                              <p:par>
                                <p:cTn id="4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1500"/>
                            </p:stCondLst>
                            <p:childTnLst>
                              <p:par>
                                <p:cTn id="4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6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>
                            <p:stCondLst>
                              <p:cond delay="500"/>
                            </p:stCondLst>
                            <p:childTnLst>
                              <p:par>
                                <p:cTn id="8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7" dur="500"/>
                                        <p:tgtEl>
                                          <p:spTgt spid="1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>
                            <p:stCondLst>
                              <p:cond delay="1000"/>
                            </p:stCondLst>
                            <p:childTnLst>
                              <p:par>
                                <p:cTn id="8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>
                            <p:stCondLst>
                              <p:cond delay="500"/>
                            </p:stCondLst>
                            <p:childTnLst>
                              <p:par>
                                <p:cTn id="9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0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>
                            <p:stCondLst>
                              <p:cond delay="1000"/>
                            </p:stCondLst>
                            <p:childTnLst>
                              <p:par>
                                <p:cTn id="10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363" grpId="0" uiExpand="1" build="p"/>
      <p:bldP spid="121" grpId="0" animBg="1"/>
      <p:bldP spid="122" grpId="0" animBg="1"/>
      <p:bldP spid="123" grpId="0" animBg="1"/>
      <p:bldP spid="124" grpId="0" animBg="1"/>
      <p:bldP spid="125" grpId="0" animBg="1"/>
      <p:bldP spid="126" grpId="0" animBg="1"/>
      <p:bldP spid="127" grpId="0" animBg="1"/>
      <p:bldP spid="128" grpId="0" animBg="1"/>
      <p:bldP spid="129" grpId="0" animBg="1"/>
      <p:bldP spid="131" grpId="0" animBg="1"/>
      <p:bldP spid="132" grpId="0" animBg="1"/>
      <p:bldP spid="133" grpId="0" animBg="1"/>
      <p:bldP spid="134" grpId="0" animBg="1"/>
      <p:bldP spid="135" grpId="0" animBg="1"/>
      <p:bldP spid="136" grpId="0" animBg="1"/>
      <p:bldP spid="137" grpId="0" animBg="1"/>
      <p:bldP spid="138" grpId="0" animBg="1"/>
      <p:bldP spid="146" grpId="0" animBg="1"/>
      <p:bldP spid="148" grpId="0" animBg="1"/>
      <p:bldP spid="151" grpId="0" animBg="1"/>
      <p:bldP spid="152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2" name="Rectangle 2">
            <a:extLst>
              <a:ext uri="{FF2B5EF4-FFF2-40B4-BE49-F238E27FC236}">
                <a16:creationId xmlns:a16="http://schemas.microsoft.com/office/drawing/2014/main" id="{A32BAC7B-DD3F-F74A-9C9D-1E75997E26D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 altLang="en-US" dirty="0"/>
              <a:t>Priority-ceiling Protocol (PCP)</a:t>
            </a:r>
          </a:p>
        </p:txBody>
      </p:sp>
      <p:sp>
        <p:nvSpPr>
          <p:cNvPr id="83973" name="Rectangle 3">
            <a:extLst>
              <a:ext uri="{FF2B5EF4-FFF2-40B4-BE49-F238E27FC236}">
                <a16:creationId xmlns:a16="http://schemas.microsoft.com/office/drawing/2014/main" id="{78D09924-AC45-D349-B399-4690E59EE71A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628650" y="1676400"/>
            <a:ext cx="7886700" cy="4968875"/>
          </a:xfrm>
        </p:spPr>
        <p:txBody>
          <a:bodyPr/>
          <a:lstStyle/>
          <a:p>
            <a:r>
              <a:rPr lang="en-US" altLang="en-US" sz="1800" dirty="0"/>
              <a:t>Each resource is assigned priority ceiling</a:t>
            </a:r>
          </a:p>
          <a:p>
            <a:pPr lvl="1"/>
            <a:r>
              <a:rPr lang="en-US" altLang="en-US" sz="1600" dirty="0"/>
              <a:t>Equal to the highest priority of any task that can lock it</a:t>
            </a:r>
            <a:endParaRPr lang="en-US" altLang="en-US" sz="1200" dirty="0"/>
          </a:p>
          <a:p>
            <a:r>
              <a:rPr lang="en-US" altLang="en-US" sz="1800" dirty="0"/>
              <a:t>Each task can lock resources only if its priority is higher than priority </a:t>
            </a:r>
            <a:br>
              <a:rPr lang="en-US" altLang="en-US" sz="1800" dirty="0"/>
            </a:br>
            <a:r>
              <a:rPr lang="en-US" altLang="en-US" sz="1800" dirty="0"/>
              <a:t>ceilings of all resources currently locked by </a:t>
            </a:r>
            <a:r>
              <a:rPr lang="en-US" altLang="en-US" sz="1800" b="1" u="sng" dirty="0">
                <a:solidFill>
                  <a:srgbClr val="FF0000"/>
                </a:solidFill>
              </a:rPr>
              <a:t>other</a:t>
            </a:r>
            <a:r>
              <a:rPr lang="en-US" altLang="en-US" sz="1800" dirty="0"/>
              <a:t> tasks</a:t>
            </a:r>
            <a:endParaRPr lang="en-US" altLang="en-US" sz="1200" dirty="0"/>
          </a:p>
          <a:p>
            <a:r>
              <a:rPr lang="en-US" altLang="en-US" sz="1800" dirty="0"/>
              <a:t>Each task runs at its assigned priority unless it has locked any </a:t>
            </a:r>
            <a:br>
              <a:rPr lang="en-US" altLang="en-US" sz="1800" dirty="0"/>
            </a:br>
            <a:r>
              <a:rPr lang="en-US" altLang="en-US" sz="1800" dirty="0"/>
              <a:t>resource needed by higher priority task</a:t>
            </a:r>
            <a:endParaRPr lang="en-US" altLang="en-US" sz="1200" dirty="0"/>
          </a:p>
          <a:p>
            <a:r>
              <a:rPr lang="en-US" altLang="en-US" sz="1800" dirty="0"/>
              <a:t>After task unlocks resources, it runs with its original priority</a:t>
            </a:r>
            <a:endParaRPr lang="en-US" altLang="en-US" sz="1200" dirty="0"/>
          </a:p>
          <a:p>
            <a:r>
              <a:rPr lang="en-US" altLang="en-US" sz="1800" dirty="0"/>
              <a:t>PCP prevents </a:t>
            </a:r>
            <a:r>
              <a:rPr lang="en-US" altLang="en-US" sz="1800" dirty="0">
                <a:solidFill>
                  <a:srgbClr val="FF0000"/>
                </a:solidFill>
              </a:rPr>
              <a:t>deadlocks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906FCABD-0B63-6548-B7E7-7233B3EEB2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6893" y="5669357"/>
            <a:ext cx="528704" cy="2535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1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Lock R1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45FAE24-0A7B-4941-96D2-DCFDA32942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39549" y="5137716"/>
            <a:ext cx="316971" cy="25357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4ADAE8EE-6600-3244-876C-0F95981831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10842" y="5669357"/>
            <a:ext cx="528704" cy="2535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1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Lock R</a:t>
            </a:r>
            <a:r>
              <a:rPr lang="en-US" sz="1100" baseline="-250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1</a:t>
            </a:r>
          </a:p>
        </p:txBody>
      </p:sp>
      <p:sp>
        <p:nvSpPr>
          <p:cNvPr id="16" name="Line 85">
            <a:extLst>
              <a:ext uri="{FF2B5EF4-FFF2-40B4-BE49-F238E27FC236}">
                <a16:creationId xmlns:a16="http://schemas.microsoft.com/office/drawing/2014/main" id="{B577E3CA-D7C7-DB42-9D78-B1CEB42C193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161706" y="5084351"/>
            <a:ext cx="0" cy="836507"/>
          </a:xfrm>
          <a:prstGeom prst="line">
            <a:avLst/>
          </a:prstGeom>
          <a:noFill/>
          <a:ln w="25400" cap="rnd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" name="Rectangular Callout 16">
            <a:extLst>
              <a:ext uri="{FF2B5EF4-FFF2-40B4-BE49-F238E27FC236}">
                <a16:creationId xmlns:a16="http://schemas.microsoft.com/office/drawing/2014/main" id="{A60D1D79-4DD3-1441-8984-3CA6319BB7C2}"/>
              </a:ext>
            </a:extLst>
          </p:cNvPr>
          <p:cNvSpPr/>
          <p:nvPr/>
        </p:nvSpPr>
        <p:spPr>
          <a:xfrm>
            <a:off x="4003799" y="4501540"/>
            <a:ext cx="2029821" cy="406370"/>
          </a:xfrm>
          <a:prstGeom prst="wedgeRectCallout">
            <a:avLst>
              <a:gd name="adj1" fmla="val -41739"/>
              <a:gd name="adj2" fmla="val 101416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050" dirty="0">
                <a:solidFill>
                  <a:schemeClr val="bg2">
                    <a:lumMod val="25000"/>
                  </a:schemeClr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Try R</a:t>
            </a:r>
            <a:r>
              <a:rPr lang="en-US" sz="1050" baseline="-25000" dirty="0">
                <a:solidFill>
                  <a:schemeClr val="bg2">
                    <a:lumMod val="25000"/>
                  </a:schemeClr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2</a:t>
            </a:r>
            <a:r>
              <a:rPr lang="en-US" sz="1050" dirty="0">
                <a:solidFill>
                  <a:schemeClr val="bg2">
                    <a:lumMod val="25000"/>
                  </a:schemeClr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, block (because priority is not higher than ceiling of R</a:t>
            </a:r>
            <a:r>
              <a:rPr lang="en-US" sz="1050" baseline="-25000" dirty="0">
                <a:solidFill>
                  <a:schemeClr val="bg2">
                    <a:lumMod val="25000"/>
                  </a:schemeClr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1</a:t>
            </a:r>
            <a:r>
              <a:rPr lang="en-US" sz="1050" dirty="0">
                <a:solidFill>
                  <a:schemeClr val="bg2">
                    <a:lumMod val="25000"/>
                  </a:schemeClr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)</a:t>
            </a:r>
          </a:p>
        </p:txBody>
      </p:sp>
      <p:sp>
        <p:nvSpPr>
          <p:cNvPr id="18" name="Rectangular Callout 17">
            <a:extLst>
              <a:ext uri="{FF2B5EF4-FFF2-40B4-BE49-F238E27FC236}">
                <a16:creationId xmlns:a16="http://schemas.microsoft.com/office/drawing/2014/main" id="{E15DF731-83F0-A443-9B28-B132519555E9}"/>
              </a:ext>
            </a:extLst>
          </p:cNvPr>
          <p:cNvSpPr/>
          <p:nvPr/>
        </p:nvSpPr>
        <p:spPr>
          <a:xfrm>
            <a:off x="3496636" y="6222834"/>
            <a:ext cx="1438791" cy="285805"/>
          </a:xfrm>
          <a:prstGeom prst="wedgeRectCallout">
            <a:avLst>
              <a:gd name="adj1" fmla="val -4372"/>
              <a:gd name="adj2" fmla="val -15633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bg2">
                    <a:lumMod val="25000"/>
                  </a:schemeClr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L inherits H’s priority</a:t>
            </a:r>
          </a:p>
        </p:txBody>
      </p:sp>
      <p:sp>
        <p:nvSpPr>
          <p:cNvPr id="19" name="Rectangle 8">
            <a:extLst>
              <a:ext uri="{FF2B5EF4-FFF2-40B4-BE49-F238E27FC236}">
                <a16:creationId xmlns:a16="http://schemas.microsoft.com/office/drawing/2014/main" id="{9A30C60C-565A-A446-BB15-D7566C4408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4613" y="5669357"/>
            <a:ext cx="1010727" cy="2535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1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Lock R</a:t>
            </a:r>
            <a:r>
              <a:rPr lang="en-US" sz="1100" baseline="-250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1</a:t>
            </a:r>
            <a:r>
              <a:rPr lang="en-US" sz="11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 and R</a:t>
            </a:r>
            <a:r>
              <a:rPr lang="en-US" sz="1100" baseline="-250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2</a:t>
            </a:r>
          </a:p>
        </p:txBody>
      </p:sp>
      <p:sp>
        <p:nvSpPr>
          <p:cNvPr id="20" name="Rectangle 8">
            <a:extLst>
              <a:ext uri="{FF2B5EF4-FFF2-40B4-BE49-F238E27FC236}">
                <a16:creationId xmlns:a16="http://schemas.microsoft.com/office/drawing/2014/main" id="{D772B518-37D9-464C-AE5D-A09AE6251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09542" y="5669357"/>
            <a:ext cx="528704" cy="2535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1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Lock R1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A3EC8F1-9992-FB4D-AFCC-232F83D2AE26}"/>
              </a:ext>
            </a:extLst>
          </p:cNvPr>
          <p:cNvGrpSpPr/>
          <p:nvPr/>
        </p:nvGrpSpPr>
        <p:grpSpPr>
          <a:xfrm>
            <a:off x="2305591" y="5129640"/>
            <a:ext cx="4745585" cy="872522"/>
            <a:chOff x="2305591" y="5279265"/>
            <a:chExt cx="4745585" cy="87252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6E2BE83-70AF-0348-ACDB-1A42DBAF95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93878" y="5818982"/>
              <a:ext cx="316971" cy="253577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endParaRPr lang="en-US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154C7E1-F08B-5C4E-A46E-A0E8A4F554F7}"/>
                </a:ext>
              </a:extLst>
            </p:cNvPr>
            <p:cNvGrpSpPr/>
            <p:nvPr/>
          </p:nvGrpSpPr>
          <p:grpSpPr>
            <a:xfrm>
              <a:off x="2677029" y="5540918"/>
              <a:ext cx="4374147" cy="531641"/>
              <a:chOff x="3363432" y="4029735"/>
              <a:chExt cx="2656362" cy="531641"/>
            </a:xfrm>
          </p:grpSpPr>
          <p:sp>
            <p:nvSpPr>
              <p:cNvPr id="14" name="Line 9">
                <a:extLst>
                  <a:ext uri="{FF2B5EF4-FFF2-40B4-BE49-F238E27FC236}">
                    <a16:creationId xmlns:a16="http://schemas.microsoft.com/office/drawing/2014/main" id="{788F8476-D9FB-AD4D-806A-E29E64ABEF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3432" y="4029735"/>
                <a:ext cx="265636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5" name="Line 53">
                <a:extLst>
                  <a:ext uri="{FF2B5EF4-FFF2-40B4-BE49-F238E27FC236}">
                    <a16:creationId xmlns:a16="http://schemas.microsoft.com/office/drawing/2014/main" id="{C0B2D128-5BF5-5E4B-84F8-71D0D6A3401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3432" y="4561376"/>
                <a:ext cx="2656362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=""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en-US" sz="110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AEB3FA6-B1E8-ED4D-849A-EEB19FA24680}"/>
                </a:ext>
              </a:extLst>
            </p:cNvPr>
            <p:cNvSpPr txBox="1"/>
            <p:nvPr/>
          </p:nvSpPr>
          <p:spPr>
            <a:xfrm>
              <a:off x="2305591" y="5279265"/>
              <a:ext cx="33214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H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D28E117-6E3C-5542-9514-E703EA2B9800}"/>
                </a:ext>
              </a:extLst>
            </p:cNvPr>
            <p:cNvSpPr txBox="1"/>
            <p:nvPr/>
          </p:nvSpPr>
          <p:spPr>
            <a:xfrm>
              <a:off x="2331239" y="5813233"/>
              <a:ext cx="28084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L</a:t>
              </a:r>
            </a:p>
          </p:txBody>
        </p:sp>
      </p:grpSp>
      <p:sp>
        <p:nvSpPr>
          <p:cNvPr id="21" name="Rectangle 8">
            <a:extLst>
              <a:ext uri="{FF2B5EF4-FFF2-40B4-BE49-F238E27FC236}">
                <a16:creationId xmlns:a16="http://schemas.microsoft.com/office/drawing/2014/main" id="{61EADA49-D478-334D-B3F1-EC316DCE0E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51634" y="5129913"/>
            <a:ext cx="528704" cy="253577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1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Lock R</a:t>
            </a:r>
            <a:r>
              <a:rPr lang="en-US" sz="1100" baseline="-250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2</a:t>
            </a:r>
          </a:p>
        </p:txBody>
      </p:sp>
      <p:sp>
        <p:nvSpPr>
          <p:cNvPr id="31" name="Line 85">
            <a:extLst>
              <a:ext uri="{FF2B5EF4-FFF2-40B4-BE49-F238E27FC236}">
                <a16:creationId xmlns:a16="http://schemas.microsoft.com/office/drawing/2014/main" id="{F3B78A8E-81C6-624A-8651-F9F455B193C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839546" y="5084351"/>
            <a:ext cx="0" cy="836507"/>
          </a:xfrm>
          <a:prstGeom prst="line">
            <a:avLst/>
          </a:prstGeom>
          <a:noFill/>
          <a:ln w="25400" cap="rnd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8" name="Line 85">
            <a:extLst>
              <a:ext uri="{FF2B5EF4-FFF2-40B4-BE49-F238E27FC236}">
                <a16:creationId xmlns:a16="http://schemas.microsoft.com/office/drawing/2014/main" id="{4CC1105D-202D-3147-B91E-4E1B5401B34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42580" y="5084351"/>
            <a:ext cx="0" cy="836507"/>
          </a:xfrm>
          <a:prstGeom prst="line">
            <a:avLst/>
          </a:prstGeom>
          <a:noFill/>
          <a:ln w="25400" cap="rnd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0016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7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500"/>
                            </p:stCondLst>
                            <p:childTnLst>
                              <p:par>
                                <p:cTn id="7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3973" grpId="0" build="p"/>
      <p:bldP spid="4" grpId="0" animBg="1"/>
      <p:bldP spid="5" grpId="0" animBg="1"/>
      <p:bldP spid="7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31" grpId="0" animBg="1"/>
      <p:bldP spid="8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8">
            <a:extLst>
              <a:ext uri="{FF2B5EF4-FFF2-40B4-BE49-F238E27FC236}">
                <a16:creationId xmlns:a16="http://schemas.microsoft.com/office/drawing/2014/main" id="{D2BF12A1-294A-FB44-88EA-593663A68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4969" y="3996530"/>
            <a:ext cx="1154484" cy="2535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1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Lock R</a:t>
            </a:r>
            <a:r>
              <a:rPr lang="en-US" sz="1100" baseline="-250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1</a:t>
            </a:r>
          </a:p>
        </p:txBody>
      </p:sp>
      <p:sp>
        <p:nvSpPr>
          <p:cNvPr id="36" name="Rectangular Callout 35">
            <a:extLst>
              <a:ext uri="{FF2B5EF4-FFF2-40B4-BE49-F238E27FC236}">
                <a16:creationId xmlns:a16="http://schemas.microsoft.com/office/drawing/2014/main" id="{B941303A-19EE-C44A-9CA7-9E2689605CBD}"/>
              </a:ext>
            </a:extLst>
          </p:cNvPr>
          <p:cNvSpPr/>
          <p:nvPr/>
        </p:nvSpPr>
        <p:spPr>
          <a:xfrm>
            <a:off x="2535299" y="4647879"/>
            <a:ext cx="1438791" cy="252000"/>
          </a:xfrm>
          <a:prstGeom prst="wedgeRectCallout">
            <a:avLst>
              <a:gd name="adj1" fmla="val -5918"/>
              <a:gd name="adj2" fmla="val -200323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bg2">
                    <a:lumMod val="25000"/>
                  </a:schemeClr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L inherits M’s priority</a:t>
            </a:r>
          </a:p>
        </p:txBody>
      </p:sp>
      <p:sp>
        <p:nvSpPr>
          <p:cNvPr id="15362" name="Title 1">
            <a:extLst>
              <a:ext uri="{FF2B5EF4-FFF2-40B4-BE49-F238E27FC236}">
                <a16:creationId xmlns:a16="http://schemas.microsoft.com/office/drawing/2014/main" id="{353E2055-7F6A-5B4B-A8BA-C96352CA9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PCP Prevents Chained Blocking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A8F9C-FF4E-3540-91B2-5A257D993D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endParaRPr lang="en-US" sz="1800" dirty="0"/>
          </a:p>
          <a:p>
            <a:r>
              <a:rPr lang="en-US" sz="1800" dirty="0"/>
              <a:t>H does not wait for L</a:t>
            </a:r>
          </a:p>
        </p:txBody>
      </p:sp>
      <p:sp>
        <p:nvSpPr>
          <p:cNvPr id="121" name="Rectangle 120">
            <a:extLst>
              <a:ext uri="{FF2B5EF4-FFF2-40B4-BE49-F238E27FC236}">
                <a16:creationId xmlns:a16="http://schemas.microsoft.com/office/drawing/2014/main" id="{FC1573EA-0E13-9347-85BB-56921CD2DC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3919" y="3598757"/>
            <a:ext cx="316971" cy="25357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2" name="Rectangle 88">
            <a:extLst>
              <a:ext uri="{FF2B5EF4-FFF2-40B4-BE49-F238E27FC236}">
                <a16:creationId xmlns:a16="http://schemas.microsoft.com/office/drawing/2014/main" id="{1C2A5AC2-207D-8A42-90AB-71ECDE579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5629" y="3597759"/>
            <a:ext cx="439200" cy="25457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tx1"/>
            </a:solidFill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1100" dirty="0"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Lock R</a:t>
            </a:r>
            <a:r>
              <a:rPr lang="en-US" sz="1100" baseline="-25000" dirty="0"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2</a:t>
            </a:r>
          </a:p>
        </p:txBody>
      </p:sp>
      <p:sp>
        <p:nvSpPr>
          <p:cNvPr id="123" name="Rectangle 122">
            <a:extLst>
              <a:ext uri="{FF2B5EF4-FFF2-40B4-BE49-F238E27FC236}">
                <a16:creationId xmlns:a16="http://schemas.microsoft.com/office/drawing/2014/main" id="{3B54727B-C139-144D-AAE5-9787EFD96F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35653" y="3204680"/>
            <a:ext cx="316971" cy="25357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5" name="Rectangle 8">
            <a:extLst>
              <a:ext uri="{FF2B5EF4-FFF2-40B4-BE49-F238E27FC236}">
                <a16:creationId xmlns:a16="http://schemas.microsoft.com/office/drawing/2014/main" id="{AEBC60AE-58C6-654C-B5B1-81D81916D3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25212" y="3996530"/>
            <a:ext cx="528704" cy="2535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1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Lock R</a:t>
            </a:r>
            <a:r>
              <a:rPr lang="en-US" sz="1100" baseline="-250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1</a:t>
            </a:r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6A496253-9675-D243-B599-0F85B55933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008248" y="3996530"/>
            <a:ext cx="316971" cy="25357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endParaRPr lang="en-US"/>
          </a:p>
        </p:txBody>
      </p:sp>
      <p:sp>
        <p:nvSpPr>
          <p:cNvPr id="127" name="Line 85">
            <a:extLst>
              <a:ext uri="{FF2B5EF4-FFF2-40B4-BE49-F238E27FC236}">
                <a16:creationId xmlns:a16="http://schemas.microsoft.com/office/drawing/2014/main" id="{0D035D48-EBED-5C4A-A5A4-FB034D4B456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854696" y="3547999"/>
            <a:ext cx="0" cy="684000"/>
          </a:xfrm>
          <a:prstGeom prst="line">
            <a:avLst/>
          </a:prstGeom>
          <a:noFill/>
          <a:ln w="25400" cap="rnd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1" name="Line 85">
            <a:extLst>
              <a:ext uri="{FF2B5EF4-FFF2-40B4-BE49-F238E27FC236}">
                <a16:creationId xmlns:a16="http://schemas.microsoft.com/office/drawing/2014/main" id="{8A1C3A1D-9F35-4F44-8C3D-ABC4CF452E1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332603" y="3204680"/>
            <a:ext cx="0" cy="1027319"/>
          </a:xfrm>
          <a:prstGeom prst="line">
            <a:avLst/>
          </a:prstGeom>
          <a:noFill/>
          <a:ln w="25400" cap="rnd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2" name="Rectangular Callout 131">
            <a:extLst>
              <a:ext uri="{FF2B5EF4-FFF2-40B4-BE49-F238E27FC236}">
                <a16:creationId xmlns:a16="http://schemas.microsoft.com/office/drawing/2014/main" id="{C27F1649-F461-1D4E-A48E-91D3E8068EDB}"/>
              </a:ext>
            </a:extLst>
          </p:cNvPr>
          <p:cNvSpPr/>
          <p:nvPr/>
        </p:nvSpPr>
        <p:spPr>
          <a:xfrm>
            <a:off x="5351344" y="4641990"/>
            <a:ext cx="893376" cy="252000"/>
          </a:xfrm>
          <a:prstGeom prst="wedgeRectCallout">
            <a:avLst>
              <a:gd name="adj1" fmla="val -56678"/>
              <a:gd name="adj2" fmla="val -200605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bg2">
                    <a:lumMod val="25000"/>
                  </a:schemeClr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Release R</a:t>
            </a:r>
            <a:r>
              <a:rPr lang="en-US" sz="1100" baseline="-25000" dirty="0">
                <a:solidFill>
                  <a:schemeClr val="bg2">
                    <a:lumMod val="25000"/>
                  </a:schemeClr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1</a:t>
            </a:r>
          </a:p>
        </p:txBody>
      </p:sp>
      <p:sp>
        <p:nvSpPr>
          <p:cNvPr id="133" name="Rectangle 8">
            <a:extLst>
              <a:ext uri="{FF2B5EF4-FFF2-40B4-BE49-F238E27FC236}">
                <a16:creationId xmlns:a16="http://schemas.microsoft.com/office/drawing/2014/main" id="{F0464550-BC94-EB4A-82C7-72FD2E9AF5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17674" y="3996530"/>
            <a:ext cx="91219" cy="25357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endParaRPr lang="en-US" sz="1100" baseline="-25000" dirty="0"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  <p:sp>
        <p:nvSpPr>
          <p:cNvPr id="135" name="Rectangle 88">
            <a:extLst>
              <a:ext uri="{FF2B5EF4-FFF2-40B4-BE49-F238E27FC236}">
                <a16:creationId xmlns:a16="http://schemas.microsoft.com/office/drawing/2014/main" id="{74D2DA83-0D3F-7448-ADD4-4B79B0026A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4829" y="3597759"/>
            <a:ext cx="931729" cy="25457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1100" dirty="0"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Lock R</a:t>
            </a:r>
            <a:r>
              <a:rPr lang="en-US" sz="1100" baseline="-25000" dirty="0"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1</a:t>
            </a:r>
            <a:r>
              <a:rPr lang="en-US" sz="1100" dirty="0"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 and R</a:t>
            </a:r>
            <a:r>
              <a:rPr lang="en-US" sz="1100" baseline="-25000" dirty="0"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2</a:t>
            </a:r>
          </a:p>
        </p:txBody>
      </p:sp>
      <p:grpSp>
        <p:nvGrpSpPr>
          <p:cNvPr id="15368" name="Group 15367">
            <a:extLst>
              <a:ext uri="{FF2B5EF4-FFF2-40B4-BE49-F238E27FC236}">
                <a16:creationId xmlns:a16="http://schemas.microsoft.com/office/drawing/2014/main" id="{5F1AB086-AF40-9A48-BF3E-1819C0DDD8DE}"/>
              </a:ext>
            </a:extLst>
          </p:cNvPr>
          <p:cNvGrpSpPr/>
          <p:nvPr/>
        </p:nvGrpSpPr>
        <p:grpSpPr>
          <a:xfrm>
            <a:off x="1313549" y="3196604"/>
            <a:ext cx="5523354" cy="1132731"/>
            <a:chOff x="2991993" y="4863176"/>
            <a:chExt cx="5523354" cy="1132731"/>
          </a:xfrm>
        </p:grpSpPr>
        <p:sp>
          <p:nvSpPr>
            <p:cNvPr id="140" name="TextBox 139">
              <a:extLst>
                <a:ext uri="{FF2B5EF4-FFF2-40B4-BE49-F238E27FC236}">
                  <a16:creationId xmlns:a16="http://schemas.microsoft.com/office/drawing/2014/main" id="{D366BF6A-E1CD-7F41-8DD9-87BDC9453FE0}"/>
                </a:ext>
              </a:extLst>
            </p:cNvPr>
            <p:cNvSpPr txBox="1"/>
            <p:nvPr/>
          </p:nvSpPr>
          <p:spPr>
            <a:xfrm>
              <a:off x="2998405" y="4863176"/>
              <a:ext cx="33214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H</a:t>
              </a:r>
            </a:p>
          </p:txBody>
        </p:sp>
        <p:sp>
          <p:nvSpPr>
            <p:cNvPr id="141" name="TextBox 140">
              <a:extLst>
                <a:ext uri="{FF2B5EF4-FFF2-40B4-BE49-F238E27FC236}">
                  <a16:creationId xmlns:a16="http://schemas.microsoft.com/office/drawing/2014/main" id="{B61AA693-3578-ED49-8A72-41A185DBBC92}"/>
                </a:ext>
              </a:extLst>
            </p:cNvPr>
            <p:cNvSpPr txBox="1"/>
            <p:nvPr/>
          </p:nvSpPr>
          <p:spPr>
            <a:xfrm>
              <a:off x="2991993" y="5259580"/>
              <a:ext cx="34496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M</a:t>
              </a:r>
            </a:p>
          </p:txBody>
        </p:sp>
        <p:sp>
          <p:nvSpPr>
            <p:cNvPr id="142" name="TextBox 141">
              <a:extLst>
                <a:ext uri="{FF2B5EF4-FFF2-40B4-BE49-F238E27FC236}">
                  <a16:creationId xmlns:a16="http://schemas.microsoft.com/office/drawing/2014/main" id="{C9680711-C0DC-494B-B73D-C1482B2C5669}"/>
                </a:ext>
              </a:extLst>
            </p:cNvPr>
            <p:cNvSpPr txBox="1"/>
            <p:nvPr/>
          </p:nvSpPr>
          <p:spPr>
            <a:xfrm>
              <a:off x="3024053" y="5657353"/>
              <a:ext cx="28084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L</a:t>
              </a:r>
            </a:p>
          </p:txBody>
        </p:sp>
        <p:grpSp>
          <p:nvGrpSpPr>
            <p:cNvPr id="15367" name="Group 15366">
              <a:extLst>
                <a:ext uri="{FF2B5EF4-FFF2-40B4-BE49-F238E27FC236}">
                  <a16:creationId xmlns:a16="http://schemas.microsoft.com/office/drawing/2014/main" id="{3AF40D13-B007-0E4A-BA01-8BEA1B5DDDE5}"/>
                </a:ext>
              </a:extLst>
            </p:cNvPr>
            <p:cNvGrpSpPr/>
            <p:nvPr/>
          </p:nvGrpSpPr>
          <p:grpSpPr>
            <a:xfrm>
              <a:off x="3369844" y="5124829"/>
              <a:ext cx="5145503" cy="791850"/>
              <a:chOff x="3369844" y="5172954"/>
              <a:chExt cx="5352976" cy="791850"/>
            </a:xfrm>
          </p:grpSpPr>
          <p:sp>
            <p:nvSpPr>
              <p:cNvPr id="143" name="Line 9">
                <a:extLst>
                  <a:ext uri="{FF2B5EF4-FFF2-40B4-BE49-F238E27FC236}">
                    <a16:creationId xmlns:a16="http://schemas.microsoft.com/office/drawing/2014/main" id="{D5B8B8CD-3EEA-1548-B0C4-A2378F329E8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9844" y="5172954"/>
                <a:ext cx="535297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" name="Line 53">
                <a:extLst>
                  <a:ext uri="{FF2B5EF4-FFF2-40B4-BE49-F238E27FC236}">
                    <a16:creationId xmlns:a16="http://schemas.microsoft.com/office/drawing/2014/main" id="{B6F06EBF-C147-0048-8790-4408FD33A7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9844" y="5567031"/>
                <a:ext cx="535297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en-US" sz="110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endParaRPr>
              </a:p>
            </p:txBody>
          </p:sp>
          <p:sp>
            <p:nvSpPr>
              <p:cNvPr id="145" name="Line 53">
                <a:extLst>
                  <a:ext uri="{FF2B5EF4-FFF2-40B4-BE49-F238E27FC236}">
                    <a16:creationId xmlns:a16="http://schemas.microsoft.com/office/drawing/2014/main" id="{8AB9BBC5-BC08-8F4A-8B1E-8FBA108F38E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369844" y="5964804"/>
                <a:ext cx="5352976" cy="0"/>
              </a:xfrm>
              <a:prstGeom prst="line">
                <a:avLst/>
              </a:prstGeom>
              <a:noFill/>
              <a:ln w="19050">
                <a:solidFill>
                  <a:schemeClr val="tx1"/>
                </a:solidFill>
                <a:round/>
                <a:headEnd/>
                <a:tailEnd type="none" w="med" len="med"/>
              </a:ln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</a:extLst>
            </p:spPr>
            <p:txBody>
              <a:bodyPr/>
              <a:lstStyle/>
              <a:p>
                <a:pPr algn="ctr"/>
                <a:endParaRPr lang="en-US" sz="110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endParaRPr>
              </a:p>
            </p:txBody>
          </p:sp>
        </p:grpSp>
      </p:grpSp>
      <p:sp>
        <p:nvSpPr>
          <p:cNvPr id="146" name="Rectangular Callout 145">
            <a:extLst>
              <a:ext uri="{FF2B5EF4-FFF2-40B4-BE49-F238E27FC236}">
                <a16:creationId xmlns:a16="http://schemas.microsoft.com/office/drawing/2014/main" id="{C945842B-3815-704B-8126-94D670456CA6}"/>
              </a:ext>
            </a:extLst>
          </p:cNvPr>
          <p:cNvSpPr/>
          <p:nvPr/>
        </p:nvSpPr>
        <p:spPr>
          <a:xfrm>
            <a:off x="1809909" y="2511421"/>
            <a:ext cx="1361480" cy="589607"/>
          </a:xfrm>
          <a:prstGeom prst="wedgeRectCallout">
            <a:avLst>
              <a:gd name="adj1" fmla="val 49741"/>
              <a:gd name="adj2" fmla="val 132416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bg2">
                    <a:lumMod val="25000"/>
                  </a:schemeClr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Try R</a:t>
            </a:r>
            <a:r>
              <a:rPr lang="en-US" sz="1100" baseline="-25000" dirty="0">
                <a:solidFill>
                  <a:schemeClr val="bg2">
                    <a:lumMod val="25000"/>
                  </a:schemeClr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2</a:t>
            </a:r>
            <a:r>
              <a:rPr lang="en-US" sz="1100" dirty="0">
                <a:solidFill>
                  <a:schemeClr val="bg2">
                    <a:lumMod val="25000"/>
                  </a:schemeClr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, block</a:t>
            </a:r>
            <a:br>
              <a:rPr lang="en-US" sz="1100" dirty="0">
                <a:solidFill>
                  <a:schemeClr val="bg2">
                    <a:lumMod val="25000"/>
                  </a:schemeClr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</a:br>
            <a:r>
              <a:rPr lang="en-US" sz="1100" dirty="0">
                <a:solidFill>
                  <a:schemeClr val="bg2">
                    <a:lumMod val="25000"/>
                  </a:schemeClr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(M is not higher than ceiling of R</a:t>
            </a:r>
            <a:r>
              <a:rPr lang="en-US" sz="1100" baseline="-25000" dirty="0">
                <a:solidFill>
                  <a:schemeClr val="bg2">
                    <a:lumMod val="25000"/>
                  </a:schemeClr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1</a:t>
            </a:r>
            <a:r>
              <a:rPr lang="en-US" sz="1100" dirty="0">
                <a:solidFill>
                  <a:schemeClr val="bg2">
                    <a:lumMod val="25000"/>
                  </a:schemeClr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)</a:t>
            </a:r>
          </a:p>
        </p:txBody>
      </p:sp>
      <p:sp>
        <p:nvSpPr>
          <p:cNvPr id="34" name="Line 85">
            <a:extLst>
              <a:ext uri="{FF2B5EF4-FFF2-40B4-BE49-F238E27FC236}">
                <a16:creationId xmlns:a16="http://schemas.microsoft.com/office/drawing/2014/main" id="{D3127785-14A8-824A-9B44-19BE6D6ABC1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174969" y="3547999"/>
            <a:ext cx="0" cy="684000"/>
          </a:xfrm>
          <a:prstGeom prst="line">
            <a:avLst/>
          </a:prstGeom>
          <a:noFill/>
          <a:ln w="25400" cap="rnd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2" name="Line 85">
            <a:extLst>
              <a:ext uri="{FF2B5EF4-FFF2-40B4-BE49-F238E27FC236}">
                <a16:creationId xmlns:a16="http://schemas.microsoft.com/office/drawing/2014/main" id="{0DA176A0-FCF8-8443-BAE5-374DC7817AA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311300" y="3568015"/>
            <a:ext cx="0" cy="666060"/>
          </a:xfrm>
          <a:prstGeom prst="line">
            <a:avLst/>
          </a:prstGeom>
          <a:noFill/>
          <a:ln w="25400" cap="rnd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6" name="Rectangle 135">
            <a:extLst>
              <a:ext uri="{FF2B5EF4-FFF2-40B4-BE49-F238E27FC236}">
                <a16:creationId xmlns:a16="http://schemas.microsoft.com/office/drawing/2014/main" id="{D5D27090-095E-4A4B-88B2-A22835E8E4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59152" y="3204680"/>
            <a:ext cx="551824" cy="25357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tx1"/>
            </a:solidFill>
            <a:headEnd/>
            <a:tailEnd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wrap="none" anchor="ctr"/>
          <a:lstStyle/>
          <a:p>
            <a:pPr algn="ctr"/>
            <a:r>
              <a:rPr lang="en-US" sz="1100" dirty="0">
                <a:solidFill>
                  <a:schemeClr val="dk1"/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Lock R</a:t>
            </a:r>
            <a:r>
              <a:rPr lang="en-US" sz="1100" baseline="-25000" dirty="0">
                <a:solidFill>
                  <a:schemeClr val="dk1"/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2</a:t>
            </a:r>
          </a:p>
        </p:txBody>
      </p:sp>
      <p:sp>
        <p:nvSpPr>
          <p:cNvPr id="138" name="Line 85">
            <a:extLst>
              <a:ext uri="{FF2B5EF4-FFF2-40B4-BE49-F238E27FC236}">
                <a16:creationId xmlns:a16="http://schemas.microsoft.com/office/drawing/2014/main" id="{5B596759-1396-ED47-ADE6-0CC2D4A0313E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215010" y="3204680"/>
            <a:ext cx="0" cy="1027319"/>
          </a:xfrm>
          <a:prstGeom prst="line">
            <a:avLst/>
          </a:prstGeom>
          <a:noFill/>
          <a:ln w="25400" cap="rnd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75199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500"/>
                            </p:stCondLst>
                            <p:childTnLst>
                              <p:par>
                                <p:cTn id="3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000"/>
                            </p:stCondLst>
                            <p:childTnLst>
                              <p:par>
                                <p:cTn id="4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8" dur="500"/>
                                        <p:tgtEl>
                                          <p:spTgt spid="1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1" dur="500"/>
                                        <p:tgtEl>
                                          <p:spTgt spid="1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1500"/>
                            </p:stCondLst>
                            <p:childTnLst>
                              <p:par>
                                <p:cTn id="6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1000"/>
                            </p:stCondLst>
                            <p:childTnLst>
                              <p:par>
                                <p:cTn id="7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1500"/>
                            </p:stCondLst>
                            <p:childTnLst>
                              <p:par>
                                <p:cTn id="8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  <p:bldP spid="36" grpId="0" animBg="1"/>
      <p:bldP spid="3" grpId="0" build="p"/>
      <p:bldP spid="121" grpId="0" animBg="1"/>
      <p:bldP spid="122" grpId="0" animBg="1"/>
      <p:bldP spid="123" grpId="0" animBg="1"/>
      <p:bldP spid="125" grpId="0" animBg="1"/>
      <p:bldP spid="126" grpId="0" animBg="1"/>
      <p:bldP spid="127" grpId="0" animBg="1"/>
      <p:bldP spid="131" grpId="0" animBg="1"/>
      <p:bldP spid="132" grpId="0" animBg="1"/>
      <p:bldP spid="133" grpId="0" animBg="1"/>
      <p:bldP spid="135" grpId="0" animBg="1"/>
      <p:bldP spid="146" grpId="0" animBg="1"/>
      <p:bldP spid="34" grpId="0" animBg="1"/>
      <p:bldP spid="32" grpId="0" animBg="1"/>
      <p:bldP spid="136" grpId="0" animBg="1"/>
      <p:bldP spid="138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C5C69-9AFB-9641-AB43-D2565103BE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EDF and Deadline Interchange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6897DE-11D2-C744-9749-3B08B31420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400" dirty="0">
                <a:solidFill>
                  <a:srgbClr val="FF0000"/>
                </a:solidFill>
              </a:rPr>
              <a:t>Deadline interchange </a:t>
            </a:r>
            <a:r>
              <a:rPr lang="en-US" sz="2400" dirty="0"/>
              <a:t>is analogous to </a:t>
            </a:r>
            <a:r>
              <a:rPr lang="en-US" sz="2400" dirty="0">
                <a:solidFill>
                  <a:srgbClr val="FF0000"/>
                </a:solidFill>
              </a:rPr>
              <a:t>priority inversion</a:t>
            </a:r>
          </a:p>
          <a:p>
            <a:endParaRPr lang="en-US" sz="2400" dirty="0"/>
          </a:p>
          <a:p>
            <a:r>
              <a:rPr lang="en-US" sz="2400" dirty="0"/>
              <a:t>Task which has locked resources could be preempted by another task with earlier deadline that needs those resources</a:t>
            </a:r>
          </a:p>
          <a:p>
            <a:endParaRPr lang="en-US" sz="2400" dirty="0"/>
          </a:p>
          <a:p>
            <a:r>
              <a:rPr lang="en-US" sz="2400" dirty="0"/>
              <a:t>To avoid this, </a:t>
            </a:r>
            <a:r>
              <a:rPr lang="en-CA" sz="2400" dirty="0"/>
              <a:t>scheduler should assign to running task earliest deadline from among other tasks waiting for it</a:t>
            </a:r>
            <a:endParaRPr lang="en-US" sz="2400" dirty="0"/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98226898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55E8A3-5404-724C-8B8B-B9260048E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 dirty="0"/>
              <a:t>Multiprocessors and Remote Blocking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1BE9EA-D5B0-0148-B937-783B863FDA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76400"/>
            <a:ext cx="7886700" cy="4968875"/>
          </a:xfrm>
        </p:spPr>
        <p:txBody>
          <a:bodyPr/>
          <a:lstStyle/>
          <a:p>
            <a:r>
              <a:rPr lang="en-CA" sz="1800" dirty="0"/>
              <a:t>In uniprocessors, it is acceptable if high-priority task pre-empts lower-priority ones</a:t>
            </a:r>
          </a:p>
          <a:p>
            <a:r>
              <a:rPr lang="en-CA" sz="1800" dirty="0"/>
              <a:t>In multiprocessors, this is not necessarily desirable</a:t>
            </a:r>
          </a:p>
          <a:p>
            <a:pPr lvl="1"/>
            <a:r>
              <a:rPr lang="en-US" sz="1600" dirty="0"/>
              <a:t>Example: high-priority task H and low-priority task L are assigned to CPU</a:t>
            </a:r>
            <a:r>
              <a:rPr lang="en-US" sz="1600" baseline="-25000" dirty="0"/>
              <a:t>1</a:t>
            </a:r>
            <a:r>
              <a:rPr lang="en-US" sz="1600" dirty="0"/>
              <a:t> </a:t>
            </a:r>
          </a:p>
          <a:p>
            <a:pPr lvl="1"/>
            <a:r>
              <a:rPr lang="en-US" sz="1600" dirty="0"/>
              <a:t>Medium-priority task M runs on CPU</a:t>
            </a:r>
            <a:r>
              <a:rPr lang="en-US" sz="1600" baseline="-25000" dirty="0"/>
              <a:t>2</a:t>
            </a:r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endParaRPr lang="en-US" sz="1600" dirty="0"/>
          </a:p>
          <a:p>
            <a:pPr lvl="1"/>
            <a:r>
              <a:rPr lang="en-CA" sz="1600" dirty="0"/>
              <a:t>H is more important than either M or L, but is it more important than M and L?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3E26D67-0298-1C4B-AE47-BB135F184C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4231" y="4146397"/>
            <a:ext cx="1923838" cy="252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dirty="0"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H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2AAC0BC-A6CF-454B-BE21-6634931FAE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66399" y="4146397"/>
            <a:ext cx="1577832" cy="252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L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5085A1A-9CD7-E74E-A0D4-D2D7EEAD47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90500" y="4669035"/>
            <a:ext cx="1387122" cy="252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M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2A772BB8-5C4E-CB48-8636-479504C03F41}"/>
              </a:ext>
            </a:extLst>
          </p:cNvPr>
          <p:cNvCxnSpPr>
            <a:cxnSpLocks/>
          </p:cNvCxnSpPr>
          <p:nvPr/>
        </p:nvCxnSpPr>
        <p:spPr>
          <a:xfrm>
            <a:off x="3971379" y="4727725"/>
            <a:ext cx="1696690" cy="0"/>
          </a:xfrm>
          <a:prstGeom prst="straightConnector1">
            <a:avLst/>
          </a:prstGeom>
          <a:ln w="38100"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ular Callout 62">
            <a:extLst>
              <a:ext uri="{FF2B5EF4-FFF2-40B4-BE49-F238E27FC236}">
                <a16:creationId xmlns:a16="http://schemas.microsoft.com/office/drawing/2014/main" id="{2B581ED3-29B9-BB45-8619-E7D0E93FDBA2}"/>
              </a:ext>
            </a:extLst>
          </p:cNvPr>
          <p:cNvSpPr/>
          <p:nvPr/>
        </p:nvSpPr>
        <p:spPr>
          <a:xfrm>
            <a:off x="3578502" y="3441089"/>
            <a:ext cx="1035888" cy="324000"/>
          </a:xfrm>
          <a:prstGeom prst="wedgeRectCallout">
            <a:avLst>
              <a:gd name="adj1" fmla="val -33467"/>
              <a:gd name="adj2" fmla="val 16392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H arrives</a:t>
            </a:r>
          </a:p>
        </p:txBody>
      </p:sp>
      <p:sp>
        <p:nvSpPr>
          <p:cNvPr id="64" name="Rectangular Callout 63">
            <a:extLst>
              <a:ext uri="{FF2B5EF4-FFF2-40B4-BE49-F238E27FC236}">
                <a16:creationId xmlns:a16="http://schemas.microsoft.com/office/drawing/2014/main" id="{E671B45D-647F-A24D-BADB-331383AAC855}"/>
              </a:ext>
            </a:extLst>
          </p:cNvPr>
          <p:cNvSpPr/>
          <p:nvPr/>
        </p:nvSpPr>
        <p:spPr>
          <a:xfrm>
            <a:off x="6337021" y="3441089"/>
            <a:ext cx="1338773" cy="324000"/>
          </a:xfrm>
          <a:prstGeom prst="wedgeRectCallout">
            <a:avLst>
              <a:gd name="adj1" fmla="val -25495"/>
              <a:gd name="adj2" fmla="val 163609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L unlocks R</a:t>
            </a:r>
            <a:r>
              <a:rPr lang="en-US" sz="1400" baseline="-25000" dirty="0">
                <a:solidFill>
                  <a:schemeClr val="bg2">
                    <a:lumMod val="25000"/>
                  </a:schemeClr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1</a:t>
            </a:r>
          </a:p>
        </p:txBody>
      </p:sp>
      <p:sp>
        <p:nvSpPr>
          <p:cNvPr id="65" name="Rectangular Callout 64">
            <a:extLst>
              <a:ext uri="{FF2B5EF4-FFF2-40B4-BE49-F238E27FC236}">
                <a16:creationId xmlns:a16="http://schemas.microsoft.com/office/drawing/2014/main" id="{28871D5A-5CBD-C84D-AA6A-8A5C03C7A267}"/>
              </a:ext>
            </a:extLst>
          </p:cNvPr>
          <p:cNvSpPr/>
          <p:nvPr/>
        </p:nvSpPr>
        <p:spPr>
          <a:xfrm>
            <a:off x="2762386" y="5299873"/>
            <a:ext cx="1351235" cy="324000"/>
          </a:xfrm>
          <a:prstGeom prst="wedgeRectCallout">
            <a:avLst>
              <a:gd name="adj1" fmla="val 39615"/>
              <a:gd name="adj2" fmla="val -160920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>
                <a:solidFill>
                  <a:schemeClr val="bg2">
                    <a:lumMod val="25000"/>
                  </a:schemeClr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Try R1, block</a:t>
            </a:r>
            <a:endParaRPr lang="en-US" sz="1400" dirty="0">
              <a:solidFill>
                <a:schemeClr val="bg2">
                  <a:lumMod val="25000"/>
                </a:schemeClr>
              </a:solidFill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1D5D661F-5DFE-B94D-8B89-9DE169AD4E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68069" y="4146397"/>
            <a:ext cx="1577832" cy="252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L</a:t>
            </a:r>
          </a:p>
        </p:txBody>
      </p:sp>
      <p:sp>
        <p:nvSpPr>
          <p:cNvPr id="68" name="Rectangular Callout 67">
            <a:extLst>
              <a:ext uri="{FF2B5EF4-FFF2-40B4-BE49-F238E27FC236}">
                <a16:creationId xmlns:a16="http://schemas.microsoft.com/office/drawing/2014/main" id="{173718AC-132B-3848-A936-AF48D4476474}"/>
              </a:ext>
            </a:extLst>
          </p:cNvPr>
          <p:cNvSpPr/>
          <p:nvPr/>
        </p:nvSpPr>
        <p:spPr>
          <a:xfrm>
            <a:off x="5086355" y="3441089"/>
            <a:ext cx="1035888" cy="324000"/>
          </a:xfrm>
          <a:prstGeom prst="wedgeRectCallout">
            <a:avLst>
              <a:gd name="adj1" fmla="val 6285"/>
              <a:gd name="adj2" fmla="val 163924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H is done</a:t>
            </a:r>
          </a:p>
        </p:txBody>
      </p:sp>
      <p:cxnSp>
        <p:nvCxnSpPr>
          <p:cNvPr id="70" name="Straight Connector 69">
            <a:extLst>
              <a:ext uri="{FF2B5EF4-FFF2-40B4-BE49-F238E27FC236}">
                <a16:creationId xmlns:a16="http://schemas.microsoft.com/office/drawing/2014/main" id="{DE2ADCD3-25BD-474D-99DB-A4146E74E95D}"/>
              </a:ext>
            </a:extLst>
          </p:cNvPr>
          <p:cNvCxnSpPr>
            <a:cxnSpLocks/>
          </p:cNvCxnSpPr>
          <p:nvPr/>
        </p:nvCxnSpPr>
        <p:spPr>
          <a:xfrm>
            <a:off x="3185655" y="4160357"/>
            <a:ext cx="4270" cy="251999"/>
          </a:xfrm>
          <a:prstGeom prst="line">
            <a:avLst/>
          </a:prstGeom>
          <a:ln w="15875" cap="rnd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Rectangular Callout 70">
            <a:extLst>
              <a:ext uri="{FF2B5EF4-FFF2-40B4-BE49-F238E27FC236}">
                <a16:creationId xmlns:a16="http://schemas.microsoft.com/office/drawing/2014/main" id="{FD8C2B64-392F-2C45-9E70-5D70FC3F113D}"/>
              </a:ext>
            </a:extLst>
          </p:cNvPr>
          <p:cNvSpPr/>
          <p:nvPr/>
        </p:nvSpPr>
        <p:spPr>
          <a:xfrm>
            <a:off x="2023861" y="3441089"/>
            <a:ext cx="1338773" cy="324000"/>
          </a:xfrm>
          <a:prstGeom prst="wedgeRectCallout">
            <a:avLst>
              <a:gd name="adj1" fmla="val 36492"/>
              <a:gd name="adj2" fmla="val 157232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L Locks R</a:t>
            </a:r>
            <a:r>
              <a:rPr lang="en-US" sz="1400" baseline="-25000" dirty="0">
                <a:solidFill>
                  <a:schemeClr val="bg2">
                    <a:lumMod val="25000"/>
                  </a:schemeClr>
                </a:solidFill>
                <a:latin typeface="Gill Sans Light" panose="020B0302020104020203" pitchFamily="34" charset="-79"/>
                <a:cs typeface="Gill Sans Light" panose="020B0302020104020203" pitchFamily="34" charset="-79"/>
              </a:rPr>
              <a:t>1</a:t>
            </a:r>
          </a:p>
        </p:txBody>
      </p:sp>
      <p:cxnSp>
        <p:nvCxnSpPr>
          <p:cNvPr id="72" name="Straight Connector 71">
            <a:extLst>
              <a:ext uri="{FF2B5EF4-FFF2-40B4-BE49-F238E27FC236}">
                <a16:creationId xmlns:a16="http://schemas.microsoft.com/office/drawing/2014/main" id="{4C93D87B-4EA8-6A4A-B2AB-02647A3A5969}"/>
              </a:ext>
            </a:extLst>
          </p:cNvPr>
          <p:cNvCxnSpPr>
            <a:cxnSpLocks/>
          </p:cNvCxnSpPr>
          <p:nvPr/>
        </p:nvCxnSpPr>
        <p:spPr>
          <a:xfrm>
            <a:off x="6661827" y="4160357"/>
            <a:ext cx="4270" cy="251999"/>
          </a:xfrm>
          <a:prstGeom prst="line">
            <a:avLst/>
          </a:prstGeom>
          <a:ln w="15875" cap="rnd">
            <a:solidFill>
              <a:srgbClr val="FF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Rectangle 72">
            <a:extLst>
              <a:ext uri="{FF2B5EF4-FFF2-40B4-BE49-F238E27FC236}">
                <a16:creationId xmlns:a16="http://schemas.microsoft.com/office/drawing/2014/main" id="{CF89F93E-AA15-1F4D-9944-DF3A473028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1827" y="4669035"/>
            <a:ext cx="551397" cy="252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/>
          <a:p>
            <a:pPr algn="ctr"/>
            <a:r>
              <a:rPr lang="en-US" sz="12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M</a:t>
            </a:r>
          </a:p>
        </p:txBody>
      </p:sp>
      <p:grpSp>
        <p:nvGrpSpPr>
          <p:cNvPr id="79" name="Group 78">
            <a:extLst>
              <a:ext uri="{FF2B5EF4-FFF2-40B4-BE49-F238E27FC236}">
                <a16:creationId xmlns:a16="http://schemas.microsoft.com/office/drawing/2014/main" id="{138758F1-F3A7-F743-8864-7FB037802EC3}"/>
              </a:ext>
            </a:extLst>
          </p:cNvPr>
          <p:cNvGrpSpPr/>
          <p:nvPr/>
        </p:nvGrpSpPr>
        <p:grpSpPr>
          <a:xfrm>
            <a:off x="1350056" y="4126714"/>
            <a:ext cx="6692877" cy="1173159"/>
            <a:chOff x="1350056" y="4126714"/>
            <a:chExt cx="6692877" cy="1173159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E2CBC989-66E5-1045-99AB-1C8B5EBBCB3D}"/>
                </a:ext>
              </a:extLst>
            </p:cNvPr>
            <p:cNvSpPr txBox="1"/>
            <p:nvPr/>
          </p:nvSpPr>
          <p:spPr>
            <a:xfrm>
              <a:off x="1350056" y="4126714"/>
              <a:ext cx="6399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CPU</a:t>
              </a:r>
              <a:r>
                <a:rPr lang="en-US" sz="1600" baseline="-250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1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B669247C-8A7C-C046-866A-88231049E735}"/>
                </a:ext>
              </a:extLst>
            </p:cNvPr>
            <p:cNvSpPr txBox="1"/>
            <p:nvPr/>
          </p:nvSpPr>
          <p:spPr>
            <a:xfrm>
              <a:off x="1350056" y="4661709"/>
              <a:ext cx="63991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16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CPU</a:t>
              </a:r>
              <a:r>
                <a:rPr lang="en-US" sz="1600" baseline="-250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2</a:t>
              </a:r>
            </a:p>
          </p:txBody>
        </p:sp>
        <p:sp>
          <p:nvSpPr>
            <p:cNvPr id="62" name="Text Box 78">
              <a:extLst>
                <a:ext uri="{FF2B5EF4-FFF2-40B4-BE49-F238E27FC236}">
                  <a16:creationId xmlns:a16="http://schemas.microsoft.com/office/drawing/2014/main" id="{D8192856-3E67-6F41-8400-1CEF5B74FD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08656" y="4930541"/>
              <a:ext cx="734277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1pPr>
              <a:lvl2pPr marL="742950" indent="-28575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2pPr>
              <a:lvl3pPr marL="11430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3pPr>
              <a:lvl4pPr marL="16002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4pPr>
              <a:lvl5pPr marL="2057400" indent="-228600" eaLnBrk="0" hangingPunct="0">
                <a:defRPr u="sng">
                  <a:solidFill>
                    <a:schemeClr val="tx1"/>
                  </a:solidFill>
                  <a:latin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u="sng">
                  <a:solidFill>
                    <a:schemeClr val="tx1"/>
                  </a:solidFill>
                  <a:latin typeface="Arial" charset="0"/>
                </a:defRPr>
              </a:lvl9pPr>
            </a:lstStyle>
            <a:p>
              <a:pPr eaLnBrk="1" hangingPunct="1">
                <a:spcBef>
                  <a:spcPct val="50000"/>
                </a:spcBef>
              </a:pPr>
              <a:r>
                <a:rPr lang="en-US" u="none" dirty="0">
                  <a:latin typeface="Gill Sans Light" panose="020B0302020104020203" pitchFamily="34" charset="-79"/>
                  <a:ea typeface="Gill Sans" charset="0"/>
                  <a:cs typeface="Gill Sans Light" panose="020B0302020104020203" pitchFamily="34" charset="-79"/>
                </a:rPr>
                <a:t>Time</a:t>
              </a:r>
            </a:p>
          </p:txBody>
        </p:sp>
        <p:sp>
          <p:nvSpPr>
            <p:cNvPr id="30" name="Line 9">
              <a:extLst>
                <a:ext uri="{FF2B5EF4-FFF2-40B4-BE49-F238E27FC236}">
                  <a16:creationId xmlns:a16="http://schemas.microsoft.com/office/drawing/2014/main" id="{E890D0C6-3F5B-1D44-9B77-BB8D5F243E1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4532" y="4398397"/>
              <a:ext cx="538851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1200">
                <a:latin typeface="Gill Sans Light" panose="020B0302020104020203" pitchFamily="34" charset="-79"/>
                <a:cs typeface="Gill Sans Light" panose="020B0302020104020203" pitchFamily="34" charset="-79"/>
              </a:endParaRPr>
            </a:p>
          </p:txBody>
        </p:sp>
        <p:sp>
          <p:nvSpPr>
            <p:cNvPr id="32" name="Line 53">
              <a:extLst>
                <a:ext uri="{FF2B5EF4-FFF2-40B4-BE49-F238E27FC236}">
                  <a16:creationId xmlns:a16="http://schemas.microsoft.com/office/drawing/2014/main" id="{4BBAA7EA-43F7-B148-9B02-0AE8973E7C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04532" y="4921035"/>
              <a:ext cx="5388514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algn="ctr"/>
              <a:endParaRPr lang="en-US" sz="1200"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endParaRPr>
            </a:p>
          </p:txBody>
        </p:sp>
      </p:grpSp>
      <p:sp>
        <p:nvSpPr>
          <p:cNvPr id="78" name="Rectangular Callout 77">
            <a:extLst>
              <a:ext uri="{FF2B5EF4-FFF2-40B4-BE49-F238E27FC236}">
                <a16:creationId xmlns:a16="http://schemas.microsoft.com/office/drawing/2014/main" id="{EFE69C8D-627E-2F43-A679-CEE01C8AB870}"/>
              </a:ext>
            </a:extLst>
          </p:cNvPr>
          <p:cNvSpPr/>
          <p:nvPr/>
        </p:nvSpPr>
        <p:spPr>
          <a:xfrm>
            <a:off x="4657517" y="5299873"/>
            <a:ext cx="1835623" cy="324000"/>
          </a:xfrm>
          <a:prstGeom prst="wedgeRectCallout">
            <a:avLst>
              <a:gd name="adj1" fmla="val -22223"/>
              <a:gd name="adj2" fmla="val -214445"/>
            </a:avLst>
          </a:prstGeom>
          <a:solidFill>
            <a:srgbClr val="FFC000"/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hangingPunct="1">
              <a:spcBef>
                <a:spcPct val="50000"/>
              </a:spcBef>
            </a:pPr>
            <a:r>
              <a:rPr lang="en-US" sz="1400" dirty="0">
                <a:solidFill>
                  <a:srgbClr val="FF0000"/>
                </a:solidFill>
                <a:latin typeface="Gill Sans Light" panose="020B0302020104020203" pitchFamily="34" charset="-79"/>
                <a:ea typeface="Gill Sans" charset="0"/>
                <a:cs typeface="Gill Sans Light" panose="020B0302020104020203" pitchFamily="34" charset="-79"/>
              </a:rPr>
              <a:t>H blocks both L and M</a:t>
            </a:r>
          </a:p>
        </p:txBody>
      </p:sp>
    </p:spTree>
    <p:extLst>
      <p:ext uri="{BB962C8B-B14F-4D97-AF65-F5344CB8AC3E}">
        <p14:creationId xmlns:p14="http://schemas.microsoft.com/office/powerpoint/2010/main" val="5913810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3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35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000"/>
                            </p:stCondLst>
                            <p:childTnLst>
                              <p:par>
                                <p:cTn id="5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15" grpId="0" animBg="1"/>
      <p:bldP spid="16" grpId="0" animBg="1"/>
      <p:bldP spid="17" grpId="0" animBg="1"/>
      <p:bldP spid="63" grpId="0" animBg="1"/>
      <p:bldP spid="64" grpId="0" animBg="1"/>
      <p:bldP spid="65" grpId="0" animBg="1"/>
      <p:bldP spid="67" grpId="0" animBg="1"/>
      <p:bldP spid="68" grpId="0" animBg="1"/>
      <p:bldP spid="71" grpId="0" animBg="1"/>
      <p:bldP spid="73" grpId="0" animBg="1"/>
      <p:bldP spid="7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801C32-3BAA-2745-B77F-9D8CBBA68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 dirty="0"/>
              <a:t>Multiprocessor Scheduling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CB7F94-0B6E-E34B-B292-359BD3D6D7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76400"/>
            <a:ext cx="7886700" cy="4968875"/>
          </a:xfrm>
        </p:spPr>
        <p:txBody>
          <a:bodyPr/>
          <a:lstStyle/>
          <a:p>
            <a:r>
              <a:rPr lang="en-CA" sz="2000" dirty="0">
                <a:solidFill>
                  <a:srgbClr val="FF0000"/>
                </a:solidFill>
              </a:rPr>
              <a:t>No migration (partitioned)</a:t>
            </a:r>
            <a:r>
              <a:rPr lang="en-CA" sz="2000" dirty="0"/>
              <a:t>: each task and its jobs must run on single CPU</a:t>
            </a:r>
          </a:p>
          <a:p>
            <a:r>
              <a:rPr lang="en-CA" sz="2000" dirty="0">
                <a:solidFill>
                  <a:srgbClr val="FF0000"/>
                </a:solidFill>
              </a:rPr>
              <a:t>Restricted migration</a:t>
            </a:r>
            <a:r>
              <a:rPr lang="en-CA" sz="2000" dirty="0"/>
              <a:t>: each job must run on single CPU</a:t>
            </a:r>
          </a:p>
          <a:p>
            <a:pPr lvl="1"/>
            <a:r>
              <a:rPr lang="en-CA" sz="1800" dirty="0"/>
              <a:t>Different jobs of the same task may run on different CPUs</a:t>
            </a:r>
            <a:endParaRPr lang="en-CA" sz="1800" dirty="0">
              <a:solidFill>
                <a:srgbClr val="FF0000"/>
              </a:solidFill>
            </a:endParaRPr>
          </a:p>
          <a:p>
            <a:r>
              <a:rPr lang="en-CA" sz="2000" dirty="0">
                <a:solidFill>
                  <a:srgbClr val="FF0000"/>
                </a:solidFill>
              </a:rPr>
              <a:t>Full migration</a:t>
            </a:r>
            <a:r>
              <a:rPr lang="en-CA" sz="2000" dirty="0"/>
              <a:t>: each job can migrate between CPUs</a:t>
            </a:r>
          </a:p>
          <a:p>
            <a:pPr lvl="1"/>
            <a:endParaRPr lang="en-US" sz="1800" dirty="0"/>
          </a:p>
        </p:txBody>
      </p:sp>
      <p:graphicFrame>
        <p:nvGraphicFramePr>
          <p:cNvPr id="10" name="Table 4">
            <a:extLst>
              <a:ext uri="{FF2B5EF4-FFF2-40B4-BE49-F238E27FC236}">
                <a16:creationId xmlns:a16="http://schemas.microsoft.com/office/drawing/2014/main" id="{91B585A3-B9AE-8949-B897-AD46E0151B5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22611128"/>
              </p:ext>
            </p:extLst>
          </p:nvPr>
        </p:nvGraphicFramePr>
        <p:xfrm>
          <a:off x="972000" y="3729037"/>
          <a:ext cx="7200000" cy="2260080"/>
        </p:xfrm>
        <a:graphic>
          <a:graphicData uri="http://schemas.openxmlformats.org/drawingml/2006/table">
            <a:tbl>
              <a:tblPr firstRow="1" firstCol="1" bandRow="1">
                <a:tableStyleId>{00A15C55-8517-42AA-B614-E9B94910E393}</a:tableStyleId>
              </a:tblPr>
              <a:tblGrid>
                <a:gridCol w="1800000">
                  <a:extLst>
                    <a:ext uri="{9D8B030D-6E8A-4147-A177-3AD203B41FA5}">
                      <a16:colId xmlns:a16="http://schemas.microsoft.com/office/drawing/2014/main" val="1586534862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2762406211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4155824865"/>
                    </a:ext>
                  </a:extLst>
                </a:gridCol>
                <a:gridCol w="1800000">
                  <a:extLst>
                    <a:ext uri="{9D8B030D-6E8A-4147-A177-3AD203B41FA5}">
                      <a16:colId xmlns:a16="http://schemas.microsoft.com/office/drawing/2014/main" val="616523895"/>
                    </a:ext>
                  </a:extLst>
                </a:gridCol>
              </a:tblGrid>
              <a:tr h="540000">
                <a:tc>
                  <a:txBody>
                    <a:bodyPr/>
                    <a:lstStyle/>
                    <a:p>
                      <a:pPr algn="ctr"/>
                      <a:endParaRPr lang="en-US" b="1" i="0" dirty="0">
                        <a:latin typeface="Gill Sans SemiBold" panose="020B0502020104020203" pitchFamily="34" charset="-79"/>
                        <a:cs typeface="Gill Sans SemiBold" panose="020B0502020104020203" pitchFamily="34" charset="-79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latin typeface="Gill Sans SemiBold" panose="020B0502020104020203" pitchFamily="34" charset="-79"/>
                          <a:cs typeface="Gill Sans SemiBold" panose="020B0502020104020203" pitchFamily="34" charset="-79"/>
                        </a:rPr>
                        <a:t>No</a:t>
                      </a:r>
                      <a:br>
                        <a:rPr lang="en-US" b="1" i="0" dirty="0">
                          <a:latin typeface="Gill Sans SemiBold" panose="020B0502020104020203" pitchFamily="34" charset="-79"/>
                          <a:cs typeface="Gill Sans SemiBold" panose="020B0502020104020203" pitchFamily="34" charset="-79"/>
                        </a:rPr>
                      </a:br>
                      <a:r>
                        <a:rPr lang="en-US" b="1" i="0" dirty="0">
                          <a:latin typeface="Gill Sans SemiBold" panose="020B0502020104020203" pitchFamily="34" charset="-79"/>
                          <a:cs typeface="Gill Sans SemiBold" panose="020B0502020104020203" pitchFamily="34" charset="-79"/>
                        </a:rPr>
                        <a:t>Migration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latin typeface="Gill Sans SemiBold" panose="020B0502020104020203" pitchFamily="34" charset="-79"/>
                          <a:cs typeface="Gill Sans SemiBold" panose="020B0502020104020203" pitchFamily="34" charset="-79"/>
                        </a:rPr>
                        <a:t>Restricted Migration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latin typeface="Gill Sans SemiBold" panose="020B0502020104020203" pitchFamily="34" charset="-79"/>
                          <a:cs typeface="Gill Sans SemiBold" panose="020B0502020104020203" pitchFamily="34" charset="-79"/>
                        </a:rPr>
                        <a:t>Full </a:t>
                      </a:r>
                      <a:br>
                        <a:rPr lang="en-US" b="1" i="0" dirty="0">
                          <a:latin typeface="Gill Sans SemiBold" panose="020B0502020104020203" pitchFamily="34" charset="-79"/>
                          <a:cs typeface="Gill Sans SemiBold" panose="020B0502020104020203" pitchFamily="34" charset="-79"/>
                        </a:rPr>
                      </a:br>
                      <a:r>
                        <a:rPr lang="en-US" b="1" i="0" dirty="0">
                          <a:latin typeface="Gill Sans SemiBold" panose="020B0502020104020203" pitchFamily="34" charset="-79"/>
                          <a:cs typeface="Gill Sans SemiBold" panose="020B0502020104020203" pitchFamily="34" charset="-79"/>
                        </a:rPr>
                        <a:t>Migration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8559590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latin typeface="Gill Sans SemiBold" panose="020B0502020104020203" pitchFamily="34" charset="-79"/>
                          <a:cs typeface="Gill Sans SemiBold" panose="020B0502020104020203" pitchFamily="34" charset="-79"/>
                        </a:rPr>
                        <a:t>Static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(S,N)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(S,R)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(S,F)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33146055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latin typeface="Gill Sans SemiBold" panose="020B0502020104020203" pitchFamily="34" charset="-79"/>
                          <a:cs typeface="Gill Sans SemiBold" panose="020B0502020104020203" pitchFamily="34" charset="-79"/>
                        </a:rPr>
                        <a:t>Dynamic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(D,N)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(D,R)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(D,F)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15134688"/>
                  </a:ext>
                </a:extLst>
              </a:tr>
              <a:tr h="540000">
                <a:tc>
                  <a:txBody>
                    <a:bodyPr/>
                    <a:lstStyle/>
                    <a:p>
                      <a:pPr algn="ctr"/>
                      <a:r>
                        <a:rPr lang="en-US" b="1" i="0" dirty="0">
                          <a:latin typeface="Gill Sans SemiBold" panose="020B0502020104020203" pitchFamily="34" charset="-79"/>
                          <a:cs typeface="Gill Sans SemiBold" panose="020B0502020104020203" pitchFamily="34" charset="-79"/>
                        </a:rPr>
                        <a:t>Fully Dynamic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(F,N)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(F,R)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0" dirty="0">
                          <a:latin typeface="Gill Sans Light" panose="020B0302020104020203" pitchFamily="34" charset="-79"/>
                          <a:cs typeface="Gill Sans Light" panose="020B0302020104020203" pitchFamily="34" charset="-79"/>
                        </a:rPr>
                        <a:t>(F,F)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652626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842446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646C77-25A0-4046-B77C-D4E5C1C08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 dirty="0"/>
              <a:t>(.,N)-based Schedulers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5769EA-28AF-E74B-A0C8-ED437AA0E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76400"/>
            <a:ext cx="7886700" cy="4968875"/>
          </a:xfrm>
        </p:spPr>
        <p:txBody>
          <a:bodyPr/>
          <a:lstStyle/>
          <a:p>
            <a:r>
              <a:rPr lang="en-US" sz="1600" dirty="0"/>
              <a:t>Finding optimal assignment of N periodic tasks to M CPUs is equivalent to </a:t>
            </a:r>
            <a:r>
              <a:rPr lang="en-US" sz="1600" i="1" dirty="0">
                <a:solidFill>
                  <a:srgbClr val="FF0000"/>
                </a:solidFill>
              </a:rPr>
              <a:t>bin-packing</a:t>
            </a:r>
            <a:r>
              <a:rPr lang="en-US" sz="1600" dirty="0"/>
              <a:t> </a:t>
            </a:r>
          </a:p>
          <a:p>
            <a:pPr lvl="1"/>
            <a:r>
              <a:rPr lang="en-US" sz="1600" dirty="0"/>
              <a:t>It’s </a:t>
            </a:r>
            <a:r>
              <a:rPr lang="en-US" sz="1600" dirty="0">
                <a:solidFill>
                  <a:srgbClr val="FF0000"/>
                </a:solidFill>
              </a:rPr>
              <a:t>NP-hard</a:t>
            </a:r>
            <a:r>
              <a:rPr lang="en-US" sz="1600" dirty="0"/>
              <a:t> problem</a:t>
            </a:r>
          </a:p>
          <a:p>
            <a:endParaRPr lang="en-US" sz="1600" dirty="0"/>
          </a:p>
          <a:p>
            <a:r>
              <a:rPr lang="en-CA" sz="1600" dirty="0"/>
              <a:t>Several </a:t>
            </a:r>
            <a:r>
              <a:rPr lang="en-CA" sz="1600" dirty="0">
                <a:solidFill>
                  <a:srgbClr val="FF0000"/>
                </a:solidFill>
              </a:rPr>
              <a:t>polynomial-time heuristics</a:t>
            </a:r>
            <a:r>
              <a:rPr lang="en-CA" sz="1600" dirty="0"/>
              <a:t> have been proposed</a:t>
            </a:r>
          </a:p>
          <a:p>
            <a:pPr lvl="1"/>
            <a:r>
              <a:rPr lang="en-CA" sz="1400" dirty="0">
                <a:solidFill>
                  <a:srgbClr val="FF0000"/>
                </a:solidFill>
              </a:rPr>
              <a:t>First fit</a:t>
            </a:r>
            <a:r>
              <a:rPr lang="en-CA" sz="1400" dirty="0"/>
              <a:t>: assign each task to CPU that can accept it </a:t>
            </a:r>
            <a:br>
              <a:rPr lang="en-CA" sz="1400" dirty="0"/>
            </a:br>
            <a:r>
              <a:rPr lang="en-CA" sz="1400" dirty="0"/>
              <a:t>(based on feasibility test according to that CPU’s uniprocessor scheduler)</a:t>
            </a:r>
          </a:p>
          <a:p>
            <a:pPr lvl="1"/>
            <a:r>
              <a:rPr lang="en-CA" sz="1400" dirty="0">
                <a:solidFill>
                  <a:srgbClr val="FF0000"/>
                </a:solidFill>
              </a:rPr>
              <a:t>Best fit</a:t>
            </a:r>
            <a:r>
              <a:rPr lang="en-CA" sz="1400" dirty="0"/>
              <a:t>: assign each task to CPU that can accept it and will have minimal remaining spare capacity</a:t>
            </a:r>
          </a:p>
          <a:p>
            <a:endParaRPr lang="en-CA" sz="1600" dirty="0"/>
          </a:p>
          <a:p>
            <a:r>
              <a:rPr lang="en-CA" sz="1600" dirty="0"/>
              <a:t>Worst-case utilization is </a:t>
            </a:r>
            <a:r>
              <a:rPr lang="en-CA" sz="1600" dirty="0">
                <a:solidFill>
                  <a:srgbClr val="FF0000"/>
                </a:solidFill>
                <a:latin typeface="+mj-lt"/>
              </a:rPr>
              <a:t>(</a:t>
            </a:r>
            <a:r>
              <a:rPr lang="en-CA" sz="1600" dirty="0">
                <a:solidFill>
                  <a:srgbClr val="FF0000"/>
                </a:solidFill>
              </a:rPr>
              <a:t>M</a:t>
            </a:r>
            <a:r>
              <a:rPr lang="en-CA" sz="1600" dirty="0">
                <a:solidFill>
                  <a:srgbClr val="FF0000"/>
                </a:solidFill>
                <a:latin typeface="+mj-lt"/>
              </a:rPr>
              <a:t>+1)/2</a:t>
            </a:r>
            <a:r>
              <a:rPr lang="en-CA" sz="1600" dirty="0"/>
              <a:t> </a:t>
            </a:r>
            <a:r>
              <a:rPr lang="en-CA" sz="1400" dirty="0"/>
              <a:t> </a:t>
            </a:r>
          </a:p>
          <a:p>
            <a:pPr lvl="1"/>
            <a:r>
              <a:rPr lang="en-CA" sz="1400" dirty="0"/>
              <a:t>E.g., M</a:t>
            </a:r>
            <a:r>
              <a:rPr lang="en-CA" sz="1400" dirty="0">
                <a:latin typeface="+mj-lt"/>
              </a:rPr>
              <a:t>+1</a:t>
            </a:r>
            <a:r>
              <a:rPr lang="en-CA" sz="1400" dirty="0"/>
              <a:t> tasks with </a:t>
            </a:r>
            <a:r>
              <a:rPr lang="en-CA" sz="1400" i="1" dirty="0"/>
              <a:t>e</a:t>
            </a:r>
            <a:r>
              <a:rPr lang="en-CA" sz="1400" dirty="0">
                <a:latin typeface="+mj-lt"/>
              </a:rPr>
              <a:t> = 1 + 𝜀 </a:t>
            </a:r>
            <a:r>
              <a:rPr lang="en-CA" sz="1400" dirty="0"/>
              <a:t>and p</a:t>
            </a:r>
            <a:r>
              <a:rPr lang="en-CA" sz="1400" dirty="0">
                <a:latin typeface="+mj-lt"/>
              </a:rPr>
              <a:t> = 2 </a:t>
            </a:r>
            <a:r>
              <a:rPr lang="en-CA" sz="1400" dirty="0"/>
              <a:t>cannot be scheduled by any (.,N) scheduler</a:t>
            </a:r>
          </a:p>
          <a:p>
            <a:pPr lvl="1"/>
            <a:r>
              <a:rPr lang="en-CA" sz="1400" dirty="0"/>
              <a:t>Almost half of resources could be left underutilized</a:t>
            </a:r>
          </a:p>
        </p:txBody>
      </p:sp>
    </p:spTree>
    <p:extLst>
      <p:ext uri="{BB962C8B-B14F-4D97-AF65-F5344CB8AC3E}">
        <p14:creationId xmlns:p14="http://schemas.microsoft.com/office/powerpoint/2010/main" val="3181442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4A9AB6-5AC5-AF46-BF1E-6B227AF204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Some Other Scheduling Classes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1BC536-010E-AF43-BB49-725E5E772D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800" dirty="0">
                <a:solidFill>
                  <a:srgbClr val="FF0000"/>
                </a:solidFill>
              </a:rPr>
              <a:t>(D,R)-based:</a:t>
            </a:r>
            <a:r>
              <a:rPr lang="en-US" sz="1800" dirty="0"/>
              <a:t> jobs have fixed priority and must run on single CPU</a:t>
            </a:r>
          </a:p>
          <a:p>
            <a:pPr lvl="1"/>
            <a:r>
              <a:rPr lang="en-US" sz="1600" dirty="0"/>
              <a:t>Suitable for task sets in which each job has considerable amount of state</a:t>
            </a:r>
            <a:br>
              <a:rPr lang="en-US" sz="1600" dirty="0"/>
            </a:br>
            <a:r>
              <a:rPr lang="en-US" sz="1600" dirty="0"/>
              <a:t>(it is not desirable to migrate jobs between processors)</a:t>
            </a:r>
          </a:p>
          <a:p>
            <a:pPr lvl="3"/>
            <a:endParaRPr lang="en-US" sz="1000" dirty="0"/>
          </a:p>
          <a:p>
            <a:r>
              <a:rPr lang="en-US" sz="1800" dirty="0">
                <a:solidFill>
                  <a:srgbClr val="FF0000"/>
                </a:solidFill>
              </a:rPr>
              <a:t>(D,F)-based</a:t>
            </a:r>
            <a:r>
              <a:rPr lang="en-US" sz="1800" dirty="0"/>
              <a:t>: jobs have fixed priority but can migrate</a:t>
            </a:r>
          </a:p>
          <a:p>
            <a:pPr lvl="1"/>
            <a:r>
              <a:rPr lang="en-US" sz="1600" dirty="0"/>
              <a:t>Preemption, and hence migration, can only happen because of new job arrival</a:t>
            </a:r>
          </a:p>
          <a:p>
            <a:pPr lvl="1"/>
            <a:r>
              <a:rPr lang="en-US" sz="1600" dirty="0"/>
              <a:t>E.g., </a:t>
            </a:r>
            <a:r>
              <a:rPr lang="en-US" sz="1600" i="1" dirty="0">
                <a:solidFill>
                  <a:srgbClr val="FF0000"/>
                </a:solidFill>
              </a:rPr>
              <a:t>global EDF</a:t>
            </a:r>
            <a:r>
              <a:rPr lang="en-US" sz="1600" dirty="0"/>
              <a:t>: use single ready queue for all CPUs, set priorities according to EDF</a:t>
            </a:r>
          </a:p>
          <a:p>
            <a:pPr lvl="2"/>
            <a:r>
              <a:rPr lang="en-US" sz="1400" dirty="0"/>
              <a:t>No longer optimal: T</a:t>
            </a:r>
            <a:r>
              <a:rPr lang="en-US" sz="1400" baseline="-25000" dirty="0"/>
              <a:t>1</a:t>
            </a:r>
            <a:r>
              <a:rPr lang="en-US" sz="1400" dirty="0"/>
              <a:t>(10,5), T</a:t>
            </a:r>
            <a:r>
              <a:rPr lang="en-US" sz="1400" baseline="-25000" dirty="0"/>
              <a:t>2</a:t>
            </a:r>
            <a:r>
              <a:rPr lang="en-US" sz="1400" dirty="0"/>
              <a:t>(10,5), T</a:t>
            </a:r>
            <a:r>
              <a:rPr lang="en-US" sz="1400" baseline="-25000" dirty="0"/>
              <a:t>3</a:t>
            </a:r>
            <a:r>
              <a:rPr lang="en-US" sz="1400" dirty="0"/>
              <a:t>(11,7) on 2 CPUs</a:t>
            </a:r>
          </a:p>
          <a:p>
            <a:pPr lvl="2"/>
            <a:r>
              <a:rPr lang="en-US" sz="1400" dirty="0"/>
              <a:t>EDF runs T</a:t>
            </a:r>
            <a:r>
              <a:rPr lang="en-US" sz="1400" baseline="-25000" dirty="0"/>
              <a:t>1</a:t>
            </a:r>
            <a:r>
              <a:rPr lang="en-US" sz="1400" dirty="0"/>
              <a:t> and T</a:t>
            </a:r>
            <a:r>
              <a:rPr lang="en-US" sz="1400" baseline="-25000" dirty="0"/>
              <a:t>2</a:t>
            </a:r>
            <a:r>
              <a:rPr lang="en-US" sz="1400" dirty="0"/>
              <a:t> first in parallel ⇒ T</a:t>
            </a:r>
            <a:r>
              <a:rPr lang="en-US" sz="1400" baseline="-25000" dirty="0"/>
              <a:t>3</a:t>
            </a:r>
            <a:r>
              <a:rPr lang="en-US" sz="1400" dirty="0"/>
              <a:t> misses its deadline</a:t>
            </a:r>
          </a:p>
          <a:p>
            <a:pPr lvl="4"/>
            <a:endParaRPr lang="en-US" sz="1000" dirty="0"/>
          </a:p>
          <a:p>
            <a:r>
              <a:rPr lang="en-US" sz="1800" dirty="0">
                <a:solidFill>
                  <a:srgbClr val="FF0000"/>
                </a:solidFill>
              </a:rPr>
              <a:t>(S,F)-based</a:t>
            </a:r>
            <a:r>
              <a:rPr lang="en-US" sz="1800" dirty="0"/>
              <a:t>: tasks have fixed priority, jobs can migrate</a:t>
            </a:r>
          </a:p>
          <a:p>
            <a:pPr lvl="1"/>
            <a:r>
              <a:rPr lang="en-US" sz="1600" dirty="0"/>
              <a:t>E.g., </a:t>
            </a:r>
            <a:r>
              <a:rPr lang="en-US" sz="1600" dirty="0">
                <a:solidFill>
                  <a:srgbClr val="FF0000"/>
                </a:solidFill>
              </a:rPr>
              <a:t>global RM</a:t>
            </a:r>
            <a:r>
              <a:rPr lang="en-US" sz="1600" dirty="0"/>
              <a:t>: us single ready queue for all CPUs, set priorities according to RM</a:t>
            </a:r>
          </a:p>
          <a:p>
            <a:pPr lvl="3"/>
            <a:endParaRPr lang="en-US" sz="1000" dirty="0"/>
          </a:p>
          <a:p>
            <a:r>
              <a:rPr lang="en-CA" sz="1800" dirty="0">
                <a:solidFill>
                  <a:srgbClr val="FF0000"/>
                </a:solidFill>
              </a:rPr>
              <a:t>Worst-case utilization of any (</a:t>
            </a:r>
            <a:r>
              <a:rPr lang="en-CA" sz="1800" dirty="0" err="1">
                <a:solidFill>
                  <a:srgbClr val="FF0000"/>
                </a:solidFill>
              </a:rPr>
              <a:t>x,y</a:t>
            </a:r>
            <a:r>
              <a:rPr lang="en-CA" sz="1800" dirty="0">
                <a:solidFill>
                  <a:srgbClr val="FF0000"/>
                </a:solidFill>
              </a:rPr>
              <a:t>)-based scheduler </a:t>
            </a:r>
            <a:r>
              <a:rPr lang="en-US" sz="1800" dirty="0">
                <a:solidFill>
                  <a:srgbClr val="FF0000"/>
                </a:solidFill>
              </a:rPr>
              <a:t>is</a:t>
            </a:r>
            <a:r>
              <a:rPr lang="en-CA" sz="1800" dirty="0">
                <a:solidFill>
                  <a:srgbClr val="FF0000"/>
                </a:solidFill>
                <a:latin typeface="+mj-lt"/>
              </a:rPr>
              <a:t> (M+1)/2</a:t>
            </a:r>
            <a:r>
              <a:rPr lang="en-CA" sz="1800" dirty="0">
                <a:solidFill>
                  <a:srgbClr val="FF0000"/>
                </a:solidFill>
              </a:rPr>
              <a:t>, unless x </a:t>
            </a:r>
            <a:r>
              <a:rPr lang="en-CA" sz="1800" dirty="0">
                <a:solidFill>
                  <a:srgbClr val="FF0000"/>
                </a:solidFill>
                <a:latin typeface="+mj-lt"/>
              </a:rPr>
              <a:t>= </a:t>
            </a:r>
            <a:r>
              <a:rPr lang="en-CA" sz="1800" dirty="0">
                <a:solidFill>
                  <a:srgbClr val="FF0000"/>
                </a:solidFill>
              </a:rPr>
              <a:t>y </a:t>
            </a:r>
            <a:r>
              <a:rPr lang="en-CA" sz="1800" dirty="0">
                <a:solidFill>
                  <a:srgbClr val="FF0000"/>
                </a:solidFill>
                <a:latin typeface="+mj-lt"/>
              </a:rPr>
              <a:t>= </a:t>
            </a:r>
            <a:r>
              <a:rPr lang="en-CA" sz="1800" dirty="0">
                <a:solidFill>
                  <a:srgbClr val="FF0000"/>
                </a:solidFill>
              </a:rPr>
              <a:t>F</a:t>
            </a:r>
            <a:r>
              <a:rPr lang="en-CA" sz="1600" dirty="0">
                <a:solidFill>
                  <a:srgbClr val="FF0000"/>
                </a:solidFill>
              </a:rPr>
              <a:t> </a:t>
            </a:r>
            <a:r>
              <a:rPr lang="en-CA" sz="1600" baseline="30000" dirty="0">
                <a:solidFill>
                  <a:srgbClr val="FF0000"/>
                </a:solidFill>
              </a:rPr>
              <a:t>[1]</a:t>
            </a:r>
            <a:endParaRPr lang="en-US" sz="1600" baseline="30000" dirty="0">
              <a:solidFill>
                <a:srgbClr val="FF0000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B30AF49-D71E-5645-8949-8A9E377B87C2}"/>
              </a:ext>
            </a:extLst>
          </p:cNvPr>
          <p:cNvSpPr/>
          <p:nvPr/>
        </p:nvSpPr>
        <p:spPr>
          <a:xfrm>
            <a:off x="628650" y="6445218"/>
            <a:ext cx="7886700" cy="200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CA" sz="700" dirty="0">
                <a:latin typeface="Gill Sans Light" panose="020B0302020104020203" pitchFamily="34" charset="-79"/>
                <a:cs typeface="Gill Sans Light" panose="020B0302020104020203" pitchFamily="34" charset="-79"/>
              </a:rPr>
              <a:t>[1] Carpenter, J., Funk, S., Holman, P., Srinivasan, A., Anderson, J. H., &amp; Baruah, S. K. (2004). A Categorization of Real-Time Multiprocessor Scheduling Problems and Algorithms.</a:t>
            </a:r>
            <a:endParaRPr lang="en-US" sz="700" dirty="0"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1323725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AE600-5709-CC4A-9864-E57C1BF89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 dirty="0"/>
              <a:t>(F,F)-based Schedulers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EA445-59E9-B54F-93E1-0FE4D8FB9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76400"/>
            <a:ext cx="7886700" cy="4968875"/>
          </a:xfrm>
        </p:spPr>
        <p:txBody>
          <a:bodyPr/>
          <a:lstStyle/>
          <a:p>
            <a:r>
              <a:rPr lang="en-CA" sz="1800" dirty="0"/>
              <a:t>Global LLF: </a:t>
            </a:r>
            <a:r>
              <a:rPr lang="en-US" sz="1800" dirty="0"/>
              <a:t>use single ready queue for all CPUs, set priorities based on LLF</a:t>
            </a:r>
          </a:p>
          <a:p>
            <a:pPr lvl="1"/>
            <a:r>
              <a:rPr lang="en-CA" sz="1600" dirty="0"/>
              <a:t>It schedules any instance that global EDF can schedule</a:t>
            </a:r>
          </a:p>
          <a:p>
            <a:pPr lvl="1"/>
            <a:r>
              <a:rPr lang="en-CA" sz="1600" dirty="0"/>
              <a:t>Like global EDF, it is not optimal</a:t>
            </a:r>
          </a:p>
          <a:p>
            <a:pPr lvl="1"/>
            <a:endParaRPr lang="en-CA" sz="1600" dirty="0"/>
          </a:p>
          <a:p>
            <a:pPr lvl="1"/>
            <a:endParaRPr lang="en-CA" sz="1600" dirty="0"/>
          </a:p>
          <a:p>
            <a:pPr lvl="1"/>
            <a:endParaRPr lang="en-CA" sz="1600" dirty="0"/>
          </a:p>
          <a:p>
            <a:pPr lvl="1"/>
            <a:endParaRPr lang="en-CA" sz="1600" dirty="0"/>
          </a:p>
          <a:p>
            <a:pPr lvl="1"/>
            <a:endParaRPr lang="en-CA" sz="1600" dirty="0"/>
          </a:p>
          <a:p>
            <a:pPr lvl="1"/>
            <a:endParaRPr lang="en-CA" sz="1600" dirty="0"/>
          </a:p>
          <a:p>
            <a:pPr lvl="1"/>
            <a:endParaRPr lang="en-CA" sz="1600" dirty="0"/>
          </a:p>
          <a:p>
            <a:pPr lvl="1"/>
            <a:endParaRPr lang="en-CA" sz="1600" dirty="0"/>
          </a:p>
          <a:p>
            <a:pPr lvl="1"/>
            <a:endParaRPr lang="en-CA" sz="1600" dirty="0"/>
          </a:p>
          <a:p>
            <a:r>
              <a:rPr lang="en-CA" sz="1800" dirty="0"/>
              <a:t>P-fair scheduling: allocate CPU time to enforce </a:t>
            </a:r>
            <a:r>
              <a:rPr lang="en-CA" sz="1800" i="1" dirty="0">
                <a:solidFill>
                  <a:srgbClr val="FF0000"/>
                </a:solidFill>
              </a:rPr>
              <a:t>proportionate progress</a:t>
            </a:r>
          </a:p>
          <a:p>
            <a:pPr lvl="1"/>
            <a:r>
              <a:rPr lang="en-CA" sz="1600" dirty="0"/>
              <a:t>Is </a:t>
            </a:r>
            <a:r>
              <a:rPr lang="en-CA" sz="1600" dirty="0">
                <a:solidFill>
                  <a:srgbClr val="FF0000"/>
                </a:solidFill>
              </a:rPr>
              <a:t>optimal</a:t>
            </a:r>
            <a:r>
              <a:rPr lang="en-CA" sz="1600" dirty="0"/>
              <a:t> (both for uniprocessors and multiprocessors)</a:t>
            </a:r>
          </a:p>
          <a:p>
            <a:pPr lvl="1"/>
            <a:r>
              <a:rPr lang="en-CA" sz="1600" dirty="0">
                <a:solidFill>
                  <a:srgbClr val="FF0000"/>
                </a:solidFill>
              </a:rPr>
              <a:t>Produces feasible schedule for M CPUs and any task set T with U</a:t>
            </a:r>
            <a:r>
              <a:rPr lang="en-CA" sz="1600" baseline="-25000" dirty="0">
                <a:solidFill>
                  <a:srgbClr val="FF0000"/>
                </a:solidFill>
              </a:rPr>
              <a:t>T</a:t>
            </a:r>
            <a:r>
              <a:rPr lang="en-CA" sz="1600" dirty="0">
                <a:solidFill>
                  <a:srgbClr val="FF0000"/>
                </a:solidFill>
              </a:rPr>
              <a:t> </a:t>
            </a:r>
            <a:r>
              <a:rPr lang="en-CA" sz="1600" dirty="0">
                <a:solidFill>
                  <a:srgbClr val="FF0000"/>
                </a:solidFill>
                <a:latin typeface="+mj-lt"/>
              </a:rPr>
              <a:t>≤</a:t>
            </a:r>
            <a:r>
              <a:rPr lang="en-CA" sz="1600" dirty="0">
                <a:solidFill>
                  <a:srgbClr val="FF0000"/>
                </a:solidFill>
              </a:rPr>
              <a:t> M</a:t>
            </a:r>
          </a:p>
          <a:p>
            <a:pPr lvl="1"/>
            <a:endParaRPr lang="en-US" sz="1400" i="1" baseline="-25000" dirty="0"/>
          </a:p>
        </p:txBody>
      </p:sp>
      <p:pic>
        <p:nvPicPr>
          <p:cNvPr id="1026" name="Picture 2" descr="Give me some Good news!! - | Make a Meme">
            <a:extLst>
              <a:ext uri="{FF2B5EF4-FFF2-40B4-BE49-F238E27FC236}">
                <a16:creationId xmlns:a16="http://schemas.microsoft.com/office/drawing/2014/main" id="{1BB87392-0A08-5D49-979C-3B88BA8DBC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3798085" y="3056263"/>
            <a:ext cx="1547829" cy="1986517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43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AD7E99-3399-8F47-ACCF-47FF3CFCA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P-fairness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B36521-E8BE-0D40-9F39-4E47ADDDD6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017" y="1676400"/>
            <a:ext cx="7886700" cy="4968875"/>
          </a:xfrm>
        </p:spPr>
        <p:txBody>
          <a:bodyPr/>
          <a:lstStyle/>
          <a:p>
            <a:r>
              <a:rPr lang="en-CA" sz="1600" dirty="0">
                <a:solidFill>
                  <a:srgbClr val="FF0000"/>
                </a:solidFill>
              </a:rPr>
              <a:t>Main idea</a:t>
            </a:r>
            <a:r>
              <a:rPr lang="en-CA" sz="1600" dirty="0"/>
              <a:t>: allocate CPU time to each task </a:t>
            </a:r>
            <a:r>
              <a:rPr lang="en-CA" sz="1600" i="1" dirty="0" err="1"/>
              <a:t>i</a:t>
            </a:r>
            <a:r>
              <a:rPr lang="en-CA" sz="1600" dirty="0"/>
              <a:t> in proportion to its weight </a:t>
            </a:r>
            <a:r>
              <a:rPr lang="en-CA" sz="1600" i="1" dirty="0" err="1"/>
              <a:t>w</a:t>
            </a:r>
            <a:r>
              <a:rPr lang="en-CA" sz="1600" i="1" baseline="-25000" dirty="0" err="1"/>
              <a:t>i</a:t>
            </a:r>
            <a:r>
              <a:rPr lang="en-CA" sz="1600" i="1" dirty="0"/>
              <a:t> </a:t>
            </a:r>
            <a:r>
              <a:rPr lang="en-CA" sz="1600" dirty="0">
                <a:latin typeface="+mj-lt"/>
              </a:rPr>
              <a:t>= </a:t>
            </a:r>
            <a:r>
              <a:rPr lang="en-CA" sz="1600" i="1" dirty="0"/>
              <a:t>e </a:t>
            </a:r>
            <a:r>
              <a:rPr lang="en-CA" sz="1600" i="1" baseline="-25000" dirty="0" err="1"/>
              <a:t>i</a:t>
            </a:r>
            <a:r>
              <a:rPr lang="en-CA" sz="1600" i="1" dirty="0"/>
              <a:t> </a:t>
            </a:r>
            <a:r>
              <a:rPr lang="en-CA" sz="1600" dirty="0">
                <a:latin typeface="+mj-lt"/>
              </a:rPr>
              <a:t>/ </a:t>
            </a:r>
            <a:r>
              <a:rPr lang="en-CA" sz="1600" i="1" dirty="0"/>
              <a:t>p</a:t>
            </a:r>
            <a:r>
              <a:rPr lang="en-CA" sz="1600" i="1" baseline="-25000" dirty="0"/>
              <a:t>i</a:t>
            </a:r>
          </a:p>
          <a:p>
            <a:pPr lvl="3"/>
            <a:endParaRPr lang="en-CA" sz="500" dirty="0"/>
          </a:p>
          <a:p>
            <a:r>
              <a:rPr lang="en-US" sz="1600" dirty="0"/>
              <a:t>Divide time into small time quanta</a:t>
            </a:r>
          </a:p>
          <a:p>
            <a:pPr lvl="1"/>
            <a:r>
              <a:rPr lang="en-US" sz="1400" dirty="0"/>
              <a:t>All parameters are integer multiples of time quantum (e.g., </a:t>
            </a:r>
            <a:r>
              <a:rPr lang="en-US" sz="1400" i="1" dirty="0" err="1"/>
              <a:t>e</a:t>
            </a:r>
            <a:r>
              <a:rPr lang="en-US" sz="1400" i="1" baseline="-25000" dirty="0" err="1"/>
              <a:t>i</a:t>
            </a:r>
            <a:r>
              <a:rPr lang="en-US" sz="1400" dirty="0"/>
              <a:t>, </a:t>
            </a:r>
            <a:r>
              <a:rPr lang="en-US" sz="1400" i="1" dirty="0"/>
              <a:t>p</a:t>
            </a:r>
            <a:r>
              <a:rPr lang="en-US" sz="1400" i="1" baseline="-25000" dirty="0"/>
              <a:t>i</a:t>
            </a:r>
            <a:r>
              <a:rPr lang="en-US" sz="1400" dirty="0"/>
              <a:t> ∈ </a:t>
            </a:r>
            <a:r>
              <a:rPr lang="en-US" sz="1400" dirty="0" err="1"/>
              <a:t>ℤ</a:t>
            </a:r>
            <a:r>
              <a:rPr lang="en-US" sz="1400" baseline="30000" dirty="0"/>
              <a:t>+</a:t>
            </a:r>
            <a:r>
              <a:rPr lang="en-US" sz="1400" dirty="0"/>
              <a:t>)</a:t>
            </a:r>
          </a:p>
          <a:p>
            <a:pPr lvl="3"/>
            <a:endParaRPr lang="en-US" sz="500" dirty="0"/>
          </a:p>
          <a:p>
            <a:r>
              <a:rPr lang="en-US" sz="1600" dirty="0"/>
              <a:t>Define </a:t>
            </a:r>
            <a:r>
              <a:rPr lang="en-US" sz="1600" dirty="0">
                <a:solidFill>
                  <a:srgbClr val="FF0000"/>
                </a:solidFill>
              </a:rPr>
              <a:t>lag</a:t>
            </a:r>
            <a:r>
              <a:rPr lang="en-US" sz="1600" dirty="0"/>
              <a:t> for each task to captures discrepancy between what it should have received and what it actually received</a:t>
            </a:r>
          </a:p>
          <a:p>
            <a:pPr lvl="1"/>
            <a:r>
              <a:rPr lang="en-US" sz="1400" i="1" dirty="0"/>
              <a:t>lag(</a:t>
            </a:r>
            <a:r>
              <a:rPr lang="en-US" sz="1400" i="1" dirty="0" err="1"/>
              <a:t>i,t</a:t>
            </a:r>
            <a:r>
              <a:rPr lang="en-US" sz="1400" i="1" dirty="0"/>
              <a:t>) </a:t>
            </a:r>
            <a:r>
              <a:rPr lang="en-US" sz="1400" dirty="0">
                <a:latin typeface="+mj-lt"/>
              </a:rPr>
              <a:t>=</a:t>
            </a:r>
            <a:r>
              <a:rPr lang="en-US" sz="1400" i="1" dirty="0"/>
              <a:t> t </a:t>
            </a:r>
            <a:r>
              <a:rPr lang="en-US" sz="1400" dirty="0"/>
              <a:t>x</a:t>
            </a:r>
            <a:r>
              <a:rPr lang="en-US" sz="1400" i="1" dirty="0"/>
              <a:t> </a:t>
            </a:r>
            <a:r>
              <a:rPr lang="en-US" sz="1400" i="1" dirty="0" err="1"/>
              <a:t>w</a:t>
            </a:r>
            <a:r>
              <a:rPr lang="en-US" sz="1400" i="1" baseline="-25000" dirty="0" err="1"/>
              <a:t>i</a:t>
            </a:r>
            <a:r>
              <a:rPr lang="en-US" sz="1400" i="1" dirty="0"/>
              <a:t> </a:t>
            </a:r>
            <a:r>
              <a:rPr lang="en-US" sz="1400" dirty="0">
                <a:latin typeface="+mj-lt"/>
              </a:rPr>
              <a:t>–</a:t>
            </a:r>
            <a:r>
              <a:rPr lang="en-US" sz="1400" i="1" dirty="0"/>
              <a:t> allocated(</a:t>
            </a:r>
            <a:r>
              <a:rPr lang="en-US" sz="1400" i="1" dirty="0" err="1"/>
              <a:t>i,t</a:t>
            </a:r>
            <a:r>
              <a:rPr lang="en-US" sz="1400" i="1" dirty="0"/>
              <a:t>)</a:t>
            </a:r>
            <a:r>
              <a:rPr lang="en-US" sz="1400" dirty="0"/>
              <a:t> </a:t>
            </a:r>
          </a:p>
          <a:p>
            <a:pPr lvl="3"/>
            <a:endParaRPr lang="en-US" sz="500" i="1" dirty="0">
              <a:solidFill>
                <a:srgbClr val="FF0000"/>
              </a:solidFill>
            </a:endParaRPr>
          </a:p>
          <a:p>
            <a:r>
              <a:rPr lang="en-US" sz="1600" dirty="0"/>
              <a:t>Schedule </a:t>
            </a:r>
            <a:r>
              <a:rPr lang="en-US" sz="1600" i="1" dirty="0"/>
              <a:t>S</a:t>
            </a:r>
            <a:r>
              <a:rPr lang="en-US" sz="1600" dirty="0"/>
              <a:t> is </a:t>
            </a:r>
            <a:r>
              <a:rPr lang="en-US" sz="1600" dirty="0">
                <a:solidFill>
                  <a:srgbClr val="FF0000"/>
                </a:solidFill>
              </a:rPr>
              <a:t>periodic</a:t>
            </a:r>
            <a:r>
              <a:rPr lang="en-US" sz="1600" dirty="0"/>
              <a:t> if and only if for all task </a:t>
            </a:r>
            <a:r>
              <a:rPr lang="en-US" sz="1600" i="1" dirty="0" err="1"/>
              <a:t>i</a:t>
            </a:r>
            <a:r>
              <a:rPr lang="en-US" sz="1600" dirty="0"/>
              <a:t> and any integer </a:t>
            </a:r>
            <a:r>
              <a:rPr lang="en-US" sz="1600" i="1" dirty="0"/>
              <a:t>k</a:t>
            </a:r>
          </a:p>
          <a:p>
            <a:pPr lvl="1"/>
            <a:r>
              <a:rPr lang="en-US" sz="1400" i="1" dirty="0"/>
              <a:t>allocated(</a:t>
            </a:r>
            <a:r>
              <a:rPr lang="en-US" sz="1400" i="1" dirty="0" err="1"/>
              <a:t>i,k</a:t>
            </a:r>
            <a:r>
              <a:rPr lang="en-US" sz="1400" i="1" dirty="0"/>
              <a:t> </a:t>
            </a:r>
            <a:r>
              <a:rPr lang="en-US" sz="1400" dirty="0"/>
              <a:t>x </a:t>
            </a:r>
            <a:r>
              <a:rPr lang="en-US" sz="1400" i="1" dirty="0"/>
              <a:t>p</a:t>
            </a:r>
            <a:r>
              <a:rPr lang="en-US" sz="1400" i="1" baseline="-25000" dirty="0"/>
              <a:t>i</a:t>
            </a:r>
            <a:r>
              <a:rPr lang="en-US" sz="1400" i="1" dirty="0"/>
              <a:t>) = k </a:t>
            </a:r>
            <a:r>
              <a:rPr lang="en-US" sz="1400" dirty="0"/>
              <a:t>x</a:t>
            </a:r>
            <a:r>
              <a:rPr lang="en-US" sz="1400" i="1" dirty="0"/>
              <a:t> </a:t>
            </a:r>
            <a:r>
              <a:rPr lang="en-US" sz="1400" i="1" dirty="0" err="1"/>
              <a:t>e</a:t>
            </a:r>
            <a:r>
              <a:rPr lang="en-US" sz="1400" i="1" baseline="-25000" dirty="0" err="1"/>
              <a:t>i</a:t>
            </a:r>
            <a:endParaRPr lang="en-US" sz="1400" i="1" baseline="-25000" dirty="0"/>
          </a:p>
          <a:p>
            <a:pPr lvl="3"/>
            <a:endParaRPr lang="en-US" sz="500" i="1" baseline="-25000" dirty="0"/>
          </a:p>
          <a:p>
            <a:r>
              <a:rPr lang="en-US" sz="1600" dirty="0"/>
              <a:t>Schedule </a:t>
            </a:r>
            <a:r>
              <a:rPr lang="en-US" sz="1600" i="1" dirty="0"/>
              <a:t>S</a:t>
            </a:r>
            <a:r>
              <a:rPr lang="en-US" sz="1600" dirty="0"/>
              <a:t> is </a:t>
            </a:r>
            <a:r>
              <a:rPr lang="en-US" sz="1600" dirty="0">
                <a:solidFill>
                  <a:srgbClr val="FF0000"/>
                </a:solidFill>
              </a:rPr>
              <a:t>P-fair</a:t>
            </a:r>
            <a:r>
              <a:rPr lang="en-US" sz="1600" dirty="0"/>
              <a:t> if and only if for all task </a:t>
            </a:r>
            <a:r>
              <a:rPr lang="en-US" sz="1600" i="1" dirty="0" err="1"/>
              <a:t>i</a:t>
            </a:r>
            <a:r>
              <a:rPr lang="en-US" sz="1600" dirty="0"/>
              <a:t> and time </a:t>
            </a:r>
            <a:r>
              <a:rPr lang="en-US" sz="1600" i="1" dirty="0"/>
              <a:t>t</a:t>
            </a:r>
          </a:p>
          <a:p>
            <a:pPr lvl="1"/>
            <a:r>
              <a:rPr lang="en-US" sz="1400" dirty="0">
                <a:latin typeface="+mj-lt"/>
              </a:rPr>
              <a:t>–1</a:t>
            </a:r>
            <a:r>
              <a:rPr lang="en-US" sz="1400" dirty="0"/>
              <a:t> </a:t>
            </a:r>
            <a:r>
              <a:rPr lang="en-US" sz="1400" dirty="0">
                <a:latin typeface="+mj-lt"/>
              </a:rPr>
              <a:t>&lt;</a:t>
            </a:r>
            <a:r>
              <a:rPr lang="en-US" sz="1400" dirty="0"/>
              <a:t> </a:t>
            </a:r>
            <a:r>
              <a:rPr lang="en-US" sz="1400" i="1" dirty="0"/>
              <a:t>lag(</a:t>
            </a:r>
            <a:r>
              <a:rPr lang="en-US" sz="1400" i="1" dirty="0" err="1"/>
              <a:t>i,t</a:t>
            </a:r>
            <a:r>
              <a:rPr lang="en-US" sz="1400" i="1" dirty="0"/>
              <a:t>)</a:t>
            </a:r>
            <a:r>
              <a:rPr lang="en-US" sz="1400" dirty="0"/>
              <a:t> </a:t>
            </a:r>
            <a:r>
              <a:rPr lang="en-US" sz="1400" dirty="0">
                <a:latin typeface="+mj-lt"/>
              </a:rPr>
              <a:t>&lt; 1</a:t>
            </a:r>
          </a:p>
          <a:p>
            <a:pPr lvl="3"/>
            <a:endParaRPr lang="en-US" sz="500" dirty="0">
              <a:latin typeface="+mj-lt"/>
            </a:endParaRPr>
          </a:p>
          <a:p>
            <a:r>
              <a:rPr lang="en-US" sz="1600" dirty="0"/>
              <a:t>Any P-fair schedule is periodic</a:t>
            </a:r>
            <a:endParaRPr lang="en-US" sz="1200" dirty="0">
              <a:latin typeface="Harrington" pitchFamily="82" charset="77"/>
            </a:endParaRPr>
          </a:p>
          <a:p>
            <a:pPr lvl="1"/>
            <a:r>
              <a:rPr lang="en-US" sz="1400" dirty="0"/>
              <a:t>At </a:t>
            </a:r>
            <a:r>
              <a:rPr lang="en-US" sz="1400" i="1" dirty="0"/>
              <a:t>t</a:t>
            </a:r>
            <a:r>
              <a:rPr lang="en-US" sz="1400" dirty="0"/>
              <a:t> </a:t>
            </a:r>
            <a:r>
              <a:rPr lang="en-US" sz="1400" dirty="0">
                <a:latin typeface="+mj-lt"/>
              </a:rPr>
              <a:t>=</a:t>
            </a:r>
            <a:r>
              <a:rPr lang="en-US" sz="1400" dirty="0"/>
              <a:t> </a:t>
            </a:r>
            <a:r>
              <a:rPr lang="en-US" sz="1400" i="1" dirty="0"/>
              <a:t>k</a:t>
            </a:r>
            <a:r>
              <a:rPr lang="en-US" sz="1400" dirty="0"/>
              <a:t> x </a:t>
            </a:r>
            <a:r>
              <a:rPr lang="en-US" sz="1400" i="1" dirty="0"/>
              <a:t>p</a:t>
            </a:r>
            <a:r>
              <a:rPr lang="en-US" sz="1400" i="1" baseline="-25000" dirty="0"/>
              <a:t>i</a:t>
            </a:r>
            <a:r>
              <a:rPr lang="en-US" sz="1400" dirty="0"/>
              <a:t>, </a:t>
            </a:r>
            <a:r>
              <a:rPr lang="en-US" sz="1400" i="1" dirty="0"/>
              <a:t>allocated(</a:t>
            </a:r>
            <a:r>
              <a:rPr lang="en-US" sz="1400" i="1" dirty="0" err="1"/>
              <a:t>i,t</a:t>
            </a:r>
            <a:r>
              <a:rPr lang="en-US" sz="1400" i="1" dirty="0"/>
              <a:t>)</a:t>
            </a:r>
            <a:r>
              <a:rPr lang="en-US" sz="1400" dirty="0"/>
              <a:t> and </a:t>
            </a:r>
            <a:r>
              <a:rPr lang="en-US" sz="1400" i="1" dirty="0"/>
              <a:t>t</a:t>
            </a:r>
            <a:r>
              <a:rPr lang="en-US" sz="1400" dirty="0"/>
              <a:t> x </a:t>
            </a:r>
            <a:r>
              <a:rPr lang="en-US" sz="1400" i="1" dirty="0" err="1"/>
              <a:t>w</a:t>
            </a:r>
            <a:r>
              <a:rPr lang="en-US" sz="1400" i="1" baseline="-25000" dirty="0" err="1"/>
              <a:t>i</a:t>
            </a:r>
            <a:r>
              <a:rPr lang="en-US" sz="1400" i="1" baseline="-25000" dirty="0"/>
              <a:t> </a:t>
            </a:r>
            <a:r>
              <a:rPr lang="en-US" sz="1400" dirty="0"/>
              <a:t>are both integers ⇒ </a:t>
            </a:r>
            <a:r>
              <a:rPr lang="en-US" sz="1400" i="1" dirty="0"/>
              <a:t>allocated(</a:t>
            </a:r>
            <a:r>
              <a:rPr lang="en-US" sz="1400" i="1" dirty="0" err="1"/>
              <a:t>i,t</a:t>
            </a:r>
            <a:r>
              <a:rPr lang="en-US" sz="1400" i="1" dirty="0"/>
              <a:t>) </a:t>
            </a:r>
            <a:r>
              <a:rPr lang="en-US" sz="1400" dirty="0">
                <a:latin typeface="+mj-lt"/>
              </a:rPr>
              <a:t>=</a:t>
            </a:r>
            <a:r>
              <a:rPr lang="en-US" sz="1400" dirty="0"/>
              <a:t> </a:t>
            </a:r>
            <a:r>
              <a:rPr lang="en-US" sz="1400" i="1" dirty="0"/>
              <a:t>k</a:t>
            </a:r>
            <a:r>
              <a:rPr lang="en-US" sz="1400" dirty="0"/>
              <a:t> x </a:t>
            </a:r>
            <a:r>
              <a:rPr lang="en-US" sz="1400" i="1" dirty="0" err="1"/>
              <a:t>e</a:t>
            </a:r>
            <a:r>
              <a:rPr lang="en-US" sz="1400" i="1" baseline="-25000" dirty="0" err="1"/>
              <a:t>i</a:t>
            </a:r>
            <a:endParaRPr lang="en-US" sz="1400" i="1" baseline="-25000" dirty="0"/>
          </a:p>
          <a:p>
            <a:pPr lvl="1"/>
            <a:r>
              <a:rPr lang="en-US" sz="1400" dirty="0"/>
              <a:t>Periodic schedules aren’t necessarily P-fair (why?)</a:t>
            </a:r>
          </a:p>
        </p:txBody>
      </p:sp>
    </p:spTree>
    <p:extLst>
      <p:ext uri="{BB962C8B-B14F-4D97-AF65-F5344CB8AC3E}">
        <p14:creationId xmlns:p14="http://schemas.microsoft.com/office/powerpoint/2010/main" val="960778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9F2C21-0DE0-CC49-90BD-6E1B7B9C092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31825" y="1676400"/>
                <a:ext cx="7886700" cy="4968875"/>
              </a:xfrm>
            </p:spPr>
            <p:txBody>
              <a:bodyPr/>
              <a:lstStyle/>
              <a:p>
                <a:r>
                  <a:rPr lang="en-US" sz="1600" dirty="0"/>
                  <a:t>Divide task </a:t>
                </a:r>
                <a:r>
                  <a:rPr lang="en-US" sz="1600" i="1" dirty="0" err="1"/>
                  <a:t>i</a:t>
                </a:r>
                <a:r>
                  <a:rPr lang="en-US" sz="1600" dirty="0"/>
                  <a:t> into quantum-sized </a:t>
                </a:r>
                <a:r>
                  <a:rPr lang="en-US" sz="1600" dirty="0">
                    <a:solidFill>
                      <a:srgbClr val="FF0000"/>
                    </a:solidFill>
                  </a:rPr>
                  <a:t>subtasks</a:t>
                </a:r>
              </a:p>
              <a:p>
                <a:pPr lvl="1"/>
                <a:r>
                  <a:rPr lang="en-US" sz="1400" dirty="0" err="1"/>
                  <a:t>T</a:t>
                </a:r>
                <a:r>
                  <a:rPr lang="en-US" sz="1400" i="1" baseline="-25000" dirty="0" err="1"/>
                  <a:t>ij</a:t>
                </a:r>
                <a:r>
                  <a:rPr lang="en-US" sz="1400" dirty="0"/>
                  <a:t> denotes the </a:t>
                </a:r>
                <a:r>
                  <a:rPr lang="en-US" sz="1400" i="1" dirty="0" err="1"/>
                  <a:t>j</a:t>
                </a:r>
                <a:r>
                  <a:rPr lang="en-US" sz="1400" baseline="30000" dirty="0" err="1"/>
                  <a:t>th</a:t>
                </a:r>
                <a:r>
                  <a:rPr lang="en-US" sz="1400" dirty="0"/>
                  <a:t> subtask of task </a:t>
                </a:r>
                <a:r>
                  <a:rPr lang="en-US" sz="1400" i="1" dirty="0"/>
                  <a:t>I</a:t>
                </a:r>
              </a:p>
              <a:p>
                <a:pPr lvl="3"/>
                <a:endParaRPr lang="en-US" sz="800" i="1" dirty="0"/>
              </a:p>
              <a:p>
                <a:r>
                  <a:rPr lang="en-US" sz="1600" dirty="0">
                    <a:solidFill>
                      <a:srgbClr val="FF0000"/>
                    </a:solidFill>
                  </a:rPr>
                  <a:t>Pseudo-release</a:t>
                </a:r>
                <a:r>
                  <a:rPr lang="en-US" sz="1600" dirty="0"/>
                  <a:t>: Let r(</a:t>
                </a:r>
                <a:r>
                  <a:rPr lang="en-US" sz="1600" i="1" dirty="0" err="1"/>
                  <a:t>i,j</a:t>
                </a:r>
                <a:r>
                  <a:rPr lang="en-US" sz="1600" dirty="0"/>
                  <a:t>) denote the earliest time </a:t>
                </a:r>
                <a:r>
                  <a:rPr lang="en-US" sz="1600" dirty="0" err="1"/>
                  <a:t>T</a:t>
                </a:r>
                <a:r>
                  <a:rPr lang="en-US" sz="1600" i="1" baseline="-25000" dirty="0" err="1"/>
                  <a:t>ij</a:t>
                </a:r>
                <a:r>
                  <a:rPr lang="en-US" sz="1600" dirty="0"/>
                  <a:t> could be scheduled</a:t>
                </a:r>
              </a:p>
              <a:p>
                <a:pPr lvl="1"/>
                <a:r>
                  <a:rPr lang="en-US" sz="1400" dirty="0">
                    <a:latin typeface="+mj-lt"/>
                  </a:rPr>
                  <a:t>r(</a:t>
                </a:r>
                <a:r>
                  <a:rPr lang="en-US" sz="1400" i="1" dirty="0" err="1">
                    <a:latin typeface="+mj-lt"/>
                  </a:rPr>
                  <a:t>i,j</a:t>
                </a:r>
                <a:r>
                  <a:rPr lang="en-US" sz="1400" dirty="0">
                    <a:latin typeface="+mj-lt"/>
                  </a:rPr>
                  <a:t>) = min </a:t>
                </a:r>
                <a:r>
                  <a:rPr lang="en-US" sz="1400" i="1" dirty="0">
                    <a:latin typeface="+mj-lt"/>
                  </a:rPr>
                  <a:t>t</a:t>
                </a:r>
                <a:r>
                  <a:rPr lang="en-US" sz="1400" dirty="0">
                    <a:latin typeface="+mj-lt"/>
                  </a:rPr>
                  <a:t> (≥ 0): (</a:t>
                </a:r>
                <a:r>
                  <a:rPr lang="en-US" sz="1400" i="1" dirty="0">
                    <a:latin typeface="+mj-lt"/>
                  </a:rPr>
                  <a:t>t</a:t>
                </a:r>
                <a:r>
                  <a:rPr lang="en-US" sz="1400" dirty="0">
                    <a:latin typeface="+mj-lt"/>
                  </a:rPr>
                  <a:t> + 1) x </a:t>
                </a:r>
                <a:r>
                  <a:rPr lang="en-US" sz="1400" i="1" dirty="0" err="1">
                    <a:latin typeface="+mj-lt"/>
                  </a:rPr>
                  <a:t>w</a:t>
                </a:r>
                <a:r>
                  <a:rPr lang="en-US" sz="1400" i="1" baseline="-25000" dirty="0" err="1">
                    <a:latin typeface="+mj-lt"/>
                  </a:rPr>
                  <a:t>i</a:t>
                </a:r>
                <a:r>
                  <a:rPr lang="en-US" sz="1400" dirty="0">
                    <a:latin typeface="+mj-lt"/>
                  </a:rPr>
                  <a:t> – </a:t>
                </a:r>
                <a:r>
                  <a:rPr lang="en-US" sz="1400" i="1" dirty="0">
                    <a:latin typeface="+mj-lt"/>
                  </a:rPr>
                  <a:t>j</a:t>
                </a:r>
                <a:r>
                  <a:rPr lang="en-US" sz="1400" dirty="0">
                    <a:latin typeface="+mj-lt"/>
                  </a:rPr>
                  <a:t> &gt; -1 = </a:t>
                </a:r>
                <a14:m>
                  <m:oMath xmlns:m="http://schemas.openxmlformats.org/officeDocument/2006/math">
                    <m:d>
                      <m:dPr>
                        <m:begChr m:val="⌊"/>
                        <m:endChr m:val="⌋"/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sz="1400" dirty="0">
                  <a:latin typeface="+mj-lt"/>
                </a:endParaRPr>
              </a:p>
              <a:p>
                <a:pPr lvl="3"/>
                <a:endParaRPr lang="en-US" sz="800" i="1" dirty="0">
                  <a:latin typeface="+mj-lt"/>
                </a:endParaRPr>
              </a:p>
              <a:p>
                <a:r>
                  <a:rPr lang="en-US" sz="1600" dirty="0">
                    <a:solidFill>
                      <a:srgbClr val="FF0000"/>
                    </a:solidFill>
                  </a:rPr>
                  <a:t>Pseudo-deadline</a:t>
                </a:r>
                <a:r>
                  <a:rPr lang="en-US" sz="1600" dirty="0"/>
                  <a:t>: Let d(</a:t>
                </a:r>
                <a:r>
                  <a:rPr lang="en-US" sz="1600" i="1" dirty="0" err="1"/>
                  <a:t>i,j</a:t>
                </a:r>
                <a:r>
                  <a:rPr lang="en-US" sz="1600" dirty="0"/>
                  <a:t>) denote the latest time by which </a:t>
                </a:r>
                <a:r>
                  <a:rPr lang="en-US" sz="1600" dirty="0" err="1"/>
                  <a:t>T</a:t>
                </a:r>
                <a:r>
                  <a:rPr lang="en-US" sz="1600" i="1" baseline="-25000" dirty="0" err="1"/>
                  <a:t>ij</a:t>
                </a:r>
                <a:r>
                  <a:rPr lang="en-US" sz="1600" dirty="0"/>
                  <a:t> must have been scheduled</a:t>
                </a:r>
              </a:p>
              <a:p>
                <a:pPr lvl="1"/>
                <a:r>
                  <a:rPr lang="en-US" sz="1400" dirty="0">
                    <a:latin typeface="+mj-lt"/>
                  </a:rPr>
                  <a:t>d(</a:t>
                </a:r>
                <a:r>
                  <a:rPr lang="en-US" sz="1400" i="1" dirty="0" err="1">
                    <a:latin typeface="+mj-lt"/>
                  </a:rPr>
                  <a:t>i,j</a:t>
                </a:r>
                <a:r>
                  <a:rPr lang="en-US" sz="1400" dirty="0">
                    <a:latin typeface="+mj-lt"/>
                  </a:rPr>
                  <a:t>) = max </a:t>
                </a:r>
                <a:r>
                  <a:rPr lang="en-US" sz="1400" i="1" dirty="0">
                    <a:latin typeface="+mj-lt"/>
                  </a:rPr>
                  <a:t>t</a:t>
                </a:r>
                <a:r>
                  <a:rPr lang="en-US" sz="1400" dirty="0">
                    <a:latin typeface="+mj-lt"/>
                  </a:rPr>
                  <a:t> (≥ 0): (</a:t>
                </a:r>
                <a:r>
                  <a:rPr lang="en-US" sz="1400" i="1" dirty="0">
                    <a:latin typeface="+mj-lt"/>
                  </a:rPr>
                  <a:t>t</a:t>
                </a:r>
                <a:r>
                  <a:rPr lang="en-US" sz="1400" dirty="0">
                    <a:latin typeface="+mj-lt"/>
                  </a:rPr>
                  <a:t> – 1) x </a:t>
                </a:r>
                <a:r>
                  <a:rPr lang="en-US" sz="1400" i="1" dirty="0" err="1">
                    <a:latin typeface="+mj-lt"/>
                  </a:rPr>
                  <a:t>w</a:t>
                </a:r>
                <a:r>
                  <a:rPr lang="en-US" sz="1400" i="1" baseline="-25000" dirty="0" err="1">
                    <a:latin typeface="+mj-lt"/>
                  </a:rPr>
                  <a:t>i</a:t>
                </a:r>
                <a:r>
                  <a:rPr lang="en-US" sz="1400" dirty="0">
                    <a:latin typeface="+mj-lt"/>
                  </a:rPr>
                  <a:t> – (</a:t>
                </a:r>
                <a:r>
                  <a:rPr lang="en-US" sz="1400" i="1" dirty="0">
                    <a:latin typeface="+mj-lt"/>
                  </a:rPr>
                  <a:t>j</a:t>
                </a:r>
                <a:r>
                  <a:rPr lang="en-US" sz="1400" dirty="0">
                    <a:latin typeface="+mj-lt"/>
                  </a:rPr>
                  <a:t> – 1) &lt; 1 = </a:t>
                </a:r>
                <a14:m>
                  <m:oMath xmlns:m="http://schemas.openxmlformats.org/officeDocument/2006/math">
                    <m:d>
                      <m:dPr>
                        <m:begChr m:val="⌈"/>
                        <m:endChr m:val="⌉"/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US" sz="140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1400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lang="en-US" sz="1400" b="0" i="1" smtClean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den>
                        </m:f>
                      </m:e>
                    </m:d>
                  </m:oMath>
                </a14:m>
                <a:endParaRPr lang="en-US" sz="1400" dirty="0">
                  <a:latin typeface="+mj-lt"/>
                </a:endParaRPr>
              </a:p>
              <a:p>
                <a:pPr lvl="3"/>
                <a:endParaRPr lang="en-US" sz="800" dirty="0">
                  <a:latin typeface="+mj-lt"/>
                </a:endParaRPr>
              </a:p>
              <a:p>
                <a:r>
                  <a:rPr lang="en-US" sz="1600" dirty="0">
                    <a:solidFill>
                      <a:srgbClr val="FF0000"/>
                    </a:solidFill>
                  </a:rPr>
                  <a:t>Window</a:t>
                </a:r>
                <a:r>
                  <a:rPr lang="en-US" sz="1600" dirty="0"/>
                  <a:t>: Let w(</a:t>
                </a:r>
                <a:r>
                  <a:rPr lang="en-US" sz="1600" i="1" dirty="0" err="1"/>
                  <a:t>i,j</a:t>
                </a:r>
                <a:r>
                  <a:rPr lang="en-US" sz="1600" dirty="0"/>
                  <a:t>) </a:t>
                </a:r>
                <a:r>
                  <a:rPr lang="en-US" sz="1600" dirty="0">
                    <a:latin typeface="+mj-lt"/>
                  </a:rPr>
                  <a:t>=</a:t>
                </a:r>
                <a:r>
                  <a:rPr lang="en-US" sz="1600" dirty="0"/>
                  <a:t> [r(</a:t>
                </a:r>
                <a:r>
                  <a:rPr lang="en-US" sz="1600" i="1" dirty="0" err="1"/>
                  <a:t>i,j</a:t>
                </a:r>
                <a:r>
                  <a:rPr lang="en-US" sz="1600" dirty="0"/>
                  <a:t>),d(</a:t>
                </a:r>
                <a:r>
                  <a:rPr lang="en-US" sz="1600" i="1" dirty="0" err="1"/>
                  <a:t>i,j</a:t>
                </a:r>
                <a:r>
                  <a:rPr lang="en-US" sz="1600" dirty="0"/>
                  <a:t>)] denote the interval during which </a:t>
                </a:r>
                <a:r>
                  <a:rPr lang="en-US" sz="1600" dirty="0" err="1"/>
                  <a:t>T</a:t>
                </a:r>
                <a:r>
                  <a:rPr lang="en-US" sz="1600" i="1" baseline="-25000" dirty="0" err="1"/>
                  <a:t>ij</a:t>
                </a:r>
                <a:r>
                  <a:rPr lang="en-US" sz="1600" dirty="0"/>
                  <a:t> must be scheduled</a:t>
                </a:r>
              </a:p>
              <a:p>
                <a:pPr lvl="1"/>
                <a:r>
                  <a:rPr lang="en-US" sz="1400" dirty="0">
                    <a:solidFill>
                      <a:srgbClr val="FF0000"/>
                    </a:solidFill>
                  </a:rPr>
                  <a:t>Window overlaps</a:t>
                </a:r>
                <a:r>
                  <a:rPr lang="en-US" sz="1400" dirty="0"/>
                  <a:t>, denoted by </a:t>
                </a:r>
                <a:r>
                  <a:rPr lang="en-US" sz="1400" dirty="0">
                    <a:latin typeface="+mj-lt"/>
                  </a:rPr>
                  <a:t>b(</a:t>
                </a:r>
                <a:r>
                  <a:rPr lang="en-US" sz="1400" i="1" dirty="0" err="1">
                    <a:latin typeface="+mj-lt"/>
                  </a:rPr>
                  <a:t>i,j</a:t>
                </a:r>
                <a:r>
                  <a:rPr lang="en-US" sz="1400" dirty="0">
                    <a:latin typeface="+mj-lt"/>
                  </a:rPr>
                  <a:t>) = d(</a:t>
                </a:r>
                <a:r>
                  <a:rPr lang="en-US" sz="1400" i="1" dirty="0" err="1">
                    <a:latin typeface="+mj-lt"/>
                  </a:rPr>
                  <a:t>i</a:t>
                </a:r>
                <a:r>
                  <a:rPr lang="en-US" sz="1400" dirty="0" err="1">
                    <a:latin typeface="+mj-lt"/>
                  </a:rPr>
                  <a:t>,</a:t>
                </a:r>
                <a:r>
                  <a:rPr lang="en-US" sz="1400" i="1" dirty="0" err="1">
                    <a:latin typeface="+mj-lt"/>
                  </a:rPr>
                  <a:t>j</a:t>
                </a:r>
                <a:r>
                  <a:rPr lang="en-US" sz="1400" dirty="0">
                    <a:latin typeface="+mj-lt"/>
                  </a:rPr>
                  <a:t>) – r(</a:t>
                </a:r>
                <a:r>
                  <a:rPr lang="en-US" sz="1400" i="1" dirty="0">
                    <a:latin typeface="+mj-lt"/>
                  </a:rPr>
                  <a:t>i,j</a:t>
                </a:r>
                <a:r>
                  <a:rPr lang="en-US" sz="1400" dirty="0">
                    <a:latin typeface="+mj-lt"/>
                  </a:rPr>
                  <a:t>+1)</a:t>
                </a:r>
                <a:r>
                  <a:rPr lang="en-US" sz="1400" dirty="0"/>
                  <a:t>, </a:t>
                </a:r>
                <a:r>
                  <a:rPr lang="en-US" sz="1400" dirty="0">
                    <a:latin typeface="+mj-lt"/>
                  </a:rPr>
                  <a:t>are</a:t>
                </a:r>
                <a:r>
                  <a:rPr lang="en-US" sz="1400" dirty="0"/>
                  <a:t> either </a:t>
                </a:r>
                <a:r>
                  <a:rPr lang="en-US" sz="1400" dirty="0">
                    <a:latin typeface="+mj-lt"/>
                  </a:rPr>
                  <a:t>0</a:t>
                </a:r>
                <a:r>
                  <a:rPr lang="en-US" sz="1400" dirty="0"/>
                  <a:t> or </a:t>
                </a:r>
                <a:r>
                  <a:rPr lang="en-US" sz="1400" dirty="0">
                    <a:latin typeface="+mj-lt"/>
                  </a:rPr>
                  <a:t>1</a:t>
                </a:r>
              </a:p>
              <a:p>
                <a:pPr lvl="1"/>
                <a:r>
                  <a:rPr lang="en-US" sz="1400" dirty="0"/>
                  <a:t>Example: T</a:t>
                </a:r>
                <a:r>
                  <a:rPr lang="en-US" sz="1400" baseline="-25000" dirty="0"/>
                  <a:t>1</a:t>
                </a:r>
                <a:r>
                  <a:rPr lang="en-US" sz="1400" dirty="0"/>
                  <a:t>(6,5)</a:t>
                </a:r>
              </a:p>
              <a:p>
                <a:pPr lvl="2"/>
                <a:r>
                  <a:rPr lang="en-US" sz="1200" dirty="0">
                    <a:latin typeface="+mj-lt"/>
                  </a:rPr>
                  <a:t>r(1,1) = 0, d(1,1) = 2</a:t>
                </a:r>
              </a:p>
              <a:p>
                <a:pPr lvl="2"/>
                <a:r>
                  <a:rPr lang="en-US" sz="1200" dirty="0">
                    <a:latin typeface="+mj-lt"/>
                  </a:rPr>
                  <a:t>r(1,2) = 1, d(1,2) = 3</a:t>
                </a:r>
              </a:p>
              <a:p>
                <a:pPr lvl="2"/>
                <a:r>
                  <a:rPr lang="en-US" sz="1200" dirty="0">
                    <a:latin typeface="+mj-lt"/>
                  </a:rPr>
                  <a:t>r(1,3) = 2, d(1,3) = 4</a:t>
                </a:r>
              </a:p>
              <a:p>
                <a:pPr lvl="2"/>
                <a:r>
                  <a:rPr lang="en-US" sz="1200" dirty="0">
                    <a:latin typeface="+mj-lt"/>
                  </a:rPr>
                  <a:t>…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1E9F2C21-0DE0-CC49-90BD-6E1B7B9C092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31825" y="1676400"/>
                <a:ext cx="7886700" cy="4968875"/>
              </a:xfrm>
              <a:blipFill>
                <a:blip r:embed="rId2"/>
                <a:stretch>
                  <a:fillRect l="-322" t="-51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itle 1">
            <a:extLst>
              <a:ext uri="{FF2B5EF4-FFF2-40B4-BE49-F238E27FC236}">
                <a16:creationId xmlns:a16="http://schemas.microsoft.com/office/drawing/2014/main" id="{C22BBB15-C564-A94C-950B-B1DBB2FF6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Subtasks and Pseudo Parameters</a:t>
            </a:r>
          </a:p>
        </p:txBody>
      </p:sp>
      <p:grpSp>
        <p:nvGrpSpPr>
          <p:cNvPr id="70" name="Group 69">
            <a:extLst>
              <a:ext uri="{FF2B5EF4-FFF2-40B4-BE49-F238E27FC236}">
                <a16:creationId xmlns:a16="http://schemas.microsoft.com/office/drawing/2014/main" id="{67384760-BAE9-D947-98DD-B53A79DDF2CF}"/>
              </a:ext>
            </a:extLst>
          </p:cNvPr>
          <p:cNvGrpSpPr/>
          <p:nvPr/>
        </p:nvGrpSpPr>
        <p:grpSpPr>
          <a:xfrm>
            <a:off x="4151965" y="5351104"/>
            <a:ext cx="840070" cy="237971"/>
            <a:chOff x="4419633" y="5503504"/>
            <a:chExt cx="840070" cy="237971"/>
          </a:xfrm>
        </p:grpSpPr>
        <p:cxnSp>
          <p:nvCxnSpPr>
            <p:cNvPr id="21" name="Straight Arrow Connector 20">
              <a:extLst>
                <a:ext uri="{FF2B5EF4-FFF2-40B4-BE49-F238E27FC236}">
                  <a16:creationId xmlns:a16="http://schemas.microsoft.com/office/drawing/2014/main" id="{754FB1C3-0CFE-3A4D-8D51-BFA28DD2D28A}"/>
                </a:ext>
              </a:extLst>
            </p:cNvPr>
            <p:cNvCxnSpPr>
              <a:cxnSpLocks/>
            </p:cNvCxnSpPr>
            <p:nvPr/>
          </p:nvCxnSpPr>
          <p:spPr>
            <a:xfrm>
              <a:off x="4459603" y="5741475"/>
              <a:ext cx="800100" cy="0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430D12D6-2BDD-744F-83E0-062F1B1FAD01}"/>
                </a:ext>
              </a:extLst>
            </p:cNvPr>
            <p:cNvSpPr txBox="1"/>
            <p:nvPr/>
          </p:nvSpPr>
          <p:spPr>
            <a:xfrm>
              <a:off x="4419633" y="5503504"/>
              <a:ext cx="48122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dirty="0"/>
                <a:t>w(1,2)</a:t>
              </a:r>
            </a:p>
          </p:txBody>
        </p:sp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363EBA0B-F324-8F4B-814E-6FEC4C806643}"/>
              </a:ext>
            </a:extLst>
          </p:cNvPr>
          <p:cNvGrpSpPr/>
          <p:nvPr/>
        </p:nvGrpSpPr>
        <p:grpSpPr>
          <a:xfrm>
            <a:off x="4555190" y="5270645"/>
            <a:ext cx="838128" cy="237971"/>
            <a:chOff x="4822858" y="5423045"/>
            <a:chExt cx="838128" cy="237971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6E55C489-9478-5D40-AD57-A0BAE0757EBE}"/>
                </a:ext>
              </a:extLst>
            </p:cNvPr>
            <p:cNvCxnSpPr>
              <a:cxnSpLocks/>
            </p:cNvCxnSpPr>
            <p:nvPr/>
          </p:nvCxnSpPr>
          <p:spPr>
            <a:xfrm>
              <a:off x="4862828" y="5661016"/>
              <a:ext cx="798158" cy="0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" name="TextBox 41">
              <a:extLst>
                <a:ext uri="{FF2B5EF4-FFF2-40B4-BE49-F238E27FC236}">
                  <a16:creationId xmlns:a16="http://schemas.microsoft.com/office/drawing/2014/main" id="{D9E90096-F561-9C43-8730-1F510ADF6411}"/>
                </a:ext>
              </a:extLst>
            </p:cNvPr>
            <p:cNvSpPr txBox="1"/>
            <p:nvPr/>
          </p:nvSpPr>
          <p:spPr>
            <a:xfrm>
              <a:off x="4822858" y="5423045"/>
              <a:ext cx="48122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dirty="0"/>
                <a:t>w(1,3)</a:t>
              </a: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ED035112-7696-5C42-8DC2-CA63C89C749B}"/>
              </a:ext>
            </a:extLst>
          </p:cNvPr>
          <p:cNvGrpSpPr/>
          <p:nvPr/>
        </p:nvGrpSpPr>
        <p:grpSpPr>
          <a:xfrm>
            <a:off x="4952065" y="5192356"/>
            <a:ext cx="844478" cy="237971"/>
            <a:chOff x="5219733" y="5344756"/>
            <a:chExt cx="844478" cy="237971"/>
          </a:xfrm>
        </p:grpSpPr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B8159E3B-16A3-6245-BB64-A5B4DCAF2694}"/>
                </a:ext>
              </a:extLst>
            </p:cNvPr>
            <p:cNvCxnSpPr>
              <a:cxnSpLocks/>
            </p:cNvCxnSpPr>
            <p:nvPr/>
          </p:nvCxnSpPr>
          <p:spPr>
            <a:xfrm>
              <a:off x="5259703" y="5582727"/>
              <a:ext cx="804508" cy="0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3BCAB92-49D3-0347-8539-3E28857BC11E}"/>
                </a:ext>
              </a:extLst>
            </p:cNvPr>
            <p:cNvSpPr txBox="1"/>
            <p:nvPr/>
          </p:nvSpPr>
          <p:spPr>
            <a:xfrm>
              <a:off x="5219733" y="5344756"/>
              <a:ext cx="48122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dirty="0"/>
                <a:t>w(1,4)</a:t>
              </a:r>
            </a:p>
          </p:txBody>
        </p:sp>
      </p:grpSp>
      <p:grpSp>
        <p:nvGrpSpPr>
          <p:cNvPr id="73" name="Group 72">
            <a:extLst>
              <a:ext uri="{FF2B5EF4-FFF2-40B4-BE49-F238E27FC236}">
                <a16:creationId xmlns:a16="http://schemas.microsoft.com/office/drawing/2014/main" id="{ED981498-4EF6-5B47-93B2-53BEA639B27A}"/>
              </a:ext>
            </a:extLst>
          </p:cNvPr>
          <p:cNvGrpSpPr/>
          <p:nvPr/>
        </p:nvGrpSpPr>
        <p:grpSpPr>
          <a:xfrm>
            <a:off x="5355290" y="5118774"/>
            <a:ext cx="806450" cy="237971"/>
            <a:chOff x="5622958" y="5271174"/>
            <a:chExt cx="806450" cy="237971"/>
          </a:xfrm>
        </p:grpSpPr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D641CC2C-E722-D546-8559-E0AC5B8D24FD}"/>
                </a:ext>
              </a:extLst>
            </p:cNvPr>
            <p:cNvCxnSpPr>
              <a:cxnSpLocks/>
            </p:cNvCxnSpPr>
            <p:nvPr/>
          </p:nvCxnSpPr>
          <p:spPr>
            <a:xfrm>
              <a:off x="5662928" y="5509145"/>
              <a:ext cx="766480" cy="0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" name="TextBox 43">
              <a:extLst>
                <a:ext uri="{FF2B5EF4-FFF2-40B4-BE49-F238E27FC236}">
                  <a16:creationId xmlns:a16="http://schemas.microsoft.com/office/drawing/2014/main" id="{68C04B4C-7939-9C43-8343-0CE69D1E373D}"/>
                </a:ext>
              </a:extLst>
            </p:cNvPr>
            <p:cNvSpPr txBox="1"/>
            <p:nvPr/>
          </p:nvSpPr>
          <p:spPr>
            <a:xfrm>
              <a:off x="5622958" y="5271174"/>
              <a:ext cx="48122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dirty="0"/>
                <a:t>w(1,5)</a:t>
              </a:r>
            </a:p>
          </p:txBody>
        </p:sp>
      </p:grpSp>
      <p:grpSp>
        <p:nvGrpSpPr>
          <p:cNvPr id="76" name="Group 75">
            <a:extLst>
              <a:ext uri="{FF2B5EF4-FFF2-40B4-BE49-F238E27FC236}">
                <a16:creationId xmlns:a16="http://schemas.microsoft.com/office/drawing/2014/main" id="{F74F7790-34B2-BD48-A2FB-721D72A12FAD}"/>
              </a:ext>
            </a:extLst>
          </p:cNvPr>
          <p:cNvGrpSpPr/>
          <p:nvPr/>
        </p:nvGrpSpPr>
        <p:grpSpPr>
          <a:xfrm>
            <a:off x="6561790" y="5351104"/>
            <a:ext cx="843440" cy="237971"/>
            <a:chOff x="6829458" y="5503504"/>
            <a:chExt cx="843440" cy="237971"/>
          </a:xfrm>
        </p:grpSpPr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9BBEA263-3FE1-4143-8EBE-B5D7403E87A6}"/>
                </a:ext>
              </a:extLst>
            </p:cNvPr>
            <p:cNvCxnSpPr>
              <a:cxnSpLocks/>
            </p:cNvCxnSpPr>
            <p:nvPr/>
          </p:nvCxnSpPr>
          <p:spPr>
            <a:xfrm>
              <a:off x="6869428" y="5741475"/>
              <a:ext cx="803470" cy="0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5440AB13-64B6-084B-8C0A-505BC89A46FA}"/>
                </a:ext>
              </a:extLst>
            </p:cNvPr>
            <p:cNvSpPr txBox="1"/>
            <p:nvPr/>
          </p:nvSpPr>
          <p:spPr>
            <a:xfrm>
              <a:off x="6829458" y="5503504"/>
              <a:ext cx="48122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dirty="0"/>
                <a:t>w(1,7)</a:t>
              </a:r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1EB103A3-2A84-FF4C-A018-B793BC040110}"/>
              </a:ext>
            </a:extLst>
          </p:cNvPr>
          <p:cNvGrpSpPr/>
          <p:nvPr/>
        </p:nvGrpSpPr>
        <p:grpSpPr>
          <a:xfrm>
            <a:off x="3666225" y="5742972"/>
            <a:ext cx="3966786" cy="535048"/>
            <a:chOff x="3933893" y="5895372"/>
            <a:chExt cx="3966786" cy="535048"/>
          </a:xfrm>
        </p:grpSpPr>
        <p:cxnSp>
          <p:nvCxnSpPr>
            <p:cNvPr id="5" name="Straight Arrow Connector 4">
              <a:extLst>
                <a:ext uri="{FF2B5EF4-FFF2-40B4-BE49-F238E27FC236}">
                  <a16:creationId xmlns:a16="http://schemas.microsoft.com/office/drawing/2014/main" id="{4377D845-83C8-6C4E-8F61-F4CA606D1693}"/>
                </a:ext>
              </a:extLst>
            </p:cNvPr>
            <p:cNvCxnSpPr>
              <a:cxnSpLocks/>
            </p:cNvCxnSpPr>
            <p:nvPr/>
          </p:nvCxnSpPr>
          <p:spPr>
            <a:xfrm>
              <a:off x="3933893" y="6145221"/>
              <a:ext cx="3966786" cy="0"/>
            </a:xfrm>
            <a:prstGeom prst="straightConnector1">
              <a:avLst/>
            </a:prstGeom>
            <a:ln w="15875" cap="sq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E0F709F-A771-5348-A2EB-C0CF91411D0E}"/>
                </a:ext>
              </a:extLst>
            </p:cNvPr>
            <p:cNvCxnSpPr>
              <a:cxnSpLocks/>
            </p:cNvCxnSpPr>
            <p:nvPr/>
          </p:nvCxnSpPr>
          <p:spPr>
            <a:xfrm>
              <a:off x="4058884" y="6090854"/>
              <a:ext cx="0" cy="108734"/>
            </a:xfrm>
            <a:prstGeom prst="line">
              <a:avLst/>
            </a:prstGeom>
            <a:ln w="6350" cap="sq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C7426242-7EA1-9C43-9497-C99DC5BD8A94}"/>
                </a:ext>
              </a:extLst>
            </p:cNvPr>
            <p:cNvCxnSpPr>
              <a:cxnSpLocks/>
            </p:cNvCxnSpPr>
            <p:nvPr/>
          </p:nvCxnSpPr>
          <p:spPr>
            <a:xfrm>
              <a:off x="4460167" y="6090854"/>
              <a:ext cx="0" cy="108734"/>
            </a:xfrm>
            <a:prstGeom prst="line">
              <a:avLst/>
            </a:prstGeom>
            <a:ln w="6350" cap="sq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093A373E-5BD9-EF4A-92D7-94495D0D2344}"/>
                </a:ext>
              </a:extLst>
            </p:cNvPr>
            <p:cNvCxnSpPr>
              <a:cxnSpLocks/>
            </p:cNvCxnSpPr>
            <p:nvPr/>
          </p:nvCxnSpPr>
          <p:spPr>
            <a:xfrm>
              <a:off x="4861450" y="6090854"/>
              <a:ext cx="0" cy="108734"/>
            </a:xfrm>
            <a:prstGeom prst="line">
              <a:avLst/>
            </a:prstGeom>
            <a:ln w="6350" cap="sq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B08E684F-BEB4-4B4D-93ED-D90A511CDCA4}"/>
                </a:ext>
              </a:extLst>
            </p:cNvPr>
            <p:cNvCxnSpPr>
              <a:cxnSpLocks/>
            </p:cNvCxnSpPr>
            <p:nvPr/>
          </p:nvCxnSpPr>
          <p:spPr>
            <a:xfrm>
              <a:off x="5262733" y="6090854"/>
              <a:ext cx="0" cy="108734"/>
            </a:xfrm>
            <a:prstGeom prst="line">
              <a:avLst/>
            </a:prstGeom>
            <a:ln w="6350" cap="sq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EBCC04F5-0251-454E-BA91-CB9E6F264918}"/>
                </a:ext>
              </a:extLst>
            </p:cNvPr>
            <p:cNvCxnSpPr>
              <a:cxnSpLocks/>
            </p:cNvCxnSpPr>
            <p:nvPr/>
          </p:nvCxnSpPr>
          <p:spPr>
            <a:xfrm>
              <a:off x="5664725" y="6090854"/>
              <a:ext cx="0" cy="108734"/>
            </a:xfrm>
            <a:prstGeom prst="line">
              <a:avLst/>
            </a:prstGeom>
            <a:ln w="6350" cap="sq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F24DF81A-2002-CA41-A9C3-9A79E7AB6432}"/>
                </a:ext>
              </a:extLst>
            </p:cNvPr>
            <p:cNvCxnSpPr>
              <a:cxnSpLocks/>
            </p:cNvCxnSpPr>
            <p:nvPr/>
          </p:nvCxnSpPr>
          <p:spPr>
            <a:xfrm>
              <a:off x="6066008" y="6090854"/>
              <a:ext cx="0" cy="108734"/>
            </a:xfrm>
            <a:prstGeom prst="line">
              <a:avLst/>
            </a:prstGeom>
            <a:ln w="6350" cap="sq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945EB363-5C2A-F845-B8E4-D735082126B7}"/>
                </a:ext>
              </a:extLst>
            </p:cNvPr>
            <p:cNvCxnSpPr>
              <a:cxnSpLocks/>
            </p:cNvCxnSpPr>
            <p:nvPr/>
          </p:nvCxnSpPr>
          <p:spPr>
            <a:xfrm>
              <a:off x="6467291" y="6090854"/>
              <a:ext cx="0" cy="108734"/>
            </a:xfrm>
            <a:prstGeom prst="line">
              <a:avLst/>
            </a:prstGeom>
            <a:ln w="6350" cap="sq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F48623C6-891F-7147-B49A-9EDC9BECF17C}"/>
                </a:ext>
              </a:extLst>
            </p:cNvPr>
            <p:cNvCxnSpPr>
              <a:cxnSpLocks/>
            </p:cNvCxnSpPr>
            <p:nvPr/>
          </p:nvCxnSpPr>
          <p:spPr>
            <a:xfrm>
              <a:off x="6868574" y="6090854"/>
              <a:ext cx="0" cy="108734"/>
            </a:xfrm>
            <a:prstGeom prst="line">
              <a:avLst/>
            </a:prstGeom>
            <a:ln w="6350" cap="sq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CC26209C-5C36-5148-8654-1F5A2A2C7F20}"/>
                </a:ext>
              </a:extLst>
            </p:cNvPr>
            <p:cNvCxnSpPr>
              <a:cxnSpLocks/>
            </p:cNvCxnSpPr>
            <p:nvPr/>
          </p:nvCxnSpPr>
          <p:spPr>
            <a:xfrm>
              <a:off x="7271615" y="6090854"/>
              <a:ext cx="0" cy="108734"/>
            </a:xfrm>
            <a:prstGeom prst="line">
              <a:avLst/>
            </a:prstGeom>
            <a:ln w="6350" cap="sq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B03BAF1E-E7CE-2448-A3D2-FE8D41FA00BE}"/>
                </a:ext>
              </a:extLst>
            </p:cNvPr>
            <p:cNvCxnSpPr>
              <a:cxnSpLocks/>
            </p:cNvCxnSpPr>
            <p:nvPr/>
          </p:nvCxnSpPr>
          <p:spPr>
            <a:xfrm>
              <a:off x="7672898" y="6090854"/>
              <a:ext cx="0" cy="108734"/>
            </a:xfrm>
            <a:prstGeom prst="line">
              <a:avLst/>
            </a:prstGeom>
            <a:ln w="6350" cap="sq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3B7DDDA9-D0D8-4F4A-9E3A-0AC4E54482C1}"/>
                </a:ext>
              </a:extLst>
            </p:cNvPr>
            <p:cNvSpPr txBox="1"/>
            <p:nvPr/>
          </p:nvSpPr>
          <p:spPr>
            <a:xfrm>
              <a:off x="3941107" y="6199588"/>
              <a:ext cx="24237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0</a:t>
              </a: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A7C130A-3439-444A-A594-2EE16E06EF15}"/>
                </a:ext>
              </a:extLst>
            </p:cNvPr>
            <p:cNvSpPr txBox="1"/>
            <p:nvPr/>
          </p:nvSpPr>
          <p:spPr>
            <a:xfrm>
              <a:off x="4341157" y="6199588"/>
              <a:ext cx="24237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1</a:t>
              </a:r>
            </a:p>
          </p:txBody>
        </p:sp>
        <p:sp>
          <p:nvSpPr>
            <p:cNvPr id="30" name="TextBox 29">
              <a:extLst>
                <a:ext uri="{FF2B5EF4-FFF2-40B4-BE49-F238E27FC236}">
                  <a16:creationId xmlns:a16="http://schemas.microsoft.com/office/drawing/2014/main" id="{36223C8E-B661-534A-803F-8E0422AE6EA3}"/>
                </a:ext>
              </a:extLst>
            </p:cNvPr>
            <p:cNvSpPr txBox="1"/>
            <p:nvPr/>
          </p:nvSpPr>
          <p:spPr>
            <a:xfrm>
              <a:off x="4744382" y="6199588"/>
              <a:ext cx="24237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2</a:t>
              </a:r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6F98597F-E2FF-F145-AA06-31048EEAB042}"/>
                </a:ext>
              </a:extLst>
            </p:cNvPr>
            <p:cNvSpPr txBox="1"/>
            <p:nvPr/>
          </p:nvSpPr>
          <p:spPr>
            <a:xfrm>
              <a:off x="5141256" y="6199588"/>
              <a:ext cx="24237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3</a:t>
              </a:r>
            </a:p>
          </p:txBody>
        </p:sp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17604AAF-2DE6-184A-8A89-B2ED71BEEE4A}"/>
                </a:ext>
              </a:extLst>
            </p:cNvPr>
            <p:cNvSpPr txBox="1"/>
            <p:nvPr/>
          </p:nvSpPr>
          <p:spPr>
            <a:xfrm>
              <a:off x="5541307" y="6199588"/>
              <a:ext cx="24237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4</a:t>
              </a:r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E6F9776-332E-3646-BBF8-0ECFDD7C3371}"/>
                </a:ext>
              </a:extLst>
            </p:cNvPr>
            <p:cNvSpPr txBox="1"/>
            <p:nvPr/>
          </p:nvSpPr>
          <p:spPr>
            <a:xfrm>
              <a:off x="5944532" y="6199588"/>
              <a:ext cx="24237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5</a:t>
              </a:r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082C9010-566F-E54E-A572-F9D959C406EF}"/>
                </a:ext>
              </a:extLst>
            </p:cNvPr>
            <p:cNvSpPr txBox="1"/>
            <p:nvPr/>
          </p:nvSpPr>
          <p:spPr>
            <a:xfrm>
              <a:off x="6354107" y="6199588"/>
              <a:ext cx="24237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6</a:t>
              </a:r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8228CBF1-1720-DD47-A264-47332B111519}"/>
                </a:ext>
              </a:extLst>
            </p:cNvPr>
            <p:cNvSpPr txBox="1"/>
            <p:nvPr/>
          </p:nvSpPr>
          <p:spPr>
            <a:xfrm>
              <a:off x="6754157" y="6199588"/>
              <a:ext cx="24237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7</a:t>
              </a: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88049153-E3CF-2B41-AF9F-D1DF4E270F2B}"/>
                </a:ext>
              </a:extLst>
            </p:cNvPr>
            <p:cNvSpPr txBox="1"/>
            <p:nvPr/>
          </p:nvSpPr>
          <p:spPr>
            <a:xfrm>
              <a:off x="7157382" y="6199588"/>
              <a:ext cx="24237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8</a:t>
              </a:r>
            </a:p>
          </p:txBody>
        </p:sp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A853D8F3-A1C0-7447-B681-467A02DFF90C}"/>
                </a:ext>
              </a:extLst>
            </p:cNvPr>
            <p:cNvSpPr txBox="1"/>
            <p:nvPr/>
          </p:nvSpPr>
          <p:spPr>
            <a:xfrm>
              <a:off x="7554257" y="6199588"/>
              <a:ext cx="24237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dirty="0">
                  <a:latin typeface="Gill Sans Light" panose="020B0302020104020203" pitchFamily="34" charset="-79"/>
                  <a:cs typeface="Gill Sans Light" panose="020B0302020104020203" pitchFamily="34" charset="-79"/>
                </a:rPr>
                <a:t>9</a:t>
              </a:r>
            </a:p>
          </p:txBody>
        </p: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6996C29C-35C8-4342-89B2-42508092777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467291" y="5895372"/>
              <a:ext cx="0" cy="240413"/>
            </a:xfrm>
            <a:prstGeom prst="straightConnector1">
              <a:avLst/>
            </a:prstGeom>
            <a:ln w="25400">
              <a:solidFill>
                <a:srgbClr val="FF00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2A2C31CE-92ED-D74C-8723-E0211F8B4140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4057466" y="5895372"/>
              <a:ext cx="0" cy="240413"/>
            </a:xfrm>
            <a:prstGeom prst="straightConnector1">
              <a:avLst/>
            </a:prstGeom>
            <a:ln w="25400">
              <a:solidFill>
                <a:srgbClr val="FF0000"/>
              </a:solidFill>
              <a:headEnd type="non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95BE6694-0FB8-E440-A827-B721E67C88DC}"/>
              </a:ext>
            </a:extLst>
          </p:cNvPr>
          <p:cNvGrpSpPr/>
          <p:nvPr/>
        </p:nvGrpSpPr>
        <p:grpSpPr>
          <a:xfrm>
            <a:off x="3751915" y="5433991"/>
            <a:ext cx="841303" cy="237971"/>
            <a:chOff x="4019583" y="5586391"/>
            <a:chExt cx="841303" cy="237971"/>
          </a:xfrm>
        </p:grpSpPr>
        <p:sp>
          <p:nvSpPr>
            <p:cNvPr id="40" name="TextBox 39">
              <a:extLst>
                <a:ext uri="{FF2B5EF4-FFF2-40B4-BE49-F238E27FC236}">
                  <a16:creationId xmlns:a16="http://schemas.microsoft.com/office/drawing/2014/main" id="{F24083C3-0AED-C04F-A42D-AB72B2075053}"/>
                </a:ext>
              </a:extLst>
            </p:cNvPr>
            <p:cNvSpPr txBox="1"/>
            <p:nvPr/>
          </p:nvSpPr>
          <p:spPr>
            <a:xfrm>
              <a:off x="4019583" y="5586391"/>
              <a:ext cx="48122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dirty="0"/>
                <a:t>w(1,1)</a:t>
              </a:r>
            </a:p>
          </p:txBody>
        </p: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06474FFF-F014-A04E-BC8A-9FDA3CDA5545}"/>
                </a:ext>
              </a:extLst>
            </p:cNvPr>
            <p:cNvCxnSpPr>
              <a:cxnSpLocks/>
            </p:cNvCxnSpPr>
            <p:nvPr/>
          </p:nvCxnSpPr>
          <p:spPr>
            <a:xfrm>
              <a:off x="4059553" y="5824362"/>
              <a:ext cx="801333" cy="0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4A3FD6E4-1B35-F24A-B7E5-AA78CC2DB719}"/>
              </a:ext>
            </a:extLst>
          </p:cNvPr>
          <p:cNvGrpSpPr/>
          <p:nvPr/>
        </p:nvGrpSpPr>
        <p:grpSpPr>
          <a:xfrm>
            <a:off x="6161740" y="5438974"/>
            <a:ext cx="841303" cy="237971"/>
            <a:chOff x="6429408" y="5591374"/>
            <a:chExt cx="841303" cy="237971"/>
          </a:xfrm>
        </p:grpSpPr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02CD3265-734D-2A45-8DF2-87B9D32A0FE2}"/>
                </a:ext>
              </a:extLst>
            </p:cNvPr>
            <p:cNvSpPr txBox="1"/>
            <p:nvPr/>
          </p:nvSpPr>
          <p:spPr>
            <a:xfrm>
              <a:off x="6429408" y="5591374"/>
              <a:ext cx="481222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900" dirty="0"/>
                <a:t>w(1,6)</a:t>
              </a:r>
            </a:p>
          </p:txBody>
        </p:sp>
        <p:cxnSp>
          <p:nvCxnSpPr>
            <p:cNvPr id="74" name="Straight Arrow Connector 73">
              <a:extLst>
                <a:ext uri="{FF2B5EF4-FFF2-40B4-BE49-F238E27FC236}">
                  <a16:creationId xmlns:a16="http://schemas.microsoft.com/office/drawing/2014/main" id="{F971853F-C587-B249-B535-3324F89D11FC}"/>
                </a:ext>
              </a:extLst>
            </p:cNvPr>
            <p:cNvCxnSpPr>
              <a:cxnSpLocks/>
            </p:cNvCxnSpPr>
            <p:nvPr/>
          </p:nvCxnSpPr>
          <p:spPr>
            <a:xfrm>
              <a:off x="6469378" y="5829345"/>
              <a:ext cx="801333" cy="0"/>
            </a:xfrm>
            <a:prstGeom prst="straightConnector1">
              <a:avLst/>
            </a:prstGeom>
            <a:ln w="12700">
              <a:solidFill>
                <a:schemeClr val="bg1">
                  <a:lumMod val="50000"/>
                </a:schemeClr>
              </a:solidFill>
              <a:prstDash val="sysDot"/>
              <a:headEnd type="stealth"/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5017539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52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500"/>
                            </p:stCondLst>
                            <p:childTnLst>
                              <p:par>
                                <p:cTn id="57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00"/>
                            </p:stCondLst>
                            <p:childTnLst>
                              <p:par>
                                <p:cTn id="62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150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500"/>
                            </p:stCondLst>
                            <p:childTnLst>
                              <p:par>
                                <p:cTn id="7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2" dur="500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000"/>
                            </p:stCondLst>
                            <p:childTnLst>
                              <p:par>
                                <p:cTn id="75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78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2500"/>
                            </p:stCondLst>
                            <p:childTnLst>
                              <p:par>
                                <p:cTn id="80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2" dur="500"/>
                                        <p:tgtEl>
                                          <p:spTgt spid="7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83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8ACF4-662D-4841-98F4-D3D323F7C4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Existence of P-fair Schedule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7C0965-7939-7548-86DA-8C60BEC3923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1400" dirty="0"/>
              <a:t>Example: scheduling T</a:t>
            </a:r>
            <a:r>
              <a:rPr lang="en-US" sz="1400" baseline="-25000" dirty="0"/>
              <a:t>1</a:t>
            </a:r>
            <a:r>
              <a:rPr lang="en-US" sz="1400" dirty="0"/>
              <a:t>(2,1), T</a:t>
            </a:r>
            <a:r>
              <a:rPr lang="en-US" sz="1400" baseline="-25000" dirty="0"/>
              <a:t>2</a:t>
            </a:r>
            <a:r>
              <a:rPr lang="en-US" sz="1400" dirty="0"/>
              <a:t>(6,5), and T</a:t>
            </a:r>
            <a:r>
              <a:rPr lang="en-US" sz="1400" baseline="-25000" dirty="0"/>
              <a:t>3</a:t>
            </a:r>
            <a:r>
              <a:rPr lang="en-US" sz="1400" dirty="0"/>
              <a:t>(3,2) on two CPUs</a:t>
            </a:r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pPr lvl="1"/>
            <a:endParaRPr lang="en-US" sz="10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endParaRPr lang="en-US" sz="1400" dirty="0"/>
          </a:p>
          <a:p>
            <a:pPr lvl="1"/>
            <a:endParaRPr lang="en-US" sz="1000" dirty="0"/>
          </a:p>
          <a:p>
            <a:r>
              <a:rPr lang="en-US" sz="1400" i="1" dirty="0">
                <a:solidFill>
                  <a:srgbClr val="FF0000"/>
                </a:solidFill>
              </a:rPr>
              <a:t>Integral flow theorem</a:t>
            </a:r>
            <a:r>
              <a:rPr lang="en-US" sz="1400" dirty="0"/>
              <a:t>: If all edges have integral capacity, then integral maximal flow exists</a:t>
            </a:r>
          </a:p>
          <a:p>
            <a:r>
              <a:rPr lang="en-US" sz="1400" dirty="0"/>
              <a:t>Network flow problem has integer solution ⇒ P-fair schedule exists</a:t>
            </a:r>
          </a:p>
        </p:txBody>
      </p:sp>
      <p:sp>
        <p:nvSpPr>
          <p:cNvPr id="264" name="TextBox 263">
            <a:extLst>
              <a:ext uri="{FF2B5EF4-FFF2-40B4-BE49-F238E27FC236}">
                <a16:creationId xmlns:a16="http://schemas.microsoft.com/office/drawing/2014/main" id="{37B6F77E-92F8-C843-B01F-FFCAF3F7A5F5}"/>
              </a:ext>
            </a:extLst>
          </p:cNvPr>
          <p:cNvSpPr txBox="1"/>
          <p:nvPr/>
        </p:nvSpPr>
        <p:spPr>
          <a:xfrm>
            <a:off x="1533421" y="3290007"/>
            <a:ext cx="694421" cy="230832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900" dirty="0">
                <a:latin typeface="+mj-lt"/>
                <a:cs typeface="Gill Sans Light" panose="020B0302020104020203" pitchFamily="34" charset="-79"/>
              </a:rPr>
              <a:t>LCM(2,3,6)</a:t>
            </a:r>
          </a:p>
        </p:txBody>
      </p:sp>
      <p:cxnSp>
        <p:nvCxnSpPr>
          <p:cNvPr id="267" name="Straight Arrow Connector 266">
            <a:extLst>
              <a:ext uri="{FF2B5EF4-FFF2-40B4-BE49-F238E27FC236}">
                <a16:creationId xmlns:a16="http://schemas.microsoft.com/office/drawing/2014/main" id="{F0118EBF-4399-864F-ADBA-2EFEA4B0423E}"/>
              </a:ext>
            </a:extLst>
          </p:cNvPr>
          <p:cNvCxnSpPr>
            <a:cxnSpLocks/>
          </p:cNvCxnSpPr>
          <p:nvPr/>
        </p:nvCxnSpPr>
        <p:spPr>
          <a:xfrm>
            <a:off x="1988653" y="3528534"/>
            <a:ext cx="79507" cy="272090"/>
          </a:xfrm>
          <a:prstGeom prst="straightConnector1">
            <a:avLst/>
          </a:prstGeom>
          <a:ln cap="sq">
            <a:solidFill>
              <a:schemeClr val="bg1">
                <a:lumMod val="50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7" name="TextBox 276">
            <a:extLst>
              <a:ext uri="{FF2B5EF4-FFF2-40B4-BE49-F238E27FC236}">
                <a16:creationId xmlns:a16="http://schemas.microsoft.com/office/drawing/2014/main" id="{E3C3C6C2-0FF1-DD42-97E4-E17871DFEF8B}"/>
              </a:ext>
            </a:extLst>
          </p:cNvPr>
          <p:cNvSpPr txBox="1"/>
          <p:nvPr/>
        </p:nvSpPr>
        <p:spPr>
          <a:xfrm>
            <a:off x="1828330" y="2617425"/>
            <a:ext cx="1011545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900" dirty="0">
                <a:latin typeface="+mj-lt"/>
                <a:cs typeface="Gill Sans Light" panose="020B0302020104020203" pitchFamily="34" charset="-79"/>
              </a:rPr>
              <a:t>Num of Subtasks = Num jobs x </a:t>
            </a:r>
            <a:r>
              <a:rPr lang="en-US" sz="900" i="1" dirty="0" err="1">
                <a:latin typeface="+mj-lt"/>
                <a:cs typeface="Gill Sans Light" panose="020B0302020104020203" pitchFamily="34" charset="-79"/>
              </a:rPr>
              <a:t>e</a:t>
            </a:r>
            <a:r>
              <a:rPr lang="en-US" sz="900" i="1" baseline="-25000" dirty="0" err="1">
                <a:latin typeface="+mj-lt"/>
                <a:cs typeface="Gill Sans Light" panose="020B0302020104020203" pitchFamily="34" charset="-79"/>
              </a:rPr>
              <a:t>i</a:t>
            </a:r>
            <a:endParaRPr lang="en-US" sz="900" i="1" baseline="-25000" dirty="0">
              <a:latin typeface="+mj-lt"/>
              <a:cs typeface="Gill Sans Light" panose="020B0302020104020203" pitchFamily="34" charset="-79"/>
            </a:endParaRPr>
          </a:p>
        </p:txBody>
      </p:sp>
      <p:cxnSp>
        <p:nvCxnSpPr>
          <p:cNvPr id="278" name="Straight Arrow Connector 277">
            <a:extLst>
              <a:ext uri="{FF2B5EF4-FFF2-40B4-BE49-F238E27FC236}">
                <a16:creationId xmlns:a16="http://schemas.microsoft.com/office/drawing/2014/main" id="{8618BDF4-DB4A-7D41-9C34-0CC20EF22E6F}"/>
              </a:ext>
            </a:extLst>
          </p:cNvPr>
          <p:cNvCxnSpPr>
            <a:cxnSpLocks/>
          </p:cNvCxnSpPr>
          <p:nvPr/>
        </p:nvCxnSpPr>
        <p:spPr>
          <a:xfrm>
            <a:off x="2369865" y="2973341"/>
            <a:ext cx="124521" cy="288383"/>
          </a:xfrm>
          <a:prstGeom prst="straightConnector1">
            <a:avLst/>
          </a:prstGeom>
          <a:ln cap="sq">
            <a:solidFill>
              <a:schemeClr val="bg1">
                <a:lumMod val="50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0" name="TextBox 289">
            <a:extLst>
              <a:ext uri="{FF2B5EF4-FFF2-40B4-BE49-F238E27FC236}">
                <a16:creationId xmlns:a16="http://schemas.microsoft.com/office/drawing/2014/main" id="{DA0AAEE0-0EC9-9846-A7D7-712D4645CF01}"/>
              </a:ext>
            </a:extLst>
          </p:cNvPr>
          <p:cNvSpPr txBox="1"/>
          <p:nvPr/>
        </p:nvSpPr>
        <p:spPr>
          <a:xfrm>
            <a:off x="1253789" y="4408974"/>
            <a:ext cx="1085554" cy="784830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/>
          <a:p>
            <a:pPr algn="ctr"/>
            <a:r>
              <a:rPr lang="en-US" sz="900" dirty="0">
                <a:latin typeface="+mj-lt"/>
                <a:cs typeface="Gill Sans Light" panose="020B0302020104020203" pitchFamily="34" charset="-79"/>
              </a:rPr>
              <a:t>Utilization =</a:t>
            </a:r>
            <a:br>
              <a:rPr lang="en-US" sz="900" dirty="0">
                <a:latin typeface="+mj-lt"/>
                <a:cs typeface="Gill Sans Light" panose="020B0302020104020203" pitchFamily="34" charset="-79"/>
              </a:rPr>
            </a:br>
            <a:r>
              <a:rPr lang="en-US" sz="900" dirty="0">
                <a:latin typeface="+mj-lt"/>
                <a:cs typeface="Gill Sans Light" panose="020B0302020104020203" pitchFamily="34" charset="-79"/>
              </a:rPr>
              <a:t>Num of CPUs </a:t>
            </a:r>
            <a:br>
              <a:rPr lang="en-US" sz="900" dirty="0">
                <a:latin typeface="+mj-lt"/>
                <a:cs typeface="Gill Sans Light" panose="020B0302020104020203" pitchFamily="34" charset="-79"/>
              </a:rPr>
            </a:br>
            <a:r>
              <a:rPr lang="en-US" sz="900" dirty="0">
                <a:latin typeface="+mj-lt"/>
                <a:cs typeface="Gill Sans Light" panose="020B0302020104020203" pitchFamily="34" charset="-79"/>
              </a:rPr>
              <a:t>(if utilization is less </a:t>
            </a:r>
            <a:br>
              <a:rPr lang="en-US" sz="900" dirty="0">
                <a:latin typeface="+mj-lt"/>
                <a:cs typeface="Gill Sans Light" panose="020B0302020104020203" pitchFamily="34" charset="-79"/>
              </a:rPr>
            </a:br>
            <a:r>
              <a:rPr lang="en-US" sz="900" dirty="0">
                <a:latin typeface="+mj-lt"/>
                <a:cs typeface="Gill Sans Light" panose="020B0302020104020203" pitchFamily="34" charset="-79"/>
              </a:rPr>
              <a:t>than num of CPUs </a:t>
            </a:r>
            <a:br>
              <a:rPr lang="en-US" sz="900" dirty="0">
                <a:latin typeface="+mj-lt"/>
                <a:cs typeface="Gill Sans Light" panose="020B0302020104020203" pitchFamily="34" charset="-79"/>
              </a:rPr>
            </a:br>
            <a:r>
              <a:rPr lang="en-US" sz="900" dirty="0">
                <a:latin typeface="+mj-lt"/>
                <a:cs typeface="Gill Sans Light" panose="020B0302020104020203" pitchFamily="34" charset="-79"/>
              </a:rPr>
              <a:t>add dummy task)</a:t>
            </a:r>
          </a:p>
        </p:txBody>
      </p:sp>
      <p:cxnSp>
        <p:nvCxnSpPr>
          <p:cNvPr id="291" name="Straight Arrow Connector 290">
            <a:extLst>
              <a:ext uri="{FF2B5EF4-FFF2-40B4-BE49-F238E27FC236}">
                <a16:creationId xmlns:a16="http://schemas.microsoft.com/office/drawing/2014/main" id="{ADFCFAA6-BFD1-CA42-8FDE-0F12C34AE905}"/>
              </a:ext>
            </a:extLst>
          </p:cNvPr>
          <p:cNvCxnSpPr>
            <a:cxnSpLocks/>
            <a:stCxn id="290" idx="0"/>
          </p:cNvCxnSpPr>
          <p:nvPr/>
        </p:nvCxnSpPr>
        <p:spPr>
          <a:xfrm flipV="1">
            <a:off x="1796566" y="3937876"/>
            <a:ext cx="124899" cy="471098"/>
          </a:xfrm>
          <a:prstGeom prst="straightConnector1">
            <a:avLst/>
          </a:prstGeom>
          <a:ln cap="sq">
            <a:solidFill>
              <a:schemeClr val="bg1">
                <a:lumMod val="50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6" name="TextBox 325">
            <a:extLst>
              <a:ext uri="{FF2B5EF4-FFF2-40B4-BE49-F238E27FC236}">
                <a16:creationId xmlns:a16="http://schemas.microsoft.com/office/drawing/2014/main" id="{F57ED484-9504-114E-8228-CC71E8A5EEFD}"/>
              </a:ext>
            </a:extLst>
          </p:cNvPr>
          <p:cNvSpPr txBox="1"/>
          <p:nvPr/>
        </p:nvSpPr>
        <p:spPr>
          <a:xfrm>
            <a:off x="6464451" y="2371379"/>
            <a:ext cx="91959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900" dirty="0">
                <a:latin typeface="+mj-lt"/>
                <a:cs typeface="Gill Sans Light" panose="020B0302020104020203" pitchFamily="34" charset="-79"/>
              </a:rPr>
              <a:t>Utilization = Num of CPUs</a:t>
            </a:r>
          </a:p>
        </p:txBody>
      </p:sp>
      <p:cxnSp>
        <p:nvCxnSpPr>
          <p:cNvPr id="327" name="Straight Arrow Connector 326">
            <a:extLst>
              <a:ext uri="{FF2B5EF4-FFF2-40B4-BE49-F238E27FC236}">
                <a16:creationId xmlns:a16="http://schemas.microsoft.com/office/drawing/2014/main" id="{B19CF602-C5D8-F646-BA96-9F4F9968F03E}"/>
              </a:ext>
            </a:extLst>
          </p:cNvPr>
          <p:cNvCxnSpPr>
            <a:cxnSpLocks/>
          </p:cNvCxnSpPr>
          <p:nvPr/>
        </p:nvCxnSpPr>
        <p:spPr>
          <a:xfrm flipH="1">
            <a:off x="6464453" y="2742421"/>
            <a:ext cx="275051" cy="213809"/>
          </a:xfrm>
          <a:prstGeom prst="straightConnector1">
            <a:avLst/>
          </a:prstGeom>
          <a:ln cap="sq">
            <a:solidFill>
              <a:schemeClr val="bg1">
                <a:lumMod val="50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7885FDFA-5139-B449-968E-6ADF200B1185}"/>
              </a:ext>
            </a:extLst>
          </p:cNvPr>
          <p:cNvGrpSpPr/>
          <p:nvPr/>
        </p:nvGrpSpPr>
        <p:grpSpPr>
          <a:xfrm>
            <a:off x="1810929" y="2458993"/>
            <a:ext cx="5605583" cy="3123471"/>
            <a:chOff x="1442413" y="2212946"/>
            <a:chExt cx="6166141" cy="3435818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5D68B19C-66F4-A241-A46B-4F059D664737}"/>
                </a:ext>
              </a:extLst>
            </p:cNvPr>
            <p:cNvSpPr/>
            <p:nvPr/>
          </p:nvSpPr>
          <p:spPr>
            <a:xfrm>
              <a:off x="1947615" y="3751041"/>
              <a:ext cx="252000" cy="252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900" dirty="0">
                <a:solidFill>
                  <a:schemeClr val="tx1"/>
                </a:solidFill>
                <a:latin typeface="+mj-lt"/>
                <a:cs typeface="Gill Sans Light" panose="020B0302020104020203" pitchFamily="34" charset="-79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407E0F6C-45B4-B944-91A9-06EAAD985BFF}"/>
                </a:ext>
              </a:extLst>
            </p:cNvPr>
            <p:cNvSpPr/>
            <p:nvPr/>
          </p:nvSpPr>
          <p:spPr>
            <a:xfrm>
              <a:off x="2639378" y="4990746"/>
              <a:ext cx="252000" cy="2520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T</a:t>
              </a:r>
              <a:r>
                <a:rPr lang="en-US" sz="900" baseline="-250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3</a:t>
              </a: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482FCAA-58A8-C54C-AA56-8A18DC793B8F}"/>
                </a:ext>
              </a:extLst>
            </p:cNvPr>
            <p:cNvSpPr/>
            <p:nvPr/>
          </p:nvSpPr>
          <p:spPr>
            <a:xfrm>
              <a:off x="2639378" y="2507770"/>
              <a:ext cx="252000" cy="252000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T</a:t>
              </a:r>
              <a:r>
                <a:rPr lang="en-US" sz="900" baseline="-250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1</a:t>
              </a:r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C39EFF38-DE62-E247-A751-D1909E04FF52}"/>
                </a:ext>
              </a:extLst>
            </p:cNvPr>
            <p:cNvSpPr/>
            <p:nvPr/>
          </p:nvSpPr>
          <p:spPr>
            <a:xfrm>
              <a:off x="3426557" y="2794518"/>
              <a:ext cx="252000" cy="252000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T</a:t>
              </a:r>
              <a:r>
                <a:rPr lang="en-US" sz="900" baseline="-250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13</a:t>
              </a:r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891E8328-A037-2941-B66B-57E6C90BD545}"/>
                </a:ext>
              </a:extLst>
            </p:cNvPr>
            <p:cNvSpPr/>
            <p:nvPr/>
          </p:nvSpPr>
          <p:spPr>
            <a:xfrm>
              <a:off x="3426557" y="2503835"/>
              <a:ext cx="252000" cy="252000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T</a:t>
              </a:r>
              <a:r>
                <a:rPr lang="en-US" sz="900" baseline="-250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12</a:t>
              </a:r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1F36864E-692E-374F-BC6A-BCC0DC7A2FDB}"/>
                </a:ext>
              </a:extLst>
            </p:cNvPr>
            <p:cNvSpPr/>
            <p:nvPr/>
          </p:nvSpPr>
          <p:spPr>
            <a:xfrm>
              <a:off x="3426557" y="2212946"/>
              <a:ext cx="252000" cy="252000"/>
            </a:xfrm>
            <a:prstGeom prst="ellipse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T</a:t>
              </a:r>
              <a:r>
                <a:rPr lang="en-US" sz="900" baseline="-250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11</a:t>
              </a:r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28097254-E4F7-5942-8002-03ED2DD96CE0}"/>
                </a:ext>
              </a:extLst>
            </p:cNvPr>
            <p:cNvSpPr/>
            <p:nvPr/>
          </p:nvSpPr>
          <p:spPr>
            <a:xfrm>
              <a:off x="6099957" y="3994448"/>
              <a:ext cx="252000" cy="2520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900" i="1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t</a:t>
              </a:r>
              <a:r>
                <a:rPr lang="en-US" sz="9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=3</a:t>
              </a:r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7AEBC8D9-2A20-844F-85CC-5327EFA4DB90}"/>
                </a:ext>
              </a:extLst>
            </p:cNvPr>
            <p:cNvSpPr/>
            <p:nvPr/>
          </p:nvSpPr>
          <p:spPr>
            <a:xfrm>
              <a:off x="6099957" y="3008486"/>
              <a:ext cx="252000" cy="2520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900" i="1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t</a:t>
              </a:r>
              <a:r>
                <a:rPr lang="en-US" sz="9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=1</a:t>
              </a:r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9C5D4F19-8DED-1646-BA06-521D4F220F9C}"/>
                </a:ext>
              </a:extLst>
            </p:cNvPr>
            <p:cNvSpPr/>
            <p:nvPr/>
          </p:nvSpPr>
          <p:spPr>
            <a:xfrm>
              <a:off x="6099957" y="4980410"/>
              <a:ext cx="252000" cy="2520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900" i="1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t</a:t>
              </a:r>
              <a:r>
                <a:rPr lang="en-US" sz="9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=5</a:t>
              </a:r>
            </a:p>
          </p:txBody>
        </p:sp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4C4AB52D-CB16-2B40-98A6-AAA2EBDC04F1}"/>
                </a:ext>
              </a:extLst>
            </p:cNvPr>
            <p:cNvSpPr/>
            <p:nvPr/>
          </p:nvSpPr>
          <p:spPr>
            <a:xfrm>
              <a:off x="6099957" y="3507634"/>
              <a:ext cx="252000" cy="2520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900" i="1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t</a:t>
              </a:r>
              <a:r>
                <a:rPr lang="en-US" sz="9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=2</a:t>
              </a:r>
            </a:p>
          </p:txBody>
        </p:sp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4A744F82-5329-3A41-A79E-6397442B6ADD}"/>
                </a:ext>
              </a:extLst>
            </p:cNvPr>
            <p:cNvSpPr/>
            <p:nvPr/>
          </p:nvSpPr>
          <p:spPr>
            <a:xfrm>
              <a:off x="6099957" y="2521672"/>
              <a:ext cx="252000" cy="2520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900" i="1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t</a:t>
              </a:r>
              <a:r>
                <a:rPr lang="en-US" sz="9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=0</a:t>
              </a:r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63BC19FC-64F2-5645-B335-C589489C99F2}"/>
                </a:ext>
              </a:extLst>
            </p:cNvPr>
            <p:cNvSpPr/>
            <p:nvPr/>
          </p:nvSpPr>
          <p:spPr>
            <a:xfrm>
              <a:off x="6099957" y="4493596"/>
              <a:ext cx="252000" cy="252000"/>
            </a:xfrm>
            <a:prstGeom prst="ellipse">
              <a:avLst/>
            </a:prstGeom>
            <a:solidFill>
              <a:schemeClr val="tx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900" i="1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t</a:t>
              </a:r>
              <a:r>
                <a:rPr lang="en-US" sz="9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=4</a:t>
              </a:r>
            </a:p>
          </p:txBody>
        </p:sp>
        <p:sp>
          <p:nvSpPr>
            <p:cNvPr id="41" name="Oval 40">
              <a:extLst>
                <a:ext uri="{FF2B5EF4-FFF2-40B4-BE49-F238E27FC236}">
                  <a16:creationId xmlns:a16="http://schemas.microsoft.com/office/drawing/2014/main" id="{BB523456-02E9-6244-B1D6-31A771B42622}"/>
                </a:ext>
              </a:extLst>
            </p:cNvPr>
            <p:cNvSpPr/>
            <p:nvPr/>
          </p:nvSpPr>
          <p:spPr>
            <a:xfrm>
              <a:off x="6855993" y="3751041"/>
              <a:ext cx="252000" cy="252000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endParaRPr lang="en-US" sz="900">
                <a:solidFill>
                  <a:schemeClr val="tx1"/>
                </a:solidFill>
                <a:latin typeface="+mj-lt"/>
                <a:cs typeface="Gill Sans Light" panose="020B0302020104020203" pitchFamily="34" charset="-79"/>
              </a:endParaRPr>
            </a:p>
          </p:txBody>
        </p:sp>
        <p:cxnSp>
          <p:nvCxnSpPr>
            <p:cNvPr id="47" name="Straight Arrow Connector 46">
              <a:extLst>
                <a:ext uri="{FF2B5EF4-FFF2-40B4-BE49-F238E27FC236}">
                  <a16:creationId xmlns:a16="http://schemas.microsoft.com/office/drawing/2014/main" id="{85204D44-894C-F644-952C-082ED4413CE5}"/>
                </a:ext>
              </a:extLst>
            </p:cNvPr>
            <p:cNvCxnSpPr>
              <a:cxnSpLocks/>
              <a:stCxn id="4" idx="6"/>
              <a:endCxn id="6" idx="2"/>
            </p:cNvCxnSpPr>
            <p:nvPr/>
          </p:nvCxnSpPr>
          <p:spPr>
            <a:xfrm flipV="1">
              <a:off x="2199615" y="2633770"/>
              <a:ext cx="439763" cy="1243271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>
              <a:extLst>
                <a:ext uri="{FF2B5EF4-FFF2-40B4-BE49-F238E27FC236}">
                  <a16:creationId xmlns:a16="http://schemas.microsoft.com/office/drawing/2014/main" id="{05E3E617-3C6A-D046-85A9-EA97FB056AB2}"/>
                </a:ext>
              </a:extLst>
            </p:cNvPr>
            <p:cNvCxnSpPr>
              <a:cxnSpLocks/>
              <a:stCxn id="4" idx="6"/>
              <a:endCxn id="5" idx="2"/>
            </p:cNvCxnSpPr>
            <p:nvPr/>
          </p:nvCxnSpPr>
          <p:spPr>
            <a:xfrm>
              <a:off x="2199615" y="3877041"/>
              <a:ext cx="439763" cy="1239705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0E7AAEEC-6344-B64D-A78E-99F70D6E9B0E}"/>
                </a:ext>
              </a:extLst>
            </p:cNvPr>
            <p:cNvCxnSpPr>
              <a:cxnSpLocks/>
              <a:stCxn id="4" idx="6"/>
            </p:cNvCxnSpPr>
            <p:nvPr/>
          </p:nvCxnSpPr>
          <p:spPr>
            <a:xfrm>
              <a:off x="2199615" y="3877041"/>
              <a:ext cx="439763" cy="2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AB10B0B2-0E42-D840-999D-6660467B8AF6}"/>
                </a:ext>
              </a:extLst>
            </p:cNvPr>
            <p:cNvCxnSpPr>
              <a:cxnSpLocks/>
              <a:stCxn id="6" idx="6"/>
              <a:endCxn id="13" idx="2"/>
            </p:cNvCxnSpPr>
            <p:nvPr/>
          </p:nvCxnSpPr>
          <p:spPr>
            <a:xfrm flipV="1">
              <a:off x="2891378" y="2338946"/>
              <a:ext cx="535179" cy="294824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9BB59D07-FE10-D849-A2F3-B5DD47E07DDE}"/>
                </a:ext>
              </a:extLst>
            </p:cNvPr>
            <p:cNvCxnSpPr>
              <a:cxnSpLocks/>
              <a:stCxn id="6" idx="6"/>
              <a:endCxn id="12" idx="2"/>
            </p:cNvCxnSpPr>
            <p:nvPr/>
          </p:nvCxnSpPr>
          <p:spPr>
            <a:xfrm flipV="1">
              <a:off x="2891378" y="2629835"/>
              <a:ext cx="535179" cy="3935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334D653F-4DBD-9C44-8C1D-13012CF8F65F}"/>
                </a:ext>
              </a:extLst>
            </p:cNvPr>
            <p:cNvCxnSpPr>
              <a:cxnSpLocks/>
              <a:stCxn id="6" idx="6"/>
              <a:endCxn id="11" idx="2"/>
            </p:cNvCxnSpPr>
            <p:nvPr/>
          </p:nvCxnSpPr>
          <p:spPr>
            <a:xfrm>
              <a:off x="2891378" y="2633770"/>
              <a:ext cx="535179" cy="286748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3093A56E-57CB-754B-B107-78FF9893E354}"/>
                </a:ext>
              </a:extLst>
            </p:cNvPr>
            <p:cNvCxnSpPr>
              <a:cxnSpLocks/>
              <a:stCxn id="13" idx="6"/>
              <a:endCxn id="14" idx="1"/>
            </p:cNvCxnSpPr>
            <p:nvPr/>
          </p:nvCxnSpPr>
          <p:spPr>
            <a:xfrm>
              <a:off x="3678557" y="2338946"/>
              <a:ext cx="683848" cy="201243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D7C65C34-6D06-6E4D-9CDC-C4D681607C99}"/>
                </a:ext>
              </a:extLst>
            </p:cNvPr>
            <p:cNvCxnSpPr>
              <a:cxnSpLocks/>
              <a:stCxn id="13" idx="6"/>
              <a:endCxn id="15" idx="1"/>
            </p:cNvCxnSpPr>
            <p:nvPr/>
          </p:nvCxnSpPr>
          <p:spPr>
            <a:xfrm>
              <a:off x="3678557" y="2338946"/>
              <a:ext cx="683848" cy="21243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>
              <a:extLst>
                <a:ext uri="{FF2B5EF4-FFF2-40B4-BE49-F238E27FC236}">
                  <a16:creationId xmlns:a16="http://schemas.microsoft.com/office/drawing/2014/main" id="{D62C8046-9E8F-9545-B53A-656672D18EE4}"/>
                </a:ext>
              </a:extLst>
            </p:cNvPr>
            <p:cNvCxnSpPr>
              <a:cxnSpLocks/>
              <a:stCxn id="5" idx="6"/>
              <a:endCxn id="10" idx="2"/>
            </p:cNvCxnSpPr>
            <p:nvPr/>
          </p:nvCxnSpPr>
          <p:spPr>
            <a:xfrm flipV="1">
              <a:off x="2891378" y="4710729"/>
              <a:ext cx="535179" cy="406017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8" name="Straight Arrow Connector 67">
              <a:extLst>
                <a:ext uri="{FF2B5EF4-FFF2-40B4-BE49-F238E27FC236}">
                  <a16:creationId xmlns:a16="http://schemas.microsoft.com/office/drawing/2014/main" id="{4E54DF30-6A85-274B-8BC7-3C7D28991431}"/>
                </a:ext>
              </a:extLst>
            </p:cNvPr>
            <p:cNvCxnSpPr>
              <a:cxnSpLocks/>
              <a:stCxn id="5" idx="6"/>
              <a:endCxn id="9" idx="2"/>
            </p:cNvCxnSpPr>
            <p:nvPr/>
          </p:nvCxnSpPr>
          <p:spPr>
            <a:xfrm flipV="1">
              <a:off x="2891378" y="4981498"/>
              <a:ext cx="535179" cy="135248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1" name="Straight Arrow Connector 80">
              <a:extLst>
                <a:ext uri="{FF2B5EF4-FFF2-40B4-BE49-F238E27FC236}">
                  <a16:creationId xmlns:a16="http://schemas.microsoft.com/office/drawing/2014/main" id="{EE3B7246-3C45-0B48-9FDF-B46ACD88FD4F}"/>
                </a:ext>
              </a:extLst>
            </p:cNvPr>
            <p:cNvCxnSpPr>
              <a:cxnSpLocks/>
              <a:stCxn id="12" idx="6"/>
              <a:endCxn id="16" idx="1"/>
            </p:cNvCxnSpPr>
            <p:nvPr/>
          </p:nvCxnSpPr>
          <p:spPr>
            <a:xfrm>
              <a:off x="3678557" y="2629835"/>
              <a:ext cx="683848" cy="90354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Straight Arrow Connector 81">
              <a:extLst>
                <a:ext uri="{FF2B5EF4-FFF2-40B4-BE49-F238E27FC236}">
                  <a16:creationId xmlns:a16="http://schemas.microsoft.com/office/drawing/2014/main" id="{B4E9A127-607F-5441-A42F-CA98874794DE}"/>
                </a:ext>
              </a:extLst>
            </p:cNvPr>
            <p:cNvCxnSpPr>
              <a:cxnSpLocks/>
              <a:stCxn id="12" idx="6"/>
              <a:endCxn id="17" idx="1"/>
            </p:cNvCxnSpPr>
            <p:nvPr/>
          </p:nvCxnSpPr>
          <p:spPr>
            <a:xfrm>
              <a:off x="3678557" y="2629835"/>
              <a:ext cx="683848" cy="270354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Straight Arrow Connector 82">
              <a:extLst>
                <a:ext uri="{FF2B5EF4-FFF2-40B4-BE49-F238E27FC236}">
                  <a16:creationId xmlns:a16="http://schemas.microsoft.com/office/drawing/2014/main" id="{FEB4F088-0602-FD45-9FFF-87BE6F24BEB7}"/>
                </a:ext>
              </a:extLst>
            </p:cNvPr>
            <p:cNvCxnSpPr>
              <a:cxnSpLocks/>
              <a:stCxn id="11" idx="6"/>
              <a:endCxn id="18" idx="1"/>
            </p:cNvCxnSpPr>
            <p:nvPr/>
          </p:nvCxnSpPr>
          <p:spPr>
            <a:xfrm>
              <a:off x="3678557" y="2920518"/>
              <a:ext cx="683848" cy="159671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Straight Arrow Connector 83">
              <a:extLst>
                <a:ext uri="{FF2B5EF4-FFF2-40B4-BE49-F238E27FC236}">
                  <a16:creationId xmlns:a16="http://schemas.microsoft.com/office/drawing/2014/main" id="{FA816B80-D869-8543-866A-003F8862910D}"/>
                </a:ext>
              </a:extLst>
            </p:cNvPr>
            <p:cNvCxnSpPr>
              <a:cxnSpLocks/>
              <a:stCxn id="11" idx="6"/>
              <a:endCxn id="19" idx="1"/>
            </p:cNvCxnSpPr>
            <p:nvPr/>
          </p:nvCxnSpPr>
          <p:spPr>
            <a:xfrm>
              <a:off x="3678557" y="2920518"/>
              <a:ext cx="683848" cy="339671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>
              <a:extLst>
                <a:ext uri="{FF2B5EF4-FFF2-40B4-BE49-F238E27FC236}">
                  <a16:creationId xmlns:a16="http://schemas.microsoft.com/office/drawing/2014/main" id="{E0D61BD9-3F0A-4D4D-9CFC-B9A1721BAEB0}"/>
                </a:ext>
              </a:extLst>
            </p:cNvPr>
            <p:cNvCxnSpPr>
              <a:cxnSpLocks/>
              <a:stCxn id="10" idx="6"/>
              <a:endCxn id="26" idx="1"/>
            </p:cNvCxnSpPr>
            <p:nvPr/>
          </p:nvCxnSpPr>
          <p:spPr>
            <a:xfrm flipV="1">
              <a:off x="3678557" y="4520189"/>
              <a:ext cx="683848" cy="190540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Straight Arrow Connector 85">
              <a:extLst>
                <a:ext uri="{FF2B5EF4-FFF2-40B4-BE49-F238E27FC236}">
                  <a16:creationId xmlns:a16="http://schemas.microsoft.com/office/drawing/2014/main" id="{FE3BB731-F14C-F841-911D-B2F3FC9D56AB}"/>
                </a:ext>
              </a:extLst>
            </p:cNvPr>
            <p:cNvCxnSpPr>
              <a:cxnSpLocks/>
              <a:stCxn id="10" idx="6"/>
              <a:endCxn id="27" idx="1"/>
            </p:cNvCxnSpPr>
            <p:nvPr/>
          </p:nvCxnSpPr>
          <p:spPr>
            <a:xfrm flipV="1">
              <a:off x="3678557" y="4700189"/>
              <a:ext cx="683848" cy="10540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Arrow Connector 108">
              <a:extLst>
                <a:ext uri="{FF2B5EF4-FFF2-40B4-BE49-F238E27FC236}">
                  <a16:creationId xmlns:a16="http://schemas.microsoft.com/office/drawing/2014/main" id="{AA9294C1-3BA1-E840-9351-C000B37C63B0}"/>
                </a:ext>
              </a:extLst>
            </p:cNvPr>
            <p:cNvCxnSpPr>
              <a:cxnSpLocks/>
              <a:stCxn id="9" idx="6"/>
              <a:endCxn id="28" idx="1"/>
            </p:cNvCxnSpPr>
            <p:nvPr/>
          </p:nvCxnSpPr>
          <p:spPr>
            <a:xfrm flipV="1">
              <a:off x="3678557" y="4880189"/>
              <a:ext cx="683848" cy="101309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Arrow Connector 109">
              <a:extLst>
                <a:ext uri="{FF2B5EF4-FFF2-40B4-BE49-F238E27FC236}">
                  <a16:creationId xmlns:a16="http://schemas.microsoft.com/office/drawing/2014/main" id="{C770E1FD-C6A2-4C4D-A3BA-1A18194F0AE0}"/>
                </a:ext>
              </a:extLst>
            </p:cNvPr>
            <p:cNvCxnSpPr>
              <a:cxnSpLocks/>
              <a:stCxn id="9" idx="6"/>
              <a:endCxn id="27" idx="1"/>
            </p:cNvCxnSpPr>
            <p:nvPr/>
          </p:nvCxnSpPr>
          <p:spPr>
            <a:xfrm flipV="1">
              <a:off x="3678557" y="4700189"/>
              <a:ext cx="683848" cy="281309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Arrow Connector 110">
              <a:extLst>
                <a:ext uri="{FF2B5EF4-FFF2-40B4-BE49-F238E27FC236}">
                  <a16:creationId xmlns:a16="http://schemas.microsoft.com/office/drawing/2014/main" id="{F6CB0BBD-B1D6-3D47-8DFC-82AFC5154511}"/>
                </a:ext>
              </a:extLst>
            </p:cNvPr>
            <p:cNvCxnSpPr>
              <a:cxnSpLocks/>
              <a:stCxn id="171" idx="6"/>
              <a:endCxn id="30" idx="1"/>
            </p:cNvCxnSpPr>
            <p:nvPr/>
          </p:nvCxnSpPr>
          <p:spPr>
            <a:xfrm flipV="1">
              <a:off x="3678557" y="5240189"/>
              <a:ext cx="683848" cy="11806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Arrow Connector 111">
              <a:extLst>
                <a:ext uri="{FF2B5EF4-FFF2-40B4-BE49-F238E27FC236}">
                  <a16:creationId xmlns:a16="http://schemas.microsoft.com/office/drawing/2014/main" id="{E725F62D-BC21-654B-B618-37350D0E4E1F}"/>
                </a:ext>
              </a:extLst>
            </p:cNvPr>
            <p:cNvCxnSpPr>
              <a:cxnSpLocks/>
              <a:stCxn id="171" idx="6"/>
              <a:endCxn id="29" idx="1"/>
            </p:cNvCxnSpPr>
            <p:nvPr/>
          </p:nvCxnSpPr>
          <p:spPr>
            <a:xfrm flipV="1">
              <a:off x="3678557" y="5060189"/>
              <a:ext cx="683848" cy="191806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9" name="Straight Arrow Connector 138">
              <a:extLst>
                <a:ext uri="{FF2B5EF4-FFF2-40B4-BE49-F238E27FC236}">
                  <a16:creationId xmlns:a16="http://schemas.microsoft.com/office/drawing/2014/main" id="{B12E865E-5511-0648-A06D-A1D57B52E29B}"/>
                </a:ext>
              </a:extLst>
            </p:cNvPr>
            <p:cNvCxnSpPr>
              <a:cxnSpLocks/>
              <a:stCxn id="15" idx="3"/>
              <a:endCxn id="39" idx="2"/>
            </p:cNvCxnSpPr>
            <p:nvPr/>
          </p:nvCxnSpPr>
          <p:spPr>
            <a:xfrm>
              <a:off x="5442405" y="2360189"/>
              <a:ext cx="657552" cy="287483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0" name="Straight Arrow Connector 139">
              <a:extLst>
                <a:ext uri="{FF2B5EF4-FFF2-40B4-BE49-F238E27FC236}">
                  <a16:creationId xmlns:a16="http://schemas.microsoft.com/office/drawing/2014/main" id="{F2A70B7D-0E07-0242-BB26-EC9DFE8C60B9}"/>
                </a:ext>
              </a:extLst>
            </p:cNvPr>
            <p:cNvCxnSpPr>
              <a:cxnSpLocks/>
              <a:stCxn id="16" idx="3"/>
              <a:endCxn id="38" idx="2"/>
            </p:cNvCxnSpPr>
            <p:nvPr/>
          </p:nvCxnSpPr>
          <p:spPr>
            <a:xfrm>
              <a:off x="5442405" y="2720189"/>
              <a:ext cx="657552" cy="913445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1" name="Straight Arrow Connector 140">
              <a:extLst>
                <a:ext uri="{FF2B5EF4-FFF2-40B4-BE49-F238E27FC236}">
                  <a16:creationId xmlns:a16="http://schemas.microsoft.com/office/drawing/2014/main" id="{5F6CDA78-61DE-3448-B499-EF2F6D2C4445}"/>
                </a:ext>
              </a:extLst>
            </p:cNvPr>
            <p:cNvCxnSpPr>
              <a:cxnSpLocks/>
              <a:stCxn id="14" idx="3"/>
              <a:endCxn id="36" idx="2"/>
            </p:cNvCxnSpPr>
            <p:nvPr/>
          </p:nvCxnSpPr>
          <p:spPr>
            <a:xfrm>
              <a:off x="5442405" y="2540189"/>
              <a:ext cx="657552" cy="594297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Straight Arrow Connector 141">
              <a:extLst>
                <a:ext uri="{FF2B5EF4-FFF2-40B4-BE49-F238E27FC236}">
                  <a16:creationId xmlns:a16="http://schemas.microsoft.com/office/drawing/2014/main" id="{F6B91A6C-8128-6F4D-A68B-9D052FC224FE}"/>
                </a:ext>
              </a:extLst>
            </p:cNvPr>
            <p:cNvCxnSpPr>
              <a:cxnSpLocks/>
              <a:stCxn id="20" idx="3"/>
              <a:endCxn id="39" idx="2"/>
            </p:cNvCxnSpPr>
            <p:nvPr/>
          </p:nvCxnSpPr>
          <p:spPr>
            <a:xfrm flipV="1">
              <a:off x="5442405" y="2647672"/>
              <a:ext cx="657552" cy="792517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3" name="Straight Arrow Connector 142">
              <a:extLst>
                <a:ext uri="{FF2B5EF4-FFF2-40B4-BE49-F238E27FC236}">
                  <a16:creationId xmlns:a16="http://schemas.microsoft.com/office/drawing/2014/main" id="{18C54D83-9124-F148-B206-33AF2C1E2993}"/>
                </a:ext>
              </a:extLst>
            </p:cNvPr>
            <p:cNvCxnSpPr>
              <a:cxnSpLocks/>
              <a:stCxn id="21" idx="3"/>
              <a:endCxn id="36" idx="2"/>
            </p:cNvCxnSpPr>
            <p:nvPr/>
          </p:nvCxnSpPr>
          <p:spPr>
            <a:xfrm flipV="1">
              <a:off x="5442405" y="3134486"/>
              <a:ext cx="657552" cy="485703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Straight Arrow Connector 143">
              <a:extLst>
                <a:ext uri="{FF2B5EF4-FFF2-40B4-BE49-F238E27FC236}">
                  <a16:creationId xmlns:a16="http://schemas.microsoft.com/office/drawing/2014/main" id="{3256A227-45DD-D34D-BC76-FD36B605662A}"/>
                </a:ext>
              </a:extLst>
            </p:cNvPr>
            <p:cNvCxnSpPr>
              <a:cxnSpLocks/>
              <a:stCxn id="22" idx="3"/>
              <a:endCxn id="38" idx="2"/>
            </p:cNvCxnSpPr>
            <p:nvPr/>
          </p:nvCxnSpPr>
          <p:spPr>
            <a:xfrm flipV="1">
              <a:off x="5442405" y="3633634"/>
              <a:ext cx="657552" cy="166555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Straight Arrow Connector 144">
              <a:extLst>
                <a:ext uri="{FF2B5EF4-FFF2-40B4-BE49-F238E27FC236}">
                  <a16:creationId xmlns:a16="http://schemas.microsoft.com/office/drawing/2014/main" id="{3BE84D66-331E-D044-8AFB-C54B27B22BE9}"/>
                </a:ext>
              </a:extLst>
            </p:cNvPr>
            <p:cNvCxnSpPr>
              <a:cxnSpLocks/>
              <a:stCxn id="23" idx="3"/>
              <a:endCxn id="35" idx="2"/>
            </p:cNvCxnSpPr>
            <p:nvPr/>
          </p:nvCxnSpPr>
          <p:spPr>
            <a:xfrm>
              <a:off x="5442405" y="3980189"/>
              <a:ext cx="657552" cy="140259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6" name="Straight Arrow Connector 145">
              <a:extLst>
                <a:ext uri="{FF2B5EF4-FFF2-40B4-BE49-F238E27FC236}">
                  <a16:creationId xmlns:a16="http://schemas.microsoft.com/office/drawing/2014/main" id="{6DD1F590-6603-444A-9802-9D94EEF15C5A}"/>
                </a:ext>
              </a:extLst>
            </p:cNvPr>
            <p:cNvCxnSpPr>
              <a:cxnSpLocks/>
              <a:stCxn id="24" idx="3"/>
              <a:endCxn id="40" idx="2"/>
            </p:cNvCxnSpPr>
            <p:nvPr/>
          </p:nvCxnSpPr>
          <p:spPr>
            <a:xfrm>
              <a:off x="5442405" y="4160189"/>
              <a:ext cx="657552" cy="459407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7" name="Straight Arrow Connector 146">
              <a:extLst>
                <a:ext uri="{FF2B5EF4-FFF2-40B4-BE49-F238E27FC236}">
                  <a16:creationId xmlns:a16="http://schemas.microsoft.com/office/drawing/2014/main" id="{391DF8A5-71C3-9E4B-9CD3-BAAA35EFE4EE}"/>
                </a:ext>
              </a:extLst>
            </p:cNvPr>
            <p:cNvCxnSpPr>
              <a:cxnSpLocks/>
              <a:stCxn id="18" idx="3"/>
              <a:endCxn id="40" idx="2"/>
            </p:cNvCxnSpPr>
            <p:nvPr/>
          </p:nvCxnSpPr>
          <p:spPr>
            <a:xfrm>
              <a:off x="5442405" y="3080189"/>
              <a:ext cx="657552" cy="1539407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Arrow Connector 147">
              <a:extLst>
                <a:ext uri="{FF2B5EF4-FFF2-40B4-BE49-F238E27FC236}">
                  <a16:creationId xmlns:a16="http://schemas.microsoft.com/office/drawing/2014/main" id="{5D4BE0DF-771F-8E40-AD79-D6B2BAE6559F}"/>
                </a:ext>
              </a:extLst>
            </p:cNvPr>
            <p:cNvCxnSpPr>
              <a:cxnSpLocks/>
              <a:stCxn id="19" idx="3"/>
              <a:endCxn id="37" idx="2"/>
            </p:cNvCxnSpPr>
            <p:nvPr/>
          </p:nvCxnSpPr>
          <p:spPr>
            <a:xfrm>
              <a:off x="5442405" y="3260189"/>
              <a:ext cx="657552" cy="1846221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Arrow Connector 148">
              <a:extLst>
                <a:ext uri="{FF2B5EF4-FFF2-40B4-BE49-F238E27FC236}">
                  <a16:creationId xmlns:a16="http://schemas.microsoft.com/office/drawing/2014/main" id="{F4203505-4BBD-4343-954E-8FE74D668079}"/>
                </a:ext>
              </a:extLst>
            </p:cNvPr>
            <p:cNvCxnSpPr>
              <a:cxnSpLocks/>
              <a:stCxn id="17" idx="3"/>
              <a:endCxn id="35" idx="2"/>
            </p:cNvCxnSpPr>
            <p:nvPr/>
          </p:nvCxnSpPr>
          <p:spPr>
            <a:xfrm>
              <a:off x="5442405" y="2900189"/>
              <a:ext cx="657552" cy="1220259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Arrow Connector 149">
              <a:extLst>
                <a:ext uri="{FF2B5EF4-FFF2-40B4-BE49-F238E27FC236}">
                  <a16:creationId xmlns:a16="http://schemas.microsoft.com/office/drawing/2014/main" id="{6E5BD394-B8DA-7248-BEFD-C5715452858C}"/>
                </a:ext>
              </a:extLst>
            </p:cNvPr>
            <p:cNvCxnSpPr>
              <a:cxnSpLocks/>
              <a:stCxn id="39" idx="6"/>
              <a:endCxn id="41" idx="2"/>
            </p:cNvCxnSpPr>
            <p:nvPr/>
          </p:nvCxnSpPr>
          <p:spPr>
            <a:xfrm>
              <a:off x="6351957" y="2647672"/>
              <a:ext cx="504036" cy="1229369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Arrow Connector 150">
              <a:extLst>
                <a:ext uri="{FF2B5EF4-FFF2-40B4-BE49-F238E27FC236}">
                  <a16:creationId xmlns:a16="http://schemas.microsoft.com/office/drawing/2014/main" id="{8C7159FD-21C0-564D-86A7-D3A614C19F14}"/>
                </a:ext>
              </a:extLst>
            </p:cNvPr>
            <p:cNvCxnSpPr>
              <a:cxnSpLocks/>
              <a:stCxn id="36" idx="6"/>
              <a:endCxn id="41" idx="2"/>
            </p:cNvCxnSpPr>
            <p:nvPr/>
          </p:nvCxnSpPr>
          <p:spPr>
            <a:xfrm>
              <a:off x="6351957" y="3134486"/>
              <a:ext cx="504036" cy="742555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Arrow Connector 151">
              <a:extLst>
                <a:ext uri="{FF2B5EF4-FFF2-40B4-BE49-F238E27FC236}">
                  <a16:creationId xmlns:a16="http://schemas.microsoft.com/office/drawing/2014/main" id="{E28D343E-A5A3-D848-94C7-5659267AB325}"/>
                </a:ext>
              </a:extLst>
            </p:cNvPr>
            <p:cNvCxnSpPr>
              <a:cxnSpLocks/>
              <a:stCxn id="38" idx="6"/>
              <a:endCxn id="41" idx="2"/>
            </p:cNvCxnSpPr>
            <p:nvPr/>
          </p:nvCxnSpPr>
          <p:spPr>
            <a:xfrm>
              <a:off x="6351957" y="3633634"/>
              <a:ext cx="504036" cy="243407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Arrow Connector 152">
              <a:extLst>
                <a:ext uri="{FF2B5EF4-FFF2-40B4-BE49-F238E27FC236}">
                  <a16:creationId xmlns:a16="http://schemas.microsoft.com/office/drawing/2014/main" id="{D7944740-F81D-FA4A-B068-6562CDF8CB57}"/>
                </a:ext>
              </a:extLst>
            </p:cNvPr>
            <p:cNvCxnSpPr>
              <a:cxnSpLocks/>
              <a:stCxn id="35" idx="6"/>
              <a:endCxn id="41" idx="2"/>
            </p:cNvCxnSpPr>
            <p:nvPr/>
          </p:nvCxnSpPr>
          <p:spPr>
            <a:xfrm flipV="1">
              <a:off x="6351957" y="3877041"/>
              <a:ext cx="504036" cy="243407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Arrow Connector 153">
              <a:extLst>
                <a:ext uri="{FF2B5EF4-FFF2-40B4-BE49-F238E27FC236}">
                  <a16:creationId xmlns:a16="http://schemas.microsoft.com/office/drawing/2014/main" id="{517E0F88-2134-8847-9037-FB2D70B510B4}"/>
                </a:ext>
              </a:extLst>
            </p:cNvPr>
            <p:cNvCxnSpPr>
              <a:cxnSpLocks/>
              <a:stCxn id="26" idx="3"/>
              <a:endCxn id="39" idx="2"/>
            </p:cNvCxnSpPr>
            <p:nvPr/>
          </p:nvCxnSpPr>
          <p:spPr>
            <a:xfrm flipV="1">
              <a:off x="5442405" y="2647672"/>
              <a:ext cx="657552" cy="1872517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5" name="Straight Arrow Connector 154">
              <a:extLst>
                <a:ext uri="{FF2B5EF4-FFF2-40B4-BE49-F238E27FC236}">
                  <a16:creationId xmlns:a16="http://schemas.microsoft.com/office/drawing/2014/main" id="{28DAF3D8-DA3A-9D48-9AC5-62495D921B61}"/>
                </a:ext>
              </a:extLst>
            </p:cNvPr>
            <p:cNvCxnSpPr>
              <a:cxnSpLocks/>
              <a:stCxn id="27" idx="3"/>
              <a:endCxn id="36" idx="2"/>
            </p:cNvCxnSpPr>
            <p:nvPr/>
          </p:nvCxnSpPr>
          <p:spPr>
            <a:xfrm flipV="1">
              <a:off x="5442405" y="3134486"/>
              <a:ext cx="657552" cy="1565703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6" name="Straight Arrow Connector 155">
              <a:extLst>
                <a:ext uri="{FF2B5EF4-FFF2-40B4-BE49-F238E27FC236}">
                  <a16:creationId xmlns:a16="http://schemas.microsoft.com/office/drawing/2014/main" id="{212DA5EB-AD75-F145-84C4-F9C8CAB3E117}"/>
                </a:ext>
              </a:extLst>
            </p:cNvPr>
            <p:cNvCxnSpPr>
              <a:cxnSpLocks/>
              <a:stCxn id="28" idx="3"/>
              <a:endCxn id="38" idx="2"/>
            </p:cNvCxnSpPr>
            <p:nvPr/>
          </p:nvCxnSpPr>
          <p:spPr>
            <a:xfrm flipV="1">
              <a:off x="5442405" y="3633634"/>
              <a:ext cx="657552" cy="1246555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Straight Arrow Connector 156">
              <a:extLst>
                <a:ext uri="{FF2B5EF4-FFF2-40B4-BE49-F238E27FC236}">
                  <a16:creationId xmlns:a16="http://schemas.microsoft.com/office/drawing/2014/main" id="{6E4F5EEB-E2DB-F74A-BCA1-2D490F799001}"/>
                </a:ext>
              </a:extLst>
            </p:cNvPr>
            <p:cNvCxnSpPr>
              <a:cxnSpLocks/>
              <a:stCxn id="29" idx="3"/>
              <a:endCxn id="35" idx="2"/>
            </p:cNvCxnSpPr>
            <p:nvPr/>
          </p:nvCxnSpPr>
          <p:spPr>
            <a:xfrm flipV="1">
              <a:off x="5442405" y="4120448"/>
              <a:ext cx="657552" cy="939741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Straight Arrow Connector 157">
              <a:extLst>
                <a:ext uri="{FF2B5EF4-FFF2-40B4-BE49-F238E27FC236}">
                  <a16:creationId xmlns:a16="http://schemas.microsoft.com/office/drawing/2014/main" id="{3B8E2664-4B2E-1A40-91DC-E446901010BD}"/>
                </a:ext>
              </a:extLst>
            </p:cNvPr>
            <p:cNvCxnSpPr>
              <a:cxnSpLocks/>
              <a:stCxn id="30" idx="3"/>
              <a:endCxn id="40" idx="2"/>
            </p:cNvCxnSpPr>
            <p:nvPr/>
          </p:nvCxnSpPr>
          <p:spPr>
            <a:xfrm flipV="1">
              <a:off x="5442405" y="4619596"/>
              <a:ext cx="657552" cy="620593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9" name="Straight Arrow Connector 158">
              <a:extLst>
                <a:ext uri="{FF2B5EF4-FFF2-40B4-BE49-F238E27FC236}">
                  <a16:creationId xmlns:a16="http://schemas.microsoft.com/office/drawing/2014/main" id="{8B6BCBE9-7B23-C044-9B3B-7F8F1739130C}"/>
                </a:ext>
              </a:extLst>
            </p:cNvPr>
            <p:cNvCxnSpPr>
              <a:cxnSpLocks/>
              <a:stCxn id="31" idx="3"/>
              <a:endCxn id="37" idx="2"/>
            </p:cNvCxnSpPr>
            <p:nvPr/>
          </p:nvCxnSpPr>
          <p:spPr>
            <a:xfrm flipV="1">
              <a:off x="5442405" y="5106410"/>
              <a:ext cx="657552" cy="313779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Straight Arrow Connector 159">
              <a:extLst>
                <a:ext uri="{FF2B5EF4-FFF2-40B4-BE49-F238E27FC236}">
                  <a16:creationId xmlns:a16="http://schemas.microsoft.com/office/drawing/2014/main" id="{DA7A226E-D036-2E4B-A632-3F4DFF889B71}"/>
                </a:ext>
              </a:extLst>
            </p:cNvPr>
            <p:cNvCxnSpPr>
              <a:cxnSpLocks/>
              <a:stCxn id="25" idx="3"/>
              <a:endCxn id="37" idx="2"/>
            </p:cNvCxnSpPr>
            <p:nvPr/>
          </p:nvCxnSpPr>
          <p:spPr>
            <a:xfrm>
              <a:off x="5442405" y="4340189"/>
              <a:ext cx="657552" cy="766221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Arrow Connector 160">
              <a:extLst>
                <a:ext uri="{FF2B5EF4-FFF2-40B4-BE49-F238E27FC236}">
                  <a16:creationId xmlns:a16="http://schemas.microsoft.com/office/drawing/2014/main" id="{41C2154C-FF00-B34F-8E89-BDF7B94B3CA0}"/>
                </a:ext>
              </a:extLst>
            </p:cNvPr>
            <p:cNvCxnSpPr>
              <a:cxnSpLocks/>
              <a:stCxn id="40" idx="6"/>
              <a:endCxn id="41" idx="2"/>
            </p:cNvCxnSpPr>
            <p:nvPr/>
          </p:nvCxnSpPr>
          <p:spPr>
            <a:xfrm flipV="1">
              <a:off x="6351957" y="3877041"/>
              <a:ext cx="504036" cy="742555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Arrow Connector 161">
              <a:extLst>
                <a:ext uri="{FF2B5EF4-FFF2-40B4-BE49-F238E27FC236}">
                  <a16:creationId xmlns:a16="http://schemas.microsoft.com/office/drawing/2014/main" id="{7BB62C9A-80B9-274C-855C-A21D9E5F14E7}"/>
                </a:ext>
              </a:extLst>
            </p:cNvPr>
            <p:cNvCxnSpPr>
              <a:cxnSpLocks/>
              <a:stCxn id="37" idx="6"/>
              <a:endCxn id="41" idx="2"/>
            </p:cNvCxnSpPr>
            <p:nvPr/>
          </p:nvCxnSpPr>
          <p:spPr>
            <a:xfrm flipV="1">
              <a:off x="6351957" y="3877041"/>
              <a:ext cx="504036" cy="1229369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7" name="Straight Arrow Connector 256">
              <a:extLst>
                <a:ext uri="{FF2B5EF4-FFF2-40B4-BE49-F238E27FC236}">
                  <a16:creationId xmlns:a16="http://schemas.microsoft.com/office/drawing/2014/main" id="{27B184E2-0BDB-0643-9AFB-20F1BB2E3557}"/>
                </a:ext>
              </a:extLst>
            </p:cNvPr>
            <p:cNvCxnSpPr>
              <a:cxnSpLocks/>
            </p:cNvCxnSpPr>
            <p:nvPr/>
          </p:nvCxnSpPr>
          <p:spPr>
            <a:xfrm>
              <a:off x="1484506" y="3890189"/>
              <a:ext cx="463109" cy="0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9" name="Straight Arrow Connector 258">
              <a:extLst>
                <a:ext uri="{FF2B5EF4-FFF2-40B4-BE49-F238E27FC236}">
                  <a16:creationId xmlns:a16="http://schemas.microsoft.com/office/drawing/2014/main" id="{38396D54-0B89-C34E-8A88-F06D723A84A5}"/>
                </a:ext>
              </a:extLst>
            </p:cNvPr>
            <p:cNvCxnSpPr>
              <a:cxnSpLocks/>
            </p:cNvCxnSpPr>
            <p:nvPr/>
          </p:nvCxnSpPr>
          <p:spPr>
            <a:xfrm>
              <a:off x="7134289" y="3890189"/>
              <a:ext cx="474265" cy="0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2" name="TextBox 261">
              <a:extLst>
                <a:ext uri="{FF2B5EF4-FFF2-40B4-BE49-F238E27FC236}">
                  <a16:creationId xmlns:a16="http://schemas.microsoft.com/office/drawing/2014/main" id="{1D433199-58CD-FD41-AF92-AA0C3372948B}"/>
                </a:ext>
              </a:extLst>
            </p:cNvPr>
            <p:cNvSpPr txBox="1"/>
            <p:nvPr/>
          </p:nvSpPr>
          <p:spPr>
            <a:xfrm>
              <a:off x="1442413" y="3639232"/>
              <a:ext cx="439415" cy="253915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900" dirty="0">
                  <a:latin typeface="+mj-lt"/>
                  <a:cs typeface="Gill Sans Light" panose="020B0302020104020203" pitchFamily="34" charset="-79"/>
                </a:rPr>
                <a:t>2 x 6</a:t>
              </a:r>
            </a:p>
          </p:txBody>
        </p:sp>
        <p:sp>
          <p:nvSpPr>
            <p:cNvPr id="276" name="TextBox 275">
              <a:extLst>
                <a:ext uri="{FF2B5EF4-FFF2-40B4-BE49-F238E27FC236}">
                  <a16:creationId xmlns:a16="http://schemas.microsoft.com/office/drawing/2014/main" id="{30850AC1-91E9-B743-AF57-8F5933B8430F}"/>
                </a:ext>
              </a:extLst>
            </p:cNvPr>
            <p:cNvSpPr txBox="1"/>
            <p:nvPr/>
          </p:nvSpPr>
          <p:spPr>
            <a:xfrm>
              <a:off x="2040415" y="3083901"/>
              <a:ext cx="439415" cy="253915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900" dirty="0">
                  <a:latin typeface="+mj-lt"/>
                  <a:cs typeface="Gill Sans Light" panose="020B0302020104020203" pitchFamily="34" charset="-79"/>
                </a:rPr>
                <a:t>3 x 1</a:t>
              </a:r>
            </a:p>
          </p:txBody>
        </p:sp>
        <p:sp>
          <p:nvSpPr>
            <p:cNvPr id="288" name="TextBox 287">
              <a:extLst>
                <a:ext uri="{FF2B5EF4-FFF2-40B4-BE49-F238E27FC236}">
                  <a16:creationId xmlns:a16="http://schemas.microsoft.com/office/drawing/2014/main" id="{60CB4D28-55F8-F840-88E9-9DDDE95C6755}"/>
                </a:ext>
              </a:extLst>
            </p:cNvPr>
            <p:cNvSpPr txBox="1"/>
            <p:nvPr/>
          </p:nvSpPr>
          <p:spPr>
            <a:xfrm>
              <a:off x="2186743" y="3647611"/>
              <a:ext cx="439415" cy="253915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900" dirty="0">
                  <a:latin typeface="+mj-lt"/>
                  <a:cs typeface="Gill Sans Light" panose="020B0302020104020203" pitchFamily="34" charset="-79"/>
                </a:rPr>
                <a:t>1 x 5</a:t>
              </a:r>
            </a:p>
          </p:txBody>
        </p:sp>
        <p:sp>
          <p:nvSpPr>
            <p:cNvPr id="289" name="TextBox 288">
              <a:extLst>
                <a:ext uri="{FF2B5EF4-FFF2-40B4-BE49-F238E27FC236}">
                  <a16:creationId xmlns:a16="http://schemas.microsoft.com/office/drawing/2014/main" id="{6842FCA2-C643-BF4A-9E3E-67DD82B2FD8D}"/>
                </a:ext>
              </a:extLst>
            </p:cNvPr>
            <p:cNvSpPr txBox="1"/>
            <p:nvPr/>
          </p:nvSpPr>
          <p:spPr>
            <a:xfrm>
              <a:off x="2061355" y="4464882"/>
              <a:ext cx="439415" cy="253915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/>
            <a:p>
              <a:pPr algn="ctr"/>
              <a:r>
                <a:rPr lang="en-US" sz="900" dirty="0">
                  <a:latin typeface="+mj-lt"/>
                  <a:cs typeface="Gill Sans Light" panose="020B0302020104020203" pitchFamily="34" charset="-79"/>
                </a:rPr>
                <a:t>2 x 2</a:t>
              </a:r>
            </a:p>
          </p:txBody>
        </p:sp>
        <p:sp>
          <p:nvSpPr>
            <p:cNvPr id="293" name="TextBox 292">
              <a:extLst>
                <a:ext uri="{FF2B5EF4-FFF2-40B4-BE49-F238E27FC236}">
                  <a16:creationId xmlns:a16="http://schemas.microsoft.com/office/drawing/2014/main" id="{BEBD9AF3-0500-834C-AFE3-36F17A2865A7}"/>
                </a:ext>
              </a:extLst>
            </p:cNvPr>
            <p:cNvSpPr txBox="1"/>
            <p:nvPr/>
          </p:nvSpPr>
          <p:spPr>
            <a:xfrm>
              <a:off x="3166175" y="2238176"/>
              <a:ext cx="181934" cy="25391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dirty="0">
                  <a:latin typeface="+mj-lt"/>
                  <a:cs typeface="Gill Sans Light" panose="020B0302020104020203" pitchFamily="34" charset="-79"/>
                </a:rPr>
                <a:t>1</a:t>
              </a:r>
            </a:p>
          </p:txBody>
        </p:sp>
        <p:sp>
          <p:nvSpPr>
            <p:cNvPr id="294" name="TextBox 293">
              <a:extLst>
                <a:ext uri="{FF2B5EF4-FFF2-40B4-BE49-F238E27FC236}">
                  <a16:creationId xmlns:a16="http://schemas.microsoft.com/office/drawing/2014/main" id="{57D0A695-D69B-7C40-8940-3569DCA55E6F}"/>
                </a:ext>
              </a:extLst>
            </p:cNvPr>
            <p:cNvSpPr txBox="1"/>
            <p:nvPr/>
          </p:nvSpPr>
          <p:spPr>
            <a:xfrm>
              <a:off x="3166175" y="2432481"/>
              <a:ext cx="181934" cy="25391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dirty="0">
                  <a:latin typeface="+mj-lt"/>
                  <a:cs typeface="Gill Sans Light" panose="020B0302020104020203" pitchFamily="34" charset="-79"/>
                </a:rPr>
                <a:t>1</a:t>
              </a:r>
            </a:p>
          </p:txBody>
        </p:sp>
        <p:sp>
          <p:nvSpPr>
            <p:cNvPr id="295" name="TextBox 294">
              <a:extLst>
                <a:ext uri="{FF2B5EF4-FFF2-40B4-BE49-F238E27FC236}">
                  <a16:creationId xmlns:a16="http://schemas.microsoft.com/office/drawing/2014/main" id="{4E973CEF-99C6-3F47-B0B2-2910174236E2}"/>
                </a:ext>
              </a:extLst>
            </p:cNvPr>
            <p:cNvSpPr txBox="1"/>
            <p:nvPr/>
          </p:nvSpPr>
          <p:spPr>
            <a:xfrm>
              <a:off x="3166175" y="2631996"/>
              <a:ext cx="181934" cy="25391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dirty="0">
                  <a:latin typeface="+mj-lt"/>
                  <a:cs typeface="Gill Sans Light" panose="020B0302020104020203" pitchFamily="34" charset="-79"/>
                </a:rPr>
                <a:t>1</a:t>
              </a:r>
            </a:p>
          </p:txBody>
        </p:sp>
        <p:sp>
          <p:nvSpPr>
            <p:cNvPr id="296" name="TextBox 295">
              <a:extLst>
                <a:ext uri="{FF2B5EF4-FFF2-40B4-BE49-F238E27FC236}">
                  <a16:creationId xmlns:a16="http://schemas.microsoft.com/office/drawing/2014/main" id="{06378FC9-401D-1D4B-9300-559C587B4C99}"/>
                </a:ext>
              </a:extLst>
            </p:cNvPr>
            <p:cNvSpPr txBox="1"/>
            <p:nvPr/>
          </p:nvSpPr>
          <p:spPr>
            <a:xfrm>
              <a:off x="3166175" y="4609460"/>
              <a:ext cx="181934" cy="25391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dirty="0">
                  <a:latin typeface="+mj-lt"/>
                  <a:cs typeface="Gill Sans Light" panose="020B0302020104020203" pitchFamily="34" charset="-79"/>
                </a:rPr>
                <a:t>1</a:t>
              </a:r>
            </a:p>
          </p:txBody>
        </p:sp>
        <p:sp>
          <p:nvSpPr>
            <p:cNvPr id="320" name="TextBox 319">
              <a:extLst>
                <a:ext uri="{FF2B5EF4-FFF2-40B4-BE49-F238E27FC236}">
                  <a16:creationId xmlns:a16="http://schemas.microsoft.com/office/drawing/2014/main" id="{5587F775-E94C-044E-BCB1-A904F40B414A}"/>
                </a:ext>
              </a:extLst>
            </p:cNvPr>
            <p:cNvSpPr txBox="1"/>
            <p:nvPr/>
          </p:nvSpPr>
          <p:spPr>
            <a:xfrm>
              <a:off x="6405362" y="3062478"/>
              <a:ext cx="181934" cy="25391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dirty="0">
                  <a:latin typeface="+mj-lt"/>
                  <a:cs typeface="Gill Sans Light" panose="020B0302020104020203" pitchFamily="34" charset="-79"/>
                </a:rPr>
                <a:t>2</a:t>
              </a:r>
            </a:p>
          </p:txBody>
        </p:sp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0D88D507-CDF3-0649-993B-D3A8B3485C82}"/>
                </a:ext>
              </a:extLst>
            </p:cNvPr>
            <p:cNvSpPr txBox="1"/>
            <p:nvPr/>
          </p:nvSpPr>
          <p:spPr>
            <a:xfrm>
              <a:off x="6405362" y="2696867"/>
              <a:ext cx="181934" cy="25391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dirty="0">
                  <a:latin typeface="+mj-lt"/>
                  <a:cs typeface="Gill Sans Light" panose="020B0302020104020203" pitchFamily="34" charset="-79"/>
                </a:rPr>
                <a:t>2</a:t>
              </a:r>
            </a:p>
          </p:txBody>
        </p:sp>
        <p:sp>
          <p:nvSpPr>
            <p:cNvPr id="322" name="TextBox 321">
              <a:extLst>
                <a:ext uri="{FF2B5EF4-FFF2-40B4-BE49-F238E27FC236}">
                  <a16:creationId xmlns:a16="http://schemas.microsoft.com/office/drawing/2014/main" id="{451B25B0-86F2-304C-8E29-C65F9835CC79}"/>
                </a:ext>
              </a:extLst>
            </p:cNvPr>
            <p:cNvSpPr txBox="1"/>
            <p:nvPr/>
          </p:nvSpPr>
          <p:spPr>
            <a:xfrm>
              <a:off x="6405362" y="3483422"/>
              <a:ext cx="181934" cy="25391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dirty="0">
                  <a:latin typeface="+mj-lt"/>
                  <a:cs typeface="Gill Sans Light" panose="020B0302020104020203" pitchFamily="34" charset="-79"/>
                </a:rPr>
                <a:t>2</a:t>
              </a:r>
            </a:p>
          </p:txBody>
        </p:sp>
        <p:sp>
          <p:nvSpPr>
            <p:cNvPr id="323" name="TextBox 322">
              <a:extLst>
                <a:ext uri="{FF2B5EF4-FFF2-40B4-BE49-F238E27FC236}">
                  <a16:creationId xmlns:a16="http://schemas.microsoft.com/office/drawing/2014/main" id="{07B2ECF0-4ADD-D640-A259-C83EB2E7A923}"/>
                </a:ext>
              </a:extLst>
            </p:cNvPr>
            <p:cNvSpPr txBox="1"/>
            <p:nvPr/>
          </p:nvSpPr>
          <p:spPr>
            <a:xfrm>
              <a:off x="6405362" y="3837889"/>
              <a:ext cx="181934" cy="25391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dirty="0">
                  <a:latin typeface="+mj-lt"/>
                  <a:cs typeface="Gill Sans Light" panose="020B0302020104020203" pitchFamily="34" charset="-79"/>
                </a:rPr>
                <a:t>2</a:t>
              </a:r>
            </a:p>
          </p:txBody>
        </p:sp>
        <p:sp>
          <p:nvSpPr>
            <p:cNvPr id="324" name="TextBox 323">
              <a:extLst>
                <a:ext uri="{FF2B5EF4-FFF2-40B4-BE49-F238E27FC236}">
                  <a16:creationId xmlns:a16="http://schemas.microsoft.com/office/drawing/2014/main" id="{07331283-EE20-AA46-BDEE-F0151BF5FAD2}"/>
                </a:ext>
              </a:extLst>
            </p:cNvPr>
            <p:cNvSpPr txBox="1"/>
            <p:nvPr/>
          </p:nvSpPr>
          <p:spPr>
            <a:xfrm>
              <a:off x="6405362" y="4159849"/>
              <a:ext cx="181934" cy="25391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dirty="0">
                  <a:latin typeface="+mj-lt"/>
                  <a:cs typeface="Gill Sans Light" panose="020B0302020104020203" pitchFamily="34" charset="-79"/>
                </a:rPr>
                <a:t>2</a:t>
              </a:r>
            </a:p>
          </p:txBody>
        </p:sp>
        <p:sp>
          <p:nvSpPr>
            <p:cNvPr id="325" name="TextBox 324">
              <a:extLst>
                <a:ext uri="{FF2B5EF4-FFF2-40B4-BE49-F238E27FC236}">
                  <a16:creationId xmlns:a16="http://schemas.microsoft.com/office/drawing/2014/main" id="{B03080C5-7BDA-9849-8540-90209FC91075}"/>
                </a:ext>
              </a:extLst>
            </p:cNvPr>
            <p:cNvSpPr txBox="1"/>
            <p:nvPr/>
          </p:nvSpPr>
          <p:spPr>
            <a:xfrm>
              <a:off x="6405362" y="4471009"/>
              <a:ext cx="181934" cy="25391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dirty="0">
                  <a:latin typeface="+mj-lt"/>
                  <a:cs typeface="Gill Sans Light" panose="020B0302020104020203" pitchFamily="34" charset="-79"/>
                </a:rPr>
                <a:t>2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FC3B575F-10F2-364A-B86B-D8E111476082}"/>
                </a:ext>
              </a:extLst>
            </p:cNvPr>
            <p:cNvSpPr/>
            <p:nvPr/>
          </p:nvSpPr>
          <p:spPr>
            <a:xfrm>
              <a:off x="4362405" y="2450189"/>
              <a:ext cx="1080000" cy="1800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T</a:t>
              </a:r>
              <a:r>
                <a:rPr lang="en-US" sz="700" baseline="-250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1</a:t>
              </a:r>
              <a:r>
                <a:rPr lang="en-US" sz="7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 runs at </a:t>
              </a:r>
              <a:r>
                <a:rPr lang="en-US" sz="700" i="1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t </a:t>
              </a:r>
              <a:r>
                <a:rPr lang="en-US" sz="7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= 1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0BD2BC21-A128-F942-88FE-98AE7C6604C3}"/>
                </a:ext>
              </a:extLst>
            </p:cNvPr>
            <p:cNvSpPr/>
            <p:nvPr/>
          </p:nvSpPr>
          <p:spPr>
            <a:xfrm>
              <a:off x="4362405" y="2270189"/>
              <a:ext cx="1080000" cy="1800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T</a:t>
              </a:r>
              <a:r>
                <a:rPr lang="en-US" sz="700" baseline="-250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1</a:t>
              </a:r>
              <a:r>
                <a:rPr lang="en-US" sz="7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 runs at </a:t>
              </a:r>
              <a:r>
                <a:rPr lang="en-US" sz="700" i="1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t </a:t>
              </a:r>
              <a:r>
                <a:rPr lang="en-US" sz="7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= 0</a:t>
              </a:r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D5E99FA1-1565-CF4F-B215-4ECE3AB8B072}"/>
                </a:ext>
              </a:extLst>
            </p:cNvPr>
            <p:cNvSpPr/>
            <p:nvPr/>
          </p:nvSpPr>
          <p:spPr>
            <a:xfrm>
              <a:off x="4362405" y="2630189"/>
              <a:ext cx="1080000" cy="1800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T</a:t>
              </a:r>
              <a:r>
                <a:rPr lang="en-US" sz="700" baseline="-250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1</a:t>
              </a:r>
              <a:r>
                <a:rPr lang="en-US" sz="7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 runs at </a:t>
              </a:r>
              <a:r>
                <a:rPr lang="en-US" sz="700" i="1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t </a:t>
              </a:r>
              <a:r>
                <a:rPr lang="en-US" sz="7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= 2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B045540-5682-FF4F-8DF5-704679C71FE3}"/>
                </a:ext>
              </a:extLst>
            </p:cNvPr>
            <p:cNvSpPr/>
            <p:nvPr/>
          </p:nvSpPr>
          <p:spPr>
            <a:xfrm>
              <a:off x="4362405" y="2810189"/>
              <a:ext cx="1080000" cy="1800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T</a:t>
              </a:r>
              <a:r>
                <a:rPr lang="en-US" sz="700" baseline="-250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1</a:t>
              </a:r>
              <a:r>
                <a:rPr lang="en-US" sz="7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 runs at </a:t>
              </a:r>
              <a:r>
                <a:rPr lang="en-US" sz="700" i="1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t </a:t>
              </a:r>
              <a:r>
                <a:rPr lang="en-US" sz="7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= 3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4C2D537A-1149-DF4F-AFFC-6A127E001FB3}"/>
                </a:ext>
              </a:extLst>
            </p:cNvPr>
            <p:cNvSpPr/>
            <p:nvPr/>
          </p:nvSpPr>
          <p:spPr>
            <a:xfrm>
              <a:off x="4362405" y="2990189"/>
              <a:ext cx="1080000" cy="1800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T</a:t>
              </a:r>
              <a:r>
                <a:rPr lang="en-US" sz="700" baseline="-250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1</a:t>
              </a:r>
              <a:r>
                <a:rPr lang="en-US" sz="7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 runs at </a:t>
              </a:r>
              <a:r>
                <a:rPr lang="en-US" sz="700" i="1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t </a:t>
              </a:r>
              <a:r>
                <a:rPr lang="en-US" sz="7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= 4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5E017BCA-7CE0-764E-8A49-FE757AEE4CFD}"/>
                </a:ext>
              </a:extLst>
            </p:cNvPr>
            <p:cNvSpPr/>
            <p:nvPr/>
          </p:nvSpPr>
          <p:spPr>
            <a:xfrm>
              <a:off x="4362405" y="3170189"/>
              <a:ext cx="1080000" cy="180000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T</a:t>
              </a:r>
              <a:r>
                <a:rPr lang="en-US" sz="700" baseline="-250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1</a:t>
              </a:r>
              <a:r>
                <a:rPr lang="en-US" sz="7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 runs at </a:t>
              </a:r>
              <a:r>
                <a:rPr lang="en-US" sz="700" i="1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t </a:t>
              </a:r>
              <a:r>
                <a:rPr lang="en-US" sz="7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= 5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944EB5FD-E5A0-4440-92D9-9CE1AAA88A40}"/>
                </a:ext>
              </a:extLst>
            </p:cNvPr>
            <p:cNvSpPr/>
            <p:nvPr/>
          </p:nvSpPr>
          <p:spPr>
            <a:xfrm>
              <a:off x="4362405" y="3350189"/>
              <a:ext cx="1080000" cy="180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T</a:t>
              </a:r>
              <a:r>
                <a:rPr lang="en-US" sz="700" baseline="-250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2</a:t>
              </a:r>
              <a:r>
                <a:rPr lang="en-US" sz="7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 runs at </a:t>
              </a:r>
              <a:r>
                <a:rPr lang="en-US" sz="700" i="1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t </a:t>
              </a:r>
              <a:r>
                <a:rPr lang="en-US" sz="7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= 0</a:t>
              </a: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016CB75D-1CDD-D544-B28D-7237DFF4299E}"/>
                </a:ext>
              </a:extLst>
            </p:cNvPr>
            <p:cNvSpPr/>
            <p:nvPr/>
          </p:nvSpPr>
          <p:spPr>
            <a:xfrm>
              <a:off x="4362405" y="3530189"/>
              <a:ext cx="1080000" cy="180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T</a:t>
              </a:r>
              <a:r>
                <a:rPr lang="en-US" sz="700" baseline="-250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2</a:t>
              </a:r>
              <a:r>
                <a:rPr lang="en-US" sz="7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 runs at </a:t>
              </a:r>
              <a:r>
                <a:rPr lang="en-US" sz="700" i="1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t </a:t>
              </a:r>
              <a:r>
                <a:rPr lang="en-US" sz="7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= 1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240F071D-4A87-284A-AFE4-D32895A14584}"/>
                </a:ext>
              </a:extLst>
            </p:cNvPr>
            <p:cNvSpPr/>
            <p:nvPr/>
          </p:nvSpPr>
          <p:spPr>
            <a:xfrm>
              <a:off x="4362405" y="3710189"/>
              <a:ext cx="1080000" cy="180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T</a:t>
              </a:r>
              <a:r>
                <a:rPr lang="en-US" sz="700" baseline="-250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2</a:t>
              </a:r>
              <a:r>
                <a:rPr lang="en-US" sz="7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 runs at </a:t>
              </a:r>
              <a:r>
                <a:rPr lang="en-US" sz="700" i="1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t </a:t>
              </a:r>
              <a:r>
                <a:rPr lang="en-US" sz="7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= 2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D35E3A1B-6804-9E41-BE6F-E54303419AE2}"/>
                </a:ext>
              </a:extLst>
            </p:cNvPr>
            <p:cNvSpPr/>
            <p:nvPr/>
          </p:nvSpPr>
          <p:spPr>
            <a:xfrm>
              <a:off x="4362405" y="3890189"/>
              <a:ext cx="1080000" cy="180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T</a:t>
              </a:r>
              <a:r>
                <a:rPr lang="en-US" sz="700" baseline="-250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2</a:t>
              </a:r>
              <a:r>
                <a:rPr lang="en-US" sz="7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 runs at </a:t>
              </a:r>
              <a:r>
                <a:rPr lang="en-US" sz="700" i="1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t </a:t>
              </a:r>
              <a:r>
                <a:rPr lang="en-US" sz="7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= 3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834E943C-3E39-A74B-A757-F9208D699117}"/>
                </a:ext>
              </a:extLst>
            </p:cNvPr>
            <p:cNvSpPr/>
            <p:nvPr/>
          </p:nvSpPr>
          <p:spPr>
            <a:xfrm>
              <a:off x="4362405" y="4070189"/>
              <a:ext cx="1080000" cy="180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T</a:t>
              </a:r>
              <a:r>
                <a:rPr lang="en-US" sz="700" baseline="-250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2</a:t>
              </a:r>
              <a:r>
                <a:rPr lang="en-US" sz="7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 runs at </a:t>
              </a:r>
              <a:r>
                <a:rPr lang="en-US" sz="700" i="1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t </a:t>
              </a:r>
              <a:r>
                <a:rPr lang="en-US" sz="7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= 4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149A8A40-2EF1-1144-AFA0-641B9965A105}"/>
                </a:ext>
              </a:extLst>
            </p:cNvPr>
            <p:cNvSpPr/>
            <p:nvPr/>
          </p:nvSpPr>
          <p:spPr>
            <a:xfrm>
              <a:off x="4362405" y="4250189"/>
              <a:ext cx="1080000" cy="18000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T</a:t>
              </a:r>
              <a:r>
                <a:rPr lang="en-US" sz="700" baseline="-250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2</a:t>
              </a:r>
              <a:r>
                <a:rPr lang="en-US" sz="7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 runs at </a:t>
              </a:r>
              <a:r>
                <a:rPr lang="en-US" sz="700" i="1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t </a:t>
              </a:r>
              <a:r>
                <a:rPr lang="en-US" sz="7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= 5</a:t>
              </a: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47DAE3E1-222C-6D47-8608-613ACC21535E}"/>
                </a:ext>
              </a:extLst>
            </p:cNvPr>
            <p:cNvSpPr/>
            <p:nvPr/>
          </p:nvSpPr>
          <p:spPr>
            <a:xfrm>
              <a:off x="4362405" y="4430189"/>
              <a:ext cx="1080000" cy="1800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T</a:t>
              </a:r>
              <a:r>
                <a:rPr lang="en-US" sz="700" baseline="-250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3</a:t>
              </a:r>
              <a:r>
                <a:rPr lang="en-US" sz="7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 runs at </a:t>
              </a:r>
              <a:r>
                <a:rPr lang="en-US" sz="700" i="1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t </a:t>
              </a:r>
              <a:r>
                <a:rPr lang="en-US" sz="7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= 0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AFB10956-EFDE-9746-BFB0-BAB89BD26692}"/>
                </a:ext>
              </a:extLst>
            </p:cNvPr>
            <p:cNvSpPr/>
            <p:nvPr/>
          </p:nvSpPr>
          <p:spPr>
            <a:xfrm>
              <a:off x="4362405" y="4610189"/>
              <a:ext cx="1080000" cy="1800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T</a:t>
              </a:r>
              <a:r>
                <a:rPr lang="en-US" sz="700" baseline="-250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3</a:t>
              </a:r>
              <a:r>
                <a:rPr lang="en-US" sz="7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 runs at </a:t>
              </a:r>
              <a:r>
                <a:rPr lang="en-US" sz="700" i="1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t </a:t>
              </a:r>
              <a:r>
                <a:rPr lang="en-US" sz="7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= 1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00D04F1-577B-4140-8CF7-82B3A6FF5D8F}"/>
                </a:ext>
              </a:extLst>
            </p:cNvPr>
            <p:cNvSpPr/>
            <p:nvPr/>
          </p:nvSpPr>
          <p:spPr>
            <a:xfrm>
              <a:off x="4362405" y="4790189"/>
              <a:ext cx="1080000" cy="1800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T</a:t>
              </a:r>
              <a:r>
                <a:rPr lang="en-US" sz="700" baseline="-250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3</a:t>
              </a:r>
              <a:r>
                <a:rPr lang="en-US" sz="7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 runs at </a:t>
              </a:r>
              <a:r>
                <a:rPr lang="en-US" sz="700" i="1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t </a:t>
              </a:r>
              <a:r>
                <a:rPr lang="en-US" sz="7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= 2</a:t>
              </a: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0C136BBC-F450-9346-947F-B4D3D0A63D70}"/>
                </a:ext>
              </a:extLst>
            </p:cNvPr>
            <p:cNvSpPr/>
            <p:nvPr/>
          </p:nvSpPr>
          <p:spPr>
            <a:xfrm>
              <a:off x="4362405" y="4970189"/>
              <a:ext cx="1080000" cy="1800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T</a:t>
              </a:r>
              <a:r>
                <a:rPr lang="en-US" sz="700" baseline="-250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3</a:t>
              </a:r>
              <a:r>
                <a:rPr lang="en-US" sz="7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 runs at </a:t>
              </a:r>
              <a:r>
                <a:rPr lang="en-US" sz="700" i="1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t </a:t>
              </a:r>
              <a:r>
                <a:rPr lang="en-US" sz="7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= 3</a:t>
              </a:r>
            </a:p>
          </p:txBody>
        </p: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8FF11D15-9E70-4747-9443-599ED6CDDA21}"/>
                </a:ext>
              </a:extLst>
            </p:cNvPr>
            <p:cNvSpPr/>
            <p:nvPr/>
          </p:nvSpPr>
          <p:spPr>
            <a:xfrm>
              <a:off x="4362405" y="5150189"/>
              <a:ext cx="1080000" cy="1800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T</a:t>
              </a:r>
              <a:r>
                <a:rPr lang="en-US" sz="700" baseline="-250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3</a:t>
              </a:r>
              <a:r>
                <a:rPr lang="en-US" sz="7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 runs at </a:t>
              </a:r>
              <a:r>
                <a:rPr lang="en-US" sz="700" i="1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t </a:t>
              </a:r>
              <a:r>
                <a:rPr lang="en-US" sz="7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= 4</a:t>
              </a:r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3080EF9B-F6A5-7340-A376-80D563C74B62}"/>
                </a:ext>
              </a:extLst>
            </p:cNvPr>
            <p:cNvSpPr/>
            <p:nvPr/>
          </p:nvSpPr>
          <p:spPr>
            <a:xfrm>
              <a:off x="4362405" y="5330189"/>
              <a:ext cx="1080000" cy="180000"/>
            </a:xfrm>
            <a:prstGeom prst="rect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7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T</a:t>
              </a:r>
              <a:r>
                <a:rPr lang="en-US" sz="700" baseline="-250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3</a:t>
              </a:r>
              <a:r>
                <a:rPr lang="en-US" sz="7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 runs at </a:t>
              </a:r>
              <a:r>
                <a:rPr lang="en-US" sz="700" i="1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t </a:t>
              </a:r>
              <a:r>
                <a:rPr lang="en-US" sz="7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= 5</a:t>
              </a:r>
            </a:p>
          </p:txBody>
        </p:sp>
        <p:sp>
          <p:nvSpPr>
            <p:cNvPr id="347" name="TextBox 346">
              <a:extLst>
                <a:ext uri="{FF2B5EF4-FFF2-40B4-BE49-F238E27FC236}">
                  <a16:creationId xmlns:a16="http://schemas.microsoft.com/office/drawing/2014/main" id="{FB76F559-8448-514F-B5F7-276BA7857000}"/>
                </a:ext>
              </a:extLst>
            </p:cNvPr>
            <p:cNvSpPr txBox="1"/>
            <p:nvPr/>
          </p:nvSpPr>
          <p:spPr>
            <a:xfrm>
              <a:off x="5459440" y="4962326"/>
              <a:ext cx="181934" cy="25391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endParaRPr lang="en-US" sz="900" dirty="0">
                <a:latin typeface="+mj-lt"/>
                <a:cs typeface="Gill Sans Light" panose="020B0302020104020203" pitchFamily="34" charset="-79"/>
              </a:endParaRPr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36660FB-A974-5644-9E4B-99021B16C57B}"/>
                </a:ext>
              </a:extLst>
            </p:cNvPr>
            <p:cNvSpPr/>
            <p:nvPr/>
          </p:nvSpPr>
          <p:spPr>
            <a:xfrm>
              <a:off x="3426557" y="4584729"/>
              <a:ext cx="252000" cy="2520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T</a:t>
              </a:r>
              <a:r>
                <a:rPr lang="en-US" sz="900" baseline="-250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31</a:t>
              </a:r>
            </a:p>
          </p:txBody>
        </p:sp>
        <p:sp>
          <p:nvSpPr>
            <p:cNvPr id="170" name="Oval 169">
              <a:extLst>
                <a:ext uri="{FF2B5EF4-FFF2-40B4-BE49-F238E27FC236}">
                  <a16:creationId xmlns:a16="http://schemas.microsoft.com/office/drawing/2014/main" id="{67405A9B-5DBF-D34F-8A2B-3AAADAEAE882}"/>
                </a:ext>
              </a:extLst>
            </p:cNvPr>
            <p:cNvSpPr/>
            <p:nvPr/>
          </p:nvSpPr>
          <p:spPr>
            <a:xfrm>
              <a:off x="3426557" y="5396764"/>
              <a:ext cx="252000" cy="2520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T</a:t>
              </a:r>
              <a:r>
                <a:rPr lang="en-US" sz="900" baseline="-250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34</a:t>
              </a:r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B6C14E1-BC20-CB44-91B5-2EF2B7661ADB}"/>
                </a:ext>
              </a:extLst>
            </p:cNvPr>
            <p:cNvSpPr/>
            <p:nvPr/>
          </p:nvSpPr>
          <p:spPr>
            <a:xfrm>
              <a:off x="3426557" y="4855498"/>
              <a:ext cx="252000" cy="2520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T</a:t>
              </a:r>
              <a:r>
                <a:rPr lang="en-US" sz="900" baseline="-250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32</a:t>
              </a:r>
            </a:p>
          </p:txBody>
        </p:sp>
        <p:sp>
          <p:nvSpPr>
            <p:cNvPr id="171" name="Oval 170">
              <a:extLst>
                <a:ext uri="{FF2B5EF4-FFF2-40B4-BE49-F238E27FC236}">
                  <a16:creationId xmlns:a16="http://schemas.microsoft.com/office/drawing/2014/main" id="{8985EC77-653F-D54D-96AB-3D89E6E9160C}"/>
                </a:ext>
              </a:extLst>
            </p:cNvPr>
            <p:cNvSpPr/>
            <p:nvPr/>
          </p:nvSpPr>
          <p:spPr>
            <a:xfrm>
              <a:off x="3426557" y="5125995"/>
              <a:ext cx="252000" cy="252000"/>
            </a:xfrm>
            <a:prstGeom prst="ellipse">
              <a:avLst/>
            </a:prstGeom>
            <a:solidFill>
              <a:schemeClr val="accent5">
                <a:lumMod val="40000"/>
                <a:lumOff val="6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T</a:t>
              </a:r>
              <a:r>
                <a:rPr lang="en-US" sz="900" baseline="-250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33</a:t>
              </a:r>
            </a:p>
          </p:txBody>
        </p:sp>
        <p:sp>
          <p:nvSpPr>
            <p:cNvPr id="182" name="TextBox 181">
              <a:extLst>
                <a:ext uri="{FF2B5EF4-FFF2-40B4-BE49-F238E27FC236}">
                  <a16:creationId xmlns:a16="http://schemas.microsoft.com/office/drawing/2014/main" id="{0C7E78C0-A419-F94C-B940-88C476642531}"/>
                </a:ext>
              </a:extLst>
            </p:cNvPr>
            <p:cNvSpPr txBox="1"/>
            <p:nvPr/>
          </p:nvSpPr>
          <p:spPr>
            <a:xfrm>
              <a:off x="3166175" y="4807477"/>
              <a:ext cx="181934" cy="25391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dirty="0">
                  <a:latin typeface="+mj-lt"/>
                  <a:cs typeface="Gill Sans Light" panose="020B0302020104020203" pitchFamily="34" charset="-79"/>
                </a:rPr>
                <a:t>1</a:t>
              </a:r>
            </a:p>
          </p:txBody>
        </p:sp>
        <p:cxnSp>
          <p:nvCxnSpPr>
            <p:cNvPr id="183" name="Straight Arrow Connector 182">
              <a:extLst>
                <a:ext uri="{FF2B5EF4-FFF2-40B4-BE49-F238E27FC236}">
                  <a16:creationId xmlns:a16="http://schemas.microsoft.com/office/drawing/2014/main" id="{2BB593F1-DB48-794B-B2D4-32361933B7B3}"/>
                </a:ext>
              </a:extLst>
            </p:cNvPr>
            <p:cNvCxnSpPr>
              <a:cxnSpLocks/>
              <a:stCxn id="5" idx="6"/>
              <a:endCxn id="171" idx="2"/>
            </p:cNvCxnSpPr>
            <p:nvPr/>
          </p:nvCxnSpPr>
          <p:spPr>
            <a:xfrm>
              <a:off x="2891378" y="5116746"/>
              <a:ext cx="535179" cy="135249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4" name="Straight Arrow Connector 183">
              <a:extLst>
                <a:ext uri="{FF2B5EF4-FFF2-40B4-BE49-F238E27FC236}">
                  <a16:creationId xmlns:a16="http://schemas.microsoft.com/office/drawing/2014/main" id="{A42E21B0-5136-0241-B09A-089D2D65191D}"/>
                </a:ext>
              </a:extLst>
            </p:cNvPr>
            <p:cNvCxnSpPr>
              <a:cxnSpLocks/>
              <a:stCxn id="5" idx="6"/>
              <a:endCxn id="170" idx="2"/>
            </p:cNvCxnSpPr>
            <p:nvPr/>
          </p:nvCxnSpPr>
          <p:spPr>
            <a:xfrm>
              <a:off x="2891378" y="5116746"/>
              <a:ext cx="535179" cy="406018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90" name="TextBox 189">
              <a:extLst>
                <a:ext uri="{FF2B5EF4-FFF2-40B4-BE49-F238E27FC236}">
                  <a16:creationId xmlns:a16="http://schemas.microsoft.com/office/drawing/2014/main" id="{56E41673-6892-384A-88D3-CD7CE8E0FBA3}"/>
                </a:ext>
              </a:extLst>
            </p:cNvPr>
            <p:cNvSpPr txBox="1"/>
            <p:nvPr/>
          </p:nvSpPr>
          <p:spPr>
            <a:xfrm>
              <a:off x="3166175" y="4997505"/>
              <a:ext cx="181934" cy="25391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dirty="0">
                  <a:latin typeface="+mj-lt"/>
                  <a:cs typeface="Gill Sans Light" panose="020B0302020104020203" pitchFamily="34" charset="-79"/>
                </a:rPr>
                <a:t>1</a:t>
              </a:r>
            </a:p>
          </p:txBody>
        </p:sp>
        <p:sp>
          <p:nvSpPr>
            <p:cNvPr id="191" name="TextBox 190">
              <a:extLst>
                <a:ext uri="{FF2B5EF4-FFF2-40B4-BE49-F238E27FC236}">
                  <a16:creationId xmlns:a16="http://schemas.microsoft.com/office/drawing/2014/main" id="{B271BA30-411E-C748-83AA-5DB57F4B4552}"/>
                </a:ext>
              </a:extLst>
            </p:cNvPr>
            <p:cNvSpPr txBox="1"/>
            <p:nvPr/>
          </p:nvSpPr>
          <p:spPr>
            <a:xfrm>
              <a:off x="3166175" y="5164111"/>
              <a:ext cx="181934" cy="25391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dirty="0">
                  <a:latin typeface="+mj-lt"/>
                  <a:cs typeface="Gill Sans Light" panose="020B0302020104020203" pitchFamily="34" charset="-79"/>
                </a:rPr>
                <a:t>1</a:t>
              </a:r>
            </a:p>
          </p:txBody>
        </p:sp>
        <p:cxnSp>
          <p:nvCxnSpPr>
            <p:cNvPr id="260" name="Straight Arrow Connector 259">
              <a:extLst>
                <a:ext uri="{FF2B5EF4-FFF2-40B4-BE49-F238E27FC236}">
                  <a16:creationId xmlns:a16="http://schemas.microsoft.com/office/drawing/2014/main" id="{169E0491-258B-CA49-A822-27D5CF8D70EF}"/>
                </a:ext>
              </a:extLst>
            </p:cNvPr>
            <p:cNvCxnSpPr>
              <a:cxnSpLocks/>
              <a:stCxn id="170" idx="6"/>
              <a:endCxn id="30" idx="1"/>
            </p:cNvCxnSpPr>
            <p:nvPr/>
          </p:nvCxnSpPr>
          <p:spPr>
            <a:xfrm flipV="1">
              <a:off x="3678557" y="5240189"/>
              <a:ext cx="683848" cy="282575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1" name="Straight Arrow Connector 260">
              <a:extLst>
                <a:ext uri="{FF2B5EF4-FFF2-40B4-BE49-F238E27FC236}">
                  <a16:creationId xmlns:a16="http://schemas.microsoft.com/office/drawing/2014/main" id="{E43332F3-B8BB-D24B-B6BB-0FF87F7D185F}"/>
                </a:ext>
              </a:extLst>
            </p:cNvPr>
            <p:cNvCxnSpPr>
              <a:cxnSpLocks/>
              <a:stCxn id="170" idx="6"/>
              <a:endCxn id="31" idx="1"/>
            </p:cNvCxnSpPr>
            <p:nvPr/>
          </p:nvCxnSpPr>
          <p:spPr>
            <a:xfrm flipV="1">
              <a:off x="3678557" y="5420189"/>
              <a:ext cx="683848" cy="102575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71" name="Oval 270">
              <a:extLst>
                <a:ext uri="{FF2B5EF4-FFF2-40B4-BE49-F238E27FC236}">
                  <a16:creationId xmlns:a16="http://schemas.microsoft.com/office/drawing/2014/main" id="{08C2D080-52C9-1446-B5E2-80C6F06F80B7}"/>
                </a:ext>
              </a:extLst>
            </p:cNvPr>
            <p:cNvSpPr/>
            <p:nvPr/>
          </p:nvSpPr>
          <p:spPr>
            <a:xfrm>
              <a:off x="2639378" y="3751041"/>
              <a:ext cx="252000" cy="252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T</a:t>
              </a:r>
              <a:r>
                <a:rPr lang="en-US" sz="900" baseline="-250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2</a:t>
              </a:r>
            </a:p>
          </p:txBody>
        </p:sp>
        <p:sp>
          <p:nvSpPr>
            <p:cNvPr id="272" name="Oval 271">
              <a:extLst>
                <a:ext uri="{FF2B5EF4-FFF2-40B4-BE49-F238E27FC236}">
                  <a16:creationId xmlns:a16="http://schemas.microsoft.com/office/drawing/2014/main" id="{623BDDAD-08DA-5A4B-BC56-41104C23E816}"/>
                </a:ext>
              </a:extLst>
            </p:cNvPr>
            <p:cNvSpPr/>
            <p:nvPr/>
          </p:nvSpPr>
          <p:spPr>
            <a:xfrm>
              <a:off x="3426557" y="3750942"/>
              <a:ext cx="252000" cy="252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T</a:t>
              </a:r>
              <a:r>
                <a:rPr lang="en-US" sz="900" baseline="-250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23</a:t>
              </a:r>
            </a:p>
          </p:txBody>
        </p:sp>
        <p:cxnSp>
          <p:nvCxnSpPr>
            <p:cNvPr id="273" name="Straight Arrow Connector 272">
              <a:extLst>
                <a:ext uri="{FF2B5EF4-FFF2-40B4-BE49-F238E27FC236}">
                  <a16:creationId xmlns:a16="http://schemas.microsoft.com/office/drawing/2014/main" id="{34E4F118-BDF3-604D-B13D-BEEE2C5D235D}"/>
                </a:ext>
              </a:extLst>
            </p:cNvPr>
            <p:cNvCxnSpPr>
              <a:cxnSpLocks/>
              <a:stCxn id="271" idx="6"/>
              <a:endCxn id="272" idx="2"/>
            </p:cNvCxnSpPr>
            <p:nvPr/>
          </p:nvCxnSpPr>
          <p:spPr>
            <a:xfrm flipV="1">
              <a:off x="2891378" y="3876942"/>
              <a:ext cx="535179" cy="99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4" name="Straight Arrow Connector 273">
              <a:extLst>
                <a:ext uri="{FF2B5EF4-FFF2-40B4-BE49-F238E27FC236}">
                  <a16:creationId xmlns:a16="http://schemas.microsoft.com/office/drawing/2014/main" id="{B5BBDE88-BEF7-6A4F-A216-FB99049BDDB4}"/>
                </a:ext>
              </a:extLst>
            </p:cNvPr>
            <p:cNvCxnSpPr>
              <a:cxnSpLocks/>
              <a:stCxn id="287" idx="6"/>
              <a:endCxn id="20" idx="1"/>
            </p:cNvCxnSpPr>
            <p:nvPr/>
          </p:nvCxnSpPr>
          <p:spPr>
            <a:xfrm>
              <a:off x="3678557" y="3337892"/>
              <a:ext cx="683848" cy="102297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5" name="Straight Arrow Connector 274">
              <a:extLst>
                <a:ext uri="{FF2B5EF4-FFF2-40B4-BE49-F238E27FC236}">
                  <a16:creationId xmlns:a16="http://schemas.microsoft.com/office/drawing/2014/main" id="{7B928D57-C5A6-2141-96F7-475539DC4C29}"/>
                </a:ext>
              </a:extLst>
            </p:cNvPr>
            <p:cNvCxnSpPr>
              <a:cxnSpLocks/>
              <a:stCxn id="283" idx="6"/>
              <a:endCxn id="21" idx="1"/>
            </p:cNvCxnSpPr>
            <p:nvPr/>
          </p:nvCxnSpPr>
          <p:spPr>
            <a:xfrm>
              <a:off x="3678557" y="3607355"/>
              <a:ext cx="683848" cy="12834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Straight Arrow Connector 278">
              <a:extLst>
                <a:ext uri="{FF2B5EF4-FFF2-40B4-BE49-F238E27FC236}">
                  <a16:creationId xmlns:a16="http://schemas.microsoft.com/office/drawing/2014/main" id="{8E7478C3-57CB-9745-B11C-A7BA5A588D4F}"/>
                </a:ext>
              </a:extLst>
            </p:cNvPr>
            <p:cNvCxnSpPr>
              <a:cxnSpLocks/>
              <a:stCxn id="287" idx="6"/>
              <a:endCxn id="21" idx="1"/>
            </p:cNvCxnSpPr>
            <p:nvPr/>
          </p:nvCxnSpPr>
          <p:spPr>
            <a:xfrm>
              <a:off x="3678557" y="3337892"/>
              <a:ext cx="683848" cy="282297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0" name="Straight Arrow Connector 279">
              <a:extLst>
                <a:ext uri="{FF2B5EF4-FFF2-40B4-BE49-F238E27FC236}">
                  <a16:creationId xmlns:a16="http://schemas.microsoft.com/office/drawing/2014/main" id="{4610372F-AD9D-034B-9E68-CF965680DAC8}"/>
                </a:ext>
              </a:extLst>
            </p:cNvPr>
            <p:cNvCxnSpPr>
              <a:cxnSpLocks/>
              <a:stCxn id="283" idx="6"/>
              <a:endCxn id="22" idx="1"/>
            </p:cNvCxnSpPr>
            <p:nvPr/>
          </p:nvCxnSpPr>
          <p:spPr>
            <a:xfrm>
              <a:off x="3678557" y="3607355"/>
              <a:ext cx="683848" cy="192834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1" name="Straight Arrow Connector 280">
              <a:extLst>
                <a:ext uri="{FF2B5EF4-FFF2-40B4-BE49-F238E27FC236}">
                  <a16:creationId xmlns:a16="http://schemas.microsoft.com/office/drawing/2014/main" id="{C94D747C-4C03-5A45-B3C8-6A3237953F4E}"/>
                </a:ext>
              </a:extLst>
            </p:cNvPr>
            <p:cNvCxnSpPr>
              <a:cxnSpLocks/>
              <a:stCxn id="272" idx="6"/>
              <a:endCxn id="22" idx="1"/>
            </p:cNvCxnSpPr>
            <p:nvPr/>
          </p:nvCxnSpPr>
          <p:spPr>
            <a:xfrm flipV="1">
              <a:off x="3678557" y="3800189"/>
              <a:ext cx="683848" cy="76753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Straight Arrow Connector 281">
              <a:extLst>
                <a:ext uri="{FF2B5EF4-FFF2-40B4-BE49-F238E27FC236}">
                  <a16:creationId xmlns:a16="http://schemas.microsoft.com/office/drawing/2014/main" id="{A1B7EEFF-61CE-ED40-A147-A7264F46D2E1}"/>
                </a:ext>
              </a:extLst>
            </p:cNvPr>
            <p:cNvCxnSpPr>
              <a:cxnSpLocks/>
              <a:stCxn id="272" idx="6"/>
              <a:endCxn id="23" idx="1"/>
            </p:cNvCxnSpPr>
            <p:nvPr/>
          </p:nvCxnSpPr>
          <p:spPr>
            <a:xfrm>
              <a:off x="3678557" y="3876942"/>
              <a:ext cx="683848" cy="103247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83" name="Oval 282">
              <a:extLst>
                <a:ext uri="{FF2B5EF4-FFF2-40B4-BE49-F238E27FC236}">
                  <a16:creationId xmlns:a16="http://schemas.microsoft.com/office/drawing/2014/main" id="{6AE5B18C-5954-C54A-A4CA-2AE92C9AE418}"/>
                </a:ext>
              </a:extLst>
            </p:cNvPr>
            <p:cNvSpPr/>
            <p:nvPr/>
          </p:nvSpPr>
          <p:spPr>
            <a:xfrm>
              <a:off x="3426557" y="3481355"/>
              <a:ext cx="252000" cy="252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T</a:t>
              </a:r>
              <a:r>
                <a:rPr lang="en-US" sz="900" baseline="-250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22</a:t>
              </a:r>
            </a:p>
          </p:txBody>
        </p:sp>
        <p:sp>
          <p:nvSpPr>
            <p:cNvPr id="286" name="Oval 285">
              <a:extLst>
                <a:ext uri="{FF2B5EF4-FFF2-40B4-BE49-F238E27FC236}">
                  <a16:creationId xmlns:a16="http://schemas.microsoft.com/office/drawing/2014/main" id="{58D4A87E-2A83-3547-A4AB-CAB60B9ABD74}"/>
                </a:ext>
              </a:extLst>
            </p:cNvPr>
            <p:cNvSpPr/>
            <p:nvPr/>
          </p:nvSpPr>
          <p:spPr>
            <a:xfrm>
              <a:off x="3426557" y="4020530"/>
              <a:ext cx="252000" cy="252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T</a:t>
              </a:r>
              <a:r>
                <a:rPr lang="en-US" sz="900" baseline="-250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24</a:t>
              </a:r>
            </a:p>
          </p:txBody>
        </p:sp>
        <p:sp>
          <p:nvSpPr>
            <p:cNvPr id="287" name="Oval 286">
              <a:extLst>
                <a:ext uri="{FF2B5EF4-FFF2-40B4-BE49-F238E27FC236}">
                  <a16:creationId xmlns:a16="http://schemas.microsoft.com/office/drawing/2014/main" id="{1A27023A-9C71-AC46-9E4D-C57551556185}"/>
                </a:ext>
              </a:extLst>
            </p:cNvPr>
            <p:cNvSpPr/>
            <p:nvPr/>
          </p:nvSpPr>
          <p:spPr>
            <a:xfrm>
              <a:off x="3426557" y="3211892"/>
              <a:ext cx="252000" cy="252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T</a:t>
              </a:r>
              <a:r>
                <a:rPr lang="en-US" sz="900" baseline="-250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21</a:t>
              </a:r>
            </a:p>
          </p:txBody>
        </p:sp>
        <p:sp>
          <p:nvSpPr>
            <p:cNvPr id="292" name="Oval 291">
              <a:extLst>
                <a:ext uri="{FF2B5EF4-FFF2-40B4-BE49-F238E27FC236}">
                  <a16:creationId xmlns:a16="http://schemas.microsoft.com/office/drawing/2014/main" id="{ADFEDA61-0015-DC4C-B844-B2AEC691164E}"/>
                </a:ext>
              </a:extLst>
            </p:cNvPr>
            <p:cNvSpPr/>
            <p:nvPr/>
          </p:nvSpPr>
          <p:spPr>
            <a:xfrm>
              <a:off x="3426557" y="4289992"/>
              <a:ext cx="252000" cy="252000"/>
            </a:xfrm>
            <a:prstGeom prst="ellipse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en-US" sz="9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T</a:t>
              </a:r>
              <a:r>
                <a:rPr lang="en-US" sz="900" baseline="-25000" dirty="0">
                  <a:solidFill>
                    <a:schemeClr val="tx1"/>
                  </a:solidFill>
                  <a:latin typeface="+mj-lt"/>
                  <a:cs typeface="Gill Sans Light" panose="020B0302020104020203" pitchFamily="34" charset="-79"/>
                </a:rPr>
                <a:t>25</a:t>
              </a:r>
            </a:p>
          </p:txBody>
        </p:sp>
        <p:cxnSp>
          <p:nvCxnSpPr>
            <p:cNvPr id="299" name="Straight Arrow Connector 298">
              <a:extLst>
                <a:ext uri="{FF2B5EF4-FFF2-40B4-BE49-F238E27FC236}">
                  <a16:creationId xmlns:a16="http://schemas.microsoft.com/office/drawing/2014/main" id="{7E2D74D6-96CB-E04E-BE9A-0AB2AA753FF1}"/>
                </a:ext>
              </a:extLst>
            </p:cNvPr>
            <p:cNvCxnSpPr>
              <a:cxnSpLocks/>
              <a:stCxn id="286" idx="6"/>
              <a:endCxn id="23" idx="1"/>
            </p:cNvCxnSpPr>
            <p:nvPr/>
          </p:nvCxnSpPr>
          <p:spPr>
            <a:xfrm flipV="1">
              <a:off x="3678557" y="3980189"/>
              <a:ext cx="683848" cy="166341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Straight Arrow Connector 299">
              <a:extLst>
                <a:ext uri="{FF2B5EF4-FFF2-40B4-BE49-F238E27FC236}">
                  <a16:creationId xmlns:a16="http://schemas.microsoft.com/office/drawing/2014/main" id="{D5A4F6DB-64E8-9E4D-B0E7-46235B182DB2}"/>
                </a:ext>
              </a:extLst>
            </p:cNvPr>
            <p:cNvCxnSpPr>
              <a:cxnSpLocks/>
              <a:stCxn id="292" idx="6"/>
              <a:endCxn id="24" idx="1"/>
            </p:cNvCxnSpPr>
            <p:nvPr/>
          </p:nvCxnSpPr>
          <p:spPr>
            <a:xfrm flipV="1">
              <a:off x="3678557" y="4160189"/>
              <a:ext cx="683848" cy="255803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1" name="Straight Arrow Connector 300">
              <a:extLst>
                <a:ext uri="{FF2B5EF4-FFF2-40B4-BE49-F238E27FC236}">
                  <a16:creationId xmlns:a16="http://schemas.microsoft.com/office/drawing/2014/main" id="{A57EF411-1FBD-E241-84D6-916CB9E83D41}"/>
                </a:ext>
              </a:extLst>
            </p:cNvPr>
            <p:cNvCxnSpPr>
              <a:cxnSpLocks/>
              <a:stCxn id="286" idx="6"/>
              <a:endCxn id="24" idx="1"/>
            </p:cNvCxnSpPr>
            <p:nvPr/>
          </p:nvCxnSpPr>
          <p:spPr>
            <a:xfrm>
              <a:off x="3678557" y="4146530"/>
              <a:ext cx="683848" cy="13659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Straight Arrow Connector 327">
              <a:extLst>
                <a:ext uri="{FF2B5EF4-FFF2-40B4-BE49-F238E27FC236}">
                  <a16:creationId xmlns:a16="http://schemas.microsoft.com/office/drawing/2014/main" id="{DB2EE373-5125-8E41-AC43-DEAF616767EB}"/>
                </a:ext>
              </a:extLst>
            </p:cNvPr>
            <p:cNvCxnSpPr>
              <a:cxnSpLocks/>
              <a:stCxn id="292" idx="6"/>
              <a:endCxn id="25" idx="1"/>
            </p:cNvCxnSpPr>
            <p:nvPr/>
          </p:nvCxnSpPr>
          <p:spPr>
            <a:xfrm flipV="1">
              <a:off x="3678557" y="4340189"/>
              <a:ext cx="683848" cy="75803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" name="Straight Arrow Connector 328">
              <a:extLst>
                <a:ext uri="{FF2B5EF4-FFF2-40B4-BE49-F238E27FC236}">
                  <a16:creationId xmlns:a16="http://schemas.microsoft.com/office/drawing/2014/main" id="{14C2978E-BF5A-2749-B8F7-34FEA8E3F11A}"/>
                </a:ext>
              </a:extLst>
            </p:cNvPr>
            <p:cNvCxnSpPr>
              <a:cxnSpLocks/>
              <a:stCxn id="271" idx="6"/>
              <a:endCxn id="287" idx="2"/>
            </p:cNvCxnSpPr>
            <p:nvPr/>
          </p:nvCxnSpPr>
          <p:spPr>
            <a:xfrm flipV="1">
              <a:off x="2891378" y="3337892"/>
              <a:ext cx="535179" cy="539149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Straight Arrow Connector 330">
              <a:extLst>
                <a:ext uri="{FF2B5EF4-FFF2-40B4-BE49-F238E27FC236}">
                  <a16:creationId xmlns:a16="http://schemas.microsoft.com/office/drawing/2014/main" id="{87AB43BB-7A7D-AF44-BA67-9B9D47B7566D}"/>
                </a:ext>
              </a:extLst>
            </p:cNvPr>
            <p:cNvCxnSpPr>
              <a:cxnSpLocks/>
              <a:stCxn id="271" idx="6"/>
              <a:endCxn id="283" idx="2"/>
            </p:cNvCxnSpPr>
            <p:nvPr/>
          </p:nvCxnSpPr>
          <p:spPr>
            <a:xfrm flipV="1">
              <a:off x="2891378" y="3607355"/>
              <a:ext cx="535179" cy="269686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" name="Straight Arrow Connector 331">
              <a:extLst>
                <a:ext uri="{FF2B5EF4-FFF2-40B4-BE49-F238E27FC236}">
                  <a16:creationId xmlns:a16="http://schemas.microsoft.com/office/drawing/2014/main" id="{9644231F-2471-F248-A5CC-527BF2CF23C6}"/>
                </a:ext>
              </a:extLst>
            </p:cNvPr>
            <p:cNvCxnSpPr>
              <a:cxnSpLocks/>
              <a:stCxn id="271" idx="6"/>
              <a:endCxn id="286" idx="2"/>
            </p:cNvCxnSpPr>
            <p:nvPr/>
          </p:nvCxnSpPr>
          <p:spPr>
            <a:xfrm>
              <a:off x="2891378" y="3877041"/>
              <a:ext cx="535179" cy="269489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" name="Straight Arrow Connector 332">
              <a:extLst>
                <a:ext uri="{FF2B5EF4-FFF2-40B4-BE49-F238E27FC236}">
                  <a16:creationId xmlns:a16="http://schemas.microsoft.com/office/drawing/2014/main" id="{CCC0FE27-5840-F945-BB6E-DDE1807CEE28}"/>
                </a:ext>
              </a:extLst>
            </p:cNvPr>
            <p:cNvCxnSpPr>
              <a:cxnSpLocks/>
              <a:stCxn id="271" idx="6"/>
              <a:endCxn id="292" idx="2"/>
            </p:cNvCxnSpPr>
            <p:nvPr/>
          </p:nvCxnSpPr>
          <p:spPr>
            <a:xfrm>
              <a:off x="2891378" y="3877041"/>
              <a:ext cx="535179" cy="538951"/>
            </a:xfrm>
            <a:prstGeom prst="straightConnector1">
              <a:avLst/>
            </a:prstGeom>
            <a:ln w="9525" cap="rnd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4" name="TextBox 333">
              <a:extLst>
                <a:ext uri="{FF2B5EF4-FFF2-40B4-BE49-F238E27FC236}">
                  <a16:creationId xmlns:a16="http://schemas.microsoft.com/office/drawing/2014/main" id="{A9586907-23EB-B14D-9FA7-FDB591A48E1A}"/>
                </a:ext>
              </a:extLst>
            </p:cNvPr>
            <p:cNvSpPr txBox="1"/>
            <p:nvPr/>
          </p:nvSpPr>
          <p:spPr>
            <a:xfrm>
              <a:off x="3166175" y="3279411"/>
              <a:ext cx="181934" cy="25391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dirty="0">
                  <a:latin typeface="+mj-lt"/>
                  <a:cs typeface="Gill Sans Light" panose="020B0302020104020203" pitchFamily="34" charset="-79"/>
                </a:rPr>
                <a:t>1</a:t>
              </a:r>
            </a:p>
          </p:txBody>
        </p:sp>
        <p:sp>
          <p:nvSpPr>
            <p:cNvPr id="335" name="TextBox 334">
              <a:extLst>
                <a:ext uri="{FF2B5EF4-FFF2-40B4-BE49-F238E27FC236}">
                  <a16:creationId xmlns:a16="http://schemas.microsoft.com/office/drawing/2014/main" id="{12E16D59-5892-AB49-9C14-6191FEFE9865}"/>
                </a:ext>
              </a:extLst>
            </p:cNvPr>
            <p:cNvSpPr txBox="1"/>
            <p:nvPr/>
          </p:nvSpPr>
          <p:spPr>
            <a:xfrm>
              <a:off x="3166175" y="3467747"/>
              <a:ext cx="181934" cy="25391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dirty="0">
                  <a:latin typeface="+mj-lt"/>
                  <a:cs typeface="Gill Sans Light" panose="020B0302020104020203" pitchFamily="34" charset="-79"/>
                </a:rPr>
                <a:t>1</a:t>
              </a:r>
            </a:p>
          </p:txBody>
        </p:sp>
        <p:sp>
          <p:nvSpPr>
            <p:cNvPr id="336" name="TextBox 335">
              <a:extLst>
                <a:ext uri="{FF2B5EF4-FFF2-40B4-BE49-F238E27FC236}">
                  <a16:creationId xmlns:a16="http://schemas.microsoft.com/office/drawing/2014/main" id="{583D1EAD-DB2F-8C44-B15D-AB571ED717BB}"/>
                </a:ext>
              </a:extLst>
            </p:cNvPr>
            <p:cNvSpPr txBox="1"/>
            <p:nvPr/>
          </p:nvSpPr>
          <p:spPr>
            <a:xfrm>
              <a:off x="3166175" y="3665764"/>
              <a:ext cx="181934" cy="25391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dirty="0">
                  <a:latin typeface="+mj-lt"/>
                  <a:cs typeface="Gill Sans Light" panose="020B0302020104020203" pitchFamily="34" charset="-79"/>
                </a:rPr>
                <a:t>1</a:t>
              </a:r>
            </a:p>
          </p:txBody>
        </p:sp>
        <p:sp>
          <p:nvSpPr>
            <p:cNvPr id="337" name="TextBox 336">
              <a:extLst>
                <a:ext uri="{FF2B5EF4-FFF2-40B4-BE49-F238E27FC236}">
                  <a16:creationId xmlns:a16="http://schemas.microsoft.com/office/drawing/2014/main" id="{C346933A-3EE1-F14C-AF91-51CE75CE81B1}"/>
                </a:ext>
              </a:extLst>
            </p:cNvPr>
            <p:cNvSpPr txBox="1"/>
            <p:nvPr/>
          </p:nvSpPr>
          <p:spPr>
            <a:xfrm>
              <a:off x="3166175" y="3855792"/>
              <a:ext cx="181934" cy="25391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dirty="0">
                  <a:latin typeface="+mj-lt"/>
                  <a:cs typeface="Gill Sans Light" panose="020B0302020104020203" pitchFamily="34" charset="-79"/>
                </a:rPr>
                <a:t>1</a:t>
              </a:r>
            </a:p>
          </p:txBody>
        </p:sp>
        <p:sp>
          <p:nvSpPr>
            <p:cNvPr id="338" name="TextBox 337">
              <a:extLst>
                <a:ext uri="{FF2B5EF4-FFF2-40B4-BE49-F238E27FC236}">
                  <a16:creationId xmlns:a16="http://schemas.microsoft.com/office/drawing/2014/main" id="{F849A538-B90F-8341-8B30-1B58BD0C3162}"/>
                </a:ext>
              </a:extLst>
            </p:cNvPr>
            <p:cNvSpPr txBox="1"/>
            <p:nvPr/>
          </p:nvSpPr>
          <p:spPr>
            <a:xfrm>
              <a:off x="3166175" y="4022398"/>
              <a:ext cx="181934" cy="253915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sz="900" dirty="0">
                  <a:latin typeface="+mj-lt"/>
                  <a:cs typeface="Gill Sans Light" panose="020B0302020104020203" pitchFamily="34" charset="-79"/>
                </a:rPr>
                <a:t>1</a:t>
              </a:r>
            </a:p>
          </p:txBody>
        </p:sp>
      </p:grpSp>
      <p:cxnSp>
        <p:nvCxnSpPr>
          <p:cNvPr id="247" name="Straight Arrow Connector 246">
            <a:extLst>
              <a:ext uri="{FF2B5EF4-FFF2-40B4-BE49-F238E27FC236}">
                <a16:creationId xmlns:a16="http://schemas.microsoft.com/office/drawing/2014/main" id="{E15ED44A-B57D-7F4C-80E0-3639E1F92DB8}"/>
              </a:ext>
            </a:extLst>
          </p:cNvPr>
          <p:cNvCxnSpPr>
            <a:cxnSpLocks/>
          </p:cNvCxnSpPr>
          <p:nvPr/>
        </p:nvCxnSpPr>
        <p:spPr>
          <a:xfrm>
            <a:off x="4353126" y="2505772"/>
            <a:ext cx="0" cy="327272"/>
          </a:xfrm>
          <a:prstGeom prst="straightConnector1">
            <a:avLst/>
          </a:prstGeom>
          <a:ln w="9525" cap="rnd">
            <a:solidFill>
              <a:schemeClr val="tx1"/>
            </a:solidFill>
            <a:prstDash val="sysDot"/>
            <a:headEnd type="stealth" w="sm" len="sm"/>
            <a:tailEnd type="stealth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9" name="TextBox 338">
            <a:extLst>
              <a:ext uri="{FF2B5EF4-FFF2-40B4-BE49-F238E27FC236}">
                <a16:creationId xmlns:a16="http://schemas.microsoft.com/office/drawing/2014/main" id="{5627DC6A-362A-0B49-87B8-79B8FA49D392}"/>
              </a:ext>
            </a:extLst>
          </p:cNvPr>
          <p:cNvSpPr txBox="1"/>
          <p:nvPr/>
        </p:nvSpPr>
        <p:spPr>
          <a:xfrm>
            <a:off x="3709560" y="2040519"/>
            <a:ext cx="919590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900" dirty="0">
                <a:latin typeface="+mj-lt"/>
                <a:cs typeface="Gill Sans Light" panose="020B0302020104020203" pitchFamily="34" charset="-79"/>
              </a:rPr>
              <a:t>w(1,1)</a:t>
            </a:r>
          </a:p>
        </p:txBody>
      </p:sp>
      <p:cxnSp>
        <p:nvCxnSpPr>
          <p:cNvPr id="340" name="Straight Arrow Connector 339">
            <a:extLst>
              <a:ext uri="{FF2B5EF4-FFF2-40B4-BE49-F238E27FC236}">
                <a16:creationId xmlns:a16="http://schemas.microsoft.com/office/drawing/2014/main" id="{2D776F0E-052A-FC49-B9E2-1F9C15128E63}"/>
              </a:ext>
            </a:extLst>
          </p:cNvPr>
          <p:cNvCxnSpPr>
            <a:cxnSpLocks/>
          </p:cNvCxnSpPr>
          <p:nvPr/>
        </p:nvCxnSpPr>
        <p:spPr>
          <a:xfrm>
            <a:off x="4232275" y="2247265"/>
            <a:ext cx="106752" cy="258507"/>
          </a:xfrm>
          <a:prstGeom prst="straightConnector1">
            <a:avLst/>
          </a:prstGeom>
          <a:ln cap="sq">
            <a:solidFill>
              <a:schemeClr val="bg1">
                <a:lumMod val="50000"/>
              </a:schemeClr>
            </a:solidFill>
            <a:tailEnd type="stealt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714230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30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4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  <p:bldP spid="264" grpId="0"/>
      <p:bldP spid="277" grpId="0"/>
      <p:bldP spid="290" grpId="0"/>
      <p:bldP spid="326" grpId="0"/>
      <p:bldP spid="339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1E132-9EDE-0C4C-B3D7-1E5DE0019A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 dirty="0"/>
              <a:t>P-fair (PF) Scheduling Algorithm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C1F555-DF07-D941-934F-9B7DE2A6D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76400"/>
            <a:ext cx="7886700" cy="4968875"/>
          </a:xfrm>
        </p:spPr>
        <p:txBody>
          <a:bodyPr/>
          <a:lstStyle/>
          <a:p>
            <a:r>
              <a:rPr lang="en-CA" sz="1800" dirty="0"/>
              <a:t>PF priorities subtasks on </a:t>
            </a:r>
            <a:r>
              <a:rPr lang="en-CA" sz="1800" dirty="0">
                <a:solidFill>
                  <a:srgbClr val="FF0000"/>
                </a:solidFill>
              </a:rPr>
              <a:t>earliest-pseudo-deadline-first (EPDF)</a:t>
            </a:r>
            <a:r>
              <a:rPr lang="en-CA" sz="1800" dirty="0"/>
              <a:t> basis</a:t>
            </a:r>
          </a:p>
          <a:p>
            <a:pPr lvl="1"/>
            <a:endParaRPr lang="en-CA" sz="1600" dirty="0"/>
          </a:p>
          <a:p>
            <a:r>
              <a:rPr lang="en-CA" sz="1800" dirty="0"/>
              <a:t>At time t, </a:t>
            </a:r>
            <a:r>
              <a:rPr lang="en-CA" sz="1800" dirty="0" err="1"/>
              <a:t>T</a:t>
            </a:r>
            <a:r>
              <a:rPr lang="en-CA" sz="1800" i="1" baseline="-25000" dirty="0" err="1"/>
              <a:t>ij</a:t>
            </a:r>
            <a:r>
              <a:rPr lang="en-CA" sz="1800" dirty="0"/>
              <a:t> has higher priority than </a:t>
            </a:r>
            <a:r>
              <a:rPr lang="en-CA" sz="1800" dirty="0" err="1"/>
              <a:t>T</a:t>
            </a:r>
            <a:r>
              <a:rPr lang="en-CA" sz="1800" i="1" baseline="-25000" dirty="0" err="1"/>
              <a:t>mn</a:t>
            </a:r>
            <a:r>
              <a:rPr lang="en-CA" sz="1800" dirty="0"/>
              <a:t> (</a:t>
            </a:r>
            <a:r>
              <a:rPr lang="en-CA" sz="1800" dirty="0" err="1"/>
              <a:t>T</a:t>
            </a:r>
            <a:r>
              <a:rPr lang="en-CA" sz="1800" i="1" baseline="-25000" dirty="0" err="1"/>
              <a:t>ij</a:t>
            </a:r>
            <a:r>
              <a:rPr lang="en-CA" sz="1800" dirty="0"/>
              <a:t> </a:t>
            </a:r>
            <a:r>
              <a:rPr lang="en-CA" sz="1800" dirty="0">
                <a:latin typeface="+mj-lt"/>
              </a:rPr>
              <a:t>≻ </a:t>
            </a:r>
            <a:r>
              <a:rPr lang="en-CA" sz="1800" dirty="0" err="1"/>
              <a:t>T</a:t>
            </a:r>
            <a:r>
              <a:rPr lang="en-CA" sz="1800" i="1" baseline="-25000" dirty="0" err="1"/>
              <a:t>mn</a:t>
            </a:r>
            <a:r>
              <a:rPr lang="en-CA" sz="1800" dirty="0"/>
              <a:t>), if any of following holds</a:t>
            </a:r>
          </a:p>
          <a:p>
            <a:pPr marL="857250" lvl="1" indent="-400050">
              <a:buFont typeface="+mj-lt"/>
              <a:buAutoNum type="romanUcPeriod"/>
            </a:pPr>
            <a:r>
              <a:rPr lang="en-CA" sz="1600" dirty="0">
                <a:latin typeface="+mj-lt"/>
              </a:rPr>
              <a:t>d(</a:t>
            </a:r>
            <a:r>
              <a:rPr lang="en-CA" sz="1600" i="1" dirty="0" err="1">
                <a:latin typeface="+mj-lt"/>
              </a:rPr>
              <a:t>i,j</a:t>
            </a:r>
            <a:r>
              <a:rPr lang="en-CA" sz="1600" dirty="0">
                <a:latin typeface="+mj-lt"/>
              </a:rPr>
              <a:t>) &lt; d(</a:t>
            </a:r>
            <a:r>
              <a:rPr lang="en-CA" sz="1600" i="1" dirty="0" err="1">
                <a:latin typeface="+mj-lt"/>
              </a:rPr>
              <a:t>m,n</a:t>
            </a:r>
            <a:r>
              <a:rPr lang="en-CA" sz="1600" dirty="0">
                <a:latin typeface="+mj-lt"/>
              </a:rPr>
              <a:t>)</a:t>
            </a:r>
          </a:p>
          <a:p>
            <a:pPr marL="857250" lvl="1" indent="-400050">
              <a:buFont typeface="+mj-lt"/>
              <a:buAutoNum type="romanUcPeriod"/>
            </a:pPr>
            <a:r>
              <a:rPr lang="en-CA" sz="1600" dirty="0">
                <a:latin typeface="+mj-lt"/>
              </a:rPr>
              <a:t>d(</a:t>
            </a:r>
            <a:r>
              <a:rPr lang="en-CA" sz="1600" i="1" dirty="0" err="1">
                <a:latin typeface="+mj-lt"/>
              </a:rPr>
              <a:t>i,j</a:t>
            </a:r>
            <a:r>
              <a:rPr lang="en-CA" sz="1600" dirty="0">
                <a:latin typeface="+mj-lt"/>
              </a:rPr>
              <a:t>) = d(</a:t>
            </a:r>
            <a:r>
              <a:rPr lang="en-CA" sz="1600" i="1" dirty="0" err="1">
                <a:latin typeface="+mj-lt"/>
              </a:rPr>
              <a:t>m,n</a:t>
            </a:r>
            <a:r>
              <a:rPr lang="en-CA" sz="1600" dirty="0">
                <a:latin typeface="+mj-lt"/>
              </a:rPr>
              <a:t>) and b(</a:t>
            </a:r>
            <a:r>
              <a:rPr lang="en-CA" sz="1600" i="1" dirty="0" err="1">
                <a:latin typeface="+mj-lt"/>
              </a:rPr>
              <a:t>i,j</a:t>
            </a:r>
            <a:r>
              <a:rPr lang="en-CA" sz="1600" dirty="0">
                <a:latin typeface="+mj-lt"/>
              </a:rPr>
              <a:t>) &gt; b(</a:t>
            </a:r>
            <a:r>
              <a:rPr lang="en-CA" sz="1600" i="1" dirty="0" err="1">
                <a:latin typeface="+mj-lt"/>
              </a:rPr>
              <a:t>m,n</a:t>
            </a:r>
            <a:r>
              <a:rPr lang="en-CA" sz="1600" dirty="0">
                <a:latin typeface="+mj-lt"/>
              </a:rPr>
              <a:t>)</a:t>
            </a:r>
          </a:p>
          <a:p>
            <a:pPr marL="857250" lvl="1" indent="-400050">
              <a:buFont typeface="+mj-lt"/>
              <a:buAutoNum type="romanUcPeriod"/>
            </a:pPr>
            <a:r>
              <a:rPr lang="en-CA" sz="1600" dirty="0">
                <a:latin typeface="+mj-lt"/>
              </a:rPr>
              <a:t>d(</a:t>
            </a:r>
            <a:r>
              <a:rPr lang="en-CA" sz="1600" i="1" dirty="0" err="1">
                <a:latin typeface="+mj-lt"/>
              </a:rPr>
              <a:t>i,j</a:t>
            </a:r>
            <a:r>
              <a:rPr lang="en-CA" sz="1600" dirty="0">
                <a:latin typeface="+mj-lt"/>
              </a:rPr>
              <a:t>) = d(</a:t>
            </a:r>
            <a:r>
              <a:rPr lang="en-CA" sz="1600" i="1" dirty="0" err="1">
                <a:latin typeface="+mj-lt"/>
              </a:rPr>
              <a:t>m,n</a:t>
            </a:r>
            <a:r>
              <a:rPr lang="en-CA" sz="1600" dirty="0">
                <a:latin typeface="+mj-lt"/>
              </a:rPr>
              <a:t>), b(</a:t>
            </a:r>
            <a:r>
              <a:rPr lang="en-CA" sz="1600" i="1" dirty="0" err="1">
                <a:latin typeface="+mj-lt"/>
              </a:rPr>
              <a:t>i,j</a:t>
            </a:r>
            <a:r>
              <a:rPr lang="en-CA" sz="1600" dirty="0">
                <a:latin typeface="+mj-lt"/>
              </a:rPr>
              <a:t>) = b(</a:t>
            </a:r>
            <a:r>
              <a:rPr lang="en-CA" sz="1600" i="1" dirty="0" err="1">
                <a:latin typeface="+mj-lt"/>
              </a:rPr>
              <a:t>m,n</a:t>
            </a:r>
            <a:r>
              <a:rPr lang="en-CA" sz="1600" dirty="0">
                <a:latin typeface="+mj-lt"/>
              </a:rPr>
              <a:t>) = 1, and </a:t>
            </a:r>
            <a:r>
              <a:rPr lang="en-CA" sz="1600" dirty="0" err="1">
                <a:latin typeface="+mj-lt"/>
              </a:rPr>
              <a:t>T</a:t>
            </a:r>
            <a:r>
              <a:rPr lang="en-CA" sz="1600" i="1" baseline="-25000" dirty="0" err="1">
                <a:latin typeface="+mj-lt"/>
              </a:rPr>
              <a:t>i</a:t>
            </a:r>
            <a:r>
              <a:rPr lang="en-CA" sz="1600" baseline="-25000" dirty="0">
                <a:latin typeface="+mj-lt"/>
              </a:rPr>
              <a:t>(</a:t>
            </a:r>
            <a:r>
              <a:rPr lang="en-CA" sz="1600" i="1" baseline="-25000" dirty="0">
                <a:latin typeface="+mj-lt"/>
              </a:rPr>
              <a:t>j</a:t>
            </a:r>
            <a:r>
              <a:rPr lang="en-CA" sz="1600" baseline="-25000" dirty="0">
                <a:latin typeface="+mj-lt"/>
              </a:rPr>
              <a:t>+1)</a:t>
            </a:r>
            <a:r>
              <a:rPr lang="en-CA" sz="1600" dirty="0">
                <a:latin typeface="+mj-lt"/>
              </a:rPr>
              <a:t> </a:t>
            </a:r>
            <a:r>
              <a:rPr lang="en-CA" sz="1600" dirty="0"/>
              <a:t>≻ </a:t>
            </a:r>
            <a:r>
              <a:rPr lang="en-CA" sz="1600" dirty="0">
                <a:latin typeface="+mj-lt"/>
              </a:rPr>
              <a:t>T</a:t>
            </a:r>
            <a:r>
              <a:rPr lang="en-CA" sz="1600" i="1" baseline="-25000" dirty="0">
                <a:latin typeface="+mj-lt"/>
              </a:rPr>
              <a:t>m</a:t>
            </a:r>
            <a:r>
              <a:rPr lang="en-CA" sz="1600" baseline="-25000" dirty="0">
                <a:latin typeface="+mj-lt"/>
              </a:rPr>
              <a:t>(</a:t>
            </a:r>
            <a:r>
              <a:rPr lang="en-CA" sz="1600" i="1" baseline="-25000" dirty="0">
                <a:latin typeface="+mj-lt"/>
              </a:rPr>
              <a:t>n</a:t>
            </a:r>
            <a:r>
              <a:rPr lang="en-CA" sz="1600" baseline="-25000" dirty="0">
                <a:latin typeface="+mj-lt"/>
              </a:rPr>
              <a:t>+1)</a:t>
            </a:r>
          </a:p>
          <a:p>
            <a:pPr marL="857250" lvl="1" indent="-400050">
              <a:buFont typeface="+mj-lt"/>
              <a:buAutoNum type="romanUcPeriod"/>
            </a:pPr>
            <a:endParaRPr lang="en-CA" sz="1600" baseline="-25000" dirty="0">
              <a:latin typeface="+mj-lt"/>
            </a:endParaRPr>
          </a:p>
          <a:p>
            <a:r>
              <a:rPr lang="en-CA" sz="1800" dirty="0"/>
              <a:t>If neither subtask has priority over other, then tie can be broken arbitrarily</a:t>
            </a:r>
          </a:p>
          <a:p>
            <a:pPr lvl="1"/>
            <a:endParaRPr lang="en-CA" sz="1600" dirty="0"/>
          </a:p>
          <a:p>
            <a:r>
              <a:rPr lang="en-CA" sz="1800" dirty="0"/>
              <a:t>Intuition behind (II): scheduling </a:t>
            </a:r>
            <a:r>
              <a:rPr lang="en-CA" sz="1800" dirty="0" err="1"/>
              <a:t>T</a:t>
            </a:r>
            <a:r>
              <a:rPr lang="en-CA" sz="1800" i="1" baseline="-25000" dirty="0" err="1"/>
              <a:t>ij</a:t>
            </a:r>
            <a:r>
              <a:rPr lang="en-CA" sz="1800" dirty="0"/>
              <a:t> earlier prevents it from shortening </a:t>
            </a:r>
            <a:r>
              <a:rPr lang="en-CA" sz="1800" dirty="0">
                <a:latin typeface="+mj-lt"/>
              </a:rPr>
              <a:t>w(</a:t>
            </a:r>
            <a:r>
              <a:rPr lang="en-CA" sz="1800" i="1" dirty="0">
                <a:latin typeface="+mj-lt"/>
              </a:rPr>
              <a:t>i,j</a:t>
            </a:r>
            <a:r>
              <a:rPr lang="en-CA" sz="1800" dirty="0">
                <a:latin typeface="+mj-lt"/>
              </a:rPr>
              <a:t>+1)</a:t>
            </a:r>
          </a:p>
          <a:p>
            <a:pPr lvl="1"/>
            <a:r>
              <a:rPr lang="en-CA" sz="1600" dirty="0"/>
              <a:t>Makes it easier to schedule </a:t>
            </a:r>
            <a:r>
              <a:rPr lang="en-CA" sz="1600" dirty="0" err="1"/>
              <a:t>T</a:t>
            </a:r>
            <a:r>
              <a:rPr lang="en-CA" sz="1600" i="1" baseline="-25000" dirty="0" err="1"/>
              <a:t>i</a:t>
            </a:r>
            <a:r>
              <a:rPr lang="en-CA" sz="1600" baseline="-25000" dirty="0"/>
              <a:t>(</a:t>
            </a:r>
            <a:r>
              <a:rPr lang="en-CA" sz="1600" i="1" baseline="-25000" dirty="0"/>
              <a:t>j</a:t>
            </a:r>
            <a:r>
              <a:rPr lang="en-CA" sz="1600" baseline="-25000" dirty="0"/>
              <a:t>+1)</a:t>
            </a:r>
            <a:r>
              <a:rPr lang="en-CA" sz="1600" dirty="0"/>
              <a:t> by its pseudo-deadline</a:t>
            </a:r>
            <a:endParaRPr lang="en-US" sz="1800" dirty="0"/>
          </a:p>
          <a:p>
            <a:pPr lvl="1"/>
            <a:r>
              <a:rPr lang="en-US" sz="1600" dirty="0"/>
              <a:t>Similar intuition behind (III)</a:t>
            </a:r>
          </a:p>
        </p:txBody>
      </p:sp>
    </p:spTree>
    <p:extLst>
      <p:ext uri="{BB962C8B-B14F-4D97-AF65-F5344CB8AC3E}">
        <p14:creationId xmlns:p14="http://schemas.microsoft.com/office/powerpoint/2010/main" val="38324012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5AE600-5709-CC4A-9864-E57C1BF89D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12727"/>
            <a:ext cx="7886700" cy="986154"/>
          </a:xfrm>
        </p:spPr>
        <p:txBody>
          <a:bodyPr/>
          <a:lstStyle/>
          <a:p>
            <a:r>
              <a:rPr lang="en-US" dirty="0"/>
              <a:t>PF Discussion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EEA445-59E9-B54F-93E1-0FE4D8FB9A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676400"/>
            <a:ext cx="7886700" cy="4968875"/>
          </a:xfrm>
        </p:spPr>
        <p:txBody>
          <a:bodyPr/>
          <a:lstStyle/>
          <a:p>
            <a:r>
              <a:rPr lang="en-CA" sz="2400" dirty="0"/>
              <a:t>PF incurs very high </a:t>
            </a:r>
            <a:r>
              <a:rPr lang="en-CA" sz="2400" dirty="0">
                <a:solidFill>
                  <a:srgbClr val="FF0000"/>
                </a:solidFill>
              </a:rPr>
              <a:t>overheads</a:t>
            </a:r>
            <a:r>
              <a:rPr lang="en-CA" sz="2400" dirty="0"/>
              <a:t> by making scheduling decisions at every time quantum</a:t>
            </a:r>
          </a:p>
          <a:p>
            <a:endParaRPr lang="en-CA" sz="2400" dirty="0"/>
          </a:p>
          <a:p>
            <a:r>
              <a:rPr lang="en-CA" sz="2400" dirty="0"/>
              <a:t>Also, all processors need to </a:t>
            </a:r>
            <a:r>
              <a:rPr lang="en-CA" sz="2400" dirty="0">
                <a:solidFill>
                  <a:srgbClr val="FF0000"/>
                </a:solidFill>
              </a:rPr>
              <a:t>synchronize</a:t>
            </a:r>
            <a:r>
              <a:rPr lang="en-CA" sz="2400" dirty="0"/>
              <a:t> on boundary between quanta when scheduling decisions are made</a:t>
            </a:r>
          </a:p>
          <a:p>
            <a:endParaRPr lang="en-CA" sz="2400" dirty="0"/>
          </a:p>
          <a:p>
            <a:r>
              <a:rPr lang="en-CA" sz="2400" dirty="0"/>
              <a:t>Extensions to PF try to mitigate some of these problems</a:t>
            </a:r>
          </a:p>
          <a:p>
            <a:pPr lvl="1"/>
            <a:r>
              <a:rPr lang="en-CA" sz="2000" dirty="0"/>
              <a:t>E.g., PD, PD</a:t>
            </a:r>
            <a:r>
              <a:rPr lang="en-CA" sz="2000" baseline="30000" dirty="0"/>
              <a:t>2</a:t>
            </a:r>
            <a:r>
              <a:rPr lang="en-CA" sz="2000" dirty="0"/>
              <a:t>, </a:t>
            </a:r>
            <a:r>
              <a:rPr lang="en-CA" sz="2000" dirty="0" err="1"/>
              <a:t>ERfair</a:t>
            </a:r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3956789075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4C5D74-F6CC-4C46-8ACE-DE4FDF85D1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D973A6-8DE5-F344-9BD0-D2EE48E527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/>
              <a:t>Real-time systems have strict timing constraints</a:t>
            </a:r>
          </a:p>
          <a:p>
            <a:r>
              <a:rPr lang="en-US" sz="2000" dirty="0"/>
              <a:t>General-purpose operating systems are inadequate for real-time systems</a:t>
            </a:r>
          </a:p>
          <a:p>
            <a:r>
              <a:rPr lang="en-US" sz="2000" dirty="0"/>
              <a:t>Real-time operating systems should provide predictability</a:t>
            </a:r>
          </a:p>
          <a:p>
            <a:pPr lvl="1"/>
            <a:r>
              <a:rPr lang="en-US" sz="1600" dirty="0"/>
              <a:t>Memory management, interrupt handling, scheduling, etc.</a:t>
            </a:r>
          </a:p>
          <a:p>
            <a:r>
              <a:rPr lang="en-US" sz="2000" dirty="0"/>
              <a:t>Scheduling in real-time systems is task-centric</a:t>
            </a:r>
          </a:p>
          <a:p>
            <a:pPr lvl="1"/>
            <a:r>
              <a:rPr lang="en-US" sz="1600" dirty="0"/>
              <a:t>All tasks should meet their deadlines</a:t>
            </a:r>
          </a:p>
          <a:p>
            <a:pPr lvl="1"/>
            <a:r>
              <a:rPr lang="en-US" sz="1600" dirty="0"/>
              <a:t>Worst-case execution time is important not average throughput</a:t>
            </a:r>
          </a:p>
          <a:p>
            <a:r>
              <a:rPr lang="en-US" sz="2000" dirty="0"/>
              <a:t>Optimal scheduler exist for uniprocessor systems</a:t>
            </a:r>
          </a:p>
          <a:p>
            <a:pPr lvl="1"/>
            <a:r>
              <a:rPr lang="en-US" sz="1600" dirty="0"/>
              <a:t>RM, EDF, and LLF</a:t>
            </a:r>
          </a:p>
          <a:p>
            <a:r>
              <a:rPr lang="en-US" sz="2000" dirty="0"/>
              <a:t>Scheduling real-time tasks on multiprocessors is challenging</a:t>
            </a:r>
          </a:p>
          <a:p>
            <a:pPr lvl="1"/>
            <a:r>
              <a:rPr lang="en-US" sz="1600" dirty="0"/>
              <a:t>Optimal uniprocessor scheduler are no longer optimal for multiprocessors</a:t>
            </a:r>
          </a:p>
          <a:p>
            <a:pPr lvl="1"/>
            <a:r>
              <a:rPr lang="en-US" sz="1600" dirty="0"/>
              <a:t>Partitioning tasks between processors is a “hard” problem</a:t>
            </a:r>
          </a:p>
          <a:p>
            <a:pPr lvl="1"/>
            <a:r>
              <a:rPr lang="en-US" sz="1600" dirty="0"/>
              <a:t>Optimal schedulers exist, but they typically incur high overhead</a:t>
            </a:r>
          </a:p>
          <a:p>
            <a:pPr lvl="1"/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217155494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B830288-9BB8-E345-84FB-64C99FE3A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Questions?</a:t>
            </a:r>
          </a:p>
        </p:txBody>
      </p:sp>
      <p:pic>
        <p:nvPicPr>
          <p:cNvPr id="7174" name="Picture 6">
            <a:extLst>
              <a:ext uri="{FF2B5EF4-FFF2-40B4-BE49-F238E27FC236}">
                <a16:creationId xmlns:a16="http://schemas.microsoft.com/office/drawing/2014/main" id="{8BA57BBB-068E-1740-8FAB-876876D585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screen">
            <a:grayscl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23888" y="4441002"/>
            <a:ext cx="3466769" cy="1733385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04B5E64-04D4-F044-9947-E412A92E317C}"/>
              </a:ext>
            </a:extLst>
          </p:cNvPr>
          <p:cNvSpPr/>
          <p:nvPr/>
        </p:nvSpPr>
        <p:spPr>
          <a:xfrm>
            <a:off x="4153502" y="6703153"/>
            <a:ext cx="827471" cy="18466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600" dirty="0" err="1">
                <a:latin typeface="Gill Sans Light" panose="020B0302020104020203" pitchFamily="34" charset="-79"/>
                <a:cs typeface="Gill Sans Light" panose="020B0302020104020203" pitchFamily="34" charset="-79"/>
              </a:rPr>
              <a:t>globaldigitalcitizen.org</a:t>
            </a:r>
            <a:endParaRPr lang="en-US" sz="600" dirty="0">
              <a:latin typeface="Gill Sans Light" panose="020B0302020104020203" pitchFamily="34" charset="-79"/>
              <a:cs typeface="Gill Sans Light" panose="020B0302020104020203" pitchFamily="34" charset="-79"/>
            </a:endParaRPr>
          </a:p>
        </p:txBody>
      </p:sp>
    </p:spTree>
    <p:extLst>
      <p:ext uri="{BB962C8B-B14F-4D97-AF65-F5344CB8AC3E}">
        <p14:creationId xmlns:p14="http://schemas.microsoft.com/office/powerpoint/2010/main" val="373521090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D2BC04-D7A4-2D45-957C-0AC05B07BF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Acknowledgment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53A5FE-6850-F546-8B5B-00CF6488944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Slides by courtesy of Anderson, Culler, </a:t>
            </a:r>
            <a:r>
              <a:rPr lang="en-US" dirty="0" err="1"/>
              <a:t>Stoica</a:t>
            </a:r>
            <a:r>
              <a:rPr lang="en-US" dirty="0"/>
              <a:t>, </a:t>
            </a:r>
            <a:r>
              <a:rPr lang="en-US" dirty="0" err="1"/>
              <a:t>Silberschatz</a:t>
            </a:r>
            <a:r>
              <a:rPr lang="en-US" dirty="0"/>
              <a:t>, Joseph, Canny, Lee (</a:t>
            </a:r>
            <a:r>
              <a:rPr lang="en-US" dirty="0" err="1"/>
              <a:t>Insup</a:t>
            </a:r>
            <a:r>
              <a:rPr lang="en-US" dirty="0"/>
              <a:t>), Drews, and Andersson (</a:t>
            </a:r>
            <a:r>
              <a:rPr lang="en-CA" dirty="0" err="1"/>
              <a:t>Björn</a:t>
            </a:r>
            <a:r>
              <a:rPr lang="en-CA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402723184"/>
      </p:ext>
    </p:extLst>
  </p:cSld>
  <p:clrMapOvr>
    <a:masterClrMapping/>
  </p:clrMapOvr>
</p:sld>
</file>

<file path=ppt/theme/theme1.xml><?xml version="1.0" encoding="utf-8"?>
<a:theme xmlns:a="http://schemas.openxmlformats.org/drawingml/2006/main" name="gill-sans">
  <a:themeElements>
    <a:clrScheme name="Slipstream">
      <a:dk1>
        <a:sysClr val="windowText" lastClr="000000"/>
      </a:dk1>
      <a:lt1>
        <a:sysClr val="window" lastClr="FFFFFF"/>
      </a:lt1>
      <a:dk2>
        <a:srgbClr val="212745"/>
      </a:dk2>
      <a:lt2>
        <a:srgbClr val="B4DCFA"/>
      </a:lt2>
      <a:accent1>
        <a:srgbClr val="4E67C8"/>
      </a:accent1>
      <a:accent2>
        <a:srgbClr val="5ECCF3"/>
      </a:accent2>
      <a:accent3>
        <a:srgbClr val="A7EA52"/>
      </a:accent3>
      <a:accent4>
        <a:srgbClr val="5DCEAF"/>
      </a:accent4>
      <a:accent5>
        <a:srgbClr val="FF8021"/>
      </a:accent5>
      <a:accent6>
        <a:srgbClr val="F14124"/>
      </a:accent6>
      <a:hlink>
        <a:srgbClr val="56C7AA"/>
      </a:hlink>
      <a:folHlink>
        <a:srgbClr val="59A8D1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2" id="{C1BE2A55-E0B4-9D4A-BC3B-61AA3D7CE71B}" vid="{17B29218-6A61-0241-B066-754774614DC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{6BEC43DF-4DD8-0147-808C-31AA2B37FC42}tf10001076</Template>
  <TotalTime>24633</TotalTime>
  <Words>4637</Words>
  <Application>Microsoft Macintosh PowerPoint</Application>
  <PresentationFormat>On-screen Show (4:3)</PresentationFormat>
  <Paragraphs>784</Paragraphs>
  <Slides>49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49</vt:i4>
      </vt:variant>
    </vt:vector>
  </HeadingPairs>
  <TitlesOfParts>
    <vt:vector size="58" baseType="lpstr">
      <vt:lpstr>Arial</vt:lpstr>
      <vt:lpstr>Calibri</vt:lpstr>
      <vt:lpstr>Cambria Math</vt:lpstr>
      <vt:lpstr>Gill Sans</vt:lpstr>
      <vt:lpstr>Gill Sans Light</vt:lpstr>
      <vt:lpstr>Gill Sans SemiBold</vt:lpstr>
      <vt:lpstr>Harrington</vt:lpstr>
      <vt:lpstr>Ubuntu Mono</vt:lpstr>
      <vt:lpstr>gill-sans</vt:lpstr>
      <vt:lpstr>PowerPoint Presentation</vt:lpstr>
      <vt:lpstr>Lecture 6:  Real-time Systems</vt:lpstr>
      <vt:lpstr>Outline</vt:lpstr>
      <vt:lpstr>Real-time Systems (RTSes)</vt:lpstr>
      <vt:lpstr>Recall: Types of Real-time Systems</vt:lpstr>
      <vt:lpstr>Recall: Real-time Spectrum</vt:lpstr>
      <vt:lpstr>General-purpose OS are Inadequate for RTSes</vt:lpstr>
      <vt:lpstr>Real-time Operating System (RTOS): Desirable Properties</vt:lpstr>
      <vt:lpstr>Microarchitecture</vt:lpstr>
      <vt:lpstr>System Calls and Interrupts</vt:lpstr>
      <vt:lpstr>System Calls and Interrupts (cont.)</vt:lpstr>
      <vt:lpstr>Memory Management</vt:lpstr>
      <vt:lpstr>Programming Languages </vt:lpstr>
      <vt:lpstr>Scheduling</vt:lpstr>
      <vt:lpstr>Terminology of Real-time Scheduling</vt:lpstr>
      <vt:lpstr>Online vs Offline Scheduling</vt:lpstr>
      <vt:lpstr>General-purpose Schedulers for RTSes</vt:lpstr>
      <vt:lpstr>Rate Monotonic (RM)</vt:lpstr>
      <vt:lpstr>RM: Schedulability</vt:lpstr>
      <vt:lpstr>RM: Schedulability Test [Liu &amp; Layland 1973]</vt:lpstr>
      <vt:lpstr>Earliest Deadline First (EDF)</vt:lpstr>
      <vt:lpstr>EDF: Schedulability Test [Liu &amp; Layland 1973]</vt:lpstr>
      <vt:lpstr>Overloaded System under EDF</vt:lpstr>
      <vt:lpstr>Least Laxity First (LLF)</vt:lpstr>
      <vt:lpstr>RM vs. EDF vs. LLF</vt:lpstr>
      <vt:lpstr>Scheduling Mixed Periodic and Aperiodic Tasks</vt:lpstr>
      <vt:lpstr>Polling Server (PS)</vt:lpstr>
      <vt:lpstr>Deferrable Server (DS)</vt:lpstr>
      <vt:lpstr>Total-bandwidth Server (TBS)</vt:lpstr>
      <vt:lpstr>Scheduling Interdependent Tasks: Synchronization</vt:lpstr>
      <vt:lpstr>Priority Inversion and MARS Pathfinder</vt:lpstr>
      <vt:lpstr>Priority-inheritance Protocol (PIP)</vt:lpstr>
      <vt:lpstr>PIP and Chained Blocking</vt:lpstr>
      <vt:lpstr>Priority-ceiling Protocol (PCP)</vt:lpstr>
      <vt:lpstr>PCP Prevents Chained Blocking</vt:lpstr>
      <vt:lpstr>EDF and Deadline Interchange</vt:lpstr>
      <vt:lpstr>Multiprocessors and Remote Blocking</vt:lpstr>
      <vt:lpstr>Multiprocessor Scheduling</vt:lpstr>
      <vt:lpstr>(.,N)-based Schedulers</vt:lpstr>
      <vt:lpstr>Some Other Scheduling Classes</vt:lpstr>
      <vt:lpstr>(F,F)-based Schedulers</vt:lpstr>
      <vt:lpstr>P-fairness</vt:lpstr>
      <vt:lpstr>Subtasks and Pseudo Parameters</vt:lpstr>
      <vt:lpstr>Existence of P-fair Schedule</vt:lpstr>
      <vt:lpstr>P-fair (PF) Scheduling Algorithm</vt:lpstr>
      <vt:lpstr>PF Discussion</vt:lpstr>
      <vt:lpstr>Summary</vt:lpstr>
      <vt:lpstr>Questions?</vt:lpstr>
      <vt:lpstr>Acknowledgment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ECE 350: Real-time Operating Systems</dc:title>
  <dc:creator>Seyed Majid Zahedi</dc:creator>
  <cp:lastModifiedBy>Seyed Majid Zahedi</cp:lastModifiedBy>
  <cp:revision>942</cp:revision>
  <dcterms:created xsi:type="dcterms:W3CDTF">2020-09-11T04:38:22Z</dcterms:created>
  <dcterms:modified xsi:type="dcterms:W3CDTF">2026-06-29T20:51:30Z</dcterms:modified>
</cp:coreProperties>
</file>